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now fully landed -- the slide is a record, not a plan. Candidate to retire or fold into the corpora slide at the next deck pass (owner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(checkpoints/joint_heads_seed0): shared trunk 3 stacked Linear(-&gt;256)+GELU+dropout blocks, then two parallel linear branches -- presence logits (sigmoid -&gt; per-phase Bernoulli, BCE) and concentrations (softplus + eps -&gt; conditional Dirichlet, masked NLL on the true support). Param counts are pulled from the checkpoint (mode_hidden 256, mode_layers 3, the joint-HPO winner; fANOVA put architecture near zero, the gain came with the tuned environment).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0.25 tuned) -- λ chosen over w to avoid clashing with layer weights and to match the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two-slide reports follow ModeHead's.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runs/mode_head/&lt;tag&gt;/reliability.png.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sealed valtest tier's val roster (221 assigned rocks,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only its support to the slice (teacher-forced) and meets the prediction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pins amphibole's alpha0 low and its mean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checkpoints/joint_heads_seed0).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CompHead, mirroring the ModeHead magnitude worked example: two tracks converge at a scoring node; the truth contributes its support to the slice and meets the prediction only at scoring. Box numbers illustrative but to scale (a plag Dirichlet with alpha0 ~780 has SiO2 sd ~0.018); headline numbers are real, from runs/comp_head/joint_heads_seed0/metrics.json vs the preserved joint_heads_seed0_baseline run: NLL -50.25 -&gt; -53.85, closure L2 mean 0.0181 -&gt; 0.0134 with the stable +SiO2/-Al2O3 signed bias collapsed to zero-centered residuals (the closure-penalty-form question, #38, closed on this evidence), An# parity mae 0.064 -&gt; 0.060 / r 0.920 -&gt; 0.927. The alpha0-span story is the headline fix: comp_concentration.png baseline vs tuned shows the 100-650 compression opening to 25-32,000, ordered by how constrained each mineral's chemistry really is. PIT here is per-oxide Beta marginals of the 11-simplex Dirichlet (same sub-composition property as the mode slice).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checkpoints/joint_heads_seed0). Interface: concat(h [256], presence [21]) in; (log_w, mu, sigma) each [3 axes, K] out; one training example is one (bulk, draw, rung) row with targets (T_end from the rung row; P_kbar, H2O from the draw). Param counts pulled from the checkpoint (cond_hidden 512, cond_layers 2, K=3): cond was the one head that wanted capacity -- starved at 128x1 under the shared tuned lr, fixed by the mini-sweep adoption.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CondHead. The two-pass protocol is the point: teacher-forced scoring isolates the head's conditional skill p(T,P,H2O | h, true support); sampled-support scoring measures the deployed chain with ModeHead's Bernoulli draws standing in for the truth (exposure_seed pins reproducibility). Mixture drawing illustrative but to scale for a bimodal amp/opx bulk (deep-wet vs shallow-dry is the flagship condition multimodality). Real numbers from runs/cond_head/joint_heads_seed0/metrics.json vs the preserved baseline: teacher-forced NLL 8.60 -&gt; 8.32 and coverage_68 0.65-0.69 -&gt; 0.67-0.72 (tuning + the 512x2 trunk), while the exposure delta WIDENED (T 2.91 -&gt; 3.94, H2O 1.53 -&gt; 2.40, P finite -&gt; inf on some rows) -- the sharper head is more wrong under mismatched supports. Coverage is central-interval mass via the mixture CDF (PIT), same construction as the mode/comp calibration reads.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passed; rungs locked</a:t>
            </a:r>
          </a:p>
          <a:p>
            <a:pPr algn="ctr"/>
            <a:r>
              <a:rPr sz="900" b="0">
                <a:solidFill>
                  <a:srgbClr val="8A93A3"/>
                </a:solidFill>
              </a:rPr>
              <a:t>50 + 30 (owner,</a:t>
            </a:r>
          </a:p>
          <a:p>
            <a:pPr algn="ctr"/>
            <a:r>
              <a:rPr sz="900" b="0">
                <a:solidFill>
                  <a:srgbClr val="8A93A3"/>
                </a:solidFill>
              </a:rPr>
              <a:t>rung_prescreen.py)</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2A9D8F"/>
                </a:solidFill>
              </a:rPr>
              <a:t>LANDED</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5. production</a:t>
            </a:r>
          </a:p>
          <a:p>
            <a:pPr algn="ctr"/>
            <a:r>
              <a:rPr sz="1200" b="1">
                <a:solidFill>
                  <a:srgbClr val="1A2238"/>
                </a:solidFill>
              </a:rPr>
              <a:t/>
            </a:r>
          </a:p>
          <a:p>
            <a:pPr algn="ctr"/>
            <a:r>
              <a:rPr sz="1200" b="1">
                <a:solidFill>
                  <a:srgbClr val="1A2238"/>
                </a:solidFill>
              </a:rPr>
              <a:t>both tiers complete</a:t>
            </a:r>
          </a:p>
          <a:p>
            <a:pPr algn="ctr"/>
            <a:r>
              <a:rPr sz="900" b="0">
                <a:solidFill>
                  <a:srgbClr val="8A93A3"/>
                </a:solidFill>
              </a:rPr>
              <a:t>948k train rows;</a:t>
            </a:r>
          </a:p>
          <a:p>
            <a:pPr algn="ctr"/>
            <a:r>
              <a:rPr sz="900" b="0">
                <a:solidFill>
                  <a:srgbClr val="8A93A3"/>
                </a:solidFill>
              </a:rPr>
              <a:t>valtest 125k, sealed</a:t>
            </a:r>
          </a:p>
          <a:p>
            <a:pPr algn="ctr"/>
            <a:r>
              <a:rPr sz="900" b="0">
                <a:solidFill>
                  <a:srgbClr val="8A93A3"/>
                </a:solidFill>
              </a:rPr>
              <a:t>221/278 val/test roster</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2A9D8F"/>
                </a:solidFill>
              </a:rPr>
              <a:t>LANDED</a:t>
            </a:r>
          </a:p>
        </p:txBody>
      </p:sp>
      <p:sp>
        <p:nvSpPr>
          <p:cNvPr id="17" name="Right Arrow 16"/>
          <p:cNvSpPr/>
          <p:nvPr/>
        </p:nvSpPr>
        <p:spPr>
          <a:xfrm>
            <a:off x="982065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all gates passed: the water A/B held under bounded sampling; the pilot pre-screen locked rungs 50 + 30; production completed 2026-07-17 (train 99.2% point convergence, valtest 97.7% usable rows after dropping one solver-poisoned bulk). The 499 valtest bulks divide 16:20 into a committed val/test roster (valtest_split.csv); test stays sealed.</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generation complete 2026-07-17).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3 x [Linear -&gt; 256]</a:t>
            </a:r>
          </a:p>
          <a:p>
            <a:pPr algn="ctr"/>
            <a:r>
              <a:rPr sz="1000" b="0">
                <a:solidFill>
                  <a:srgbClr val="8A93A3"/>
                </a:solidFill>
              </a:rPr>
              <a:t>GELU + dropout each</a:t>
            </a:r>
          </a:p>
          <a:p>
            <a:pPr algn="ctr"/>
            <a:r>
              <a:rPr sz="1000" b="0">
                <a:solidFill>
                  <a:srgbClr val="8A93A3"/>
                </a:solidFill>
              </a:rPr>
              <a:t>197,376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256 -&gt; 21, sigmoid</a:t>
            </a:r>
          </a:p>
          <a:p>
            <a:pPr algn="ctr"/>
            <a:r>
              <a:rPr sz="1000" b="0">
                <a:solidFill>
                  <a:srgbClr val="8A93A3"/>
                </a:solidFill>
              </a:rPr>
              <a:t>p_i = P(phase i present)</a:t>
            </a:r>
          </a:p>
          <a:p>
            <a:pPr algn="ctr"/>
            <a:r>
              <a:rPr sz="1000" b="0">
                <a:solidFill>
                  <a:srgbClr val="8A93A3"/>
                </a:solidFill>
              </a:rPr>
              <a:t>5,397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256 -&gt; 21, softplus</a:t>
            </a:r>
          </a:p>
          <a:p>
            <a:pPr algn="ctr"/>
            <a:r>
              <a:rPr sz="1000" b="0">
                <a:solidFill>
                  <a:srgbClr val="8A93A3"/>
                </a:solidFill>
              </a:rPr>
              <a:t>alpha_i, Dirichlet concentration</a:t>
            </a:r>
          </a:p>
          <a:p>
            <a:pPr algn="ctr"/>
            <a:r>
              <a:rPr sz="1000" b="0">
                <a:solidFill>
                  <a:srgbClr val="8A93A3"/>
                </a:solidFill>
              </a:rPr>
              <a:t>5,397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208,170 trainable params (trunk 197,376 + 2 x 5,397) -- ~6.4% of the frozen encoder; the 256 x 3 trunk is the joint-HPO winner (untuned 128 x 1 gave up 0.105 nats of assemblage NLL).</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mode_hidden 256 . mode_layers 3 . dropout 0.348 . magnitude_weight 0.25 . alpha_eps 1e-6 . lr 2.15e-4 . weight_decay 1.04e-5 . batch 1024 . epochs 120 / per-head patience 10 --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~255x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(tuned model): intermediate-frequency presence is the miss mode (garnet recall 0.58 in f = [0.5, 0.9) and 0.0 elsewhere; opx 0.25 / ru 0.08 / ol 0.08 overall); spinel is the worst-calibrated panel (ECE 0.037); amphibole magnitude spread stays too narrow (next slide). full report: runs/mode_head/&lt;tag&gt;/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 plays two roles, never as a model input: its support slices alpha (teacher-forced at train/eval, sampled from the presence branch at inference; a Dirichlet sub-composition is itself a Dirichlet, so the sliced score is a proper density), and its modes appear only at the scoring step.</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~240 for andalusite; single-phase rows are excluded (nothing to size). current limits (tuned model): amphibole stays the flagship miss -- 65% of its (rock, support) PIT groups are mean-shifted (within-bulk bimodality collapses to the mean; mixture fix staged, #25) and tuning did not move its magnitude error; plag/afs/q are majority-shifted too (the support-conditioning signal, heads.md). full report: runs/mode_head/&lt;tag&gt;/ (magnitude_parity, magnitude_pit).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the largest head, and still trivially retrainable.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128 . comp_layers 1 (mini-sweep verdict: capacity above 128 x 1 hurts comp) . dropout 0.348 . alpha_eps 1e-6 . comp_eps 1e-4 (hard-zero clip on targets) . lambda_comp 1.0 . lambda_balance 54.5 --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recipe right? One phase through the oxide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CompHead's eval: slice the per-phase Dirichlets to the row's true support, then score each present phase's 11-oxide simplex -- right mix (parity), honest error bars (PIT), and mass balance as the physics self-check</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[21 phases x 11 oxides],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present phase: plag</a:t>
            </a:r>
          </a:p>
          <a:p>
            <a:pPr algn="ctr"/>
            <a:r>
              <a:rPr sz="800" b="0">
                <a:solidFill>
                  <a:srgbClr val="8A93A3"/>
                </a:solidFill>
              </a:rPr>
              <a:t>alpha0 = 780 (confidence)</a:t>
            </a:r>
          </a:p>
          <a:p>
            <a:pPr algn="ctr"/>
            <a:r>
              <a:rPr sz="800" b="0">
                <a:solidFill>
                  <a:srgbClr val="8A93A3"/>
                </a:solidFill>
              </a:rPr>
              <a:t>mean = alpha / alpha0:</a:t>
            </a:r>
          </a:p>
          <a:p>
            <a:pPr algn="ctr"/>
            <a:r>
              <a:rPr sz="800" b="0">
                <a:solidFill>
                  <a:srgbClr val="8A93A3"/>
                </a:solidFill>
              </a:rPr>
              <a:t>SiO2 .55  Al2O3 .28  CaO .12 ...</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mix +/- spread</a:t>
            </a:r>
          </a:p>
          <a:p>
            <a:pPr algn="ctr"/>
            <a:r>
              <a:rPr sz="800" b="0">
                <a:solidFill>
                  <a:srgbClr val="8A93A3"/>
                </a:solidFill>
              </a:rPr>
              <a:t>SiO2 0.55 +/- 0.018</a:t>
            </a:r>
          </a:p>
          <a:p>
            <a:pPr algn="ctr"/>
            <a:r>
              <a:rPr sz="800" b="0">
                <a:solidFill>
                  <a:srgbClr val="8A93A3"/>
                </a:solidFill>
              </a:rPr>
              <a:t>Al2O3 0.28 +/- 0.016</a:t>
            </a:r>
          </a:p>
          <a:p>
            <a:pPr algn="ctr"/>
            <a:r>
              <a:rPr sz="800" b="0">
                <a:solidFill>
                  <a:srgbClr val="8A93A3"/>
                </a:solidFill>
              </a:rPr>
              <a:t>CaO 0.12 +/- 0.012</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plag measured (mass-frac):</a:t>
            </a:r>
          </a:p>
          <a:p>
            <a:pPr algn="ctr"/>
            <a:r>
              <a:rPr sz="800" b="0">
                <a:solidFill>
                  <a:srgbClr val="8A93A3"/>
                </a:solidFill>
              </a:rPr>
              <a:t>.553  .285  .118  .041 ...</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per-oxide Beta PIT</a:t>
            </a:r>
          </a:p>
          <a:p>
            <a:pPr algn="ctr"/>
            <a:r>
              <a:rPr sz="800" b="0">
                <a:solidFill>
                  <a:srgbClr val="8A93A3"/>
                </a:solidFill>
              </a:rPr>
              <a:t>train: masked comp Dirichlet NLL</a:t>
            </a:r>
          </a:p>
        </p:txBody>
      </p:sp>
      <p:sp>
        <p:nvSpPr>
          <p:cNvPr id="13" name="Freeform 12"/>
          <p:cNvSpPr/>
          <p:nvPr/>
        </p:nvSpPr>
        <p:spPr>
          <a:xfrm>
            <a:off x="10104120" y="2240280"/>
            <a:ext cx="1828800" cy="1051560"/>
          </a:xfrm>
          <a:custGeom>
            <a:avLst/>
            <a:gdLst/>
            <a:ahLst/>
            <a:cxnLst/>
            <a:rect l="l" t="t" r="r" b="b"/>
            <a:pathLst>
              <a:path w="1828800" h="1051560">
                <a:moveTo>
                  <a:pt x="0" y="1051560"/>
                </a:moveTo>
                <a:lnTo>
                  <a:pt x="0" y="1050844"/>
                </a:lnTo>
                <a:lnTo>
                  <a:pt x="38100" y="1050329"/>
                </a:lnTo>
                <a:lnTo>
                  <a:pt x="76200" y="1049487"/>
                </a:lnTo>
                <a:lnTo>
                  <a:pt x="114300" y="1048141"/>
                </a:lnTo>
                <a:lnTo>
                  <a:pt x="152400" y="1046039"/>
                </a:lnTo>
                <a:lnTo>
                  <a:pt x="190500" y="1042828"/>
                </a:lnTo>
                <a:lnTo>
                  <a:pt x="228600" y="1038037"/>
                </a:lnTo>
                <a:lnTo>
                  <a:pt x="266700" y="1031050"/>
                </a:lnTo>
                <a:lnTo>
                  <a:pt x="304800" y="1021097"/>
                </a:lnTo>
                <a:lnTo>
                  <a:pt x="342900" y="1007252"/>
                </a:lnTo>
                <a:lnTo>
                  <a:pt x="381000" y="988449"/>
                </a:lnTo>
                <a:lnTo>
                  <a:pt x="419100" y="963528"/>
                </a:lnTo>
                <a:lnTo>
                  <a:pt x="457200" y="931310"/>
                </a:lnTo>
                <a:lnTo>
                  <a:pt x="495300" y="890704"/>
                </a:lnTo>
                <a:lnTo>
                  <a:pt x="533400" y="840842"/>
                </a:lnTo>
                <a:lnTo>
                  <a:pt x="571500" y="781241"/>
                </a:lnTo>
                <a:lnTo>
                  <a:pt x="609600" y="711966"/>
                </a:lnTo>
                <a:lnTo>
                  <a:pt x="647700" y="633774"/>
                </a:lnTo>
                <a:lnTo>
                  <a:pt x="685800" y="548225"/>
                </a:lnTo>
                <a:lnTo>
                  <a:pt x="723900" y="457719"/>
                </a:lnTo>
                <a:lnTo>
                  <a:pt x="762000" y="365451"/>
                </a:lnTo>
                <a:lnTo>
                  <a:pt x="800100" y="275267"/>
                </a:lnTo>
                <a:lnTo>
                  <a:pt x="838200" y="191423"/>
                </a:lnTo>
                <a:lnTo>
                  <a:pt x="876300" y="118263"/>
                </a:lnTo>
                <a:lnTo>
                  <a:pt x="914400" y="59857"/>
                </a:lnTo>
                <a:lnTo>
                  <a:pt x="952500" y="19623"/>
                </a:lnTo>
                <a:lnTo>
                  <a:pt x="990600" y="0"/>
                </a:lnTo>
                <a:lnTo>
                  <a:pt x="1028700" y="2198"/>
                </a:lnTo>
                <a:lnTo>
                  <a:pt x="1066800" y="26083"/>
                </a:lnTo>
                <a:lnTo>
                  <a:pt x="1104900" y="70182"/>
                </a:lnTo>
                <a:lnTo>
                  <a:pt x="1143000" y="131838"/>
                </a:lnTo>
                <a:lnTo>
                  <a:pt x="1181100" y="207474"/>
                </a:lnTo>
                <a:lnTo>
                  <a:pt x="1219200" y="292937"/>
                </a:lnTo>
                <a:lnTo>
                  <a:pt x="1257300" y="383869"/>
                </a:lnTo>
                <a:lnTo>
                  <a:pt x="1295400" y="476074"/>
                </a:lnTo>
                <a:lnTo>
                  <a:pt x="1333500" y="565820"/>
                </a:lnTo>
                <a:lnTo>
                  <a:pt x="1371600" y="650063"/>
                </a:lnTo>
                <a:lnTo>
                  <a:pt x="1409700" y="726570"/>
                </a:lnTo>
                <a:lnTo>
                  <a:pt x="1447800" y="793946"/>
                </a:lnTo>
                <a:lnTo>
                  <a:pt x="1485900" y="851585"/>
                </a:lnTo>
                <a:lnTo>
                  <a:pt x="1524000" y="899542"/>
                </a:lnTo>
                <a:lnTo>
                  <a:pt x="1562100" y="938392"/>
                </a:lnTo>
                <a:lnTo>
                  <a:pt x="1600200" y="969059"/>
                </a:lnTo>
                <a:lnTo>
                  <a:pt x="1638300" y="992661"/>
                </a:lnTo>
                <a:lnTo>
                  <a:pt x="1676400" y="1010382"/>
                </a:lnTo>
                <a:lnTo>
                  <a:pt x="1714500" y="1023367"/>
                </a:lnTo>
                <a:lnTo>
                  <a:pt x="1752600" y="1032658"/>
                </a:lnTo>
                <a:lnTo>
                  <a:pt x="1790700" y="1039149"/>
                </a:lnTo>
                <a:lnTo>
                  <a:pt x="1828800" y="1043580"/>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SiO2 marginal (Beta)</a:t>
            </a:r>
          </a:p>
        </p:txBody>
      </p:sp>
      <p:cxnSp>
        <p:nvCxnSpPr>
          <p:cNvPr id="16" name="Connector 15"/>
          <p:cNvCxnSpPr/>
          <p:nvPr/>
        </p:nvCxnSpPr>
        <p:spPr>
          <a:xfrm flipV="1">
            <a:off x="11073384"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0.553 -&gt; PIT 0.43</a:t>
            </a: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population: only truly-present (row, phase) pairs -- 42k for cpx down to ~240 for andalusite. headline (val roster, tuned): comp NLL -53.85 nats per present (row, phase), from -50.25 untuned; majors' PIT tails sit near the nominal 10% (cpx 0.055/0.056).</a:t>
            </a:r>
          </a:p>
        </p:txBody>
      </p:sp>
      <p:sp>
        <p:nvSpPr>
          <p:cNvPr id="19" name="TextBox 18"/>
          <p:cNvSpPr txBox="1"/>
          <p:nvPr/>
        </p:nvSpPr>
        <p:spPr>
          <a:xfrm>
            <a:off x="502920" y="5440680"/>
            <a:ext cx="11155680" cy="731520"/>
          </a:xfrm>
          <a:prstGeom prst="rect">
            <a:avLst/>
          </a:prstGeom>
          <a:noFill/>
        </p:spPr>
        <p:txBody>
          <a:bodyPr wrap="square">
            <a:spAutoFit/>
          </a:bodyPr>
          <a:lstStyle/>
          <a:p>
            <a:pPr algn="l"/>
            <a:r>
              <a:rPr sz="1100" b="0">
                <a:solidFill>
                  <a:srgbClr val="1A2238"/>
                </a:solidFill>
              </a:rPr>
              <a:t>the tuned confidence spans ~3 decades and tracks real mineralogy: near-stoichiometric phases (q, ru, sph, sill) earn alpha0 up to ~30,000 while wide solid solutions (spl, ilm, cpx) stay soft -- the untuned model hedged every phase into alpha0 100-650. mass balance closes to 1.3% mean L2 with signed per-oxide residuals centered on zero; plag An# parity r = 0.93.</a:t>
            </a:r>
          </a:p>
        </p:txBody>
      </p:sp>
      <p:sp>
        <p:nvSpPr>
          <p:cNvPr id="20" name="TextBox 19"/>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current limits: hard-zero oxides ride the eps floor (a quartz row is 'SiO2 + 10 floors'); ilmenite FeO/TiO2 stays the accuracy outlier; ~0.3% of corpus rows cannot self-close and set an unattainable closure floor there. full report: runs/comp_head/&lt;tag&gt;/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2 x [Linear -&gt; 512]</a:t>
            </a:r>
          </a:p>
          <a:p>
            <a:pPr algn="ctr"/>
            <a:r>
              <a:rPr sz="1000" b="0">
                <a:solidFill>
                  <a:srgbClr val="8A93A3"/>
                </a:solidFill>
              </a:rPr>
              <a:t>GELU + dropout each</a:t>
            </a:r>
          </a:p>
          <a:p>
            <a:pPr algn="ctr"/>
            <a:r>
              <a:rPr sz="1000" b="0">
                <a:solidFill>
                  <a:srgbClr val="8A93A3"/>
                </a:solidFill>
              </a:rPr>
              <a:t>404,992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512 -&gt; 9 (3 axes x K=3)</a:t>
            </a:r>
          </a:p>
          <a:p>
            <a:pPr algn="ctr"/>
            <a:r>
              <a:rPr sz="1000" b="0">
                <a:solidFill>
                  <a:srgbClr val="8A93A3"/>
                </a:solidFill>
              </a:rPr>
              <a:t>log-softmax over K per axis</a:t>
            </a:r>
          </a:p>
          <a:p>
            <a:pPr algn="ctr"/>
            <a:r>
              <a:rPr sz="1000" b="0">
                <a:solidFill>
                  <a:srgbClr val="8A93A3"/>
                </a:solidFill>
              </a:rPr>
              <a:t>4,617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512 -&gt; 9</a:t>
            </a:r>
          </a:p>
          <a:p>
            <a:pPr algn="ctr"/>
            <a:r>
              <a:rPr sz="1000" b="0">
                <a:solidFill>
                  <a:srgbClr val="8A93A3"/>
                </a:solidFill>
              </a:rPr>
              <a:t>mu_k in raw units (C, kbar, wt%)</a:t>
            </a:r>
          </a:p>
          <a:p>
            <a:pPr algn="ctr"/>
            <a:r>
              <a:rPr sz="1000" b="0">
                <a:solidFill>
                  <a:srgbClr val="8A93A3"/>
                </a:solidFill>
              </a:rPr>
              <a:t>4,617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512 -&gt; 9, softplus + eps</a:t>
            </a:r>
          </a:p>
          <a:p>
            <a:pPr algn="ctr"/>
            <a:r>
              <a:rPr sz="1000" b="0">
                <a:solidFill>
                  <a:srgbClr val="8A93A3"/>
                </a:solidFill>
              </a:rPr>
              <a:t>sigma_k, heteroscedastic</a:t>
            </a:r>
          </a:p>
          <a:p>
            <a:pPr algn="ctr"/>
            <a:r>
              <a:rPr sz="1000" b="0">
                <a:solidFill>
                  <a:srgbClr val="8A93A3"/>
                </a:solidFill>
              </a:rPr>
              <a:t>4,617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418,843 trainable params (trunk 404,992 + 3 x 4,617) -- ~13% of the frozen encoder; the 512 x 2 trunk is the mini-sweep winner (0.29 nats over the starved 128 x 1). Output biases seeded at the targets' mean/std (raw-unit cold-start fix).</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512 . cond_layers 2 (adopted from the architecture mini-sweep) . dropout 0.348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68% band honest? Coverage, and the exposure gap</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CondHead's eval scores every row twice: told the TRUE mineral list (teacher-forced -- the head's own skill) and told ModeHead's SAMPLED list (the deployed pipeline). The first is calibrated; the gap to the second is the exposure bias.</a:t>
            </a:r>
          </a:p>
        </p:txBody>
      </p:sp>
      <p:sp>
        <p:nvSpPr>
          <p:cNvPr id="5" name="Rounded Rectangle 4"/>
          <p:cNvSpPr/>
          <p:nvPr/>
        </p:nvSpPr>
        <p:spPr>
          <a:xfrm>
            <a:off x="502920" y="1828800"/>
            <a:ext cx="2651760" cy="12801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input</a:t>
            </a:r>
          </a:p>
          <a:p>
            <a:pPr algn="ctr"/>
            <a:r>
              <a:rPr sz="800" b="0">
                <a:solidFill>
                  <a:srgbClr val="8A93A3"/>
                </a:solidFill>
              </a:rPr>
              <a:t>h [256] ++ true presence [21]</a:t>
            </a:r>
          </a:p>
          <a:p>
            <a:pPr algn="ctr"/>
            <a:r>
              <a:rPr sz="800" b="0">
                <a:solidFill>
                  <a:srgbClr val="8A93A3"/>
                </a:solidFill>
              </a:rPr>
              <a:t>bulk X: plag cpx amp ilm</a:t>
            </a:r>
          </a:p>
        </p:txBody>
      </p:sp>
      <p:sp>
        <p:nvSpPr>
          <p:cNvPr id="6" name="Right Arrow 5"/>
          <p:cNvSpPr/>
          <p:nvPr/>
        </p:nvSpPr>
        <p:spPr>
          <a:xfrm>
            <a:off x="324612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828800"/>
            <a:ext cx="2834640" cy="12801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T-axis mixture (K=3)</a:t>
            </a:r>
          </a:p>
          <a:p>
            <a:pPr algn="ctr"/>
            <a:r>
              <a:rPr sz="800" b="0">
                <a:solidFill>
                  <a:srgbClr val="8A93A3"/>
                </a:solidFill>
              </a:rPr>
              <a:t>deep-wet:  mu 780 C, w 0.58</a:t>
            </a:r>
          </a:p>
          <a:p>
            <a:pPr algn="ctr"/>
            <a:r>
              <a:rPr sz="800" b="0">
                <a:solidFill>
                  <a:srgbClr val="8A93A3"/>
                </a:solidFill>
              </a:rPr>
              <a:t>shallow-dry: mu 940 C, w 0.39</a:t>
            </a:r>
          </a:p>
          <a:p>
            <a:pPr algn="ctr"/>
            <a:r>
              <a:rPr sz="800" b="0">
                <a:solidFill>
                  <a:srgbClr val="8A93A3"/>
                </a:solidFill>
              </a:rPr>
              <a:t>(third component ~unused)</a:t>
            </a:r>
          </a:p>
        </p:txBody>
      </p:sp>
      <p:sp>
        <p:nvSpPr>
          <p:cNvPr id="8" name="Freeform 7"/>
          <p:cNvSpPr/>
          <p:nvPr/>
        </p:nvSpPr>
        <p:spPr>
          <a:xfrm>
            <a:off x="6903720" y="1874519"/>
            <a:ext cx="2377440" cy="1143001"/>
          </a:xfrm>
          <a:custGeom>
            <a:avLst/>
            <a:gdLst/>
            <a:ahLst/>
            <a:cxnLst/>
            <a:rect l="l" t="t" r="r" b="b"/>
            <a:pathLst>
              <a:path w="2377440" h="1143001">
                <a:moveTo>
                  <a:pt x="0" y="1143001"/>
                </a:moveTo>
                <a:lnTo>
                  <a:pt x="0" y="1140938"/>
                </a:lnTo>
                <a:lnTo>
                  <a:pt x="49529" y="1138428"/>
                </a:lnTo>
                <a:lnTo>
                  <a:pt x="99060" y="1133390"/>
                </a:lnTo>
                <a:lnTo>
                  <a:pt x="148589" y="1123858"/>
                </a:lnTo>
                <a:lnTo>
                  <a:pt x="198120" y="1106860"/>
                </a:lnTo>
                <a:lnTo>
                  <a:pt x="247650" y="1078329"/>
                </a:lnTo>
                <a:lnTo>
                  <a:pt x="297180" y="1033310"/>
                </a:lnTo>
                <a:lnTo>
                  <a:pt x="346710" y="966661"/>
                </a:lnTo>
                <a:lnTo>
                  <a:pt x="396240" y="874305"/>
                </a:lnTo>
                <a:lnTo>
                  <a:pt x="445770" y="754939"/>
                </a:lnTo>
                <a:lnTo>
                  <a:pt x="495300" y="611787"/>
                </a:lnTo>
                <a:lnTo>
                  <a:pt x="544830" y="453767"/>
                </a:lnTo>
                <a:lnTo>
                  <a:pt x="594359" y="295397"/>
                </a:lnTo>
                <a:lnTo>
                  <a:pt x="643890" y="155020"/>
                </a:lnTo>
                <a:lnTo>
                  <a:pt x="693420" y="51478"/>
                </a:lnTo>
                <a:lnTo>
                  <a:pt x="742950" y="0"/>
                </a:lnTo>
                <a:lnTo>
                  <a:pt x="792479" y="8538"/>
                </a:lnTo>
                <a:lnTo>
                  <a:pt x="842010" y="75747"/>
                </a:lnTo>
                <a:lnTo>
                  <a:pt x="891540" y="191322"/>
                </a:lnTo>
                <a:lnTo>
                  <a:pt x="941069" y="338550"/>
                </a:lnTo>
                <a:lnTo>
                  <a:pt x="990600" y="498187"/>
                </a:lnTo>
                <a:lnTo>
                  <a:pt x="1040130" y="652364"/>
                </a:lnTo>
                <a:lnTo>
                  <a:pt x="1089660" y="787363"/>
                </a:lnTo>
                <a:lnTo>
                  <a:pt x="1139189" y="894668"/>
                </a:lnTo>
                <a:lnTo>
                  <a:pt x="1188720" y="970345"/>
                </a:lnTo>
                <a:lnTo>
                  <a:pt x="1238250" y="1013401"/>
                </a:lnTo>
                <a:lnTo>
                  <a:pt x="1287779" y="1024014"/>
                </a:lnTo>
                <a:lnTo>
                  <a:pt x="1337309" y="1002483"/>
                </a:lnTo>
                <a:lnTo>
                  <a:pt x="1386840" y="949410"/>
                </a:lnTo>
                <a:lnTo>
                  <a:pt x="1436370" y="867099"/>
                </a:lnTo>
                <a:lnTo>
                  <a:pt x="1485900" y="761531"/>
                </a:lnTo>
                <a:lnTo>
                  <a:pt x="1535430" y="643826"/>
                </a:lnTo>
                <a:lnTo>
                  <a:pt x="1584960" y="530029"/>
                </a:lnTo>
                <a:lnTo>
                  <a:pt x="1634490" y="438642"/>
                </a:lnTo>
                <a:lnTo>
                  <a:pt x="1684020" y="386335"/>
                </a:lnTo>
                <a:lnTo>
                  <a:pt x="1733550" y="383317"/>
                </a:lnTo>
                <a:lnTo>
                  <a:pt x="1783080" y="430256"/>
                </a:lnTo>
                <a:lnTo>
                  <a:pt x="1832610" y="518129"/>
                </a:lnTo>
                <a:lnTo>
                  <a:pt x="1882140" y="631084"/>
                </a:lnTo>
                <a:lnTo>
                  <a:pt x="1931670" y="751118"/>
                </a:lnTo>
                <a:lnTo>
                  <a:pt x="1981200" y="862677"/>
                </a:lnTo>
                <a:lnTo>
                  <a:pt x="2030729" y="955625"/>
                </a:lnTo>
                <a:lnTo>
                  <a:pt x="2080260" y="1025967"/>
                </a:lnTo>
                <a:lnTo>
                  <a:pt x="2129790" y="1074694"/>
                </a:lnTo>
                <a:lnTo>
                  <a:pt x="2179320" y="1105748"/>
                </a:lnTo>
                <a:lnTo>
                  <a:pt x="2228850" y="1124016"/>
                </a:lnTo>
                <a:lnTo>
                  <a:pt x="2278380" y="1133960"/>
                </a:lnTo>
                <a:lnTo>
                  <a:pt x="2327910" y="1138978"/>
                </a:lnTo>
                <a:lnTo>
                  <a:pt x="2377440" y="1141328"/>
                </a:lnTo>
                <a:lnTo>
                  <a:pt x="2377440" y="1143001"/>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903720" y="3017520"/>
            <a:ext cx="237744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20840" y="3063239"/>
            <a:ext cx="2743200" cy="365760"/>
          </a:xfrm>
          <a:prstGeom prst="rect">
            <a:avLst/>
          </a:prstGeom>
          <a:noFill/>
        </p:spPr>
        <p:txBody>
          <a:bodyPr wrap="square">
            <a:spAutoFit/>
          </a:bodyPr>
          <a:lstStyle/>
          <a:p>
            <a:pPr algn="ctr"/>
            <a:r>
              <a:rPr sz="1200" b="1">
                <a:solidFill>
                  <a:srgbClr val="1A2238"/>
                </a:solidFill>
              </a:rPr>
              <a:t>p(T | h, support): two condition modes</a:t>
            </a:r>
          </a:p>
        </p:txBody>
      </p:sp>
      <p:cxnSp>
        <p:nvCxnSpPr>
          <p:cNvPr id="11" name="Connector 10"/>
          <p:cNvCxnSpPr/>
          <p:nvPr/>
        </p:nvCxnSpPr>
        <p:spPr>
          <a:xfrm flipV="1">
            <a:off x="7807147" y="1737360"/>
            <a:ext cx="0" cy="128016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371599"/>
            <a:ext cx="2743200" cy="731520"/>
          </a:xfrm>
          <a:prstGeom prst="rect">
            <a:avLst/>
          </a:prstGeom>
          <a:noFill/>
        </p:spPr>
        <p:txBody>
          <a:bodyPr wrap="square">
            <a:spAutoFit/>
          </a:bodyPr>
          <a:lstStyle/>
          <a:p>
            <a:pPr algn="ctr"/>
            <a:r>
              <a:rPr sz="1000" b="0">
                <a:solidFill>
                  <a:srgbClr val="2A9D8F"/>
                </a:solidFill>
              </a:rPr>
              <a:t>truth T = 815 C, inside the 68% band</a:t>
            </a:r>
          </a:p>
        </p:txBody>
      </p:sp>
      <p:sp>
        <p:nvSpPr>
          <p:cNvPr id="13" name="Rounded Rectangle 12"/>
          <p:cNvSpPr/>
          <p:nvPr/>
        </p:nvSpPr>
        <p:spPr>
          <a:xfrm>
            <a:off x="9646920" y="1828800"/>
            <a:ext cx="2148840" cy="12801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coverage question</a:t>
            </a:r>
          </a:p>
          <a:p>
            <a:pPr algn="ctr"/>
            <a:r>
              <a:rPr sz="800" b="0">
                <a:solidFill>
                  <a:srgbClr val="8A93A3"/>
                </a:solidFill>
              </a:rPr>
              <a:t>does the central 68% of</a:t>
            </a:r>
          </a:p>
          <a:p>
            <a:pPr algn="ctr"/>
            <a:r>
              <a:rPr sz="800" b="0">
                <a:solidFill>
                  <a:srgbClr val="8A93A3"/>
                </a:solidFill>
              </a:rPr>
              <a:t>the mixture catch the</a:t>
            </a:r>
          </a:p>
          <a:p>
            <a:pPr algn="ctr"/>
            <a:r>
              <a:rPr sz="800" b="0">
                <a:solidFill>
                  <a:srgbClr val="8A93A3"/>
                </a:solidFill>
              </a:rPr>
              <a:t>truth ~68% of rows?</a:t>
            </a:r>
          </a:p>
        </p:txBody>
      </p:sp>
      <p:sp>
        <p:nvSpPr>
          <p:cNvPr id="14" name="Rounded Rectangle 13"/>
          <p:cNvSpPr/>
          <p:nvPr/>
        </p:nvSpPr>
        <p:spPr>
          <a:xfrm>
            <a:off x="502920" y="3657600"/>
            <a:ext cx="539496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teacher-forced (true list): honest</a:t>
            </a:r>
          </a:p>
          <a:p>
            <a:pPr algn="ctr"/>
            <a:r>
              <a:rPr sz="900" b="0">
                <a:solidFill>
                  <a:srgbClr val="8A93A3"/>
                </a:solidFill>
              </a:rPr>
              <a:t>68% band catches truth on 71.5% of rows (T),</a:t>
            </a:r>
          </a:p>
          <a:p>
            <a:pPr algn="ctr"/>
            <a:r>
              <a:rPr sz="900" b="0">
                <a:solidFill>
                  <a:srgbClr val="8A93A3"/>
                </a:solidFill>
              </a:rPr>
              <a:t>67.1% (P), 68.4% (H2O) . NLL 8.32 nats/row (was 8.60)</a:t>
            </a:r>
          </a:p>
        </p:txBody>
      </p:sp>
      <p:sp>
        <p:nvSpPr>
          <p:cNvPr id="15" name="Rounded Rectangle 14"/>
          <p:cNvSpPr/>
          <p:nvPr/>
        </p:nvSpPr>
        <p:spPr>
          <a:xfrm>
            <a:off x="6263640" y="3657600"/>
            <a:ext cx="5532120" cy="105156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ModeHead-sampled list: the exposure gap</a:t>
            </a:r>
          </a:p>
          <a:p>
            <a:pPr algn="ctr"/>
            <a:r>
              <a:rPr sz="900" b="0">
                <a:solidFill>
                  <a:srgbClr val="8A93A3"/>
                </a:solidFill>
              </a:rPr>
              <a:t>coverage collapses to 26-35% . NLL +2.4 to +3.9 nats/axis</a:t>
            </a:r>
          </a:p>
          <a:p>
            <a:pPr algn="ctr"/>
            <a:r>
              <a:rPr sz="900" b="0">
                <a:solidFill>
                  <a:srgbClr val="8A93A3"/>
                </a:solidFill>
              </a:rPr>
              <a:t>(P_kbar hits inf rows) -- sharper under truth = more wrong under mismatch</a:t>
            </a:r>
          </a:p>
        </p:txBody>
      </p:sp>
      <p:sp>
        <p:nvSpPr>
          <p:cNvPr id="16" name="TextBox 15"/>
          <p:cNvSpPr txBox="1"/>
          <p:nvPr/>
        </p:nvSpPr>
        <p:spPr>
          <a:xfrm>
            <a:off x="502920" y="4937760"/>
            <a:ext cx="11155680" cy="731520"/>
          </a:xfrm>
          <a:prstGeom prst="rect">
            <a:avLst/>
          </a:prstGeom>
          <a:noFill/>
        </p:spPr>
        <p:txBody>
          <a:bodyPr wrap="square">
            <a:spAutoFit/>
          </a:bodyPr>
          <a:lstStyle/>
          <a:p>
            <a:pPr algn="l"/>
            <a:r>
              <a:rPr sz="1100" b="0">
                <a:solidFill>
                  <a:srgbClr val="1A2238"/>
                </a:solidFill>
              </a:rPr>
              <a:t>the gap is a deliberate debt: the head trains and is graded teacher-forced (mineralogy-first -- conditions are the bonus product), and tuning made the head sharper, which widened the gap. It is measured, tracked (#31, P3), and untouched by design until the mineralogy heads are done.</a:t>
            </a:r>
          </a:p>
        </p:txBody>
      </p:sp>
      <p:sp>
        <p:nvSpPr>
          <p:cNvPr id="17" name="TextBox 16"/>
          <p:cNvSpPr txBox="1"/>
          <p:nvPr/>
        </p:nvSpPr>
        <p:spPr>
          <a:xfrm>
            <a:off x="502920" y="5623560"/>
            <a:ext cx="11155680" cy="731520"/>
          </a:xfrm>
          <a:prstGeom prst="rect">
            <a:avLst/>
          </a:prstGeom>
          <a:noFill/>
        </p:spPr>
        <p:txBody>
          <a:bodyPr wrap="square">
            <a:spAutoFit/>
          </a:bodyPr>
          <a:lstStyle/>
          <a:p>
            <a:pPr algn="l"/>
            <a:r>
              <a:rPr sz="1100" b="0">
                <a:solidFill>
                  <a:srgbClr val="1A2238"/>
                </a:solidFill>
              </a:rPr>
              <a:t>population: all 55,576 val-roster rows, both scoring passes on the same rows with a fixed sampling seed. per-axis NLL (tuned, teacher-forced): T 4.97, P 1.82, H2O 1.53 -- summed 8.32.</a:t>
            </a:r>
          </a:p>
        </p:txBody>
      </p:sp>
      <p:sp>
        <p:nvSpPr>
          <p:cNvPr id="18" name="TextBox 17"/>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current limits: axes are independent mixtures (no (T, P) correlation, deferred per ADR 006); T is a derived cooling endpoint, not a sampled axis; sampled-support P rows can blow up numerically (the inf rows are #31's starting point). full report: runs/cond_head/&lt;tag&gt;/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