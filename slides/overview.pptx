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Living deck: how the current canonical model and its training/inference pipeline work. Regenerated on every major architecture change.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Three corpora. Pretrain (Gard) is inputs-only and trains the encoder; the equilibrium corpus (MAGEMin cooling, phenocryst-regime endpoint -- generation pipeline on the next slide) carries the labels that train the heads; the real volcanic benchmark and mineralML grains are held out for validation.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Track B label factory, left to right: stratified volcanic bulk tables; solubility-bounded Latin-Hypercube (P, H2O) draws with the proposal density stored per row; chunked MAGEMin equilibrium cooling stopped below 30% residual melt (fresh Julia worker per chunk, atomic parquet + manifest, rerun-to-resume); three tables with full labels at the four candidate rungs; crystals-renormalized training labels rebuilt at train time (presence cutoff is a rebuild, not a regen).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Status strip for the corpus regen. Stages 1-2 are code, landed and tested. Stage 3-5 are runs the owner executes in his own terminal; each has a decision gate before the next. Update this slide as stages complete.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map before the detailed walk-through: tokens -&gt; embed -&gt; encoder -&gt; h -&gt; {heads, encoder apps}. Following slides zoom into each block.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Input = up to 22 (element id, amount) pairs. Padding is src==0. The conditions (T,P,H2O) are CondHead targets, never inputs.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Opens the embed step: element id -&gt; mat2vec vector, amount -&gt; projection, summed into the per-token vector.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Self-attention (4x4 heatmap, diagonal strongest) then masked-mean pool over non-padding tokens into 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Masked-element modelling. Encoder is TRAINED here (frozen is the downstream state). Loss is per-element standardized log-space MSE so traces get supervised. Over ~167k rocks.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three-stage training pipeline. Stage 1 is the SSL loop from the prior slide; stage 2 freezes; stage 3 trains the heads on the labeled equilibrium corpus.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Structural view: which heads exist and that they all read the same frozen h. Outputs are drawn on the next slide.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Output FORM, not measured results (heads train in issue #10). ModeHead = hurdle Dirichlet: per-phase presence Bernoulli x conditional Dirichlet over present-phase modes; bars are posterior means + credible intervals, and intermediate presence (amphibole ~0.4) IS the multimodal posterior, not noise. CondHead = per-axis GMM (H2O multimodal). Numbers illustrative.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377440"/>
            <a:ext cx="12191695" cy="1737360"/>
          </a:xfrm>
          <a:prstGeom prst="rect">
            <a:avLst/>
          </a:prstGeom>
          <a:solidFill>
            <a:srgbClr val="1A22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606040"/>
            <a:ext cx="106984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CrabNet-Mineral v3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58952" y="3474720"/>
            <a:ext cx="10698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>
                <a:solidFill>
                  <a:srgbClr val="E8883A"/>
                </a:solidFill>
              </a:rPr>
              <a:t>model &amp; pipeline overview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2E5BFF"/>
                </a:solidFill>
              </a:rPr>
              <a:t>DATA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03504"/>
            <a:ext cx="11155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A2238"/>
                </a:solidFill>
              </a:rPr>
              <a:t>Three corpora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828800"/>
            <a:ext cx="3566160" cy="2377440"/>
          </a:xfrm>
          <a:prstGeom prst="roundRect">
            <a:avLst/>
          </a:prstGeom>
          <a:solidFill>
            <a:srgbClr val="DDF4F2"/>
          </a:solidFill>
          <a:ln w="25400">
            <a:solidFill>
              <a:srgbClr val="12B5A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1A2238"/>
                </a:solidFill>
              </a:rPr>
              <a:t>SSL pretrain</a:t>
            </a:r>
          </a:p>
          <a:p>
            <a:pPr algn="ctr"/>
            <a:r>
              <a:rPr sz="1400" b="1">
                <a:solidFill>
                  <a:srgbClr val="1A2238"/>
                </a:solidFill>
              </a:rPr>
              <a:t/>
            </a:r>
          </a:p>
          <a:p>
            <a:pPr algn="ctr"/>
            <a:r>
              <a:rPr sz="1100" b="0">
                <a:solidFill>
                  <a:srgbClr val="8A93A3"/>
                </a:solidFill>
              </a:rPr>
              <a:t>data/bulks/gard2019.csv</a:t>
            </a:r>
          </a:p>
          <a:p>
            <a:pPr algn="ctr"/>
            <a:r>
              <a:rPr sz="1100" b="0">
                <a:solidFill>
                  <a:srgbClr val="8A93A3"/>
                </a:solidFill>
              </a:rPr>
              <a:t>~167k igneous bulks</a:t>
            </a:r>
          </a:p>
          <a:p>
            <a:pPr algn="ctr"/>
            <a:r>
              <a:rPr sz="1100" b="0">
                <a:solidFill>
                  <a:srgbClr val="8A93A3"/>
                </a:solidFill>
              </a:rPr>
              <a:t>inputs only (no labels)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297680" y="1828800"/>
            <a:ext cx="3566160" cy="2377440"/>
          </a:xfrm>
          <a:prstGeom prst="roundRect">
            <a:avLst/>
          </a:prstGeom>
          <a:solidFill>
            <a:srgbClr val="E1F1EF"/>
          </a:solidFill>
          <a:ln w="254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1A2238"/>
                </a:solidFill>
              </a:rPr>
              <a:t>supervised</a:t>
            </a:r>
          </a:p>
          <a:p>
            <a:pPr algn="ctr"/>
            <a:r>
              <a:rPr sz="1400" b="1">
                <a:solidFill>
                  <a:srgbClr val="1A2238"/>
                </a:solidFill>
              </a:rPr>
              <a:t/>
            </a:r>
          </a:p>
          <a:p>
            <a:pPr algn="ctr"/>
            <a:r>
              <a:rPr sz="1100" b="0">
                <a:solidFill>
                  <a:srgbClr val="8A93A3"/>
                </a:solidFill>
              </a:rPr>
              <a:t>equilibrium corpus (MAGEMin)</a:t>
            </a:r>
          </a:p>
          <a:p>
            <a:pPr algn="ctr"/>
            <a:r>
              <a:rPr sz="1100" b="0">
                <a:solidFill>
                  <a:srgbClr val="8A93A3"/>
                </a:solidFill>
              </a:rPr>
              <a:t>volcanic bulks x 48 (P, H2O) draws</a:t>
            </a:r>
          </a:p>
          <a:p>
            <a:pPr algn="ctr"/>
            <a:r>
              <a:rPr sz="1100" b="0">
                <a:solidFill>
                  <a:srgbClr val="8A93A3"/>
                </a:solidFill>
              </a:rPr>
              <a:t>phenocryst-regime labels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046720" y="1828800"/>
            <a:ext cx="3566160" cy="2377440"/>
          </a:xfrm>
          <a:prstGeom prst="roundRect">
            <a:avLst/>
          </a:prstGeom>
          <a:solidFill>
            <a:srgbClr val="EAE8FB"/>
          </a:solidFill>
          <a:ln w="25400">
            <a:solidFill>
              <a:srgbClr val="6C5C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1A2238"/>
                </a:solidFill>
              </a:rPr>
              <a:t>held-out eval</a:t>
            </a:r>
          </a:p>
          <a:p>
            <a:pPr algn="ctr"/>
            <a:r>
              <a:rPr sz="1400" b="1">
                <a:solidFill>
                  <a:srgbClr val="1A2238"/>
                </a:solidFill>
              </a:rPr>
              <a:t/>
            </a:r>
          </a:p>
          <a:p>
            <a:pPr algn="ctr"/>
            <a:r>
              <a:rPr sz="1100" b="0">
                <a:solidFill>
                  <a:srgbClr val="8A93A3"/>
                </a:solidFill>
              </a:rPr>
              <a:t>730 real volcanic modes</a:t>
            </a:r>
          </a:p>
          <a:p>
            <a:pPr algn="ctr"/>
            <a:r>
              <a:rPr sz="1100" b="0">
                <a:solidFill>
                  <a:srgbClr val="8A93A3"/>
                </a:solidFill>
              </a:rPr>
              <a:t>+ mineralML grains (~88k)</a:t>
            </a:r>
          </a:p>
          <a:p>
            <a:pPr algn="ctr"/>
            <a:r>
              <a:rPr sz="1100" b="0">
                <a:solidFill>
                  <a:srgbClr val="8A93A3"/>
                </a:solidFill>
              </a:rPr>
              <a:t>never trained 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4480560"/>
            <a:ext cx="3566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12B5A5"/>
                </a:solidFill>
              </a:rPr>
              <a:t>trains the encoder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0" y="4480560"/>
            <a:ext cx="3566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2A9D8F"/>
                </a:solidFill>
              </a:rPr>
              <a:t>trains the heads (next two slides)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46720" y="4480560"/>
            <a:ext cx="3566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6C5CE7"/>
                </a:solidFill>
              </a:rPr>
              <a:t>evaluation only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5212080"/>
            <a:ext cx="11064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A2238"/>
                </a:solidFill>
              </a:rPr>
              <a:t>inputs everywhere are the same 22-token cation+trace vector; the corpora differ in what supervision (if any) they attach.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2E5BFF"/>
                </a:solidFill>
              </a:rPr>
              <a:t>DATA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03504"/>
            <a:ext cx="11155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A2238"/>
                </a:solidFill>
              </a:rPr>
              <a:t>How the supervised labels are generated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417320"/>
            <a:ext cx="2148840" cy="1737360"/>
          </a:xfrm>
          <a:prstGeom prst="roundRect">
            <a:avLst/>
          </a:prstGeom>
          <a:solidFill>
            <a:srgbClr val="DDF4F2"/>
          </a:solidFill>
          <a:ln w="25400">
            <a:solidFill>
              <a:srgbClr val="12B5A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1A2238"/>
                </a:solidFill>
              </a:rPr>
              <a:t>volcanic core</a:t>
            </a:r>
          </a:p>
          <a:p>
            <a:pPr algn="ctr"/>
            <a:r>
              <a:rPr sz="900" b="0">
                <a:solidFill>
                  <a:srgbClr val="8A93A3"/>
                </a:solidFill>
              </a:rPr>
              <a:t>gard2019 -&gt; 324k bulks</a:t>
            </a:r>
          </a:p>
          <a:p>
            <a:pPr algn="ctr"/>
            <a:r>
              <a:rPr sz="900" b="0">
                <a:solidFill>
                  <a:srgbClr val="8A93A3"/>
                </a:solidFill>
              </a:rPr>
              <a:t>stratified: 10k train</a:t>
            </a:r>
          </a:p>
          <a:p>
            <a:pPr algn="ctr"/>
            <a:r>
              <a:rPr sz="900" b="0">
                <a:solidFill>
                  <a:srgbClr val="8A93A3"/>
                </a:solidFill>
              </a:rPr>
              <a:t>+ 500 val/test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3209544"/>
            <a:ext cx="2423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8A93A3"/>
                </a:solidFill>
              </a:rPr>
              <a:t>build_corpus_bulk_tables.py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880360" y="1417320"/>
            <a:ext cx="2148840" cy="1737360"/>
          </a:xfrm>
          <a:prstGeom prst="roundRect">
            <a:avLst/>
          </a:prstGeom>
          <a:solidFill>
            <a:srgbClr val="E1E8FF"/>
          </a:solidFill>
          <a:ln w="25400">
            <a:solidFill>
              <a:srgbClr val="2E5B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1A2238"/>
                </a:solidFill>
              </a:rPr>
              <a:t>sample conditions</a:t>
            </a:r>
          </a:p>
          <a:p>
            <a:pPr algn="ctr"/>
            <a:r>
              <a:rPr sz="900" b="0">
                <a:solidFill>
                  <a:srgbClr val="8A93A3"/>
                </a:solidFill>
              </a:rPr>
              <a:t>48 (P, H2O) draws/bulk</a:t>
            </a:r>
          </a:p>
          <a:p>
            <a:pPr algn="ctr"/>
            <a:r>
              <a:rPr sz="900" b="0">
                <a:solidFill>
                  <a:srgbClr val="8A93A3"/>
                </a:solidFill>
              </a:rPr>
              <a:t>solubility-bounded LHS</a:t>
            </a:r>
          </a:p>
          <a:p>
            <a:pPr algn="ctr"/>
            <a:r>
              <a:rPr sz="900" b="0">
                <a:solidFill>
                  <a:srgbClr val="8A93A3"/>
                </a:solidFill>
              </a:rPr>
              <a:t>density q stored per row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43200" y="3209544"/>
            <a:ext cx="2423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8A93A3"/>
                </a:solidFill>
              </a:rPr>
              <a:t>cnmineral.data.condition_proposal</a:t>
            </a:r>
          </a:p>
        </p:txBody>
      </p:sp>
      <p:sp>
        <p:nvSpPr>
          <p:cNvPr id="8" name="Right Arrow 7"/>
          <p:cNvSpPr/>
          <p:nvPr/>
        </p:nvSpPr>
        <p:spPr>
          <a:xfrm>
            <a:off x="2688336" y="2121408"/>
            <a:ext cx="155447" cy="329184"/>
          </a:xfrm>
          <a:prstGeom prst="rightArrow">
            <a:avLst/>
          </a:prstGeom>
          <a:solidFill>
            <a:srgbClr val="1A22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257800" y="1417320"/>
            <a:ext cx="2148840" cy="1737360"/>
          </a:xfrm>
          <a:prstGeom prst="roundRect">
            <a:avLst/>
          </a:prstGeom>
          <a:solidFill>
            <a:srgbClr val="EAE8FB"/>
          </a:solidFill>
          <a:ln w="25400">
            <a:solidFill>
              <a:srgbClr val="6C5C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1A2238"/>
                </a:solidFill>
              </a:rPr>
              <a:t>equilibrium cooling</a:t>
            </a:r>
          </a:p>
          <a:p>
            <a:pPr algn="ctr"/>
            <a:r>
              <a:rPr sz="900" b="0">
                <a:solidFill>
                  <a:srgbClr val="8A93A3"/>
                </a:solidFill>
              </a:rPr>
              <a:t>MAGEMin, 1200 -&gt; 600 C</a:t>
            </a:r>
          </a:p>
          <a:p>
            <a:pPr algn="ctr"/>
            <a:r>
              <a:rPr sz="900" b="0">
                <a:solidFill>
                  <a:srgbClr val="8A93A3"/>
                </a:solidFill>
              </a:rPr>
              <a:t>stop below 30% melt</a:t>
            </a:r>
          </a:p>
          <a:p>
            <a:pPr algn="ctr"/>
            <a:r>
              <a:rPr sz="900" b="0">
                <a:solidFill>
                  <a:srgbClr val="8A93A3"/>
                </a:solidFill>
              </a:rPr>
              <a:t>chunked + resumable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640" y="3209544"/>
            <a:ext cx="2423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8A93A3"/>
                </a:solidFill>
              </a:rPr>
              <a:t>generate_mineralogy_corpus.py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5065776" y="2121408"/>
            <a:ext cx="155448" cy="329184"/>
          </a:xfrm>
          <a:prstGeom prst="rightArrow">
            <a:avLst/>
          </a:prstGeom>
          <a:solidFill>
            <a:srgbClr val="1A22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7635240" y="1417320"/>
            <a:ext cx="2148840" cy="1737360"/>
          </a:xfrm>
          <a:prstGeom prst="roundRect">
            <a:avLst/>
          </a:prstGeom>
          <a:solidFill>
            <a:srgbClr val="FBEEE3"/>
          </a:solidFill>
          <a:ln w="25400">
            <a:solidFill>
              <a:srgbClr val="E888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1A2238"/>
                </a:solidFill>
              </a:rPr>
              <a:t>corpus tables</a:t>
            </a:r>
          </a:p>
          <a:p>
            <a:pPr algn="ctr"/>
            <a:r>
              <a:rPr sz="900" b="0">
                <a:solidFill>
                  <a:srgbClr val="8A93A3"/>
                </a:solidFill>
              </a:rPr>
              <a:t>draws / ladder / rungs</a:t>
            </a:r>
          </a:p>
          <a:p>
            <a:pPr algn="ctr"/>
            <a:r>
              <a:rPr sz="900" b="0">
                <a:solidFill>
                  <a:srgbClr val="8A93A3"/>
                </a:solidFill>
              </a:rPr>
              <a:t>full labels at</a:t>
            </a:r>
          </a:p>
          <a:p>
            <a:pPr algn="ctr"/>
            <a:r>
              <a:rPr sz="900" b="0">
                <a:solidFill>
                  <a:srgbClr val="8A93A3"/>
                </a:solidFill>
              </a:rPr>
              <a:t>60/50/40/30% melt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98079" y="3209544"/>
            <a:ext cx="2423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8A93A3"/>
                </a:solidFill>
              </a:rPr>
              <a:t>parquet + manifest per chunk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7443215" y="2121408"/>
            <a:ext cx="155448" cy="329184"/>
          </a:xfrm>
          <a:prstGeom prst="rightArrow">
            <a:avLst/>
          </a:prstGeom>
          <a:solidFill>
            <a:srgbClr val="1A22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10012680" y="1417320"/>
            <a:ext cx="2148840" cy="1737360"/>
          </a:xfrm>
          <a:prstGeom prst="roundRect">
            <a:avLst/>
          </a:prstGeom>
          <a:solidFill>
            <a:srgbClr val="E1F1EF"/>
          </a:solidFill>
          <a:ln w="254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1A2238"/>
                </a:solidFill>
              </a:rPr>
              <a:t>training labels</a:t>
            </a:r>
          </a:p>
          <a:p>
            <a:pPr algn="ctr"/>
            <a:r>
              <a:rPr sz="900" b="0">
                <a:solidFill>
                  <a:srgbClr val="8A93A3"/>
                </a:solidFill>
              </a:rPr>
              <a:t>crystals-renormalized</a:t>
            </a:r>
          </a:p>
          <a:p>
            <a:pPr algn="ctr"/>
            <a:r>
              <a:rPr sz="900" b="0">
                <a:solidFill>
                  <a:srgbClr val="8A93A3"/>
                </a:solidFill>
              </a:rPr>
              <a:t>solids; presence + modes</a:t>
            </a:r>
          </a:p>
          <a:p>
            <a:pPr algn="ctr"/>
            <a:r>
              <a:rPr sz="900" b="0">
                <a:solidFill>
                  <a:srgbClr val="8A93A3"/>
                </a:solidFill>
              </a:rPr>
              <a:t>rebuild, never a regen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875519" y="3209544"/>
            <a:ext cx="2423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8A93A3"/>
                </a:solidFill>
              </a:rPr>
              <a:t>training-time transform</a:t>
            </a:r>
          </a:p>
        </p:txBody>
      </p:sp>
      <p:sp>
        <p:nvSpPr>
          <p:cNvPr id="17" name="Right Arrow 16"/>
          <p:cNvSpPr/>
          <p:nvPr/>
        </p:nvSpPr>
        <p:spPr>
          <a:xfrm>
            <a:off x="9820655" y="2121408"/>
            <a:ext cx="155448" cy="329184"/>
          </a:xfrm>
          <a:prstGeom prst="rightArrow">
            <a:avLst/>
          </a:prstGeom>
          <a:solidFill>
            <a:srgbClr val="1A22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1097280" y="4526280"/>
            <a:ext cx="3291840" cy="1600200"/>
          </a:xfrm>
          <a:prstGeom prst="rect">
            <a:avLst/>
          </a:prstGeom>
          <a:noFill/>
          <a:ln w="12700">
            <a:solidFill>
              <a:srgbClr val="C8CD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1097280" y="4526280"/>
            <a:ext cx="3291840" cy="1600200"/>
          </a:xfrm>
          <a:custGeom>
            <a:avLst/>
            <a:gdLst/>
            <a:ahLst/>
            <a:cxnLst/>
            <a:rect l="l" t="t" r="r" b="b"/>
            <a:pathLst>
              <a:path w="3291840" h="1600200">
                <a:moveTo>
                  <a:pt x="0" y="1600200"/>
                </a:moveTo>
                <a:lnTo>
                  <a:pt x="0" y="1080135"/>
                </a:lnTo>
                <a:lnTo>
                  <a:pt x="143123" y="824103"/>
                </a:lnTo>
                <a:lnTo>
                  <a:pt x="286246" y="614076"/>
                </a:lnTo>
                <a:lnTo>
                  <a:pt x="429370" y="416052"/>
                </a:lnTo>
                <a:lnTo>
                  <a:pt x="572493" y="220027"/>
                </a:lnTo>
                <a:lnTo>
                  <a:pt x="715617" y="22002"/>
                </a:lnTo>
                <a:lnTo>
                  <a:pt x="729929" y="0"/>
                </a:lnTo>
                <a:lnTo>
                  <a:pt x="3291840" y="0"/>
                </a:lnTo>
                <a:lnTo>
                  <a:pt x="3291840" y="1600200"/>
                </a:lnTo>
                <a:close/>
              </a:path>
            </a:pathLst>
          </a:custGeom>
          <a:solidFill>
            <a:srgbClr val="C4D1FF"/>
          </a:solidFill>
          <a:ln w="25400">
            <a:solidFill>
              <a:srgbClr val="2E5B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14400" y="6144768"/>
            <a:ext cx="3657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8A93A3"/>
                </a:solidFill>
              </a:rPr>
              <a:t>P  0.5 -&gt; 12 kbar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30352" y="4480560"/>
            <a:ext cx="548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8A93A3"/>
                </a:solidFill>
              </a:rPr>
              <a:t>H2O</a:t>
            </a:r>
          </a:p>
          <a:p>
            <a:pPr algn="ctr"/>
            <a:r>
              <a:rPr sz="700" b="0">
                <a:solidFill>
                  <a:srgbClr val="8A93A3"/>
                </a:solidFill>
              </a:rPr>
              <a:t>0-8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280160" y="4160520"/>
            <a:ext cx="32918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2E5BFF"/>
                </a:solidFill>
              </a:rPr>
              <a:t>sampled (P, H2O) region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937760" y="5440680"/>
            <a:ext cx="67665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A2238"/>
                </a:solidFill>
              </a:rPr>
              <a:t>water is bounded by what melt can dissolve at each pressure (Newman &amp; Lowenstern 2002 rhyolite curve, capped at 8 wt%) -- the old flat box (whole rectangle) sampled impossible wet-shallow corners. q is the sampling density; inference reweights scenarios by p/q, so the corpus itself stays prior-agnostic.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2E5BFF"/>
                </a:solidFill>
              </a:rPr>
              <a:t>DATA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03504"/>
            <a:ext cx="11155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A2238"/>
                </a:solidFill>
              </a:rPr>
              <a:t>Corpus regen: where we are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2103120"/>
            <a:ext cx="2148840" cy="1920240"/>
          </a:xfrm>
          <a:prstGeom prst="roundRect">
            <a:avLst/>
          </a:prstGeom>
          <a:solidFill>
            <a:srgbClr val="E1F1EF"/>
          </a:solidFill>
          <a:ln w="254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1A2238"/>
                </a:solidFill>
              </a:rPr>
              <a:t>1. bounded sampler</a:t>
            </a:r>
          </a:p>
          <a:p>
            <a:pPr algn="ctr"/>
            <a:r>
              <a:rPr sz="1200" b="1">
                <a:solidFill>
                  <a:srgbClr val="1A2238"/>
                </a:solidFill>
              </a:rPr>
              <a:t/>
            </a:r>
          </a:p>
          <a:p>
            <a:pPr algn="ctr"/>
            <a:r>
              <a:rPr sz="1200" b="1">
                <a:solidFill>
                  <a:srgbClr val="1A2238"/>
                </a:solidFill>
              </a:rPr>
              <a:t>landed + tested</a:t>
            </a:r>
          </a:p>
          <a:p>
            <a:pPr algn="ctr"/>
            <a:r>
              <a:rPr sz="900" b="0">
                <a:solidFill>
                  <a:srgbClr val="8A93A3"/>
                </a:solidFill>
              </a:rPr>
              <a:t>condition_proposal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719072"/>
            <a:ext cx="21488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2A9D8F"/>
                </a:solidFill>
              </a:rPr>
              <a:t>LANDED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880360" y="2103120"/>
            <a:ext cx="2148840" cy="1920240"/>
          </a:xfrm>
          <a:prstGeom prst="roundRect">
            <a:avLst/>
          </a:prstGeom>
          <a:solidFill>
            <a:srgbClr val="E1F1EF"/>
          </a:solidFill>
          <a:ln w="254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1A2238"/>
                </a:solidFill>
              </a:rPr>
              <a:t>2. orchestrator</a:t>
            </a:r>
          </a:p>
          <a:p>
            <a:pPr algn="ctr"/>
            <a:r>
              <a:rPr sz="1200" b="1">
                <a:solidFill>
                  <a:srgbClr val="1A2238"/>
                </a:solidFill>
              </a:rPr>
              <a:t/>
            </a:r>
          </a:p>
          <a:p>
            <a:pPr algn="ctr"/>
            <a:r>
              <a:rPr sz="1200" b="1">
                <a:solidFill>
                  <a:srgbClr val="1A2238"/>
                </a:solidFill>
              </a:rPr>
              <a:t>landed + smoke-run</a:t>
            </a:r>
          </a:p>
          <a:p>
            <a:pPr algn="ctr"/>
            <a:r>
              <a:rPr sz="900" b="0">
                <a:solidFill>
                  <a:srgbClr val="8A93A3"/>
                </a:solidFill>
              </a:rPr>
              <a:t>generate_mineralogy_corpus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880360" y="1719072"/>
            <a:ext cx="21488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2A9D8F"/>
                </a:solidFill>
              </a:rPr>
              <a:t>LANDED</a:t>
            </a:r>
          </a:p>
        </p:txBody>
      </p:sp>
      <p:sp>
        <p:nvSpPr>
          <p:cNvPr id="8" name="Right Arrow 7"/>
          <p:cNvSpPr/>
          <p:nvPr/>
        </p:nvSpPr>
        <p:spPr>
          <a:xfrm>
            <a:off x="2688336" y="2898647"/>
            <a:ext cx="155447" cy="329184"/>
          </a:xfrm>
          <a:prstGeom prst="rightArrow">
            <a:avLst/>
          </a:prstGeom>
          <a:solidFill>
            <a:srgbClr val="1A22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257800" y="2103120"/>
            <a:ext cx="2148840" cy="1920240"/>
          </a:xfrm>
          <a:prstGeom prst="roundRect">
            <a:avLst/>
          </a:prstGeom>
          <a:solidFill>
            <a:srgbClr val="E1F1EF"/>
          </a:solidFill>
          <a:ln w="254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1A2238"/>
                </a:solidFill>
              </a:rPr>
              <a:t>3. water A/B</a:t>
            </a:r>
          </a:p>
          <a:p>
            <a:pPr algn="ctr"/>
            <a:r>
              <a:rPr sz="1200" b="1">
                <a:solidFill>
                  <a:srgbClr val="1A2238"/>
                </a:solidFill>
              </a:rPr>
              <a:t/>
            </a:r>
          </a:p>
          <a:p>
            <a:pPr algn="ctr"/>
            <a:r>
              <a:rPr sz="1200" b="1">
                <a:solidFill>
                  <a:srgbClr val="1A2238"/>
                </a:solidFill>
              </a:rPr>
              <a:t>switch holds;</a:t>
            </a:r>
          </a:p>
          <a:p>
            <a:pPr algn="ctr"/>
            <a:r>
              <a:rPr sz="900" b="0">
                <a:solidFill>
                  <a:srgbClr val="8A93A3"/>
                </a:solidFill>
              </a:rPr>
              <a:t>biotite gap is</a:t>
            </a:r>
          </a:p>
          <a:p>
            <a:pPr algn="ctr"/>
            <a:r>
              <a:rPr sz="900" b="0">
                <a:solidFill>
                  <a:srgbClr val="8A93A3"/>
                </a:solidFill>
              </a:rPr>
              <a:t>prior-side, not coverage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257800" y="1719072"/>
            <a:ext cx="21488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2A9D8F"/>
                </a:solidFill>
              </a:rPr>
              <a:t>LANDED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5065776" y="2898647"/>
            <a:ext cx="155448" cy="329184"/>
          </a:xfrm>
          <a:prstGeom prst="rightArrow">
            <a:avLst/>
          </a:prstGeom>
          <a:solidFill>
            <a:srgbClr val="1A22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7635240" y="2103120"/>
            <a:ext cx="2148840" cy="1920240"/>
          </a:xfrm>
          <a:prstGeom prst="roundRect">
            <a:avLst/>
          </a:prstGeom>
          <a:solidFill>
            <a:srgbClr val="FBEEE3"/>
          </a:solidFill>
          <a:ln w="25400">
            <a:solidFill>
              <a:srgbClr val="E888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1A2238"/>
                </a:solidFill>
              </a:rPr>
              <a:t>4. pilot + rung pick</a:t>
            </a:r>
          </a:p>
          <a:p>
            <a:pPr algn="ctr"/>
            <a:r>
              <a:rPr sz="1200" b="1">
                <a:solidFill>
                  <a:srgbClr val="1A2238"/>
                </a:solidFill>
              </a:rPr>
              <a:t/>
            </a:r>
          </a:p>
          <a:p>
            <a:pPr algn="ctr"/>
            <a:r>
              <a:rPr sz="1200" b="1">
                <a:solidFill>
                  <a:srgbClr val="1A2238"/>
                </a:solidFill>
              </a:rPr>
              <a:t>first 5 train chunks</a:t>
            </a:r>
          </a:p>
          <a:p>
            <a:pPr algn="ctr"/>
            <a:r>
              <a:rPr sz="900" b="0">
                <a:solidFill>
                  <a:srgbClr val="8A93A3"/>
                </a:solidFill>
              </a:rPr>
              <a:t>health report +</a:t>
            </a:r>
          </a:p>
          <a:p>
            <a:pPr algn="ctr"/>
            <a:r>
              <a:rPr sz="900" b="0">
                <a:solidFill>
                  <a:srgbClr val="8A93A3"/>
                </a:solidFill>
              </a:rPr>
              <a:t>rung_prescreen.py -&gt; owner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635240" y="1719072"/>
            <a:ext cx="21488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E8883A"/>
                </a:solidFill>
              </a:rPr>
              <a:t>NEXT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7443215" y="2898647"/>
            <a:ext cx="155448" cy="329184"/>
          </a:xfrm>
          <a:prstGeom prst="rightArrow">
            <a:avLst/>
          </a:prstGeom>
          <a:solidFill>
            <a:srgbClr val="1A22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10012680" y="2103120"/>
            <a:ext cx="2148840" cy="19202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8CD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8A93A3"/>
                </a:solidFill>
              </a:rPr>
              <a:t>5. production</a:t>
            </a:r>
          </a:p>
          <a:p>
            <a:pPr algn="ctr"/>
            <a:r>
              <a:rPr sz="1200" b="1">
                <a:solidFill>
                  <a:srgbClr val="8A93A3"/>
                </a:solidFill>
              </a:rPr>
              <a:t/>
            </a:r>
          </a:p>
          <a:p>
            <a:pPr algn="ctr"/>
            <a:r>
              <a:rPr sz="1200" b="1">
                <a:solidFill>
                  <a:srgbClr val="8A93A3"/>
                </a:solidFill>
              </a:rPr>
              <a:t>10k x 48 + 500 x 128</a:t>
            </a:r>
          </a:p>
          <a:p>
            <a:pPr algn="ctr"/>
            <a:r>
              <a:rPr sz="900" b="0">
                <a:solidFill>
                  <a:srgbClr val="8A93A3"/>
                </a:solidFill>
              </a:rPr>
              <a:t>~2 days, pausable</a:t>
            </a:r>
          </a:p>
          <a:p>
            <a:pPr algn="ctr"/>
            <a:r>
              <a:rPr sz="900" b="0">
                <a:solidFill>
                  <a:srgbClr val="8A93A3"/>
                </a:solidFill>
              </a:rPr>
              <a:t>rerun command = resume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012680" y="1719072"/>
            <a:ext cx="21488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8A93A3"/>
                </a:solidFill>
              </a:rPr>
              <a:t>queued</a:t>
            </a:r>
          </a:p>
        </p:txBody>
      </p:sp>
      <p:sp>
        <p:nvSpPr>
          <p:cNvPr id="17" name="Right Arrow 16"/>
          <p:cNvSpPr/>
          <p:nvPr/>
        </p:nvSpPr>
        <p:spPr>
          <a:xfrm>
            <a:off x="9820655" y="2898647"/>
            <a:ext cx="155448" cy="329184"/>
          </a:xfrm>
          <a:prstGeom prst="rightArrow">
            <a:avLst/>
          </a:prstGeom>
          <a:solidFill>
            <a:srgbClr val="C8CD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2920" y="4754880"/>
            <a:ext cx="11155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A2238"/>
                </a:solidFill>
              </a:rPr>
              <a:t>gates between stages: the A/B re-checks the amp/opx multimodality magnitude and the biotite presence gap under bounded water; the pilot pre-screen scores each rung against the real benchmark (presence per SiO2 band, then rank of proportions) and the owner picks the training rung before production launches.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2920" y="5806440"/>
            <a:ext cx="11155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8A93A3"/>
                </a:solidFill>
              </a:rPr>
              <a:t>spec: docs/corpus_regen_spec.md (all design decisions locked 2026-07-14; what remains is measurement and generation).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2E5BFF"/>
                </a:solidFill>
              </a:rPr>
              <a:t>ARCHITECTURE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03504"/>
            <a:ext cx="11155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A2238"/>
                </a:solidFill>
              </a:rPr>
              <a:t>At a glance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2743200"/>
            <a:ext cx="1828800" cy="1417320"/>
          </a:xfrm>
          <a:prstGeom prst="roundRect">
            <a:avLst/>
          </a:prstGeom>
          <a:solidFill>
            <a:srgbClr val="E1E8FF"/>
          </a:solidFill>
          <a:ln w="25400">
            <a:solidFill>
              <a:srgbClr val="2E5B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1A2238"/>
                </a:solidFill>
              </a:rPr>
              <a:t>input tokens</a:t>
            </a:r>
          </a:p>
          <a:p>
            <a:pPr algn="ctr"/>
            <a:r>
              <a:rPr sz="900" b="0">
                <a:solidFill>
                  <a:srgbClr val="8A93A3"/>
                </a:solidFill>
              </a:rPr>
              <a:t>22 elements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788920" y="2743200"/>
            <a:ext cx="1828800" cy="1417320"/>
          </a:xfrm>
          <a:prstGeom prst="roundRect">
            <a:avLst/>
          </a:prstGeom>
          <a:solidFill>
            <a:srgbClr val="DDF4F2"/>
          </a:solidFill>
          <a:ln w="25400">
            <a:solidFill>
              <a:srgbClr val="12B5A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1A2238"/>
                </a:solidFill>
              </a:rPr>
              <a:t>embed</a:t>
            </a:r>
          </a:p>
          <a:p>
            <a:pPr algn="ctr"/>
            <a:r>
              <a:rPr sz="900" b="0">
                <a:solidFill>
                  <a:srgbClr val="8A93A3"/>
                </a:solidFill>
              </a:rPr>
              <a:t>mat2vec + amount</a:t>
            </a:r>
          </a:p>
        </p:txBody>
      </p:sp>
      <p:sp>
        <p:nvSpPr>
          <p:cNvPr id="6" name="Right Arrow 5"/>
          <p:cNvSpPr/>
          <p:nvPr/>
        </p:nvSpPr>
        <p:spPr>
          <a:xfrm>
            <a:off x="2377439" y="3268979"/>
            <a:ext cx="365760" cy="365760"/>
          </a:xfrm>
          <a:prstGeom prst="rightArrow">
            <a:avLst/>
          </a:prstGeom>
          <a:solidFill>
            <a:srgbClr val="1A22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120640" y="2743200"/>
            <a:ext cx="1828800" cy="1417320"/>
          </a:xfrm>
          <a:prstGeom prst="roundRect">
            <a:avLst/>
          </a:prstGeom>
          <a:solidFill>
            <a:srgbClr val="EAE8FB"/>
          </a:solidFill>
          <a:ln w="25400">
            <a:solidFill>
              <a:srgbClr val="6C5C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1A2238"/>
                </a:solidFill>
              </a:rPr>
              <a:t>transformer</a:t>
            </a:r>
          </a:p>
          <a:p>
            <a:pPr algn="ctr"/>
            <a:r>
              <a:rPr sz="1200" b="1">
                <a:solidFill>
                  <a:srgbClr val="1A2238"/>
                </a:solidFill>
              </a:rPr>
              <a:t>encoder</a:t>
            </a:r>
          </a:p>
        </p:txBody>
      </p:sp>
      <p:sp>
        <p:nvSpPr>
          <p:cNvPr id="8" name="Right Arrow 7"/>
          <p:cNvSpPr/>
          <p:nvPr/>
        </p:nvSpPr>
        <p:spPr>
          <a:xfrm>
            <a:off x="4663440" y="3268979"/>
            <a:ext cx="411479" cy="365760"/>
          </a:xfrm>
          <a:prstGeom prst="rightArrow">
            <a:avLst/>
          </a:prstGeom>
          <a:solidFill>
            <a:srgbClr val="1A22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7699248" y="2738628"/>
            <a:ext cx="1426464" cy="1426464"/>
          </a:xfrm>
          <a:prstGeom prst="ellipse">
            <a:avLst/>
          </a:prstGeom>
          <a:solidFill>
            <a:srgbClr val="E8883A"/>
          </a:solidFill>
          <a:ln w="31750">
            <a:solidFill>
              <a:srgbClr val="E888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200" b="1">
                <a:solidFill>
                  <a:srgbClr val="FFFFFF"/>
                </a:solidFill>
              </a:rPr>
              <a:t>h</a:t>
            </a:r>
          </a:p>
          <a:p>
            <a:pPr algn="ctr"/>
            <a:r>
              <a:rPr sz="1900" b="0">
                <a:solidFill>
                  <a:srgbClr val="8A93A3"/>
                </a:solidFill>
              </a:rPr>
              <a:t>256-d latent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6995159" y="3268979"/>
            <a:ext cx="457199" cy="365760"/>
          </a:xfrm>
          <a:prstGeom prst="rightArrow">
            <a:avLst/>
          </a:prstGeom>
          <a:solidFill>
            <a:srgbClr val="1A22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9829800" y="2743200"/>
            <a:ext cx="1828800" cy="1417320"/>
          </a:xfrm>
          <a:prstGeom prst="roundRect">
            <a:avLst/>
          </a:prstGeom>
          <a:solidFill>
            <a:srgbClr val="E1F1EF"/>
          </a:solidFill>
          <a:ln w="254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1A2238"/>
                </a:solidFill>
              </a:rPr>
              <a:t>heads</a:t>
            </a:r>
          </a:p>
          <a:p>
            <a:pPr algn="ctr"/>
            <a:r>
              <a:rPr sz="900" b="0">
                <a:solidFill>
                  <a:srgbClr val="8A93A3"/>
                </a:solidFill>
              </a:rPr>
              <a:t>parallel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9372600" y="3268979"/>
            <a:ext cx="411480" cy="365760"/>
          </a:xfrm>
          <a:prstGeom prst="rightArrow">
            <a:avLst/>
          </a:prstGeom>
          <a:solidFill>
            <a:srgbClr val="1A22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7955279" y="868680"/>
            <a:ext cx="2377440" cy="731520"/>
          </a:xfrm>
          <a:prstGeom prst="roundRect">
            <a:avLst/>
          </a:prstGeom>
          <a:solidFill>
            <a:srgbClr val="DDF4F2"/>
          </a:solidFill>
          <a:ln w="25400">
            <a:solidFill>
              <a:srgbClr val="12B5A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1A2238"/>
                </a:solidFill>
              </a:rPr>
              <a:t>imputation / retrieval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955279" y="5257800"/>
            <a:ext cx="2377440" cy="731520"/>
          </a:xfrm>
          <a:prstGeom prst="roundRect">
            <a:avLst/>
          </a:prstGeom>
          <a:solidFill>
            <a:srgbClr val="DDF4F2"/>
          </a:solidFill>
          <a:ln w="25400">
            <a:solidFill>
              <a:srgbClr val="12B5A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1A2238"/>
                </a:solidFill>
              </a:rPr>
              <a:t>OOD / similarity</a:t>
            </a:r>
          </a:p>
        </p:txBody>
      </p:sp>
      <p:cxnSp>
        <p:nvCxnSpPr>
          <p:cNvPr id="15" name="Connector 14"/>
          <p:cNvCxnSpPr/>
          <p:nvPr/>
        </p:nvCxnSpPr>
        <p:spPr>
          <a:xfrm flipV="1">
            <a:off x="8412480" y="1600200"/>
            <a:ext cx="640080" cy="1138428"/>
          </a:xfrm>
          <a:prstGeom prst="bentConnector3">
            <a:avLst/>
          </a:prstGeom>
          <a:ln w="17780">
            <a:solidFill>
              <a:srgbClr val="12B5A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8412480" y="4165091"/>
            <a:ext cx="640080" cy="1092709"/>
          </a:xfrm>
          <a:prstGeom prst="bentConnector3">
            <a:avLst/>
          </a:prstGeom>
          <a:ln w="17780">
            <a:solidFill>
              <a:srgbClr val="12B5A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502920" y="4572000"/>
            <a:ext cx="7315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A2238"/>
                </a:solidFill>
              </a:rPr>
              <a:t>one shared encoder -&gt; latent h -&gt; parallel heads (supervised) and training-free encoder apps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2E5BFF"/>
                </a:solidFill>
              </a:rPr>
              <a:t>INPUTS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03504"/>
            <a:ext cx="11155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A2238"/>
                </a:solidFill>
              </a:rPr>
              <a:t>A rock is a bag of (element, amount) tokens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478127" y="2926080"/>
            <a:ext cx="1371600" cy="1005840"/>
          </a:xfrm>
          <a:prstGeom prst="roundRect">
            <a:avLst/>
          </a:prstGeom>
          <a:solidFill>
            <a:srgbClr val="D1DAFF"/>
          </a:solidFill>
          <a:ln w="22225">
            <a:solidFill>
              <a:srgbClr val="2E5B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800" b="1">
                <a:solidFill>
                  <a:srgbClr val="1A2238"/>
                </a:solidFill>
              </a:rPr>
              <a:t>Si</a:t>
            </a:r>
          </a:p>
          <a:p>
            <a:pPr algn="ctr"/>
            <a:r>
              <a:rPr sz="1500" b="0">
                <a:solidFill>
                  <a:srgbClr val="8A93A3"/>
                </a:solidFill>
              </a:rPr>
              <a:t>0.50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050895" y="2926080"/>
            <a:ext cx="1371600" cy="1005840"/>
          </a:xfrm>
          <a:prstGeom prst="roundRect">
            <a:avLst/>
          </a:prstGeom>
          <a:solidFill>
            <a:srgbClr val="D1DAFF"/>
          </a:solidFill>
          <a:ln w="22225">
            <a:solidFill>
              <a:srgbClr val="2E5B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800" b="1">
                <a:solidFill>
                  <a:srgbClr val="1A2238"/>
                </a:solidFill>
              </a:rPr>
              <a:t>Al</a:t>
            </a:r>
          </a:p>
          <a:p>
            <a:pPr algn="ctr"/>
            <a:r>
              <a:rPr sz="1500" b="0">
                <a:solidFill>
                  <a:srgbClr val="8A93A3"/>
                </a:solidFill>
              </a:rPr>
              <a:t>0.16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623663" y="2926080"/>
            <a:ext cx="1371600" cy="1005840"/>
          </a:xfrm>
          <a:prstGeom prst="roundRect">
            <a:avLst/>
          </a:prstGeom>
          <a:solidFill>
            <a:srgbClr val="D1DAFF"/>
          </a:solidFill>
          <a:ln w="22225">
            <a:solidFill>
              <a:srgbClr val="2E5B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800" b="1">
                <a:solidFill>
                  <a:srgbClr val="1A2238"/>
                </a:solidFill>
              </a:rPr>
              <a:t>Ca</a:t>
            </a:r>
          </a:p>
          <a:p>
            <a:pPr algn="ctr"/>
            <a:r>
              <a:rPr sz="1500" b="0">
                <a:solidFill>
                  <a:srgbClr val="8A93A3"/>
                </a:solidFill>
              </a:rPr>
              <a:t>0.10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196431" y="2926080"/>
            <a:ext cx="1371600" cy="1005840"/>
          </a:xfrm>
          <a:prstGeom prst="roundRect">
            <a:avLst/>
          </a:prstGeom>
          <a:solidFill>
            <a:srgbClr val="D1DAFF"/>
          </a:solidFill>
          <a:ln w="22225">
            <a:solidFill>
              <a:srgbClr val="2E5B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800" b="1">
                <a:solidFill>
                  <a:srgbClr val="1A2238"/>
                </a:solidFill>
              </a:rPr>
              <a:t>Mg</a:t>
            </a:r>
          </a:p>
          <a:p>
            <a:pPr algn="ctr"/>
            <a:r>
              <a:rPr sz="1500" b="0">
                <a:solidFill>
                  <a:srgbClr val="8A93A3"/>
                </a:solidFill>
              </a:rPr>
              <a:t>0.075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69199" y="2926080"/>
            <a:ext cx="1371600" cy="1005840"/>
          </a:xfrm>
          <a:prstGeom prst="roundRect">
            <a:avLst/>
          </a:prstGeom>
          <a:solidFill>
            <a:srgbClr val="CAEEEB"/>
          </a:solidFill>
          <a:ln w="22225">
            <a:solidFill>
              <a:srgbClr val="12B5A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800" b="1">
                <a:solidFill>
                  <a:srgbClr val="1A2238"/>
                </a:solidFill>
              </a:rPr>
              <a:t>Sr</a:t>
            </a:r>
          </a:p>
          <a:p>
            <a:pPr algn="ctr"/>
            <a:r>
              <a:rPr sz="1500" b="0">
                <a:solidFill>
                  <a:srgbClr val="8A93A3"/>
                </a:solidFill>
              </a:rPr>
              <a:t>4e-4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341967" y="2926080"/>
            <a:ext cx="1371600" cy="1005840"/>
          </a:xfrm>
          <a:prstGeom prst="roundRect">
            <a:avLst/>
          </a:prstGeom>
          <a:solidFill>
            <a:srgbClr val="CAEEEB"/>
          </a:solidFill>
          <a:ln w="22225">
            <a:solidFill>
              <a:srgbClr val="12B5A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800" b="1">
                <a:solidFill>
                  <a:srgbClr val="1A2238"/>
                </a:solidFill>
              </a:rPr>
              <a:t>Yb</a:t>
            </a:r>
          </a:p>
          <a:p>
            <a:pPr algn="ctr"/>
            <a:r>
              <a:rPr sz="1500" b="0">
                <a:solidFill>
                  <a:srgbClr val="8A93A3"/>
                </a:solidFill>
              </a:rPr>
              <a:t>2e-6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4297680"/>
            <a:ext cx="11155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1A2238"/>
                </a:solidFill>
              </a:rPr>
              <a:t>9 majors (wt%/100, blue)  +  13 traces (ppm/1e6, teal), 22 token slots; absent = padding (src=0)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4937760"/>
            <a:ext cx="11155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8A93A3"/>
                </a:solidFill>
              </a:rPr>
              <a:t>no T, P, or H2O ever enters the forward graph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2E5BFF"/>
                </a:solidFill>
              </a:rPr>
              <a:t>ENCODER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03504"/>
            <a:ext cx="11155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A2238"/>
                </a:solidFill>
              </a:rPr>
              <a:t>Each token becomes a chemistry-aware vector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2880360"/>
            <a:ext cx="1463040" cy="1097280"/>
          </a:xfrm>
          <a:prstGeom prst="roundRect">
            <a:avLst/>
          </a:prstGeom>
          <a:solidFill>
            <a:srgbClr val="D1DAFF"/>
          </a:solidFill>
          <a:ln w="22225">
            <a:solidFill>
              <a:srgbClr val="2E5B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800" b="1">
                <a:solidFill>
                  <a:srgbClr val="1A2238"/>
                </a:solidFill>
              </a:rPr>
              <a:t>Si</a:t>
            </a:r>
          </a:p>
          <a:p>
            <a:pPr algn="ctr"/>
            <a:r>
              <a:rPr sz="1500" b="0">
                <a:solidFill>
                  <a:srgbClr val="8A93A3"/>
                </a:solidFill>
              </a:rPr>
              <a:t>0.50</a:t>
            </a:r>
          </a:p>
        </p:txBody>
      </p:sp>
      <p:cxnSp>
        <p:nvCxnSpPr>
          <p:cNvPr id="5" name="Connector 4"/>
          <p:cNvCxnSpPr/>
          <p:nvPr/>
        </p:nvCxnSpPr>
        <p:spPr>
          <a:xfrm flipV="1">
            <a:off x="2103120" y="2331720"/>
            <a:ext cx="822960" cy="822960"/>
          </a:xfrm>
          <a:prstGeom prst="bentConnector3">
            <a:avLst/>
          </a:prstGeom>
          <a:ln w="17780">
            <a:solidFill>
              <a:srgbClr val="8A93A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2103120" y="3703320"/>
            <a:ext cx="822960" cy="640080"/>
          </a:xfrm>
          <a:prstGeom prst="bentConnector3">
            <a:avLst/>
          </a:prstGeom>
          <a:ln w="17780">
            <a:solidFill>
              <a:srgbClr val="8A93A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ounded Rectangle 6"/>
          <p:cNvSpPr/>
          <p:nvPr/>
        </p:nvSpPr>
        <p:spPr>
          <a:xfrm>
            <a:off x="2926080" y="1965960"/>
            <a:ext cx="2286000" cy="777240"/>
          </a:xfrm>
          <a:prstGeom prst="roundRect">
            <a:avLst/>
          </a:prstGeom>
          <a:solidFill>
            <a:srgbClr val="EAE8FB"/>
          </a:solidFill>
          <a:ln w="25400">
            <a:solidFill>
              <a:srgbClr val="6C5C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1A2238"/>
                </a:solidFill>
              </a:rPr>
              <a:t>atomic number 14</a:t>
            </a:r>
          </a:p>
        </p:txBody>
      </p:sp>
      <p:sp>
        <p:nvSpPr>
          <p:cNvPr id="8" name="Right Arrow 7"/>
          <p:cNvSpPr/>
          <p:nvPr/>
        </p:nvSpPr>
        <p:spPr>
          <a:xfrm>
            <a:off x="5303520" y="2148840"/>
            <a:ext cx="411480" cy="365760"/>
          </a:xfrm>
          <a:prstGeom prst="rightArrow">
            <a:avLst/>
          </a:prstGeom>
          <a:solidFill>
            <a:srgbClr val="1A22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806440" y="1783080"/>
            <a:ext cx="4023360" cy="1143000"/>
          </a:xfrm>
          <a:prstGeom prst="roundRect">
            <a:avLst/>
          </a:prstGeom>
          <a:solidFill>
            <a:srgbClr val="EAE8FB"/>
          </a:solidFill>
          <a:ln w="25400">
            <a:solidFill>
              <a:srgbClr val="6C5C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1A2238"/>
                </a:solidFill>
              </a:rPr>
              <a:t>mat2vec lookup</a:t>
            </a:r>
          </a:p>
          <a:p>
            <a:pPr algn="ctr"/>
            <a:r>
              <a:rPr sz="900" b="0">
                <a:solidFill>
                  <a:srgbClr val="8A93A3"/>
                </a:solidFill>
              </a:rPr>
              <a:t>200-d element vector,</a:t>
            </a:r>
          </a:p>
          <a:p>
            <a:pPr algn="ctr"/>
            <a:r>
              <a:rPr sz="900" b="0">
                <a:solidFill>
                  <a:srgbClr val="8A93A3"/>
                </a:solidFill>
              </a:rPr>
              <a:t>pretrained on materials-science text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926080" y="4023360"/>
            <a:ext cx="2286000" cy="777240"/>
          </a:xfrm>
          <a:prstGeom prst="roundRect">
            <a:avLst/>
          </a:prstGeom>
          <a:solidFill>
            <a:srgbClr val="DDF4F2"/>
          </a:solidFill>
          <a:ln w="25400">
            <a:solidFill>
              <a:srgbClr val="12B5A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1A2238"/>
                </a:solidFill>
              </a:rPr>
              <a:t>amount  0.50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5303520" y="4206240"/>
            <a:ext cx="411480" cy="365760"/>
          </a:xfrm>
          <a:prstGeom prst="rightArrow">
            <a:avLst/>
          </a:prstGeom>
          <a:solidFill>
            <a:srgbClr val="1A22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5806440" y="3840480"/>
            <a:ext cx="4023360" cy="960120"/>
          </a:xfrm>
          <a:prstGeom prst="roundRect">
            <a:avLst/>
          </a:prstGeom>
          <a:solidFill>
            <a:srgbClr val="DDF4F2"/>
          </a:solidFill>
          <a:ln w="25400">
            <a:solidFill>
              <a:srgbClr val="12B5A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1A2238"/>
                </a:solidFill>
              </a:rPr>
              <a:t>linear projection</a:t>
            </a:r>
          </a:p>
          <a:p>
            <a:pPr algn="ctr"/>
            <a:r>
              <a:rPr sz="900" b="0">
                <a:solidFill>
                  <a:srgbClr val="8A93A3"/>
                </a:solidFill>
              </a:rPr>
              <a:t>amount -&gt; vector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0058400" y="2743200"/>
            <a:ext cx="1737360" cy="1371600"/>
          </a:xfrm>
          <a:prstGeom prst="roundRect">
            <a:avLst/>
          </a:prstGeom>
          <a:solidFill>
            <a:srgbClr val="FBEEE3"/>
          </a:solidFill>
          <a:ln w="25400">
            <a:solidFill>
              <a:srgbClr val="E888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800" b="1">
                <a:solidFill>
                  <a:srgbClr val="1A2238"/>
                </a:solidFill>
              </a:rPr>
              <a:t>+</a:t>
            </a:r>
          </a:p>
          <a:p>
            <a:pPr algn="ctr"/>
            <a:r>
              <a:rPr sz="1500" b="0">
                <a:solidFill>
                  <a:srgbClr val="8A93A3"/>
                </a:solidFill>
              </a:rPr>
              <a:t>token</a:t>
            </a:r>
          </a:p>
          <a:p>
            <a:pPr algn="ctr"/>
            <a:r>
              <a:rPr sz="1500" b="0">
                <a:solidFill>
                  <a:srgbClr val="8A93A3"/>
                </a:solidFill>
              </a:rPr>
              <a:t>256-d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9829800" y="2331720"/>
            <a:ext cx="228600" cy="777240"/>
          </a:xfrm>
          <a:prstGeom prst="bentConnector3">
            <a:avLst/>
          </a:prstGeom>
          <a:ln w="17780">
            <a:solidFill>
              <a:srgbClr val="8A93A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 flipV="1">
            <a:off x="9829800" y="3749039"/>
            <a:ext cx="228600" cy="548641"/>
          </a:xfrm>
          <a:prstGeom prst="bentConnector3">
            <a:avLst/>
          </a:prstGeom>
          <a:ln w="17780">
            <a:solidFill>
              <a:srgbClr val="8A93A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502920" y="5669280"/>
            <a:ext cx="11155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1A2238"/>
                </a:solidFill>
              </a:rPr>
              <a:t>mat2vec gives a learned chemistry vector per element (materials-informatics embedding); summed with the projected amount.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2E5BFF"/>
                </a:solidFill>
              </a:rPr>
              <a:t>ENCODER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03504"/>
            <a:ext cx="11155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A2238"/>
                </a:solidFill>
              </a:rPr>
              <a:t>Attention mixes elements, then pool to one 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" y="1554480"/>
            <a:ext cx="4572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C5CE7"/>
                </a:solidFill>
              </a:rPr>
              <a:t>self-attention: every token attends to every token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2057400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1A2238"/>
                </a:solidFill>
              </a:rPr>
              <a:t>Si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1645920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1A2238"/>
                </a:solidFill>
              </a:rPr>
              <a:t>Si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2624328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1A2238"/>
                </a:solidFill>
              </a:rPr>
              <a:t>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72768" y="1645920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1A2238"/>
                </a:solidFill>
              </a:rPr>
              <a:t>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3191256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1A2238"/>
                </a:solidFill>
              </a:rPr>
              <a:t>Mg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139696" y="1645920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1A2238"/>
                </a:solidFill>
              </a:rPr>
              <a:t>Mg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3758183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1A2238"/>
                </a:solidFill>
              </a:rPr>
              <a:t>Fe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706624" y="1645920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1A2238"/>
                </a:solidFill>
              </a:rPr>
              <a:t>Fe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005840" y="2011680"/>
            <a:ext cx="512064" cy="512064"/>
          </a:xfrm>
          <a:prstGeom prst="rect">
            <a:avLst/>
          </a:prstGeom>
          <a:solidFill>
            <a:srgbClr val="8274EA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572768" y="2011680"/>
            <a:ext cx="512064" cy="512064"/>
          </a:xfrm>
          <a:prstGeom prst="rect">
            <a:avLst/>
          </a:prstGeom>
          <a:solidFill>
            <a:srgbClr val="C1BAF4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2139696" y="2011680"/>
            <a:ext cx="512064" cy="512064"/>
          </a:xfrm>
          <a:prstGeom prst="rect">
            <a:avLst/>
          </a:prstGeom>
          <a:solidFill>
            <a:srgbClr val="AFA6F2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2706624" y="2011680"/>
            <a:ext cx="512064" cy="512064"/>
          </a:xfrm>
          <a:prstGeom prst="rect">
            <a:avLst/>
          </a:prstGeom>
          <a:solidFill>
            <a:srgbClr val="9D93EF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005840" y="2578608"/>
            <a:ext cx="512064" cy="512064"/>
          </a:xfrm>
          <a:prstGeom prst="rect">
            <a:avLst/>
          </a:prstGeom>
          <a:solidFill>
            <a:srgbClr val="C1BAF4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1572768" y="2578608"/>
            <a:ext cx="512064" cy="512064"/>
          </a:xfrm>
          <a:prstGeom prst="rect">
            <a:avLst/>
          </a:prstGeom>
          <a:solidFill>
            <a:srgbClr val="8274EA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139696" y="2578608"/>
            <a:ext cx="512064" cy="512064"/>
          </a:xfrm>
          <a:prstGeom prst="rect">
            <a:avLst/>
          </a:prstGeom>
          <a:solidFill>
            <a:srgbClr val="9D93EF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2706624" y="2578608"/>
            <a:ext cx="512064" cy="512064"/>
          </a:xfrm>
          <a:prstGeom prst="rect">
            <a:avLst/>
          </a:prstGeom>
          <a:solidFill>
            <a:srgbClr val="D2CEF7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1005840" y="3145536"/>
            <a:ext cx="512064" cy="512064"/>
          </a:xfrm>
          <a:prstGeom prst="rect">
            <a:avLst/>
          </a:prstGeom>
          <a:solidFill>
            <a:srgbClr val="AFA6F2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1572768" y="3145536"/>
            <a:ext cx="512064" cy="512064"/>
          </a:xfrm>
          <a:prstGeom prst="rect">
            <a:avLst/>
          </a:prstGeom>
          <a:solidFill>
            <a:srgbClr val="9D93EF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2139696" y="3145536"/>
            <a:ext cx="512064" cy="512064"/>
          </a:xfrm>
          <a:prstGeom prst="rect">
            <a:avLst/>
          </a:prstGeom>
          <a:solidFill>
            <a:srgbClr val="8274EA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2706624" y="3145536"/>
            <a:ext cx="512064" cy="512064"/>
          </a:xfrm>
          <a:prstGeom prst="rect">
            <a:avLst/>
          </a:prstGeom>
          <a:solidFill>
            <a:srgbClr val="C1BAF4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1005840" y="3712464"/>
            <a:ext cx="512064" cy="512064"/>
          </a:xfrm>
          <a:prstGeom prst="rect">
            <a:avLst/>
          </a:prstGeom>
          <a:solidFill>
            <a:srgbClr val="9D93EF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1572768" y="3712464"/>
            <a:ext cx="512064" cy="512064"/>
          </a:xfrm>
          <a:prstGeom prst="rect">
            <a:avLst/>
          </a:prstGeom>
          <a:solidFill>
            <a:srgbClr val="D2CEF7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2139696" y="3712464"/>
            <a:ext cx="512064" cy="512064"/>
          </a:xfrm>
          <a:prstGeom prst="rect">
            <a:avLst/>
          </a:prstGeom>
          <a:solidFill>
            <a:srgbClr val="C1BAF4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2706624" y="3712464"/>
            <a:ext cx="512064" cy="512064"/>
          </a:xfrm>
          <a:prstGeom prst="rect">
            <a:avLst/>
          </a:prstGeom>
          <a:solidFill>
            <a:srgbClr val="8274EA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ight Arrow 28"/>
          <p:cNvSpPr/>
          <p:nvPr/>
        </p:nvSpPr>
        <p:spPr>
          <a:xfrm>
            <a:off x="4480560" y="3200400"/>
            <a:ext cx="640080" cy="411480"/>
          </a:xfrm>
          <a:prstGeom prst="rightArrow">
            <a:avLst/>
          </a:prstGeom>
          <a:solidFill>
            <a:srgbClr val="1A22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5303520" y="2697480"/>
            <a:ext cx="3108960" cy="1371600"/>
          </a:xfrm>
          <a:prstGeom prst="roundRect">
            <a:avLst/>
          </a:prstGeom>
          <a:solidFill>
            <a:srgbClr val="DDF4F2"/>
          </a:solidFill>
          <a:ln w="25400">
            <a:solidFill>
              <a:srgbClr val="12B5A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1A2238"/>
                </a:solidFill>
              </a:rPr>
              <a:t>masked-mean pool</a:t>
            </a:r>
          </a:p>
          <a:p>
            <a:pPr algn="ctr"/>
            <a:r>
              <a:rPr sz="1100" b="0">
                <a:solidFill>
                  <a:srgbClr val="8A93A3"/>
                </a:solidFill>
              </a:rPr>
              <a:t>average the real tokens</a:t>
            </a:r>
          </a:p>
          <a:p>
            <a:pPr algn="ctr"/>
            <a:r>
              <a:rPr sz="1100" b="0">
                <a:solidFill>
                  <a:srgbClr val="8A93A3"/>
                </a:solidFill>
              </a:rPr>
              <a:t>(skip padding)</a:t>
            </a:r>
          </a:p>
        </p:txBody>
      </p:sp>
      <p:sp>
        <p:nvSpPr>
          <p:cNvPr id="31" name="Right Arrow 30"/>
          <p:cNvSpPr/>
          <p:nvPr/>
        </p:nvSpPr>
        <p:spPr>
          <a:xfrm>
            <a:off x="8595360" y="3200400"/>
            <a:ext cx="640080" cy="411480"/>
          </a:xfrm>
          <a:prstGeom prst="rightArrow">
            <a:avLst/>
          </a:prstGeom>
          <a:solidFill>
            <a:srgbClr val="1A22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9555480" y="2606040"/>
            <a:ext cx="1554480" cy="1554480"/>
          </a:xfrm>
          <a:prstGeom prst="ellipse">
            <a:avLst/>
          </a:prstGeom>
          <a:solidFill>
            <a:srgbClr val="E8883A"/>
          </a:solidFill>
          <a:ln w="31750">
            <a:solidFill>
              <a:srgbClr val="E888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200" b="1">
                <a:solidFill>
                  <a:srgbClr val="FFFFFF"/>
                </a:solidFill>
              </a:rPr>
              <a:t>h</a:t>
            </a:r>
          </a:p>
          <a:p>
            <a:pPr algn="ctr"/>
            <a:r>
              <a:rPr sz="1900" b="0">
                <a:solidFill>
                  <a:srgbClr val="8A93A3"/>
                </a:solidFill>
              </a:rPr>
              <a:t>256-d latent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02920" y="5669280"/>
            <a:ext cx="11155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1A2238"/>
                </a:solidFill>
              </a:rPr>
              <a:t>attention lets elements interact; pooling collapses the 22 contextualized vectors into one 256-d fingerprint h.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2E5BFF"/>
                </a:solidFill>
              </a:rPr>
              <a:t>TRAINING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03504"/>
            <a:ext cx="11155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A2238"/>
                </a:solidFill>
              </a:rPr>
              <a:t>SSL pretraining: fill in the blank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51560"/>
            <a:ext cx="11155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8A93A3"/>
                </a:solidFill>
              </a:rPr>
              <a:t>mask one element's amount, predict it from the rest -- the encoder learns which elements co-vary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91743" y="1783080"/>
            <a:ext cx="1371600" cy="960120"/>
          </a:xfrm>
          <a:prstGeom prst="roundRect">
            <a:avLst/>
          </a:prstGeom>
          <a:solidFill>
            <a:srgbClr val="D1DAFF"/>
          </a:solidFill>
          <a:ln w="22225">
            <a:solidFill>
              <a:srgbClr val="2E5B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800" b="1">
                <a:solidFill>
                  <a:srgbClr val="1A2238"/>
                </a:solidFill>
              </a:rPr>
              <a:t>Si</a:t>
            </a:r>
          </a:p>
          <a:p>
            <a:pPr algn="ctr"/>
            <a:r>
              <a:rPr sz="1500" b="0">
                <a:solidFill>
                  <a:srgbClr val="8A93A3"/>
                </a:solidFill>
              </a:rPr>
              <a:t>0.50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264511" y="1783080"/>
            <a:ext cx="1371600" cy="960120"/>
          </a:xfrm>
          <a:prstGeom prst="roundRect">
            <a:avLst/>
          </a:prstGeom>
          <a:solidFill>
            <a:srgbClr val="D1DAFF"/>
          </a:solidFill>
          <a:ln w="22225">
            <a:solidFill>
              <a:srgbClr val="2E5B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800" b="1">
                <a:solidFill>
                  <a:srgbClr val="1A2238"/>
                </a:solidFill>
              </a:rPr>
              <a:t>Al</a:t>
            </a:r>
          </a:p>
          <a:p>
            <a:pPr algn="ctr"/>
            <a:r>
              <a:rPr sz="1500" b="0">
                <a:solidFill>
                  <a:srgbClr val="8A93A3"/>
                </a:solidFill>
              </a:rPr>
              <a:t>0.16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837279" y="1783080"/>
            <a:ext cx="1371600" cy="960120"/>
          </a:xfrm>
          <a:prstGeom prst="roundRect">
            <a:avLst/>
          </a:prstGeom>
          <a:solidFill>
            <a:srgbClr val="D1DAFF"/>
          </a:solidFill>
          <a:ln w="22225">
            <a:solidFill>
              <a:srgbClr val="2E5B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800" b="1">
                <a:solidFill>
                  <a:srgbClr val="1A2238"/>
                </a:solidFill>
              </a:rPr>
              <a:t>Ca</a:t>
            </a:r>
          </a:p>
          <a:p>
            <a:pPr algn="ctr"/>
            <a:r>
              <a:rPr sz="1500" b="0">
                <a:solidFill>
                  <a:srgbClr val="8A93A3"/>
                </a:solidFill>
              </a:rPr>
              <a:t>0.10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10047" y="1783080"/>
            <a:ext cx="1371600" cy="960120"/>
          </a:xfrm>
          <a:prstGeom prst="roundRect">
            <a:avLst/>
          </a:prstGeom>
          <a:solidFill>
            <a:srgbClr val="9AA3B2"/>
          </a:solidFill>
          <a:ln w="31750">
            <a:solidFill>
              <a:srgbClr val="9AA3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700" b="1">
                <a:solidFill>
                  <a:srgbClr val="FFFFFF"/>
                </a:solidFill>
              </a:rPr>
              <a:t>[MASK]</a:t>
            </a:r>
          </a:p>
          <a:p>
            <a:pPr algn="ctr"/>
            <a:r>
              <a:rPr sz="1400" b="0">
                <a:solidFill>
                  <a:srgbClr val="8A93A3"/>
                </a:solidFill>
              </a:rPr>
              <a:t>hide amount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982815" y="1783080"/>
            <a:ext cx="1371600" cy="960120"/>
          </a:xfrm>
          <a:prstGeom prst="roundRect">
            <a:avLst/>
          </a:prstGeom>
          <a:solidFill>
            <a:srgbClr val="D1DAFF"/>
          </a:solidFill>
          <a:ln w="22225">
            <a:solidFill>
              <a:srgbClr val="2E5B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800" b="1">
                <a:solidFill>
                  <a:srgbClr val="1A2238"/>
                </a:solidFill>
              </a:rPr>
              <a:t>Fe</a:t>
            </a:r>
          </a:p>
          <a:p>
            <a:pPr algn="ctr"/>
            <a:r>
              <a:rPr sz="1500" b="0">
                <a:solidFill>
                  <a:srgbClr val="8A93A3"/>
                </a:solidFill>
              </a:rPr>
              <a:t>0.11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555583" y="1783080"/>
            <a:ext cx="1371600" cy="960120"/>
          </a:xfrm>
          <a:prstGeom prst="roundRect">
            <a:avLst/>
          </a:prstGeom>
          <a:solidFill>
            <a:srgbClr val="D1DAFF"/>
          </a:solidFill>
          <a:ln w="22225">
            <a:solidFill>
              <a:srgbClr val="2E5B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800" b="1">
                <a:solidFill>
                  <a:srgbClr val="1A2238"/>
                </a:solidFill>
              </a:rPr>
              <a:t>Na</a:t>
            </a:r>
          </a:p>
          <a:p>
            <a:pPr algn="ctr"/>
            <a:r>
              <a:rPr sz="1500" b="0">
                <a:solidFill>
                  <a:srgbClr val="8A93A3"/>
                </a:solidFill>
              </a:rPr>
              <a:t>0.025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128351" y="1783080"/>
            <a:ext cx="1371600" cy="960120"/>
          </a:xfrm>
          <a:prstGeom prst="roundRect">
            <a:avLst/>
          </a:prstGeom>
          <a:solidFill>
            <a:srgbClr val="CAEEEB"/>
          </a:solidFill>
          <a:ln w="22225">
            <a:solidFill>
              <a:srgbClr val="12B5A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800" b="1">
                <a:solidFill>
                  <a:srgbClr val="1A2238"/>
                </a:solidFill>
              </a:rPr>
              <a:t>Sr</a:t>
            </a:r>
          </a:p>
          <a:p>
            <a:pPr algn="ctr"/>
            <a:r>
              <a:rPr sz="1500" b="0">
                <a:solidFill>
                  <a:srgbClr val="8A93A3"/>
                </a:solidFill>
              </a:rPr>
              <a:t>4e-4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1377543" y="2743200"/>
            <a:ext cx="0" cy="685800"/>
          </a:xfrm>
          <a:prstGeom prst="bentConnector3">
            <a:avLst/>
          </a:prstGeom>
          <a:ln w="17780">
            <a:solidFill>
              <a:srgbClr val="C8CDD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2950311" y="2743200"/>
            <a:ext cx="0" cy="685800"/>
          </a:xfrm>
          <a:prstGeom prst="bentConnector3">
            <a:avLst/>
          </a:prstGeom>
          <a:ln w="17780">
            <a:solidFill>
              <a:srgbClr val="C8CDD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4523079" y="2743200"/>
            <a:ext cx="0" cy="685800"/>
          </a:xfrm>
          <a:prstGeom prst="bentConnector3">
            <a:avLst/>
          </a:prstGeom>
          <a:ln w="17780">
            <a:solidFill>
              <a:srgbClr val="C8CDD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6095847" y="2743200"/>
            <a:ext cx="0" cy="685800"/>
          </a:xfrm>
          <a:prstGeom prst="bentConnector3">
            <a:avLst/>
          </a:prstGeom>
          <a:ln w="17780">
            <a:solidFill>
              <a:srgbClr val="9AA3B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7668615" y="2743200"/>
            <a:ext cx="0" cy="685800"/>
          </a:xfrm>
          <a:prstGeom prst="bentConnector3">
            <a:avLst/>
          </a:prstGeom>
          <a:ln w="17780">
            <a:solidFill>
              <a:srgbClr val="C8CDD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9241383" y="2743200"/>
            <a:ext cx="0" cy="685800"/>
          </a:xfrm>
          <a:prstGeom prst="bentConnector3">
            <a:avLst/>
          </a:prstGeom>
          <a:ln w="17780">
            <a:solidFill>
              <a:srgbClr val="C8CDD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10814151" y="2743200"/>
            <a:ext cx="0" cy="685800"/>
          </a:xfrm>
          <a:prstGeom prst="bentConnector3">
            <a:avLst/>
          </a:prstGeom>
          <a:ln w="17780">
            <a:solidFill>
              <a:srgbClr val="C8CDD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691743" y="3429000"/>
            <a:ext cx="10808208" cy="868680"/>
          </a:xfrm>
          <a:prstGeom prst="roundRect">
            <a:avLst/>
          </a:prstGeom>
          <a:solidFill>
            <a:srgbClr val="EAE8FB"/>
          </a:solidFill>
          <a:ln w="25400">
            <a:solidFill>
              <a:srgbClr val="6C5C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1A2238"/>
                </a:solidFill>
              </a:rPr>
              <a:t>transformer encoder</a:t>
            </a:r>
          </a:p>
          <a:p>
            <a:pPr algn="ctr"/>
            <a:r>
              <a:rPr sz="1200" b="0">
                <a:solidFill>
                  <a:srgbClr val="8A93A3"/>
                </a:solidFill>
              </a:rPr>
              <a:t>being trained -- weights updated each step (not frozen)</a:t>
            </a:r>
          </a:p>
        </p:txBody>
      </p:sp>
      <p:sp>
        <p:nvSpPr>
          <p:cNvPr id="20" name="Down Arrow 19"/>
          <p:cNvSpPr/>
          <p:nvPr/>
        </p:nvSpPr>
        <p:spPr>
          <a:xfrm>
            <a:off x="5949543" y="4343400"/>
            <a:ext cx="292608" cy="347472"/>
          </a:xfrm>
          <a:prstGeom prst="downArrow">
            <a:avLst/>
          </a:prstGeom>
          <a:solidFill>
            <a:srgbClr val="1A22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2103120" y="4892040"/>
            <a:ext cx="2743200" cy="914400"/>
          </a:xfrm>
          <a:prstGeom prst="roundRect">
            <a:avLst/>
          </a:prstGeom>
          <a:solidFill>
            <a:srgbClr val="FBEEE3"/>
          </a:solidFill>
          <a:ln w="25400">
            <a:solidFill>
              <a:srgbClr val="E888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1A2238"/>
                </a:solidFill>
              </a:rPr>
              <a:t>encoder predicts</a:t>
            </a:r>
          </a:p>
          <a:p>
            <a:pPr algn="ctr"/>
            <a:r>
              <a:rPr sz="1000" b="0">
                <a:solidFill>
                  <a:srgbClr val="8A93A3"/>
                </a:solidFill>
              </a:rPr>
              <a:t>Mg amount ~ 0.071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120640" y="4892040"/>
            <a:ext cx="1737360" cy="9144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8CD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8A93A3"/>
                </a:solidFill>
              </a:rPr>
              <a:t>truth</a:t>
            </a:r>
          </a:p>
          <a:p>
            <a:pPr algn="ctr"/>
            <a:r>
              <a:rPr sz="1000" b="0">
                <a:solidFill>
                  <a:srgbClr val="8A93A3"/>
                </a:solidFill>
              </a:rPr>
              <a:t>0.075</a:t>
            </a:r>
          </a:p>
        </p:txBody>
      </p:sp>
      <p:sp>
        <p:nvSpPr>
          <p:cNvPr id="23" name="Right Arrow 22"/>
          <p:cNvSpPr/>
          <p:nvPr/>
        </p:nvSpPr>
        <p:spPr>
          <a:xfrm>
            <a:off x="4892040" y="5166360"/>
            <a:ext cx="256032" cy="365760"/>
          </a:xfrm>
          <a:prstGeom prst="rightArrow">
            <a:avLst/>
          </a:prstGeom>
          <a:solidFill>
            <a:srgbClr val="1A22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ight Arrow 23"/>
          <p:cNvSpPr/>
          <p:nvPr/>
        </p:nvSpPr>
        <p:spPr>
          <a:xfrm>
            <a:off x="6903720" y="5166360"/>
            <a:ext cx="256032" cy="365760"/>
          </a:xfrm>
          <a:prstGeom prst="rightArrow">
            <a:avLst/>
          </a:prstGeom>
          <a:solidFill>
            <a:srgbClr val="1A22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7223760" y="4892040"/>
            <a:ext cx="2651760" cy="914400"/>
          </a:xfrm>
          <a:prstGeom prst="roundRect">
            <a:avLst/>
          </a:prstGeom>
          <a:solidFill>
            <a:srgbClr val="F6E3E1"/>
          </a:solidFill>
          <a:ln w="25400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1A2238"/>
                </a:solidFill>
              </a:rPr>
              <a:t>log-space</a:t>
            </a:r>
          </a:p>
          <a:p>
            <a:pPr algn="ctr"/>
            <a:r>
              <a:rPr sz="1400" b="1">
                <a:solidFill>
                  <a:srgbClr val="1A2238"/>
                </a:solidFill>
              </a:rPr>
              <a:t>MSE loss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9875520" y="5349240"/>
            <a:ext cx="1737360" cy="0"/>
          </a:xfrm>
          <a:prstGeom prst="bentConnector3">
            <a:avLst/>
          </a:prstGeom>
          <a:ln w="31750">
            <a:solidFill>
              <a:srgbClr val="C0392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 flipV="1">
            <a:off x="11612880" y="3886200"/>
            <a:ext cx="0" cy="1463040"/>
          </a:xfrm>
          <a:prstGeom prst="bentConnector3">
            <a:avLst/>
          </a:prstGeom>
          <a:ln w="31750">
            <a:solidFill>
              <a:srgbClr val="C0392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Left Arrow 27"/>
          <p:cNvSpPr/>
          <p:nvPr/>
        </p:nvSpPr>
        <p:spPr>
          <a:xfrm>
            <a:off x="11109960" y="3721608"/>
            <a:ext cx="502920" cy="310896"/>
          </a:xfrm>
          <a:prstGeom prst="leftArrow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778240" y="4114800"/>
            <a:ext cx="3108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C0392B"/>
                </a:solidFill>
              </a:rPr>
              <a:t>backpropagation:</a:t>
            </a:r>
          </a:p>
          <a:p>
            <a:pPr algn="ctr"/>
            <a:r>
              <a:rPr sz="1200" b="1">
                <a:solidFill>
                  <a:srgbClr val="C0392B"/>
                </a:solidFill>
              </a:rPr>
              <a:t>updates encoder weights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2E5BFF"/>
                </a:solidFill>
              </a:rPr>
              <a:t>TRAINING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03504"/>
            <a:ext cx="11155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A2238"/>
                </a:solidFill>
              </a:rPr>
              <a:t>Workflow: pretrain, freeze, train heads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2377440"/>
            <a:ext cx="3017520" cy="1554480"/>
          </a:xfrm>
          <a:prstGeom prst="roundRect">
            <a:avLst/>
          </a:prstGeom>
          <a:solidFill>
            <a:srgbClr val="DDF4F2"/>
          </a:solidFill>
          <a:ln w="25400">
            <a:solidFill>
              <a:srgbClr val="12B5A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1A2238"/>
                </a:solidFill>
              </a:rPr>
              <a:t>1. SSL pretrain</a:t>
            </a:r>
          </a:p>
          <a:p>
            <a:pPr algn="ctr"/>
            <a:r>
              <a:rPr sz="1400" b="1">
                <a:solidFill>
                  <a:srgbClr val="1A2238"/>
                </a:solidFill>
              </a:rPr>
              <a:t/>
            </a:r>
          </a:p>
          <a:p>
            <a:pPr algn="ctr"/>
            <a:r>
              <a:rPr sz="1100" b="0">
                <a:solidFill>
                  <a:srgbClr val="8A93A3"/>
                </a:solidFill>
              </a:rPr>
              <a:t>Gard bulks, masked-element</a:t>
            </a:r>
          </a:p>
          <a:p>
            <a:pPr algn="ctr"/>
            <a:r>
              <a:rPr sz="1100" b="0">
                <a:solidFill>
                  <a:srgbClr val="8A93A3"/>
                </a:solidFill>
              </a:rPr>
              <a:t>-&gt; encoder</a:t>
            </a:r>
          </a:p>
        </p:txBody>
      </p:sp>
      <p:sp>
        <p:nvSpPr>
          <p:cNvPr id="5" name="Right Arrow 4"/>
          <p:cNvSpPr/>
          <p:nvPr/>
        </p:nvSpPr>
        <p:spPr>
          <a:xfrm>
            <a:off x="3749039" y="2971800"/>
            <a:ext cx="640080" cy="411480"/>
          </a:xfrm>
          <a:prstGeom prst="rightArrow">
            <a:avLst/>
          </a:prstGeom>
          <a:solidFill>
            <a:srgbClr val="1A22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4572000" y="2377440"/>
            <a:ext cx="2743200" cy="1554480"/>
          </a:xfrm>
          <a:prstGeom prst="roundRect">
            <a:avLst/>
          </a:prstGeom>
          <a:solidFill>
            <a:srgbClr val="EAE8FB"/>
          </a:solidFill>
          <a:ln w="25400">
            <a:solidFill>
              <a:srgbClr val="6C5C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1A2238"/>
                </a:solidFill>
              </a:rPr>
              <a:t>2. freeze</a:t>
            </a:r>
          </a:p>
          <a:p>
            <a:pPr algn="ctr"/>
            <a:r>
              <a:rPr sz="1400" b="1">
                <a:solidFill>
                  <a:srgbClr val="1A2238"/>
                </a:solidFill>
              </a:rPr>
              <a:t>encoder</a:t>
            </a:r>
          </a:p>
          <a:p>
            <a:pPr algn="ctr"/>
            <a:r>
              <a:rPr sz="1100" b="0">
                <a:solidFill>
                  <a:srgbClr val="8A93A3"/>
                </a:solidFill>
              </a:rPr>
              <a:t>weights fixed</a:t>
            </a:r>
          </a:p>
        </p:txBody>
      </p:sp>
      <p:sp>
        <p:nvSpPr>
          <p:cNvPr id="7" name="Right Arrow 6"/>
          <p:cNvSpPr/>
          <p:nvPr/>
        </p:nvSpPr>
        <p:spPr>
          <a:xfrm>
            <a:off x="7406640" y="2971800"/>
            <a:ext cx="640080" cy="411480"/>
          </a:xfrm>
          <a:prstGeom prst="rightArrow">
            <a:avLst/>
          </a:prstGeom>
          <a:solidFill>
            <a:srgbClr val="1A22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8229600" y="2377440"/>
            <a:ext cx="3291840" cy="1554480"/>
          </a:xfrm>
          <a:prstGeom prst="roundRect">
            <a:avLst/>
          </a:prstGeom>
          <a:solidFill>
            <a:srgbClr val="E1F1EF"/>
          </a:solidFill>
          <a:ln w="254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1A2238"/>
                </a:solidFill>
              </a:rPr>
              <a:t>3. train heads</a:t>
            </a:r>
          </a:p>
          <a:p>
            <a:pPr algn="ctr"/>
            <a:r>
              <a:rPr sz="1400" b="1">
                <a:solidFill>
                  <a:srgbClr val="1A2238"/>
                </a:solidFill>
              </a:rPr>
              <a:t/>
            </a:r>
          </a:p>
          <a:p>
            <a:pPr algn="ctr"/>
            <a:r>
              <a:rPr sz="1100" b="0">
                <a:solidFill>
                  <a:srgbClr val="8A93A3"/>
                </a:solidFill>
              </a:rPr>
              <a:t>equilibrium corpus labels</a:t>
            </a:r>
          </a:p>
          <a:p>
            <a:pPr algn="ctr"/>
            <a:r>
              <a:rPr sz="1100" b="0">
                <a:solidFill>
                  <a:srgbClr val="8A93A3"/>
                </a:solidFill>
              </a:rPr>
              <a:t>encoder untouched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4206240"/>
            <a:ext cx="108813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A2238"/>
                </a:solidFill>
              </a:rPr>
              <a:t>the encoder is the durable contribution: heads can be re-supervised against any label source without retraining it.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4937760"/>
            <a:ext cx="108813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8A93A3"/>
                </a:solidFill>
              </a:rPr>
              <a:t>evaluation: frozen-latent probes + the held-out mineralML grains.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2E5BFF"/>
                </a:solidFill>
              </a:rPr>
              <a:t>HEADS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03504"/>
            <a:ext cx="11155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A2238"/>
                </a:solidFill>
              </a:rPr>
              <a:t>Parallel heads on the frozen h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2743200"/>
            <a:ext cx="1828800" cy="1417320"/>
          </a:xfrm>
          <a:prstGeom prst="roundRect">
            <a:avLst/>
          </a:prstGeom>
          <a:solidFill>
            <a:srgbClr val="E1E8FF"/>
          </a:solidFill>
          <a:ln w="25400">
            <a:solidFill>
              <a:srgbClr val="2E5B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1A2238"/>
                </a:solidFill>
              </a:rPr>
              <a:t>input tokens</a:t>
            </a:r>
          </a:p>
          <a:p>
            <a:pPr algn="ctr"/>
            <a:r>
              <a:rPr sz="900" b="0">
                <a:solidFill>
                  <a:srgbClr val="8A93A3"/>
                </a:solidFill>
              </a:rPr>
              <a:t>22 elements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788920" y="2743200"/>
            <a:ext cx="1828800" cy="1417320"/>
          </a:xfrm>
          <a:prstGeom prst="roundRect">
            <a:avLst/>
          </a:prstGeom>
          <a:solidFill>
            <a:srgbClr val="DDF4F2"/>
          </a:solidFill>
          <a:ln w="25400">
            <a:solidFill>
              <a:srgbClr val="12B5A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1A2238"/>
                </a:solidFill>
              </a:rPr>
              <a:t>embed</a:t>
            </a:r>
          </a:p>
          <a:p>
            <a:pPr algn="ctr"/>
            <a:r>
              <a:rPr sz="900" b="0">
                <a:solidFill>
                  <a:srgbClr val="8A93A3"/>
                </a:solidFill>
              </a:rPr>
              <a:t>mat2vec + amount</a:t>
            </a:r>
          </a:p>
        </p:txBody>
      </p:sp>
      <p:sp>
        <p:nvSpPr>
          <p:cNvPr id="6" name="Right Arrow 5"/>
          <p:cNvSpPr/>
          <p:nvPr/>
        </p:nvSpPr>
        <p:spPr>
          <a:xfrm>
            <a:off x="2377439" y="3268979"/>
            <a:ext cx="365760" cy="365760"/>
          </a:xfrm>
          <a:prstGeom prst="rightArrow">
            <a:avLst/>
          </a:prstGeom>
          <a:solidFill>
            <a:srgbClr val="1A22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120640" y="2743200"/>
            <a:ext cx="1828800" cy="1417320"/>
          </a:xfrm>
          <a:prstGeom prst="roundRect">
            <a:avLst/>
          </a:prstGeom>
          <a:solidFill>
            <a:srgbClr val="EAE8FB"/>
          </a:solidFill>
          <a:ln w="25400">
            <a:solidFill>
              <a:srgbClr val="6C5C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1A2238"/>
                </a:solidFill>
              </a:rPr>
              <a:t>transformer</a:t>
            </a:r>
          </a:p>
          <a:p>
            <a:pPr algn="ctr"/>
            <a:r>
              <a:rPr sz="1200" b="1">
                <a:solidFill>
                  <a:srgbClr val="1A2238"/>
                </a:solidFill>
              </a:rPr>
              <a:t>encoder</a:t>
            </a:r>
          </a:p>
        </p:txBody>
      </p:sp>
      <p:sp>
        <p:nvSpPr>
          <p:cNvPr id="8" name="Right Arrow 7"/>
          <p:cNvSpPr/>
          <p:nvPr/>
        </p:nvSpPr>
        <p:spPr>
          <a:xfrm>
            <a:off x="4663440" y="3268979"/>
            <a:ext cx="411479" cy="365760"/>
          </a:xfrm>
          <a:prstGeom prst="rightArrow">
            <a:avLst/>
          </a:prstGeom>
          <a:solidFill>
            <a:srgbClr val="1A22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7699248" y="2738628"/>
            <a:ext cx="1426464" cy="1426464"/>
          </a:xfrm>
          <a:prstGeom prst="ellipse">
            <a:avLst/>
          </a:prstGeom>
          <a:solidFill>
            <a:srgbClr val="E8883A"/>
          </a:solidFill>
          <a:ln w="31750">
            <a:solidFill>
              <a:srgbClr val="E888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200" b="1">
                <a:solidFill>
                  <a:srgbClr val="FFFFFF"/>
                </a:solidFill>
              </a:rPr>
              <a:t>h</a:t>
            </a:r>
          </a:p>
          <a:p>
            <a:pPr algn="ctr"/>
            <a:r>
              <a:rPr sz="1900" b="0">
                <a:solidFill>
                  <a:srgbClr val="8A93A3"/>
                </a:solidFill>
              </a:rPr>
              <a:t>256-d latent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6995159" y="3268979"/>
            <a:ext cx="457199" cy="365760"/>
          </a:xfrm>
          <a:prstGeom prst="rightArrow">
            <a:avLst/>
          </a:prstGeom>
          <a:solidFill>
            <a:srgbClr val="1A22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8869680" y="1143000"/>
            <a:ext cx="2834640" cy="822960"/>
          </a:xfrm>
          <a:prstGeom prst="roundRect">
            <a:avLst/>
          </a:prstGeom>
          <a:solidFill>
            <a:srgbClr val="E1F1EF"/>
          </a:solidFill>
          <a:ln w="254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1A2238"/>
                </a:solidFill>
              </a:rPr>
              <a:t>ModeHead</a:t>
            </a:r>
          </a:p>
          <a:p>
            <a:pPr algn="ctr"/>
            <a:r>
              <a:rPr sz="1000" b="0">
                <a:solidFill>
                  <a:srgbClr val="8A93A3"/>
                </a:solidFill>
              </a:rPr>
              <a:t>modal mineralogy</a:t>
            </a:r>
          </a:p>
        </p:txBody>
      </p:sp>
      <p:cxnSp>
        <p:nvCxnSpPr>
          <p:cNvPr id="12" name="Connector 11"/>
          <p:cNvCxnSpPr/>
          <p:nvPr/>
        </p:nvCxnSpPr>
        <p:spPr>
          <a:xfrm flipV="1">
            <a:off x="8211312" y="1554480"/>
            <a:ext cx="658368" cy="1901952"/>
          </a:xfrm>
          <a:prstGeom prst="bentConnector3">
            <a:avLst/>
          </a:prstGeom>
          <a:ln w="19050">
            <a:solidFill>
              <a:srgbClr val="2A9D8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8869680" y="2103120"/>
            <a:ext cx="2834640" cy="822960"/>
          </a:xfrm>
          <a:prstGeom prst="roundRect">
            <a:avLst/>
          </a:prstGeom>
          <a:solidFill>
            <a:srgbClr val="E1F1EF"/>
          </a:solidFill>
          <a:ln w="254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1A2238"/>
                </a:solidFill>
              </a:rPr>
              <a:t>CompHead</a:t>
            </a:r>
          </a:p>
          <a:p>
            <a:pPr algn="ctr"/>
            <a:r>
              <a:rPr sz="1000" b="0">
                <a:solidFill>
                  <a:srgbClr val="8A93A3"/>
                </a:solidFill>
              </a:rPr>
              <a:t>per-mineral composition</a:t>
            </a:r>
          </a:p>
        </p:txBody>
      </p:sp>
      <p:cxnSp>
        <p:nvCxnSpPr>
          <p:cNvPr id="14" name="Connector 13"/>
          <p:cNvCxnSpPr/>
          <p:nvPr/>
        </p:nvCxnSpPr>
        <p:spPr>
          <a:xfrm flipV="1">
            <a:off x="8211312" y="2514600"/>
            <a:ext cx="658368" cy="941832"/>
          </a:xfrm>
          <a:prstGeom prst="bentConnector3">
            <a:avLst/>
          </a:prstGeom>
          <a:ln w="19050">
            <a:solidFill>
              <a:srgbClr val="2A9D8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8869680" y="3063240"/>
            <a:ext cx="2834640" cy="822960"/>
          </a:xfrm>
          <a:prstGeom prst="roundRect">
            <a:avLst/>
          </a:prstGeom>
          <a:solidFill>
            <a:srgbClr val="E1F1EF"/>
          </a:solidFill>
          <a:ln w="254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1A2238"/>
                </a:solidFill>
              </a:rPr>
              <a:t>CondHead</a:t>
            </a:r>
          </a:p>
          <a:p>
            <a:pPr algn="ctr"/>
            <a:r>
              <a:rPr sz="1000" b="0">
                <a:solidFill>
                  <a:srgbClr val="8A93A3"/>
                </a:solidFill>
              </a:rPr>
              <a:t>T, P, H2O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8211312" y="3456432"/>
            <a:ext cx="658368" cy="18288"/>
          </a:xfrm>
          <a:prstGeom prst="bentConnector3">
            <a:avLst/>
          </a:prstGeom>
          <a:ln w="19050">
            <a:solidFill>
              <a:srgbClr val="2A9D8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ounded Rectangle 16"/>
          <p:cNvSpPr/>
          <p:nvPr/>
        </p:nvSpPr>
        <p:spPr>
          <a:xfrm>
            <a:off x="8869680" y="4023360"/>
            <a:ext cx="2834640" cy="822960"/>
          </a:xfrm>
          <a:prstGeom prst="roundRect">
            <a:avLst/>
          </a:prstGeom>
          <a:solidFill>
            <a:srgbClr val="E1F1EF"/>
          </a:solidFill>
          <a:ln w="254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1A2238"/>
                </a:solidFill>
              </a:rPr>
              <a:t>ClassHead</a:t>
            </a:r>
          </a:p>
          <a:p>
            <a:pPr algn="ctr"/>
            <a:r>
              <a:rPr sz="1000" b="0">
                <a:solidFill>
                  <a:srgbClr val="8A93A3"/>
                </a:solidFill>
              </a:rPr>
              <a:t>rock class (aux)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8211312" y="3456432"/>
            <a:ext cx="658368" cy="978408"/>
          </a:xfrm>
          <a:prstGeom prst="bentConnector3">
            <a:avLst/>
          </a:prstGeom>
          <a:ln w="19050">
            <a:solidFill>
              <a:srgbClr val="2A9D8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8869680" y="4983480"/>
            <a:ext cx="2834640" cy="822960"/>
          </a:xfrm>
          <a:prstGeom prst="roundRect">
            <a:avLst/>
          </a:prstGeom>
          <a:solidFill>
            <a:srgbClr val="E1F1EF"/>
          </a:solidFill>
          <a:ln w="254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1A2238"/>
                </a:solidFill>
              </a:rPr>
              <a:t>G_sys</a:t>
            </a:r>
          </a:p>
          <a:p>
            <a:pPr algn="ctr"/>
            <a:r>
              <a:rPr sz="1000" b="0">
                <a:solidFill>
                  <a:srgbClr val="8A93A3"/>
                </a:solidFill>
              </a:rPr>
              <a:t>free energy (aux)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8211312" y="3456432"/>
            <a:ext cx="658368" cy="1938528"/>
          </a:xfrm>
          <a:prstGeom prst="bentConnector3">
            <a:avLst/>
          </a:prstGeom>
          <a:ln w="19050">
            <a:solidFill>
              <a:srgbClr val="2A9D8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502920" y="5120640"/>
            <a:ext cx="7772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1A2238"/>
                </a:solidFill>
              </a:rPr>
              <a:t>encoder now frozen; each head is a small network reading the same h (outputs on the next slide)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2E5BFF"/>
                </a:solidFill>
              </a:rPr>
              <a:t>HEADS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03504"/>
            <a:ext cx="11155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A2238"/>
                </a:solidFill>
              </a:rPr>
              <a:t>What the heads emit (distributions, not point estimates)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2651760"/>
            <a:ext cx="2286000" cy="1554480"/>
          </a:xfrm>
          <a:prstGeom prst="roundRect">
            <a:avLst/>
          </a:prstGeom>
          <a:solidFill>
            <a:srgbClr val="E1E8FF"/>
          </a:solidFill>
          <a:ln w="25400">
            <a:solidFill>
              <a:srgbClr val="2E5B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1A2238"/>
                </a:solidFill>
              </a:rPr>
              <a:t>example bulk</a:t>
            </a:r>
          </a:p>
          <a:p>
            <a:pPr algn="ctr"/>
            <a:r>
              <a:rPr sz="1200" b="1">
                <a:solidFill>
                  <a:srgbClr val="1A2238"/>
                </a:solidFill>
              </a:rPr>
              <a:t/>
            </a:r>
          </a:p>
          <a:p>
            <a:pPr algn="ctr"/>
            <a:r>
              <a:rPr sz="900" b="0">
                <a:solidFill>
                  <a:srgbClr val="8A93A3"/>
                </a:solidFill>
              </a:rPr>
              <a:t>SiO2 50  Al2O3 16</a:t>
            </a:r>
          </a:p>
          <a:p>
            <a:pPr algn="ctr"/>
            <a:r>
              <a:rPr sz="900" b="0">
                <a:solidFill>
                  <a:srgbClr val="8A93A3"/>
                </a:solidFill>
              </a:rPr>
              <a:t>MgO 7.5  FeO 11</a:t>
            </a:r>
          </a:p>
          <a:p>
            <a:pPr algn="ctr"/>
            <a:r>
              <a:rPr sz="900" b="0">
                <a:solidFill>
                  <a:srgbClr val="8A93A3"/>
                </a:solidFill>
              </a:rPr>
              <a:t>Sr 400 ppm ...</a:t>
            </a:r>
          </a:p>
        </p:txBody>
      </p:sp>
      <p:sp>
        <p:nvSpPr>
          <p:cNvPr id="5" name="Right Arrow 4"/>
          <p:cNvSpPr/>
          <p:nvPr/>
        </p:nvSpPr>
        <p:spPr>
          <a:xfrm>
            <a:off x="2880360" y="3246120"/>
            <a:ext cx="457200" cy="365760"/>
          </a:xfrm>
          <a:prstGeom prst="rightArrow">
            <a:avLst/>
          </a:prstGeom>
          <a:solidFill>
            <a:srgbClr val="1A22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3456432" y="2770632"/>
            <a:ext cx="1316736" cy="1316736"/>
          </a:xfrm>
          <a:prstGeom prst="ellipse">
            <a:avLst/>
          </a:prstGeom>
          <a:solidFill>
            <a:srgbClr val="E8883A"/>
          </a:solidFill>
          <a:ln w="31750">
            <a:solidFill>
              <a:srgbClr val="E888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200" b="1">
                <a:solidFill>
                  <a:srgbClr val="FFFFFF"/>
                </a:solidFill>
              </a:rPr>
              <a:t>h</a:t>
            </a:r>
          </a:p>
          <a:p>
            <a:pPr algn="ctr"/>
            <a:r>
              <a:rPr sz="1900" b="0">
                <a:solidFill>
                  <a:srgbClr val="8A93A3"/>
                </a:solidFill>
              </a:rPr>
              <a:t>256-d latent</a:t>
            </a:r>
          </a:p>
        </p:txBody>
      </p:sp>
      <p:sp>
        <p:nvSpPr>
          <p:cNvPr id="7" name="Right Arrow 6"/>
          <p:cNvSpPr/>
          <p:nvPr/>
        </p:nvSpPr>
        <p:spPr>
          <a:xfrm>
            <a:off x="4892040" y="3246120"/>
            <a:ext cx="457200" cy="365760"/>
          </a:xfrm>
          <a:prstGeom prst="rightArrow">
            <a:avLst/>
          </a:prstGeom>
          <a:solidFill>
            <a:srgbClr val="1A22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5486400" y="1417320"/>
            <a:ext cx="6309360" cy="2057400"/>
          </a:xfrm>
          <a:prstGeom prst="roundRect">
            <a:avLst/>
          </a:prstGeom>
          <a:solidFill>
            <a:srgbClr val="E1F1EF"/>
          </a:solidFill>
          <a:ln w="254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1A2238"/>
                </a:solidFill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0" y="1463040"/>
            <a:ext cx="5943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A9D8F"/>
                </a:solidFill>
              </a:rPr>
              <a:t>ModeHead -&gt; distribution over modal mineralogy (hurdle Dirichlet)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715000" y="1874519"/>
            <a:ext cx="1766620" cy="292608"/>
          </a:xfrm>
          <a:prstGeom prst="round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" name="Connector 10"/>
          <p:cNvCxnSpPr/>
          <p:nvPr/>
        </p:nvCxnSpPr>
        <p:spPr>
          <a:xfrm>
            <a:off x="7271308" y="2020824"/>
            <a:ext cx="420624" cy="0"/>
          </a:xfrm>
          <a:prstGeom prst="bentConnector3">
            <a:avLst/>
          </a:prstGeom>
          <a:ln w="15875">
            <a:solidFill>
              <a:srgbClr val="1A223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7271308" y="1956816"/>
            <a:ext cx="0" cy="128015"/>
          </a:xfrm>
          <a:prstGeom prst="bentConnector3">
            <a:avLst/>
          </a:prstGeom>
          <a:ln w="15875">
            <a:solidFill>
              <a:srgbClr val="1A223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7691932" y="1956816"/>
            <a:ext cx="0" cy="128015"/>
          </a:xfrm>
          <a:prstGeom prst="bentConnector3">
            <a:avLst/>
          </a:prstGeom>
          <a:ln w="15875">
            <a:solidFill>
              <a:srgbClr val="1A223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7783372" y="1828799"/>
            <a:ext cx="4206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A2238"/>
                </a:solidFill>
              </a:rPr>
              <a:t>plagioclase  0.42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715000" y="2185415"/>
            <a:ext cx="1177747" cy="292608"/>
          </a:xfrm>
          <a:prstGeom prst="round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6" name="Connector 15"/>
          <p:cNvCxnSpPr/>
          <p:nvPr/>
        </p:nvCxnSpPr>
        <p:spPr>
          <a:xfrm>
            <a:off x="6724497" y="2331720"/>
            <a:ext cx="336499" cy="0"/>
          </a:xfrm>
          <a:prstGeom prst="bentConnector3">
            <a:avLst/>
          </a:prstGeom>
          <a:ln w="15875">
            <a:solidFill>
              <a:srgbClr val="1A223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6724497" y="2267712"/>
            <a:ext cx="0" cy="128015"/>
          </a:xfrm>
          <a:prstGeom prst="bentConnector3">
            <a:avLst/>
          </a:prstGeom>
          <a:ln w="15875">
            <a:solidFill>
              <a:srgbClr val="1A223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7060996" y="2267712"/>
            <a:ext cx="0" cy="128015"/>
          </a:xfrm>
          <a:prstGeom prst="bentConnector3">
            <a:avLst/>
          </a:prstGeom>
          <a:ln w="15875">
            <a:solidFill>
              <a:srgbClr val="1A223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7152436" y="2139696"/>
            <a:ext cx="4206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A2238"/>
                </a:solidFill>
              </a:rPr>
              <a:t>clinopyroxene  0.28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715000" y="2496312"/>
            <a:ext cx="672998" cy="292608"/>
          </a:xfrm>
          <a:prstGeom prst="round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1" name="Connector 20"/>
          <p:cNvCxnSpPr/>
          <p:nvPr/>
        </p:nvCxnSpPr>
        <p:spPr>
          <a:xfrm>
            <a:off x="6135624" y="2642616"/>
            <a:ext cx="504748" cy="0"/>
          </a:xfrm>
          <a:prstGeom prst="bentConnector3">
            <a:avLst/>
          </a:prstGeom>
          <a:ln w="15875">
            <a:solidFill>
              <a:srgbClr val="1A223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6135624" y="2578608"/>
            <a:ext cx="0" cy="128016"/>
          </a:xfrm>
          <a:prstGeom prst="bentConnector3">
            <a:avLst/>
          </a:prstGeom>
          <a:ln w="15875">
            <a:solidFill>
              <a:srgbClr val="1A223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6640372" y="2578608"/>
            <a:ext cx="0" cy="128016"/>
          </a:xfrm>
          <a:prstGeom prst="bentConnector3">
            <a:avLst/>
          </a:prstGeom>
          <a:ln w="15875">
            <a:solidFill>
              <a:srgbClr val="1A223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6731812" y="2450592"/>
            <a:ext cx="4206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A2238"/>
                </a:solidFill>
              </a:rPr>
              <a:t>amphibole  0.16   p(present) 0.41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715000" y="2807208"/>
            <a:ext cx="336499" cy="292608"/>
          </a:xfrm>
          <a:prstGeom prst="round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6" name="Connector 25"/>
          <p:cNvCxnSpPr/>
          <p:nvPr/>
        </p:nvCxnSpPr>
        <p:spPr>
          <a:xfrm>
            <a:off x="5925312" y="2953512"/>
            <a:ext cx="252374" cy="0"/>
          </a:xfrm>
          <a:prstGeom prst="bentConnector3">
            <a:avLst/>
          </a:prstGeom>
          <a:ln w="15875">
            <a:solidFill>
              <a:srgbClr val="1A223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5925312" y="2889504"/>
            <a:ext cx="0" cy="128016"/>
          </a:xfrm>
          <a:prstGeom prst="bentConnector3">
            <a:avLst/>
          </a:prstGeom>
          <a:ln w="15875">
            <a:solidFill>
              <a:srgbClr val="1A223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>
            <a:off x="6177686" y="2889504"/>
            <a:ext cx="0" cy="128016"/>
          </a:xfrm>
          <a:prstGeom prst="bentConnector3">
            <a:avLst/>
          </a:prstGeom>
          <a:ln w="15875">
            <a:solidFill>
              <a:srgbClr val="1A223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/>
          <p:cNvSpPr txBox="1"/>
          <p:nvPr/>
        </p:nvSpPr>
        <p:spPr>
          <a:xfrm>
            <a:off x="6269126" y="2761488"/>
            <a:ext cx="4206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A2238"/>
                </a:solidFill>
              </a:rPr>
              <a:t>orthopyroxene  0.08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715000" y="3118104"/>
            <a:ext cx="168249" cy="292608"/>
          </a:xfrm>
          <a:prstGeom prst="round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1" name="Connector 30"/>
          <p:cNvCxnSpPr/>
          <p:nvPr/>
        </p:nvCxnSpPr>
        <p:spPr>
          <a:xfrm>
            <a:off x="5799124" y="3264408"/>
            <a:ext cx="168250" cy="0"/>
          </a:xfrm>
          <a:prstGeom prst="bentConnector3">
            <a:avLst/>
          </a:prstGeom>
          <a:ln w="15875">
            <a:solidFill>
              <a:srgbClr val="1A223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799124" y="3200400"/>
            <a:ext cx="0" cy="128016"/>
          </a:xfrm>
          <a:prstGeom prst="bentConnector3">
            <a:avLst/>
          </a:prstGeom>
          <a:ln w="15875">
            <a:solidFill>
              <a:srgbClr val="1A223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967374" y="3200400"/>
            <a:ext cx="0" cy="128016"/>
          </a:xfrm>
          <a:prstGeom prst="bentConnector3">
            <a:avLst/>
          </a:prstGeom>
          <a:ln w="15875">
            <a:solidFill>
              <a:srgbClr val="1A223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TextBox 33"/>
          <p:cNvSpPr txBox="1"/>
          <p:nvPr/>
        </p:nvSpPr>
        <p:spPr>
          <a:xfrm>
            <a:off x="6058814" y="3072384"/>
            <a:ext cx="4206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A2238"/>
                </a:solidFill>
              </a:rPr>
              <a:t>magnetite  0.04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5486400" y="3657600"/>
            <a:ext cx="6309360" cy="2331720"/>
          </a:xfrm>
          <a:prstGeom prst="roundRect">
            <a:avLst/>
          </a:prstGeom>
          <a:solidFill>
            <a:srgbClr val="EAE8FB"/>
          </a:solidFill>
          <a:ln w="25400">
            <a:solidFill>
              <a:srgbClr val="6C5C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1A2238"/>
                </a:solidFill>
              </a:rPr>
              <a:t/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669280" y="3703320"/>
            <a:ext cx="5943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C5CE7"/>
                </a:solidFill>
              </a:rPr>
              <a:t>CondHead -&gt; formation conditions (per-axis GMM, if trained on a thermodynamic phase-equilibrium solver like MAGEMin)</a:t>
            </a:r>
          </a:p>
        </p:txBody>
      </p:sp>
      <p:sp>
        <p:nvSpPr>
          <p:cNvPr id="37" name="Freeform 36"/>
          <p:cNvSpPr/>
          <p:nvPr/>
        </p:nvSpPr>
        <p:spPr>
          <a:xfrm>
            <a:off x="5806440" y="4434840"/>
            <a:ext cx="1737360" cy="960119"/>
          </a:xfrm>
          <a:custGeom>
            <a:avLst/>
            <a:gdLst/>
            <a:ahLst/>
            <a:cxnLst/>
            <a:rect l="l" t="t" r="r" b="b"/>
            <a:pathLst>
              <a:path w="1737360" h="960119">
                <a:moveTo>
                  <a:pt x="0" y="960119"/>
                </a:moveTo>
                <a:lnTo>
                  <a:pt x="0" y="952846"/>
                </a:lnTo>
                <a:lnTo>
                  <a:pt x="36195" y="949286"/>
                </a:lnTo>
                <a:lnTo>
                  <a:pt x="72390" y="944254"/>
                </a:lnTo>
                <a:lnTo>
                  <a:pt x="108585" y="937276"/>
                </a:lnTo>
                <a:lnTo>
                  <a:pt x="144780" y="927782"/>
                </a:lnTo>
                <a:lnTo>
                  <a:pt x="180975" y="915112"/>
                </a:lnTo>
                <a:lnTo>
                  <a:pt x="217169" y="898531"/>
                </a:lnTo>
                <a:lnTo>
                  <a:pt x="253365" y="877258"/>
                </a:lnTo>
                <a:lnTo>
                  <a:pt x="289559" y="850511"/>
                </a:lnTo>
                <a:lnTo>
                  <a:pt x="325755" y="817567"/>
                </a:lnTo>
                <a:lnTo>
                  <a:pt x="361949" y="777839"/>
                </a:lnTo>
                <a:lnTo>
                  <a:pt x="398145" y="730958"/>
                </a:lnTo>
                <a:lnTo>
                  <a:pt x="434339" y="676862"/>
                </a:lnTo>
                <a:lnTo>
                  <a:pt x="470535" y="615883"/>
                </a:lnTo>
                <a:lnTo>
                  <a:pt x="506730" y="548809"/>
                </a:lnTo>
                <a:lnTo>
                  <a:pt x="542925" y="476928"/>
                </a:lnTo>
                <a:lnTo>
                  <a:pt x="579119" y="402028"/>
                </a:lnTo>
                <a:lnTo>
                  <a:pt x="615315" y="326353"/>
                </a:lnTo>
                <a:lnTo>
                  <a:pt x="651510" y="252517"/>
                </a:lnTo>
                <a:lnTo>
                  <a:pt x="687705" y="183360"/>
                </a:lnTo>
                <a:lnTo>
                  <a:pt x="723900" y="121779"/>
                </a:lnTo>
                <a:lnTo>
                  <a:pt x="760094" y="70526"/>
                </a:lnTo>
                <a:lnTo>
                  <a:pt x="796290" y="32010"/>
                </a:lnTo>
                <a:lnTo>
                  <a:pt x="832484" y="8104"/>
                </a:lnTo>
                <a:lnTo>
                  <a:pt x="868680" y="0"/>
                </a:lnTo>
                <a:lnTo>
                  <a:pt x="904874" y="8104"/>
                </a:lnTo>
                <a:lnTo>
                  <a:pt x="941070" y="32010"/>
                </a:lnTo>
                <a:lnTo>
                  <a:pt x="977264" y="70526"/>
                </a:lnTo>
                <a:lnTo>
                  <a:pt x="1013460" y="121779"/>
                </a:lnTo>
                <a:lnTo>
                  <a:pt x="1049654" y="183360"/>
                </a:lnTo>
                <a:lnTo>
                  <a:pt x="1085850" y="252517"/>
                </a:lnTo>
                <a:lnTo>
                  <a:pt x="1122044" y="326353"/>
                </a:lnTo>
                <a:lnTo>
                  <a:pt x="1158240" y="402028"/>
                </a:lnTo>
                <a:lnTo>
                  <a:pt x="1194435" y="476928"/>
                </a:lnTo>
                <a:lnTo>
                  <a:pt x="1230630" y="548809"/>
                </a:lnTo>
                <a:lnTo>
                  <a:pt x="1266824" y="615883"/>
                </a:lnTo>
                <a:lnTo>
                  <a:pt x="1303019" y="676862"/>
                </a:lnTo>
                <a:lnTo>
                  <a:pt x="1339215" y="730958"/>
                </a:lnTo>
                <a:lnTo>
                  <a:pt x="1375409" y="777839"/>
                </a:lnTo>
                <a:lnTo>
                  <a:pt x="1411605" y="817567"/>
                </a:lnTo>
                <a:lnTo>
                  <a:pt x="1447799" y="850511"/>
                </a:lnTo>
                <a:lnTo>
                  <a:pt x="1483995" y="877258"/>
                </a:lnTo>
                <a:lnTo>
                  <a:pt x="1520189" y="898531"/>
                </a:lnTo>
                <a:lnTo>
                  <a:pt x="1556384" y="915112"/>
                </a:lnTo>
                <a:lnTo>
                  <a:pt x="1592580" y="927782"/>
                </a:lnTo>
                <a:lnTo>
                  <a:pt x="1628775" y="937276"/>
                </a:lnTo>
                <a:lnTo>
                  <a:pt x="1664969" y="944254"/>
                </a:lnTo>
                <a:lnTo>
                  <a:pt x="1701165" y="949286"/>
                </a:lnTo>
                <a:lnTo>
                  <a:pt x="1737360" y="952846"/>
                </a:lnTo>
                <a:lnTo>
                  <a:pt x="1737360" y="960119"/>
                </a:lnTo>
                <a:close/>
              </a:path>
            </a:pathLst>
          </a:custGeom>
          <a:solidFill>
            <a:srgbClr val="C4D1FF"/>
          </a:solidFill>
          <a:ln w="25400">
            <a:solidFill>
              <a:srgbClr val="2E5B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8" name="Connector 37"/>
          <p:cNvCxnSpPr/>
          <p:nvPr/>
        </p:nvCxnSpPr>
        <p:spPr>
          <a:xfrm>
            <a:off x="5806440" y="5394959"/>
            <a:ext cx="1737360" cy="0"/>
          </a:xfrm>
          <a:prstGeom prst="bentConnector3">
            <a:avLst/>
          </a:prstGeom>
          <a:ln w="12700">
            <a:solidFill>
              <a:srgbClr val="8A93A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TextBox 38"/>
          <p:cNvSpPr txBox="1"/>
          <p:nvPr/>
        </p:nvSpPr>
        <p:spPr>
          <a:xfrm>
            <a:off x="5623559" y="5440679"/>
            <a:ext cx="2103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1A2238"/>
                </a:solidFill>
              </a:rPr>
              <a:t>T  1140 +/- 35 C</a:t>
            </a:r>
          </a:p>
        </p:txBody>
      </p:sp>
      <p:sp>
        <p:nvSpPr>
          <p:cNvPr id="40" name="Freeform 39"/>
          <p:cNvSpPr/>
          <p:nvPr/>
        </p:nvSpPr>
        <p:spPr>
          <a:xfrm>
            <a:off x="7772400" y="4434840"/>
            <a:ext cx="1737360" cy="960119"/>
          </a:xfrm>
          <a:custGeom>
            <a:avLst/>
            <a:gdLst/>
            <a:ahLst/>
            <a:cxnLst/>
            <a:rect l="l" t="t" r="r" b="b"/>
            <a:pathLst>
              <a:path w="1737360" h="960119">
                <a:moveTo>
                  <a:pt x="0" y="960119"/>
                </a:moveTo>
                <a:lnTo>
                  <a:pt x="0" y="939852"/>
                </a:lnTo>
                <a:lnTo>
                  <a:pt x="36195" y="932353"/>
                </a:lnTo>
                <a:lnTo>
                  <a:pt x="72390" y="922586"/>
                </a:lnTo>
                <a:lnTo>
                  <a:pt x="108585" y="910058"/>
                </a:lnTo>
                <a:lnTo>
                  <a:pt x="144780" y="894237"/>
                </a:lnTo>
                <a:lnTo>
                  <a:pt x="180974" y="874570"/>
                </a:lnTo>
                <a:lnTo>
                  <a:pt x="217170" y="850511"/>
                </a:lnTo>
                <a:lnTo>
                  <a:pt x="253365" y="821553"/>
                </a:lnTo>
                <a:lnTo>
                  <a:pt x="289560" y="787277"/>
                </a:lnTo>
                <a:lnTo>
                  <a:pt x="325754" y="747391"/>
                </a:lnTo>
                <a:lnTo>
                  <a:pt x="361950" y="701784"/>
                </a:lnTo>
                <a:lnTo>
                  <a:pt x="398145" y="650575"/>
                </a:lnTo>
                <a:lnTo>
                  <a:pt x="434340" y="594149"/>
                </a:lnTo>
                <a:lnTo>
                  <a:pt x="470534" y="533196"/>
                </a:lnTo>
                <a:lnTo>
                  <a:pt x="506730" y="468718"/>
                </a:lnTo>
                <a:lnTo>
                  <a:pt x="542925" y="402028"/>
                </a:lnTo>
                <a:lnTo>
                  <a:pt x="579120" y="334721"/>
                </a:lnTo>
                <a:lnTo>
                  <a:pt x="615315" y="268623"/>
                </a:lnTo>
                <a:lnTo>
                  <a:pt x="651510" y="205713"/>
                </a:lnTo>
                <a:lnTo>
                  <a:pt x="687705" y="148031"/>
                </a:lnTo>
                <a:lnTo>
                  <a:pt x="723900" y="97571"/>
                </a:lnTo>
                <a:lnTo>
                  <a:pt x="760095" y="56167"/>
                </a:lnTo>
                <a:lnTo>
                  <a:pt x="796290" y="25381"/>
                </a:lnTo>
                <a:lnTo>
                  <a:pt x="832485" y="6409"/>
                </a:lnTo>
                <a:lnTo>
                  <a:pt x="868680" y="0"/>
                </a:lnTo>
                <a:lnTo>
                  <a:pt x="904875" y="6409"/>
                </a:lnTo>
                <a:lnTo>
                  <a:pt x="941070" y="25381"/>
                </a:lnTo>
                <a:lnTo>
                  <a:pt x="977265" y="56167"/>
                </a:lnTo>
                <a:lnTo>
                  <a:pt x="1013460" y="97571"/>
                </a:lnTo>
                <a:lnTo>
                  <a:pt x="1049655" y="148031"/>
                </a:lnTo>
                <a:lnTo>
                  <a:pt x="1085850" y="205713"/>
                </a:lnTo>
                <a:lnTo>
                  <a:pt x="1122045" y="268623"/>
                </a:lnTo>
                <a:lnTo>
                  <a:pt x="1158240" y="334721"/>
                </a:lnTo>
                <a:lnTo>
                  <a:pt x="1194435" y="402028"/>
                </a:lnTo>
                <a:lnTo>
                  <a:pt x="1230630" y="468718"/>
                </a:lnTo>
                <a:lnTo>
                  <a:pt x="1266825" y="533196"/>
                </a:lnTo>
                <a:lnTo>
                  <a:pt x="1303020" y="594149"/>
                </a:lnTo>
                <a:lnTo>
                  <a:pt x="1339215" y="650575"/>
                </a:lnTo>
                <a:lnTo>
                  <a:pt x="1375410" y="701784"/>
                </a:lnTo>
                <a:lnTo>
                  <a:pt x="1411605" y="747391"/>
                </a:lnTo>
                <a:lnTo>
                  <a:pt x="1447800" y="787277"/>
                </a:lnTo>
                <a:lnTo>
                  <a:pt x="1483995" y="821553"/>
                </a:lnTo>
                <a:lnTo>
                  <a:pt x="1520190" y="850511"/>
                </a:lnTo>
                <a:lnTo>
                  <a:pt x="1556385" y="874570"/>
                </a:lnTo>
                <a:lnTo>
                  <a:pt x="1592580" y="894237"/>
                </a:lnTo>
                <a:lnTo>
                  <a:pt x="1628775" y="910058"/>
                </a:lnTo>
                <a:lnTo>
                  <a:pt x="1664970" y="922586"/>
                </a:lnTo>
                <a:lnTo>
                  <a:pt x="1701165" y="932353"/>
                </a:lnTo>
                <a:lnTo>
                  <a:pt x="1737360" y="939852"/>
                </a:lnTo>
                <a:lnTo>
                  <a:pt x="1737360" y="960119"/>
                </a:lnTo>
                <a:close/>
              </a:path>
            </a:pathLst>
          </a:custGeom>
          <a:solidFill>
            <a:srgbClr val="BCEAE5"/>
          </a:solidFill>
          <a:ln w="25400">
            <a:solidFill>
              <a:srgbClr val="12B5A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1" name="Connector 40"/>
          <p:cNvCxnSpPr/>
          <p:nvPr/>
        </p:nvCxnSpPr>
        <p:spPr>
          <a:xfrm>
            <a:off x="7772400" y="5394959"/>
            <a:ext cx="1737360" cy="0"/>
          </a:xfrm>
          <a:prstGeom prst="bentConnector3">
            <a:avLst/>
          </a:prstGeom>
          <a:ln w="12700">
            <a:solidFill>
              <a:srgbClr val="8A93A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TextBox 41"/>
          <p:cNvSpPr txBox="1"/>
          <p:nvPr/>
        </p:nvSpPr>
        <p:spPr>
          <a:xfrm>
            <a:off x="7589520" y="5440679"/>
            <a:ext cx="2103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1A2238"/>
                </a:solidFill>
              </a:rPr>
              <a:t>P  4.8 +/- 1.9 kbar</a:t>
            </a:r>
          </a:p>
        </p:txBody>
      </p:sp>
      <p:sp>
        <p:nvSpPr>
          <p:cNvPr id="43" name="Freeform 42"/>
          <p:cNvSpPr/>
          <p:nvPr/>
        </p:nvSpPr>
        <p:spPr>
          <a:xfrm>
            <a:off x="9738360" y="4434840"/>
            <a:ext cx="1783080" cy="960119"/>
          </a:xfrm>
          <a:custGeom>
            <a:avLst/>
            <a:gdLst/>
            <a:ahLst/>
            <a:cxnLst/>
            <a:rect l="l" t="t" r="r" b="b"/>
            <a:pathLst>
              <a:path w="1783080" h="960119">
                <a:moveTo>
                  <a:pt x="0" y="960119"/>
                </a:moveTo>
                <a:lnTo>
                  <a:pt x="0" y="954380"/>
                </a:lnTo>
                <a:lnTo>
                  <a:pt x="37147" y="949181"/>
                </a:lnTo>
                <a:lnTo>
                  <a:pt x="74295" y="940156"/>
                </a:lnTo>
                <a:lnTo>
                  <a:pt x="111442" y="925235"/>
                </a:lnTo>
                <a:lnTo>
                  <a:pt x="148590" y="901749"/>
                </a:lnTo>
                <a:lnTo>
                  <a:pt x="185737" y="866600"/>
                </a:lnTo>
                <a:lnTo>
                  <a:pt x="222885" y="816648"/>
                </a:lnTo>
                <a:lnTo>
                  <a:pt x="260032" y="749364"/>
                </a:lnTo>
                <a:lnTo>
                  <a:pt x="297180" y="663673"/>
                </a:lnTo>
                <a:lnTo>
                  <a:pt x="334327" y="560845"/>
                </a:lnTo>
                <a:lnTo>
                  <a:pt x="371475" y="445176"/>
                </a:lnTo>
                <a:lnTo>
                  <a:pt x="408622" y="324178"/>
                </a:lnTo>
                <a:lnTo>
                  <a:pt x="445770" y="208043"/>
                </a:lnTo>
                <a:lnTo>
                  <a:pt x="482917" y="108354"/>
                </a:lnTo>
                <a:lnTo>
                  <a:pt x="520065" y="36181"/>
                </a:lnTo>
                <a:lnTo>
                  <a:pt x="557212" y="0"/>
                </a:lnTo>
                <a:lnTo>
                  <a:pt x="594360" y="3933"/>
                </a:lnTo>
                <a:lnTo>
                  <a:pt x="631507" y="46793"/>
                </a:lnTo>
                <a:lnTo>
                  <a:pt x="668655" y="122197"/>
                </a:lnTo>
                <a:lnTo>
                  <a:pt x="705802" y="219711"/>
                </a:lnTo>
                <a:lnTo>
                  <a:pt x="742950" y="326710"/>
                </a:lnTo>
                <a:lnTo>
                  <a:pt x="780097" y="430457"/>
                </a:lnTo>
                <a:lnTo>
                  <a:pt x="817245" y="519915"/>
                </a:lnTo>
                <a:lnTo>
                  <a:pt x="854392" y="586970"/>
                </a:lnTo>
                <a:lnTo>
                  <a:pt x="891540" y="626939"/>
                </a:lnTo>
                <a:lnTo>
                  <a:pt x="928687" y="638485"/>
                </a:lnTo>
                <a:lnTo>
                  <a:pt x="965835" y="623138"/>
                </a:lnTo>
                <a:lnTo>
                  <a:pt x="1002982" y="584667"/>
                </a:lnTo>
                <a:lnTo>
                  <a:pt x="1040130" y="528460"/>
                </a:lnTo>
                <a:lnTo>
                  <a:pt x="1077277" y="460988"/>
                </a:lnTo>
                <a:lnTo>
                  <a:pt x="1114425" y="389315"/>
                </a:lnTo>
                <a:lnTo>
                  <a:pt x="1151572" y="320622"/>
                </a:lnTo>
                <a:lnTo>
                  <a:pt x="1188720" y="261689"/>
                </a:lnTo>
                <a:lnTo>
                  <a:pt x="1225867" y="218338"/>
                </a:lnTo>
                <a:lnTo>
                  <a:pt x="1263015" y="194904"/>
                </a:lnTo>
                <a:lnTo>
                  <a:pt x="1300162" y="193807"/>
                </a:lnTo>
                <a:lnTo>
                  <a:pt x="1337310" y="215337"/>
                </a:lnTo>
                <a:lnTo>
                  <a:pt x="1374457" y="257689"/>
                </a:lnTo>
                <a:lnTo>
                  <a:pt x="1411605" y="317276"/>
                </a:lnTo>
                <a:lnTo>
                  <a:pt x="1448752" y="389265"/>
                </a:lnTo>
                <a:lnTo>
                  <a:pt x="1485900" y="468240"/>
                </a:lnTo>
                <a:lnTo>
                  <a:pt x="1523047" y="548872"/>
                </a:lnTo>
                <a:lnTo>
                  <a:pt x="1560195" y="626495"/>
                </a:lnTo>
                <a:lnTo>
                  <a:pt x="1597342" y="697502"/>
                </a:lnTo>
                <a:lnTo>
                  <a:pt x="1634490" y="759534"/>
                </a:lnTo>
                <a:lnTo>
                  <a:pt x="1671637" y="811463"/>
                </a:lnTo>
                <a:lnTo>
                  <a:pt x="1708785" y="853219"/>
                </a:lnTo>
                <a:lnTo>
                  <a:pt x="1745932" y="885529"/>
                </a:lnTo>
                <a:lnTo>
                  <a:pt x="1783080" y="909618"/>
                </a:lnTo>
                <a:lnTo>
                  <a:pt x="1783080" y="960119"/>
                </a:lnTo>
                <a:close/>
              </a:path>
            </a:pathLst>
          </a:custGeom>
          <a:solidFill>
            <a:srgbClr val="F8DDC7"/>
          </a:solidFill>
          <a:ln w="25400">
            <a:solidFill>
              <a:srgbClr val="E888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4" name="Connector 43"/>
          <p:cNvCxnSpPr/>
          <p:nvPr/>
        </p:nvCxnSpPr>
        <p:spPr>
          <a:xfrm>
            <a:off x="9738360" y="5394959"/>
            <a:ext cx="1783080" cy="0"/>
          </a:xfrm>
          <a:prstGeom prst="bentConnector3">
            <a:avLst/>
          </a:prstGeom>
          <a:ln w="12700">
            <a:solidFill>
              <a:srgbClr val="8A93A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TextBox 44"/>
          <p:cNvSpPr txBox="1"/>
          <p:nvPr/>
        </p:nvSpPr>
        <p:spPr>
          <a:xfrm>
            <a:off x="9555480" y="5440679"/>
            <a:ext cx="2148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1A2238"/>
                </a:solidFill>
              </a:rPr>
              <a:t>H2O  multimodal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02920" y="61722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8A93A3"/>
                </a:solidFill>
              </a:rPr>
              <a:t>values illustrative -- every head emits a distribution: ModeHead bars are posterior means with credible-interval whiskers and a per-phase presence probability; H2O drawn multimodal to show CondHead's GMM form.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