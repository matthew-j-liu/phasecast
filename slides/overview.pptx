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Living deck: how the current canonical model and its training/inference pipeline work. Regenerated on every major architecture change.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corpora. Pretrain (Gard) is inputs-only and trains the encoder; the equilibrium corpus (MAGEMin cooling, phenocryst-regime endpoint -- generation pipeline on the next slide) carries the labels that train the heads; the real volcanic benchmark and mineralML grains are held out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Track B label factory, left to right: stratified volcanic bulk tables; solubility-bounded Latin-Hypercube (P, H2O) draws with the proposal density stored per row; chunked MAGEMin equilibrium cooling stopped below 30% residual melt (fresh Julia worker per chunk, atomic parquet + manifest, rerun-to-resume); three tables with full labels at the four candidate rungs; crystals-renormalized training labels rebuilt at train time (presence cutoff is a rebuild, not a regen).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one-to-many mapping that everything downstream leans on: one gard bulk -&gt; 48 solubility-bounded (P, H2O) draws -&gt; each read out at two melt-fraction rungs (50/30) -&gt; 96 label rows sharing one input vector. Assemblage numbers illustrative; amp-vs-opx flips with wetness/depth (the flagship multimodality). This is the visual justification for fractional presence targets (within-bulk frequency), the bulk-level split rule, and the per-bulk latent cache in training. Same-bulk-at-both-rungs is intentional (rungs LOCKED 50+30).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strip for the corpus regen. Stages 1-2 are code, landed and tested. Stage 3-5 are runs the owner executes in his own terminal; each has a decision gate before the next. Update this slide as stages complete.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before the detailed walk-through: tokens -&gt; embed -&gt; encoder -&gt; h -&gt; {heads, encoder apps}. Following slides zoom into each block.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 up to 22 (element id, amount) pairs. Padding is src==0. The conditions (T,P,H2O) are CondHead targets, never inputs.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Opens the embed step: element id -&gt; mat2vec vector, amount -&gt; projection, summed into the per-token vector.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Self-attention (4x4 heatmap, diagonal strongest) then masked-mean pool over non-padding tokens into 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Masked-element modelling. Encoder is TRAINED here (frozen is the downstream state). Loss is per-element standardized log-space MSE so traces get supervised (fracs span ~8 decades; linear MSE leaves traces unsupervised). mu/sigma are per-element log10-frac stats from the train split (pretrain_objective.compute_loss_stats), stored as head buffers. Over ~167k rocks.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three-stage training pipeline. Stage 1 is the SSL loop from the prior slide; stage 2 freezes; stage 3 trains the heads on the labeled equilibrium corpus.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view: which heads exist and that they all read the same frozen h. Head internals on the next slide; outputs after.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trained ModeHead (checkpoints/mode_head_seed0): shared trunk Linear(256-&gt;128)+GELU+dropout, then two parallel linear branches -- presence logits (sigmoid -&gt; per-phase Bernoulli, BCE) and concentrations (softplus + eps -&gt; conditional Dirichlet, masked NLL on the true support). Param counts are exact for hidden=d_model//2. Loss boxes mirror the SSL slide: BCE is a proper scoring rule (per-rock minimum = within-bulk presence frequency, which is why intermediate p is signal); the Dirichlet NLL is masked to the label's present set (sub-composition property keeps it a proper density); λ_mag is the loss-weighting coefficient (config key magnitude_weight, 1.0 currently) -- λ chosen over w to avoid clashing with layer weights and to match the coming λ_balance / λ_comp family. 'Trained jointly' is literal chain-rule math: L is one scalar, so one backward pass and one AdamW step update all params at once. Each branch's weights appear in only its own term (the other term's gradient is exactly zero there); the trunk appears in both, so its gradient is the sum -- λ_mag is the exchange rate between the two error signals shaping the shared features. NOT alternating epochs, NOT separate optimizers, NOT staged pretraining of one branch. The hurdle split exists because one full-simplex Dirichlet cannot be simultaneously confident about absences and honest about present-phase spread (shared concentration). CompHead/CondHead follow the same small-MLP-emitting-distribution-parameters pattern; counts land when they're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for the reliability diagram in results/mode_head/&lt;tag&gt;/reliability.png. Numbers illustrative but to scale: three rocks predicted in [0.70, 0.80) -- a real bin edge of the 10 equal-width bins the code uses -- contribute 3 predictions x 96 labels = 288 (p, truth) pairs -- 3 predictions, not 288; each rock's single p is scored against its 96 labels. x = count-weighted mean p (0.740), y = pooled fraction of pairs with cpx present (205/288 = 0.712). ECE on the real panels is the count-weighted |x - y| over 10 such bins. The gray ghost dot shows the overconfident failure mode. Real population: val split of the provisional bulk-level hash split (~20% of 4,670 corpus rocks at 47/100 chunks); the '~930 rocks / 86,617 rows' line is a current snapshot and grows with the corpus -- update it on regen. Pair with figure 2 (p vs within-bulk frequency): reliability is aggregate honesty, the scatter is per-rock sharpness; a base-rate predictor passes the first and fails the second.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the magnitude branch, mirroring the presence branch's reliability worked example. Numbers illustrative but to scale: alpha sliced to the true 4-phase support gives Dirichlet means alpha_i/alpha0 and Beta marginals Beta(alpha_i, alpha0 - alpha_i); plag Beta(12,13) has mean 0.48, sd ~0.10, and truth 0.44 lands at CDF 0.34. alpha0 is the single shared confidence knob per row -- the reason per-phase spreads can't be tuned independently (see alpha_concentration.png). PIT histograms are the magnitude analog of reliability diagrams; parity plots are the point-estimate view. Scored by masked Dirichlet NLL (anatomy slide's L_magnitude).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Output FORM, not measured results (heads train in issue #10). ModeHead = hurdle Dirichlet over the crystals-renormalized solid assemblage (liq/fl dropped, solids sum to 1 -- matches real itemized-phenocrysts + lumped-groundmass granularity). EVERY phase gets a presence Bernoulli AND a conditional amount +/- CI; near-certain phases just have p~1. Amp 0.41 / opx 0.63 anti-correlated is the flagship multimodality (deep-wet-amp vs shallow-dry-opx), so their marginal amounts are conditional on presence, not rock-wide means. CondHead = per-axis GMM; P and H2O were sampled at generation, T is derived (cooling endpoint at the phenocryst window), hence the lower illustrative T. Second read-out view: top-K scenarios; weights labeled prior-weighted plausibility, reweightable p/q. Mass-balance closure teacher-forces the label melt fraction at training.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 2 from heads.md, modernized to the locked corpus design: crystals-renormalized (no residual-melt row -- melt-fraction head dropped), composition shared across scenarios (CompHead reads h only), no inference-time mass-balance checkmark (closure is teacher-forced at training; the inference residual as OOD signal is an open rethink). Marginal view = projection of these scenarios; scenarios are the primary object. Open mechanism detail for #10/#13: coupling conditions to assemblage in a sampled scenario requires joint sampling across heads. Numbers illustrative.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377440"/>
            <a:ext cx="12191695" cy="1737360"/>
          </a:xfrm>
          <a:prstGeom prst="rect">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606040"/>
            <a:ext cx="10698480" cy="822960"/>
          </a:xfrm>
          <a:prstGeom prst="rect">
            <a:avLst/>
          </a:prstGeom>
          <a:noFill/>
        </p:spPr>
        <p:txBody>
          <a:bodyPr wrap="square">
            <a:spAutoFit/>
          </a:bodyPr>
          <a:lstStyle/>
          <a:p>
            <a:pPr algn="l"/>
            <a:r>
              <a:rPr sz="4000" b="1">
                <a:solidFill>
                  <a:srgbClr val="FFFFFF"/>
                </a:solidFill>
              </a:rPr>
              <a:t>CrabNet-Mineral v3</a:t>
            </a:r>
          </a:p>
        </p:txBody>
      </p:sp>
      <p:sp>
        <p:nvSpPr>
          <p:cNvPr id="4" name="TextBox 3"/>
          <p:cNvSpPr txBox="1"/>
          <p:nvPr/>
        </p:nvSpPr>
        <p:spPr>
          <a:xfrm>
            <a:off x="758952" y="3474720"/>
            <a:ext cx="10698480" cy="548640"/>
          </a:xfrm>
          <a:prstGeom prst="rect">
            <a:avLst/>
          </a:prstGeom>
          <a:noFill/>
        </p:spPr>
        <p:txBody>
          <a:bodyPr wrap="square">
            <a:spAutoFit/>
          </a:bodyPr>
          <a:lstStyle/>
          <a:p>
            <a:pPr algn="l"/>
            <a:r>
              <a:rPr sz="2200" b="0">
                <a:solidFill>
                  <a:srgbClr val="E8883A"/>
                </a:solidFill>
              </a:rPr>
              <a:t>model &amp; pipeline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Three corpora</a:t>
            </a:r>
          </a:p>
        </p:txBody>
      </p:sp>
      <p:sp>
        <p:nvSpPr>
          <p:cNvPr id="4" name="Rounded Rectangle 3"/>
          <p:cNvSpPr/>
          <p:nvPr/>
        </p:nvSpPr>
        <p:spPr>
          <a:xfrm>
            <a:off x="548640" y="1828800"/>
            <a:ext cx="3566160" cy="23774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SSL pretrain</a:t>
            </a:r>
          </a:p>
          <a:p>
            <a:pPr algn="ctr"/>
            <a:r>
              <a:rPr sz="1400" b="1">
                <a:solidFill>
                  <a:srgbClr val="1A2238"/>
                </a:solidFill>
              </a:rPr>
              <a:t/>
            </a:r>
          </a:p>
          <a:p>
            <a:pPr algn="ctr"/>
            <a:r>
              <a:rPr sz="1100" b="0">
                <a:solidFill>
                  <a:srgbClr val="8A93A3"/>
                </a:solidFill>
              </a:rPr>
              <a:t>data/bulks/gard2019.csv</a:t>
            </a:r>
          </a:p>
          <a:p>
            <a:pPr algn="ctr"/>
            <a:r>
              <a:rPr sz="1100" b="0">
                <a:solidFill>
                  <a:srgbClr val="8A93A3"/>
                </a:solidFill>
              </a:rPr>
              <a:t>~167k igneous bulks</a:t>
            </a:r>
          </a:p>
          <a:p>
            <a:pPr algn="ctr"/>
            <a:r>
              <a:rPr sz="1100" b="0">
                <a:solidFill>
                  <a:srgbClr val="8A93A3"/>
                </a:solidFill>
              </a:rPr>
              <a:t>inputs only (no labels)</a:t>
            </a:r>
          </a:p>
        </p:txBody>
      </p:sp>
      <p:sp>
        <p:nvSpPr>
          <p:cNvPr id="5" name="Rounded Rectangle 4"/>
          <p:cNvSpPr/>
          <p:nvPr/>
        </p:nvSpPr>
        <p:spPr>
          <a:xfrm>
            <a:off x="4297680" y="1828800"/>
            <a:ext cx="3566160" cy="23774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supervised</a:t>
            </a:r>
          </a:p>
          <a:p>
            <a:pPr algn="ctr"/>
            <a:r>
              <a:rPr sz="1400" b="1">
                <a:solidFill>
                  <a:srgbClr val="1A2238"/>
                </a:solidFill>
              </a:rPr>
              <a:t/>
            </a:r>
          </a:p>
          <a:p>
            <a:pPr algn="ctr"/>
            <a:r>
              <a:rPr sz="1100" b="0">
                <a:solidFill>
                  <a:srgbClr val="8A93A3"/>
                </a:solidFill>
              </a:rPr>
              <a:t>equilibrium corpus (MAGEMin)</a:t>
            </a:r>
          </a:p>
          <a:p>
            <a:pPr algn="ctr"/>
            <a:r>
              <a:rPr sz="1100" b="0">
                <a:solidFill>
                  <a:srgbClr val="8A93A3"/>
                </a:solidFill>
              </a:rPr>
              <a:t>volcanic bulks x 48 (P, H2O) draws</a:t>
            </a:r>
          </a:p>
          <a:p>
            <a:pPr algn="ctr"/>
            <a:r>
              <a:rPr sz="1100" b="0">
                <a:solidFill>
                  <a:srgbClr val="8A93A3"/>
                </a:solidFill>
              </a:rPr>
              <a:t>phenocryst-regime labels</a:t>
            </a:r>
          </a:p>
        </p:txBody>
      </p:sp>
      <p:sp>
        <p:nvSpPr>
          <p:cNvPr id="6" name="Rounded Rectangle 5"/>
          <p:cNvSpPr/>
          <p:nvPr/>
        </p:nvSpPr>
        <p:spPr>
          <a:xfrm>
            <a:off x="8046720" y="1828800"/>
            <a:ext cx="3566160" cy="23774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held-out eval</a:t>
            </a:r>
          </a:p>
          <a:p>
            <a:pPr algn="ctr"/>
            <a:r>
              <a:rPr sz="1400" b="1">
                <a:solidFill>
                  <a:srgbClr val="1A2238"/>
                </a:solidFill>
              </a:rPr>
              <a:t/>
            </a:r>
          </a:p>
          <a:p>
            <a:pPr algn="ctr"/>
            <a:r>
              <a:rPr sz="1100" b="0">
                <a:solidFill>
                  <a:srgbClr val="8A93A3"/>
                </a:solidFill>
              </a:rPr>
              <a:t>730 real volcanic modes</a:t>
            </a:r>
          </a:p>
          <a:p>
            <a:pPr algn="ctr"/>
            <a:r>
              <a:rPr sz="1100" b="0">
                <a:solidFill>
                  <a:srgbClr val="8A93A3"/>
                </a:solidFill>
              </a:rPr>
              <a:t>+ mineralML grains (~88k)</a:t>
            </a:r>
          </a:p>
          <a:p>
            <a:pPr algn="ctr"/>
            <a:r>
              <a:rPr sz="1100" b="0">
                <a:solidFill>
                  <a:srgbClr val="8A93A3"/>
                </a:solidFill>
              </a:rPr>
              <a:t>never trained on</a:t>
            </a:r>
          </a:p>
        </p:txBody>
      </p:sp>
      <p:sp>
        <p:nvSpPr>
          <p:cNvPr id="7" name="TextBox 6"/>
          <p:cNvSpPr txBox="1"/>
          <p:nvPr/>
        </p:nvSpPr>
        <p:spPr>
          <a:xfrm>
            <a:off x="548640" y="4480560"/>
            <a:ext cx="3566160" cy="731520"/>
          </a:xfrm>
          <a:prstGeom prst="rect">
            <a:avLst/>
          </a:prstGeom>
          <a:noFill/>
        </p:spPr>
        <p:txBody>
          <a:bodyPr wrap="square">
            <a:spAutoFit/>
          </a:bodyPr>
          <a:lstStyle/>
          <a:p>
            <a:pPr algn="ctr"/>
            <a:r>
              <a:rPr sz="1200" b="0">
                <a:solidFill>
                  <a:srgbClr val="12B5A5"/>
                </a:solidFill>
              </a:rPr>
              <a:t>trains the encoder</a:t>
            </a:r>
          </a:p>
        </p:txBody>
      </p:sp>
      <p:sp>
        <p:nvSpPr>
          <p:cNvPr id="8" name="TextBox 7"/>
          <p:cNvSpPr txBox="1"/>
          <p:nvPr/>
        </p:nvSpPr>
        <p:spPr>
          <a:xfrm>
            <a:off x="4297680" y="4480560"/>
            <a:ext cx="3566160" cy="731520"/>
          </a:xfrm>
          <a:prstGeom prst="rect">
            <a:avLst/>
          </a:prstGeom>
          <a:noFill/>
        </p:spPr>
        <p:txBody>
          <a:bodyPr wrap="square">
            <a:spAutoFit/>
          </a:bodyPr>
          <a:lstStyle/>
          <a:p>
            <a:pPr algn="ctr"/>
            <a:r>
              <a:rPr sz="1200" b="0">
                <a:solidFill>
                  <a:srgbClr val="2A9D8F"/>
                </a:solidFill>
              </a:rPr>
              <a:t>trains the heads (next two slides)</a:t>
            </a:r>
          </a:p>
        </p:txBody>
      </p:sp>
      <p:sp>
        <p:nvSpPr>
          <p:cNvPr id="9" name="TextBox 8"/>
          <p:cNvSpPr txBox="1"/>
          <p:nvPr/>
        </p:nvSpPr>
        <p:spPr>
          <a:xfrm>
            <a:off x="8046720" y="4480560"/>
            <a:ext cx="3566160" cy="731520"/>
          </a:xfrm>
          <a:prstGeom prst="rect">
            <a:avLst/>
          </a:prstGeom>
          <a:noFill/>
        </p:spPr>
        <p:txBody>
          <a:bodyPr wrap="square">
            <a:spAutoFit/>
          </a:bodyPr>
          <a:lstStyle/>
          <a:p>
            <a:pPr algn="ctr"/>
            <a:r>
              <a:rPr sz="1200" b="0">
                <a:solidFill>
                  <a:srgbClr val="6C5CE7"/>
                </a:solidFill>
              </a:rPr>
              <a:t>evaluation only</a:t>
            </a:r>
          </a:p>
        </p:txBody>
      </p:sp>
      <p:sp>
        <p:nvSpPr>
          <p:cNvPr id="10" name="TextBox 9"/>
          <p:cNvSpPr txBox="1"/>
          <p:nvPr/>
        </p:nvSpPr>
        <p:spPr>
          <a:xfrm>
            <a:off x="548640" y="5212080"/>
            <a:ext cx="11064240" cy="731520"/>
          </a:xfrm>
          <a:prstGeom prst="rect">
            <a:avLst/>
          </a:prstGeom>
          <a:noFill/>
        </p:spPr>
        <p:txBody>
          <a:bodyPr wrap="square">
            <a:spAutoFit/>
          </a:bodyPr>
          <a:lstStyle/>
          <a:p>
            <a:pPr algn="l"/>
            <a:r>
              <a:rPr sz="1300" b="0">
                <a:solidFill>
                  <a:srgbClr val="1A2238"/>
                </a:solidFill>
              </a:rPr>
              <a:t>inputs everywhere are the same 22-token cation+trace vector; the corpora differ in what supervision (if any) they attach.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How the supervised labels are generated</a:t>
            </a:r>
          </a:p>
        </p:txBody>
      </p:sp>
      <p:sp>
        <p:nvSpPr>
          <p:cNvPr id="4" name="Rounded Rectangle 3"/>
          <p:cNvSpPr/>
          <p:nvPr/>
        </p:nvSpPr>
        <p:spPr>
          <a:xfrm>
            <a:off x="502920" y="1417320"/>
            <a:ext cx="2148840" cy="17373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volcanic core</a:t>
            </a:r>
          </a:p>
          <a:p>
            <a:pPr algn="ctr"/>
            <a:r>
              <a:rPr sz="900" b="0">
                <a:solidFill>
                  <a:srgbClr val="8A93A3"/>
                </a:solidFill>
              </a:rPr>
              <a:t>gard2019 -&gt; 324k bulks</a:t>
            </a:r>
          </a:p>
          <a:p>
            <a:pPr algn="ctr"/>
            <a:r>
              <a:rPr sz="900" b="0">
                <a:solidFill>
                  <a:srgbClr val="8A93A3"/>
                </a:solidFill>
              </a:rPr>
              <a:t>stratified: 10k train</a:t>
            </a:r>
          </a:p>
          <a:p>
            <a:pPr algn="ctr"/>
            <a:r>
              <a:rPr sz="900" b="0">
                <a:solidFill>
                  <a:srgbClr val="8A93A3"/>
                </a:solidFill>
              </a:rPr>
              <a:t>+ 500 val/test</a:t>
            </a:r>
          </a:p>
        </p:txBody>
      </p:sp>
      <p:sp>
        <p:nvSpPr>
          <p:cNvPr id="5" name="TextBox 4"/>
          <p:cNvSpPr txBox="1"/>
          <p:nvPr/>
        </p:nvSpPr>
        <p:spPr>
          <a:xfrm>
            <a:off x="365760" y="3209544"/>
            <a:ext cx="2423160" cy="731520"/>
          </a:xfrm>
          <a:prstGeom prst="rect">
            <a:avLst/>
          </a:prstGeom>
          <a:noFill/>
        </p:spPr>
        <p:txBody>
          <a:bodyPr wrap="square">
            <a:spAutoFit/>
          </a:bodyPr>
          <a:lstStyle/>
          <a:p>
            <a:pPr algn="ctr"/>
            <a:r>
              <a:rPr sz="1000" b="0">
                <a:solidFill>
                  <a:srgbClr val="8A93A3"/>
                </a:solidFill>
              </a:rPr>
              <a:t>build_corpus_bulk_tables.py</a:t>
            </a:r>
          </a:p>
        </p:txBody>
      </p:sp>
      <p:sp>
        <p:nvSpPr>
          <p:cNvPr id="6" name="Rounded Rectangle 5"/>
          <p:cNvSpPr/>
          <p:nvPr/>
        </p:nvSpPr>
        <p:spPr>
          <a:xfrm>
            <a:off x="2880360" y="1417320"/>
            <a:ext cx="2148840" cy="17373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sample conditions</a:t>
            </a:r>
          </a:p>
          <a:p>
            <a:pPr algn="ctr"/>
            <a:r>
              <a:rPr sz="900" b="0">
                <a:solidFill>
                  <a:srgbClr val="8A93A3"/>
                </a:solidFill>
              </a:rPr>
              <a:t>48 (P, H2O) draws/bulk</a:t>
            </a:r>
          </a:p>
          <a:p>
            <a:pPr algn="ctr"/>
            <a:r>
              <a:rPr sz="900" b="0">
                <a:solidFill>
                  <a:srgbClr val="8A93A3"/>
                </a:solidFill>
              </a:rPr>
              <a:t>solubility-bounded LHS</a:t>
            </a:r>
          </a:p>
          <a:p>
            <a:pPr algn="ctr"/>
            <a:r>
              <a:rPr sz="900" b="0">
                <a:solidFill>
                  <a:srgbClr val="8A93A3"/>
                </a:solidFill>
              </a:rPr>
              <a:t>density q stored per row</a:t>
            </a:r>
          </a:p>
        </p:txBody>
      </p:sp>
      <p:sp>
        <p:nvSpPr>
          <p:cNvPr id="7" name="TextBox 6"/>
          <p:cNvSpPr txBox="1"/>
          <p:nvPr/>
        </p:nvSpPr>
        <p:spPr>
          <a:xfrm>
            <a:off x="2743200" y="3209544"/>
            <a:ext cx="2423160" cy="731520"/>
          </a:xfrm>
          <a:prstGeom prst="rect">
            <a:avLst/>
          </a:prstGeom>
          <a:noFill/>
        </p:spPr>
        <p:txBody>
          <a:bodyPr wrap="square">
            <a:spAutoFit/>
          </a:bodyPr>
          <a:lstStyle/>
          <a:p>
            <a:pPr algn="ctr"/>
            <a:r>
              <a:rPr sz="1000" b="0">
                <a:solidFill>
                  <a:srgbClr val="8A93A3"/>
                </a:solidFill>
              </a:rPr>
              <a:t>cnmineral.data.condition_proposal</a:t>
            </a:r>
          </a:p>
        </p:txBody>
      </p:sp>
      <p:sp>
        <p:nvSpPr>
          <p:cNvPr id="8" name="Right Arrow 7"/>
          <p:cNvSpPr/>
          <p:nvPr/>
        </p:nvSpPr>
        <p:spPr>
          <a:xfrm>
            <a:off x="2688336" y="2121408"/>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1417320"/>
            <a:ext cx="2148840" cy="173736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equilibrium cooling</a:t>
            </a:r>
          </a:p>
          <a:p>
            <a:pPr algn="ctr"/>
            <a:r>
              <a:rPr sz="900" b="0">
                <a:solidFill>
                  <a:srgbClr val="8A93A3"/>
                </a:solidFill>
              </a:rPr>
              <a:t>MAGEMin, 1200 -&gt; 600 C</a:t>
            </a:r>
          </a:p>
          <a:p>
            <a:pPr algn="ctr"/>
            <a:r>
              <a:rPr sz="900" b="0">
                <a:solidFill>
                  <a:srgbClr val="8A93A3"/>
                </a:solidFill>
              </a:rPr>
              <a:t>stop below 30% melt</a:t>
            </a:r>
          </a:p>
          <a:p>
            <a:pPr algn="ctr"/>
            <a:r>
              <a:rPr sz="900" b="0">
                <a:solidFill>
                  <a:srgbClr val="8A93A3"/>
                </a:solidFill>
              </a:rPr>
              <a:t>chunked + resumable</a:t>
            </a:r>
          </a:p>
        </p:txBody>
      </p:sp>
      <p:sp>
        <p:nvSpPr>
          <p:cNvPr id="10" name="TextBox 9"/>
          <p:cNvSpPr txBox="1"/>
          <p:nvPr/>
        </p:nvSpPr>
        <p:spPr>
          <a:xfrm>
            <a:off x="5120640" y="3209544"/>
            <a:ext cx="2423160" cy="731520"/>
          </a:xfrm>
          <a:prstGeom prst="rect">
            <a:avLst/>
          </a:prstGeom>
          <a:noFill/>
        </p:spPr>
        <p:txBody>
          <a:bodyPr wrap="square">
            <a:spAutoFit/>
          </a:bodyPr>
          <a:lstStyle/>
          <a:p>
            <a:pPr algn="ctr"/>
            <a:r>
              <a:rPr sz="1000" b="0">
                <a:solidFill>
                  <a:srgbClr val="8A93A3"/>
                </a:solidFill>
              </a:rPr>
              <a:t>generate_mineralogy_corpus.py</a:t>
            </a:r>
          </a:p>
        </p:txBody>
      </p:sp>
      <p:sp>
        <p:nvSpPr>
          <p:cNvPr id="11" name="Right Arrow 10"/>
          <p:cNvSpPr/>
          <p:nvPr/>
        </p:nvSpPr>
        <p:spPr>
          <a:xfrm>
            <a:off x="5065776"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1417320"/>
            <a:ext cx="21488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corpus tables</a:t>
            </a:r>
          </a:p>
          <a:p>
            <a:pPr algn="ctr"/>
            <a:r>
              <a:rPr sz="900" b="0">
                <a:solidFill>
                  <a:srgbClr val="8A93A3"/>
                </a:solidFill>
              </a:rPr>
              <a:t>draws / ladder / rungs</a:t>
            </a:r>
          </a:p>
          <a:p>
            <a:pPr algn="ctr"/>
            <a:r>
              <a:rPr sz="900" b="0">
                <a:solidFill>
                  <a:srgbClr val="8A93A3"/>
                </a:solidFill>
              </a:rPr>
              <a:t>full labels at</a:t>
            </a:r>
          </a:p>
          <a:p>
            <a:pPr algn="ctr"/>
            <a:r>
              <a:rPr sz="900" b="0">
                <a:solidFill>
                  <a:srgbClr val="8A93A3"/>
                </a:solidFill>
              </a:rPr>
              <a:t>60/50/40/30% melt</a:t>
            </a:r>
          </a:p>
        </p:txBody>
      </p:sp>
      <p:sp>
        <p:nvSpPr>
          <p:cNvPr id="13" name="TextBox 12"/>
          <p:cNvSpPr txBox="1"/>
          <p:nvPr/>
        </p:nvSpPr>
        <p:spPr>
          <a:xfrm>
            <a:off x="7498079" y="3209544"/>
            <a:ext cx="2423160" cy="731520"/>
          </a:xfrm>
          <a:prstGeom prst="rect">
            <a:avLst/>
          </a:prstGeom>
          <a:noFill/>
        </p:spPr>
        <p:txBody>
          <a:bodyPr wrap="square">
            <a:spAutoFit/>
          </a:bodyPr>
          <a:lstStyle/>
          <a:p>
            <a:pPr algn="ctr"/>
            <a:r>
              <a:rPr sz="1000" b="0">
                <a:solidFill>
                  <a:srgbClr val="8A93A3"/>
                </a:solidFill>
              </a:rPr>
              <a:t>parquet + manifest per chunk</a:t>
            </a:r>
          </a:p>
        </p:txBody>
      </p:sp>
      <p:sp>
        <p:nvSpPr>
          <p:cNvPr id="14" name="Right Arrow 13"/>
          <p:cNvSpPr/>
          <p:nvPr/>
        </p:nvSpPr>
        <p:spPr>
          <a:xfrm>
            <a:off x="744321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1417320"/>
            <a:ext cx="2148840" cy="17373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training labels</a:t>
            </a:r>
          </a:p>
          <a:p>
            <a:pPr algn="ctr"/>
            <a:r>
              <a:rPr sz="900" b="0">
                <a:solidFill>
                  <a:srgbClr val="8A93A3"/>
                </a:solidFill>
              </a:rPr>
              <a:t>crystals-renormalized</a:t>
            </a:r>
          </a:p>
          <a:p>
            <a:pPr algn="ctr"/>
            <a:r>
              <a:rPr sz="900" b="0">
                <a:solidFill>
                  <a:srgbClr val="8A93A3"/>
                </a:solidFill>
              </a:rPr>
              <a:t>solids; presence + modes</a:t>
            </a:r>
          </a:p>
          <a:p>
            <a:pPr algn="ctr"/>
            <a:r>
              <a:rPr sz="900" b="0">
                <a:solidFill>
                  <a:srgbClr val="8A93A3"/>
                </a:solidFill>
              </a:rPr>
              <a:t>rebuild, never a regen</a:t>
            </a:r>
          </a:p>
        </p:txBody>
      </p:sp>
      <p:sp>
        <p:nvSpPr>
          <p:cNvPr id="16" name="TextBox 15"/>
          <p:cNvSpPr txBox="1"/>
          <p:nvPr/>
        </p:nvSpPr>
        <p:spPr>
          <a:xfrm>
            <a:off x="9875519" y="3209544"/>
            <a:ext cx="2423160" cy="731520"/>
          </a:xfrm>
          <a:prstGeom prst="rect">
            <a:avLst/>
          </a:prstGeom>
          <a:noFill/>
        </p:spPr>
        <p:txBody>
          <a:bodyPr wrap="square">
            <a:spAutoFit/>
          </a:bodyPr>
          <a:lstStyle/>
          <a:p>
            <a:pPr algn="ctr"/>
            <a:r>
              <a:rPr sz="1000" b="0">
                <a:solidFill>
                  <a:srgbClr val="8A93A3"/>
                </a:solidFill>
              </a:rPr>
              <a:t>training-time transform</a:t>
            </a:r>
          </a:p>
        </p:txBody>
      </p:sp>
      <p:sp>
        <p:nvSpPr>
          <p:cNvPr id="17" name="Right Arrow 16"/>
          <p:cNvSpPr/>
          <p:nvPr/>
        </p:nvSpPr>
        <p:spPr>
          <a:xfrm>
            <a:off x="982065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4526280"/>
            <a:ext cx="3291840" cy="160020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097280" y="4526280"/>
            <a:ext cx="3291840" cy="1600200"/>
          </a:xfrm>
          <a:custGeom>
            <a:avLst/>
            <a:gdLst/>
            <a:ahLst/>
            <a:cxnLst/>
            <a:rect l="l" t="t" r="r" b="b"/>
            <a:pathLst>
              <a:path w="3291840" h="1600200">
                <a:moveTo>
                  <a:pt x="0" y="1600200"/>
                </a:moveTo>
                <a:lnTo>
                  <a:pt x="0" y="1080135"/>
                </a:lnTo>
                <a:lnTo>
                  <a:pt x="143123" y="824103"/>
                </a:lnTo>
                <a:lnTo>
                  <a:pt x="286246" y="614076"/>
                </a:lnTo>
                <a:lnTo>
                  <a:pt x="429370" y="416052"/>
                </a:lnTo>
                <a:lnTo>
                  <a:pt x="572493" y="220027"/>
                </a:lnTo>
                <a:lnTo>
                  <a:pt x="715617" y="22002"/>
                </a:lnTo>
                <a:lnTo>
                  <a:pt x="729929" y="0"/>
                </a:lnTo>
                <a:lnTo>
                  <a:pt x="3291840" y="0"/>
                </a:lnTo>
                <a:lnTo>
                  <a:pt x="3291840" y="160020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6144768"/>
            <a:ext cx="3657600" cy="731520"/>
          </a:xfrm>
          <a:prstGeom prst="rect">
            <a:avLst/>
          </a:prstGeom>
          <a:noFill/>
        </p:spPr>
        <p:txBody>
          <a:bodyPr wrap="square">
            <a:spAutoFit/>
          </a:bodyPr>
          <a:lstStyle/>
          <a:p>
            <a:pPr algn="ctr"/>
            <a:r>
              <a:rPr sz="1000" b="0">
                <a:solidFill>
                  <a:srgbClr val="8A93A3"/>
                </a:solidFill>
              </a:rPr>
              <a:t>P  0.5 -&gt; 12 kbar</a:t>
            </a:r>
          </a:p>
        </p:txBody>
      </p:sp>
      <p:sp>
        <p:nvSpPr>
          <p:cNvPr id="21" name="TextBox 20"/>
          <p:cNvSpPr txBox="1"/>
          <p:nvPr/>
        </p:nvSpPr>
        <p:spPr>
          <a:xfrm>
            <a:off x="530352" y="448056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22" name="TextBox 21"/>
          <p:cNvSpPr txBox="1"/>
          <p:nvPr/>
        </p:nvSpPr>
        <p:spPr>
          <a:xfrm>
            <a:off x="1280160" y="4160520"/>
            <a:ext cx="3291840" cy="731520"/>
          </a:xfrm>
          <a:prstGeom prst="rect">
            <a:avLst/>
          </a:prstGeom>
          <a:noFill/>
        </p:spPr>
        <p:txBody>
          <a:bodyPr wrap="square">
            <a:spAutoFit/>
          </a:bodyPr>
          <a:lstStyle/>
          <a:p>
            <a:pPr algn="ctr"/>
            <a:r>
              <a:rPr sz="1100" b="0">
                <a:solidFill>
                  <a:srgbClr val="2E5BFF"/>
                </a:solidFill>
              </a:rPr>
              <a:t>sampled (P, H2O) region</a:t>
            </a:r>
          </a:p>
        </p:txBody>
      </p:sp>
      <p:sp>
        <p:nvSpPr>
          <p:cNvPr id="23" name="TextBox 22"/>
          <p:cNvSpPr txBox="1"/>
          <p:nvPr/>
        </p:nvSpPr>
        <p:spPr>
          <a:xfrm>
            <a:off x="4937760" y="5440680"/>
            <a:ext cx="6766560" cy="731520"/>
          </a:xfrm>
          <a:prstGeom prst="rect">
            <a:avLst/>
          </a:prstGeom>
          <a:noFill/>
        </p:spPr>
        <p:txBody>
          <a:bodyPr wrap="square">
            <a:spAutoFit/>
          </a:bodyPr>
          <a:lstStyle/>
          <a:p>
            <a:pPr algn="l"/>
            <a:r>
              <a:rPr sz="1200" b="0">
                <a:solidFill>
                  <a:srgbClr val="1A2238"/>
                </a:solidFill>
              </a:rPr>
              <a:t>water is bounded by what melt can dissolve at each pressure (Newman &amp; Lowenstern 2002 rhyolite curve, capped at 8 wt%) -- the old flat box (whole rectangle) sampled impossible wet-shallow corners. q is the sampling density; inference reweights scenarios by p/q, so the corpus itself stays prior-agnostic.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rock, 96 labels: the one-to-many mapping</a:t>
            </a:r>
          </a:p>
        </p:txBody>
      </p:sp>
      <p:sp>
        <p:nvSpPr>
          <p:cNvPr id="4" name="TextBox 3"/>
          <p:cNvSpPr txBox="1"/>
          <p:nvPr/>
        </p:nvSpPr>
        <p:spPr>
          <a:xfrm>
            <a:off x="365760" y="1188720"/>
            <a:ext cx="2286000" cy="731520"/>
          </a:xfrm>
          <a:prstGeom prst="rect">
            <a:avLst/>
          </a:prstGeom>
          <a:noFill/>
        </p:spPr>
        <p:txBody>
          <a:bodyPr wrap="square">
            <a:spAutoFit/>
          </a:bodyPr>
          <a:lstStyle/>
          <a:p>
            <a:pPr algn="l"/>
            <a:r>
              <a:rPr sz="1100" b="0">
                <a:solidFill>
                  <a:srgbClr val="2E5BFF"/>
                </a:solidFill>
              </a:rPr>
              <a:t>ONE input rock</a:t>
            </a:r>
          </a:p>
        </p:txBody>
      </p:sp>
      <p:sp>
        <p:nvSpPr>
          <p:cNvPr id="5" name="TextBox 4"/>
          <p:cNvSpPr txBox="1"/>
          <p:nvPr/>
        </p:nvSpPr>
        <p:spPr>
          <a:xfrm>
            <a:off x="3200400" y="1188720"/>
            <a:ext cx="2194560" cy="731520"/>
          </a:xfrm>
          <a:prstGeom prst="rect">
            <a:avLst/>
          </a:prstGeom>
          <a:noFill/>
        </p:spPr>
        <p:txBody>
          <a:bodyPr wrap="square">
            <a:spAutoFit/>
          </a:bodyPr>
          <a:lstStyle/>
          <a:p>
            <a:pPr algn="l"/>
            <a:r>
              <a:rPr sz="1100" b="0">
                <a:solidFill>
                  <a:srgbClr val="6C5CE7"/>
                </a:solidFill>
              </a:rPr>
              <a:t>48 sampled (P, H2O) paths</a:t>
            </a:r>
          </a:p>
        </p:txBody>
      </p:sp>
      <p:sp>
        <p:nvSpPr>
          <p:cNvPr id="6" name="TextBox 5"/>
          <p:cNvSpPr txBox="1"/>
          <p:nvPr/>
        </p:nvSpPr>
        <p:spPr>
          <a:xfrm>
            <a:off x="5669280" y="1188720"/>
            <a:ext cx="1463040" cy="731520"/>
          </a:xfrm>
          <a:prstGeom prst="rect">
            <a:avLst/>
          </a:prstGeom>
          <a:noFill/>
        </p:spPr>
        <p:txBody>
          <a:bodyPr wrap="square">
            <a:spAutoFit/>
          </a:bodyPr>
          <a:lstStyle/>
          <a:p>
            <a:pPr algn="l"/>
            <a:r>
              <a:rPr sz="1100" b="0">
                <a:solidFill>
                  <a:srgbClr val="E8883A"/>
                </a:solidFill>
              </a:rPr>
              <a:t>x 2 rungs</a:t>
            </a:r>
          </a:p>
        </p:txBody>
      </p:sp>
      <p:sp>
        <p:nvSpPr>
          <p:cNvPr id="7" name="TextBox 6"/>
          <p:cNvSpPr txBox="1"/>
          <p:nvPr/>
        </p:nvSpPr>
        <p:spPr>
          <a:xfrm>
            <a:off x="7589520" y="1188720"/>
            <a:ext cx="4069080" cy="731520"/>
          </a:xfrm>
          <a:prstGeom prst="rect">
            <a:avLst/>
          </a:prstGeom>
          <a:noFill/>
        </p:spPr>
        <p:txBody>
          <a:bodyPr wrap="square">
            <a:spAutoFit/>
          </a:bodyPr>
          <a:lstStyle/>
          <a:p>
            <a:pPr algn="l"/>
            <a:r>
              <a:rPr sz="1100" b="0">
                <a:solidFill>
                  <a:srgbClr val="2A9D8F"/>
                </a:solidFill>
              </a:rPr>
              <a:t>96 training labels (solid wt%, crystals-renormalized)</a:t>
            </a:r>
          </a:p>
        </p:txBody>
      </p:sp>
      <p:sp>
        <p:nvSpPr>
          <p:cNvPr id="8" name="Rounded Rectangle 7"/>
          <p:cNvSpPr/>
          <p:nvPr/>
        </p:nvSpPr>
        <p:spPr>
          <a:xfrm>
            <a:off x="502920" y="3017520"/>
            <a:ext cx="1828800" cy="10058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one gard2019 rock</a:t>
            </a:r>
          </a:p>
          <a:p>
            <a:pPr algn="ctr"/>
            <a:r>
              <a:rPr sz="900" b="0">
                <a:solidFill>
                  <a:srgbClr val="8A93A3"/>
                </a:solidFill>
              </a:rPr>
              <a:t>SiO2 58 . Al2O3 17 . MgO 3.5 ...</a:t>
            </a:r>
          </a:p>
        </p:txBody>
      </p:sp>
      <p:cxnSp>
        <p:nvCxnSpPr>
          <p:cNvPr id="9" name="Connector 8"/>
          <p:cNvCxnSpPr/>
          <p:nvPr/>
        </p:nvCxnSpPr>
        <p:spPr>
          <a:xfrm flipV="1">
            <a:off x="2331720" y="182880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46304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(P₁, H₂O₁)</a:t>
            </a:r>
          </a:p>
          <a:p>
            <a:pPr algn="ctr"/>
            <a:r>
              <a:rPr sz="800" b="0">
                <a:solidFill>
                  <a:srgbClr val="8A93A3"/>
                </a:solidFill>
              </a:rPr>
              <a:t>9 kbar . 5.5 wt% -- deep, wet</a:t>
            </a:r>
          </a:p>
        </p:txBody>
      </p:sp>
      <p:cxnSp>
        <p:nvCxnSpPr>
          <p:cNvPr id="11" name="Connector 10"/>
          <p:cNvCxnSpPr/>
          <p:nvPr/>
        </p:nvCxnSpPr>
        <p:spPr>
          <a:xfrm flipV="1">
            <a:off x="5212080" y="14630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60720" y="12344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13" name="Connector 12"/>
          <p:cNvCxnSpPr/>
          <p:nvPr/>
        </p:nvCxnSpPr>
        <p:spPr>
          <a:xfrm>
            <a:off x="6995160" y="14630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2344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44 . cpx 26 . amp 19 . ox 11</a:t>
            </a:r>
          </a:p>
        </p:txBody>
      </p:sp>
      <p:cxnSp>
        <p:nvCxnSpPr>
          <p:cNvPr id="15" name="Connector 14"/>
          <p:cNvCxnSpPr/>
          <p:nvPr/>
        </p:nvCxnSpPr>
        <p:spPr>
          <a:xfrm>
            <a:off x="5212080" y="182880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60720" y="196596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17" name="Connector 16"/>
          <p:cNvCxnSpPr/>
          <p:nvPr/>
        </p:nvCxnSpPr>
        <p:spPr>
          <a:xfrm>
            <a:off x="6995160" y="219456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89520" y="196596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40 . cpx 25 . amp 24 . ox 11</a:t>
            </a:r>
          </a:p>
        </p:txBody>
      </p:sp>
      <p:cxnSp>
        <p:nvCxnSpPr>
          <p:cNvPr id="19" name="Connector 18"/>
          <p:cNvCxnSpPr/>
          <p:nvPr/>
        </p:nvCxnSpPr>
        <p:spPr>
          <a:xfrm flipV="1">
            <a:off x="2331720" y="3291840"/>
            <a:ext cx="960120" cy="22860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91840" y="292608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(P₂, H₂O₂)</a:t>
            </a:r>
          </a:p>
          <a:p>
            <a:pPr algn="ctr"/>
            <a:r>
              <a:rPr sz="800" b="0">
                <a:solidFill>
                  <a:srgbClr val="8A93A3"/>
                </a:solidFill>
              </a:rPr>
              <a:t>2 kbar . 1.5 wt% -- shallow, dry</a:t>
            </a:r>
          </a:p>
        </p:txBody>
      </p:sp>
      <p:cxnSp>
        <p:nvCxnSpPr>
          <p:cNvPr id="21" name="Connector 20"/>
          <p:cNvCxnSpPr/>
          <p:nvPr/>
        </p:nvCxnSpPr>
        <p:spPr>
          <a:xfrm flipV="1">
            <a:off x="5212080" y="2926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760720" y="269748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23" name="Connector 22"/>
          <p:cNvCxnSpPr/>
          <p:nvPr/>
        </p:nvCxnSpPr>
        <p:spPr>
          <a:xfrm>
            <a:off x="6995160" y="292608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89520" y="269748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49 . cpx 26 . opx 14 . ox 11   (no amp)</a:t>
            </a:r>
          </a:p>
        </p:txBody>
      </p:sp>
      <p:cxnSp>
        <p:nvCxnSpPr>
          <p:cNvPr id="25" name="Connector 24"/>
          <p:cNvCxnSpPr/>
          <p:nvPr/>
        </p:nvCxnSpPr>
        <p:spPr>
          <a:xfrm>
            <a:off x="5212080" y="32918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760720" y="342900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27" name="Connector 26"/>
          <p:cNvCxnSpPr/>
          <p:nvPr/>
        </p:nvCxnSpPr>
        <p:spPr>
          <a:xfrm>
            <a:off x="6995160" y="365760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342900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46 . cpx 25 . opx 18 . ox 11   (no amp)</a:t>
            </a:r>
          </a:p>
        </p:txBody>
      </p:sp>
      <p:cxnSp>
        <p:nvCxnSpPr>
          <p:cNvPr id="29" name="Connector 28"/>
          <p:cNvCxnSpPr/>
          <p:nvPr/>
        </p:nvCxnSpPr>
        <p:spPr>
          <a:xfrm>
            <a:off x="2331720" y="352044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291840" y="484632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(P₄₈, H₂O₄₈)</a:t>
            </a:r>
          </a:p>
          <a:p>
            <a:pPr algn="ctr"/>
            <a:r>
              <a:rPr sz="800" b="0">
                <a:solidFill>
                  <a:srgbClr val="8A93A3"/>
                </a:solidFill>
              </a:rPr>
              <a:t>5 kbar . 3 wt% -- intermediate</a:t>
            </a:r>
          </a:p>
        </p:txBody>
      </p:sp>
      <p:cxnSp>
        <p:nvCxnSpPr>
          <p:cNvPr id="31" name="Connector 30"/>
          <p:cNvCxnSpPr/>
          <p:nvPr/>
        </p:nvCxnSpPr>
        <p:spPr>
          <a:xfrm flipV="1">
            <a:off x="5212080" y="484632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760720" y="461772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33" name="Connector 32"/>
          <p:cNvCxnSpPr/>
          <p:nvPr/>
        </p:nvCxnSpPr>
        <p:spPr>
          <a:xfrm>
            <a:off x="6995160" y="484632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589520" y="461772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45 . cpx 24 . amp 10 . opx 10 . ox 11</a:t>
            </a:r>
          </a:p>
        </p:txBody>
      </p:sp>
      <p:cxnSp>
        <p:nvCxnSpPr>
          <p:cNvPr id="35" name="Connector 34"/>
          <p:cNvCxnSpPr/>
          <p:nvPr/>
        </p:nvCxnSpPr>
        <p:spPr>
          <a:xfrm>
            <a:off x="5212080" y="5212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760720" y="53492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37" name="Connector 36"/>
          <p:cNvCxnSpPr/>
          <p:nvPr/>
        </p:nvCxnSpPr>
        <p:spPr>
          <a:xfrm>
            <a:off x="6995160" y="55778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589520" y="53492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43 . cpx 23 . amp 12 . opx 11 . ox 11</a:t>
            </a:r>
          </a:p>
        </p:txBody>
      </p:sp>
      <p:sp>
        <p:nvSpPr>
          <p:cNvPr id="39" name="TextBox 38"/>
          <p:cNvSpPr txBox="1"/>
          <p:nvPr/>
        </p:nvSpPr>
        <p:spPr>
          <a:xfrm>
            <a:off x="3291840" y="3931920"/>
            <a:ext cx="1920240" cy="731520"/>
          </a:xfrm>
          <a:prstGeom prst="rect">
            <a:avLst/>
          </a:prstGeom>
          <a:noFill/>
        </p:spPr>
        <p:txBody>
          <a:bodyPr wrap="square">
            <a:spAutoFit/>
          </a:bodyPr>
          <a:lstStyle/>
          <a:p>
            <a:pPr algn="ctr"/>
            <a:r>
              <a:rPr sz="1400" b="0">
                <a:solidFill>
                  <a:srgbClr val="8A93A3"/>
                </a:solidFill>
              </a:rPr>
              <a:t>. . .</a:t>
            </a:r>
          </a:p>
        </p:txBody>
      </p:sp>
      <p:sp>
        <p:nvSpPr>
          <p:cNvPr id="40" name="TextBox 39"/>
          <p:cNvSpPr txBox="1"/>
          <p:nvPr/>
        </p:nvSpPr>
        <p:spPr>
          <a:xfrm>
            <a:off x="5760720" y="3931920"/>
            <a:ext cx="1234440" cy="731520"/>
          </a:xfrm>
          <a:prstGeom prst="rect">
            <a:avLst/>
          </a:prstGeom>
          <a:noFill/>
        </p:spPr>
        <p:txBody>
          <a:bodyPr wrap="square">
            <a:spAutoFit/>
          </a:bodyPr>
          <a:lstStyle/>
          <a:p>
            <a:pPr algn="ctr"/>
            <a:r>
              <a:rPr sz="1400" b="0">
                <a:solidFill>
                  <a:srgbClr val="8A93A3"/>
                </a:solidFill>
              </a:rPr>
              <a:t>. . .</a:t>
            </a:r>
          </a:p>
        </p:txBody>
      </p:sp>
      <p:sp>
        <p:nvSpPr>
          <p:cNvPr id="41" name="TextBox 40"/>
          <p:cNvSpPr txBox="1"/>
          <p:nvPr/>
        </p:nvSpPr>
        <p:spPr>
          <a:xfrm>
            <a:off x="7589520" y="3931920"/>
            <a:ext cx="4069080" cy="731520"/>
          </a:xfrm>
          <a:prstGeom prst="rect">
            <a:avLst/>
          </a:prstGeom>
          <a:noFill/>
        </p:spPr>
        <p:txBody>
          <a:bodyPr wrap="square">
            <a:spAutoFit/>
          </a:bodyPr>
          <a:lstStyle/>
          <a:p>
            <a:pPr algn="ctr"/>
            <a:r>
              <a:rPr sz="1400" b="0">
                <a:solidFill>
                  <a:srgbClr val="8A93A3"/>
                </a:solidFill>
              </a:rPr>
              <a:t>. . .</a:t>
            </a:r>
          </a:p>
        </p:txBody>
      </p:sp>
      <p:sp>
        <p:nvSpPr>
          <p:cNvPr id="42" name="TextBox 41"/>
          <p:cNvSpPr txBox="1"/>
          <p:nvPr/>
        </p:nvSpPr>
        <p:spPr>
          <a:xfrm>
            <a:off x="502920" y="4617720"/>
            <a:ext cx="2926080" cy="731520"/>
          </a:xfrm>
          <a:prstGeom prst="rect">
            <a:avLst/>
          </a:prstGeom>
          <a:noFill/>
        </p:spPr>
        <p:txBody>
          <a:bodyPr wrap="square">
            <a:spAutoFit/>
          </a:bodyPr>
          <a:lstStyle/>
          <a:p>
            <a:pPr algn="l"/>
            <a:r>
              <a:rPr sz="1000" b="0">
                <a:solidFill>
                  <a:srgbClr val="8A93A3"/>
                </a:solidFill>
              </a:rPr>
              <a:t>each path drawn from the bounded (P, H2O) region:</a:t>
            </a:r>
          </a:p>
        </p:txBody>
      </p:sp>
      <p:sp>
        <p:nvSpPr>
          <p:cNvPr id="43" name="Rectangle 42"/>
          <p:cNvSpPr/>
          <p:nvPr/>
        </p:nvSpPr>
        <p:spPr>
          <a:xfrm>
            <a:off x="868680" y="5074920"/>
            <a:ext cx="2194560" cy="11887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868680" y="5074920"/>
            <a:ext cx="2194559" cy="1188720"/>
          </a:xfrm>
          <a:custGeom>
            <a:avLst/>
            <a:gdLst/>
            <a:ahLst/>
            <a:cxnLst/>
            <a:rect l="l" t="t" r="r" b="b"/>
            <a:pathLst>
              <a:path w="2194559" h="1188720">
                <a:moveTo>
                  <a:pt x="0" y="1188720"/>
                </a:moveTo>
                <a:lnTo>
                  <a:pt x="0" y="802385"/>
                </a:lnTo>
                <a:lnTo>
                  <a:pt x="95415" y="612190"/>
                </a:lnTo>
                <a:lnTo>
                  <a:pt x="190831" y="456171"/>
                </a:lnTo>
                <a:lnTo>
                  <a:pt x="286246" y="309067"/>
                </a:lnTo>
                <a:lnTo>
                  <a:pt x="381662" y="163449"/>
                </a:lnTo>
                <a:lnTo>
                  <a:pt x="477078" y="16344"/>
                </a:lnTo>
                <a:lnTo>
                  <a:pt x="486619" y="0"/>
                </a:lnTo>
                <a:lnTo>
                  <a:pt x="2194559" y="0"/>
                </a:lnTo>
                <a:lnTo>
                  <a:pt x="2194559" y="118872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6281927"/>
            <a:ext cx="2560320" cy="731520"/>
          </a:xfrm>
          <a:prstGeom prst="rect">
            <a:avLst/>
          </a:prstGeom>
          <a:noFill/>
        </p:spPr>
        <p:txBody>
          <a:bodyPr wrap="square">
            <a:spAutoFit/>
          </a:bodyPr>
          <a:lstStyle/>
          <a:p>
            <a:pPr algn="ctr"/>
            <a:r>
              <a:rPr sz="1000" b="0">
                <a:solidFill>
                  <a:srgbClr val="8A93A3"/>
                </a:solidFill>
              </a:rPr>
              <a:t>P  0.5 -&gt; 12 kbar</a:t>
            </a:r>
          </a:p>
        </p:txBody>
      </p:sp>
      <p:sp>
        <p:nvSpPr>
          <p:cNvPr id="46" name="TextBox 45"/>
          <p:cNvSpPr txBox="1"/>
          <p:nvPr/>
        </p:nvSpPr>
        <p:spPr>
          <a:xfrm>
            <a:off x="301751" y="502920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47" name="TextBox 46"/>
          <p:cNvSpPr txBox="1"/>
          <p:nvPr/>
        </p:nvSpPr>
        <p:spPr>
          <a:xfrm>
            <a:off x="3383280" y="5806440"/>
            <a:ext cx="8321040" cy="731520"/>
          </a:xfrm>
          <a:prstGeom prst="rect">
            <a:avLst/>
          </a:prstGeom>
          <a:noFill/>
        </p:spPr>
        <p:txBody>
          <a:bodyPr wrap="square">
            <a:spAutoFit/>
          </a:bodyPr>
          <a:lstStyle/>
          <a:p>
            <a:pPr algn="l"/>
            <a:r>
              <a:rPr sz="1100" b="0">
                <a:solidFill>
                  <a:srgbClr val="1A2238"/>
                </a:solidFill>
              </a:rPr>
              <a:t>why this shape matters for the presence head: it only ever sees the left box, so all 96 rows share one input and it emits ONE p per mineral against 96 different truths -- amp grows on the wet-deep paths, opx on the dry-shallow. BCE's optimum is the fraction of paths growing the mineral, so an intermediate p is the multimodal signal, not indecision.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Corpus regen: where we are</a:t>
            </a:r>
          </a:p>
        </p:txBody>
      </p:sp>
      <p:sp>
        <p:nvSpPr>
          <p:cNvPr id="4" name="Rounded Rectangle 3"/>
          <p:cNvSpPr/>
          <p:nvPr/>
        </p:nvSpPr>
        <p:spPr>
          <a:xfrm>
            <a:off x="50292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1. bounded sampler</a:t>
            </a:r>
          </a:p>
          <a:p>
            <a:pPr algn="ctr"/>
            <a:r>
              <a:rPr sz="1200" b="1">
                <a:solidFill>
                  <a:srgbClr val="1A2238"/>
                </a:solidFill>
              </a:rPr>
              <a:t/>
            </a:r>
          </a:p>
          <a:p>
            <a:pPr algn="ctr"/>
            <a:r>
              <a:rPr sz="1200" b="1">
                <a:solidFill>
                  <a:srgbClr val="1A2238"/>
                </a:solidFill>
              </a:rPr>
              <a:t>landed + tested</a:t>
            </a:r>
          </a:p>
          <a:p>
            <a:pPr algn="ctr"/>
            <a:r>
              <a:rPr sz="900" b="0">
                <a:solidFill>
                  <a:srgbClr val="8A93A3"/>
                </a:solidFill>
              </a:rPr>
              <a:t>condition_proposal</a:t>
            </a:r>
          </a:p>
        </p:txBody>
      </p:sp>
      <p:sp>
        <p:nvSpPr>
          <p:cNvPr id="5" name="TextBox 4"/>
          <p:cNvSpPr txBox="1"/>
          <p:nvPr/>
        </p:nvSpPr>
        <p:spPr>
          <a:xfrm>
            <a:off x="502920" y="1719072"/>
            <a:ext cx="2148840" cy="731520"/>
          </a:xfrm>
          <a:prstGeom prst="rect">
            <a:avLst/>
          </a:prstGeom>
          <a:noFill/>
        </p:spPr>
        <p:txBody>
          <a:bodyPr wrap="square">
            <a:spAutoFit/>
          </a:bodyPr>
          <a:lstStyle/>
          <a:p>
            <a:pPr algn="ctr"/>
            <a:r>
              <a:rPr sz="1100" b="0">
                <a:solidFill>
                  <a:srgbClr val="2A9D8F"/>
                </a:solidFill>
              </a:rPr>
              <a:t>LANDED</a:t>
            </a:r>
          </a:p>
        </p:txBody>
      </p:sp>
      <p:sp>
        <p:nvSpPr>
          <p:cNvPr id="6" name="Rounded Rectangle 5"/>
          <p:cNvSpPr/>
          <p:nvPr/>
        </p:nvSpPr>
        <p:spPr>
          <a:xfrm>
            <a:off x="288036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 orchestrator</a:t>
            </a:r>
          </a:p>
          <a:p>
            <a:pPr algn="ctr"/>
            <a:r>
              <a:rPr sz="1200" b="1">
                <a:solidFill>
                  <a:srgbClr val="1A2238"/>
                </a:solidFill>
              </a:rPr>
              <a:t/>
            </a:r>
          </a:p>
          <a:p>
            <a:pPr algn="ctr"/>
            <a:r>
              <a:rPr sz="1200" b="1">
                <a:solidFill>
                  <a:srgbClr val="1A2238"/>
                </a:solidFill>
              </a:rPr>
              <a:t>landed + smoke-run</a:t>
            </a:r>
          </a:p>
          <a:p>
            <a:pPr algn="ctr"/>
            <a:r>
              <a:rPr sz="900" b="0">
                <a:solidFill>
                  <a:srgbClr val="8A93A3"/>
                </a:solidFill>
              </a:rPr>
              <a:t>generate_mineralogy_corpus</a:t>
            </a:r>
          </a:p>
        </p:txBody>
      </p:sp>
      <p:sp>
        <p:nvSpPr>
          <p:cNvPr id="7" name="TextBox 6"/>
          <p:cNvSpPr txBox="1"/>
          <p:nvPr/>
        </p:nvSpPr>
        <p:spPr>
          <a:xfrm>
            <a:off x="2880360" y="1719072"/>
            <a:ext cx="2148840" cy="731520"/>
          </a:xfrm>
          <a:prstGeom prst="rect">
            <a:avLst/>
          </a:prstGeom>
          <a:noFill/>
        </p:spPr>
        <p:txBody>
          <a:bodyPr wrap="square">
            <a:spAutoFit/>
          </a:bodyPr>
          <a:lstStyle/>
          <a:p>
            <a:pPr algn="ctr"/>
            <a:r>
              <a:rPr sz="1100" b="0">
                <a:solidFill>
                  <a:srgbClr val="2A9D8F"/>
                </a:solidFill>
              </a:rPr>
              <a:t>LANDED</a:t>
            </a:r>
          </a:p>
        </p:txBody>
      </p:sp>
      <p:sp>
        <p:nvSpPr>
          <p:cNvPr id="8" name="Right Arrow 7"/>
          <p:cNvSpPr/>
          <p:nvPr/>
        </p:nvSpPr>
        <p:spPr>
          <a:xfrm>
            <a:off x="2688336" y="2898647"/>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3. water A/B</a:t>
            </a:r>
          </a:p>
          <a:p>
            <a:pPr algn="ctr"/>
            <a:r>
              <a:rPr sz="1200" b="1">
                <a:solidFill>
                  <a:srgbClr val="1A2238"/>
                </a:solidFill>
              </a:rPr>
              <a:t/>
            </a:r>
          </a:p>
          <a:p>
            <a:pPr algn="ctr"/>
            <a:r>
              <a:rPr sz="1200" b="1">
                <a:solidFill>
                  <a:srgbClr val="1A2238"/>
                </a:solidFill>
              </a:rPr>
              <a:t>switch holds;</a:t>
            </a:r>
          </a:p>
          <a:p>
            <a:pPr algn="ctr"/>
            <a:r>
              <a:rPr sz="900" b="0">
                <a:solidFill>
                  <a:srgbClr val="8A93A3"/>
                </a:solidFill>
              </a:rPr>
              <a:t>biotite gap is</a:t>
            </a:r>
          </a:p>
          <a:p>
            <a:pPr algn="ctr"/>
            <a:r>
              <a:rPr sz="900" b="0">
                <a:solidFill>
                  <a:srgbClr val="8A93A3"/>
                </a:solidFill>
              </a:rPr>
              <a:t>prior-side, not coverage</a:t>
            </a:r>
          </a:p>
        </p:txBody>
      </p:sp>
      <p:sp>
        <p:nvSpPr>
          <p:cNvPr id="10" name="TextBox 9"/>
          <p:cNvSpPr txBox="1"/>
          <p:nvPr/>
        </p:nvSpPr>
        <p:spPr>
          <a:xfrm>
            <a:off x="5257800" y="1719072"/>
            <a:ext cx="2148840" cy="731520"/>
          </a:xfrm>
          <a:prstGeom prst="rect">
            <a:avLst/>
          </a:prstGeom>
          <a:noFill/>
        </p:spPr>
        <p:txBody>
          <a:bodyPr wrap="square">
            <a:spAutoFit/>
          </a:bodyPr>
          <a:lstStyle/>
          <a:p>
            <a:pPr algn="ctr"/>
            <a:r>
              <a:rPr sz="1100" b="0">
                <a:solidFill>
                  <a:srgbClr val="2A9D8F"/>
                </a:solidFill>
              </a:rPr>
              <a:t>LANDED</a:t>
            </a:r>
          </a:p>
        </p:txBody>
      </p:sp>
      <p:sp>
        <p:nvSpPr>
          <p:cNvPr id="11" name="Right Arrow 10"/>
          <p:cNvSpPr/>
          <p:nvPr/>
        </p:nvSpPr>
        <p:spPr>
          <a:xfrm>
            <a:off x="5065776"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2103120"/>
            <a:ext cx="2148840" cy="192024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4. pilot + rung pick</a:t>
            </a:r>
          </a:p>
          <a:p>
            <a:pPr algn="ctr"/>
            <a:r>
              <a:rPr sz="1200" b="1">
                <a:solidFill>
                  <a:srgbClr val="1A2238"/>
                </a:solidFill>
              </a:rPr>
              <a:t/>
            </a:r>
          </a:p>
          <a:p>
            <a:pPr algn="ctr"/>
            <a:r>
              <a:rPr sz="1200" b="1">
                <a:solidFill>
                  <a:srgbClr val="1A2238"/>
                </a:solidFill>
              </a:rPr>
              <a:t>first 5 train chunks</a:t>
            </a:r>
          </a:p>
          <a:p>
            <a:pPr algn="ctr"/>
            <a:r>
              <a:rPr sz="900" b="0">
                <a:solidFill>
                  <a:srgbClr val="8A93A3"/>
                </a:solidFill>
              </a:rPr>
              <a:t>health report +</a:t>
            </a:r>
          </a:p>
          <a:p>
            <a:pPr algn="ctr"/>
            <a:r>
              <a:rPr sz="900" b="0">
                <a:solidFill>
                  <a:srgbClr val="8A93A3"/>
                </a:solidFill>
              </a:rPr>
              <a:t>rung_prescreen.py -&gt; owner</a:t>
            </a:r>
          </a:p>
        </p:txBody>
      </p:sp>
      <p:sp>
        <p:nvSpPr>
          <p:cNvPr id="13" name="TextBox 12"/>
          <p:cNvSpPr txBox="1"/>
          <p:nvPr/>
        </p:nvSpPr>
        <p:spPr>
          <a:xfrm>
            <a:off x="7635240" y="1719072"/>
            <a:ext cx="2148840" cy="731520"/>
          </a:xfrm>
          <a:prstGeom prst="rect">
            <a:avLst/>
          </a:prstGeom>
          <a:noFill/>
        </p:spPr>
        <p:txBody>
          <a:bodyPr wrap="square">
            <a:spAutoFit/>
          </a:bodyPr>
          <a:lstStyle/>
          <a:p>
            <a:pPr algn="ctr"/>
            <a:r>
              <a:rPr sz="1100" b="0">
                <a:solidFill>
                  <a:srgbClr val="E8883A"/>
                </a:solidFill>
              </a:rPr>
              <a:t>NEXT</a:t>
            </a:r>
          </a:p>
        </p:txBody>
      </p:sp>
      <p:sp>
        <p:nvSpPr>
          <p:cNvPr id="14" name="Right Arrow 13"/>
          <p:cNvSpPr/>
          <p:nvPr/>
        </p:nvSpPr>
        <p:spPr>
          <a:xfrm>
            <a:off x="7443215"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2103120"/>
            <a:ext cx="2148840" cy="1920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5. production</a:t>
            </a:r>
          </a:p>
          <a:p>
            <a:pPr algn="ctr"/>
            <a:r>
              <a:rPr sz="1200" b="1">
                <a:solidFill>
                  <a:srgbClr val="8A93A3"/>
                </a:solidFill>
              </a:rPr>
              <a:t/>
            </a:r>
          </a:p>
          <a:p>
            <a:pPr algn="ctr"/>
            <a:r>
              <a:rPr sz="1200" b="1">
                <a:solidFill>
                  <a:srgbClr val="8A93A3"/>
                </a:solidFill>
              </a:rPr>
              <a:t>10k x 48 + 500 x 128</a:t>
            </a:r>
          </a:p>
          <a:p>
            <a:pPr algn="ctr"/>
            <a:r>
              <a:rPr sz="900" b="0">
                <a:solidFill>
                  <a:srgbClr val="8A93A3"/>
                </a:solidFill>
              </a:rPr>
              <a:t>~2 days, pausable</a:t>
            </a:r>
          </a:p>
          <a:p>
            <a:pPr algn="ctr"/>
            <a:r>
              <a:rPr sz="900" b="0">
                <a:solidFill>
                  <a:srgbClr val="8A93A3"/>
                </a:solidFill>
              </a:rPr>
              <a:t>rerun command = resume</a:t>
            </a:r>
          </a:p>
        </p:txBody>
      </p:sp>
      <p:sp>
        <p:nvSpPr>
          <p:cNvPr id="16" name="TextBox 15"/>
          <p:cNvSpPr txBox="1"/>
          <p:nvPr/>
        </p:nvSpPr>
        <p:spPr>
          <a:xfrm>
            <a:off x="10012680" y="1719072"/>
            <a:ext cx="2148840" cy="731520"/>
          </a:xfrm>
          <a:prstGeom prst="rect">
            <a:avLst/>
          </a:prstGeom>
          <a:noFill/>
        </p:spPr>
        <p:txBody>
          <a:bodyPr wrap="square">
            <a:spAutoFit/>
          </a:bodyPr>
          <a:lstStyle/>
          <a:p>
            <a:pPr algn="ctr"/>
            <a:r>
              <a:rPr sz="1100" b="0">
                <a:solidFill>
                  <a:srgbClr val="8A93A3"/>
                </a:solidFill>
              </a:rPr>
              <a:t>queued</a:t>
            </a:r>
          </a:p>
        </p:txBody>
      </p:sp>
      <p:sp>
        <p:nvSpPr>
          <p:cNvPr id="17" name="Right Arrow 16"/>
          <p:cNvSpPr/>
          <p:nvPr/>
        </p:nvSpPr>
        <p:spPr>
          <a:xfrm>
            <a:off x="9820655" y="2898647"/>
            <a:ext cx="155448" cy="329184"/>
          </a:xfrm>
          <a:prstGeom prst="rightArrow">
            <a:avLst/>
          </a:prstGeom>
          <a:solidFill>
            <a:srgbClr val="C8CD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4754880"/>
            <a:ext cx="11155680" cy="731520"/>
          </a:xfrm>
          <a:prstGeom prst="rect">
            <a:avLst/>
          </a:prstGeom>
          <a:noFill/>
        </p:spPr>
        <p:txBody>
          <a:bodyPr wrap="square">
            <a:spAutoFit/>
          </a:bodyPr>
          <a:lstStyle/>
          <a:p>
            <a:pPr algn="l"/>
            <a:r>
              <a:rPr sz="1300" b="0">
                <a:solidFill>
                  <a:srgbClr val="1A2238"/>
                </a:solidFill>
              </a:rPr>
              <a:t>gates between stages: the A/B re-checks the amp/opx multimodality magnitude and the biotite presence gap under bounded water; the pilot pre-screen scores each rung against the real benchmark (presence per SiO2 band, then rank of proportions) and the owner picks the training rung before production launches.</a:t>
            </a:r>
          </a:p>
        </p:txBody>
      </p:sp>
      <p:sp>
        <p:nvSpPr>
          <p:cNvPr id="19" name="TextBox 18"/>
          <p:cNvSpPr txBox="1"/>
          <p:nvPr/>
        </p:nvSpPr>
        <p:spPr>
          <a:xfrm>
            <a:off x="502920" y="5806440"/>
            <a:ext cx="11155680" cy="731520"/>
          </a:xfrm>
          <a:prstGeom prst="rect">
            <a:avLst/>
          </a:prstGeom>
          <a:noFill/>
        </p:spPr>
        <p:txBody>
          <a:bodyPr wrap="square">
            <a:spAutoFit/>
          </a:bodyPr>
          <a:lstStyle/>
          <a:p>
            <a:pPr algn="l"/>
            <a:r>
              <a:rPr sz="1200" b="0">
                <a:solidFill>
                  <a:srgbClr val="8A93A3"/>
                </a:solidFill>
              </a:rPr>
              <a:t>spec: docs/corpus_regen_spec.md (all design decisions locked 2026-07-14; what remains is measurement and generation).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ARCHITECTURE</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 a glance</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29800" y="2743200"/>
            <a:ext cx="182880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heads</a:t>
            </a:r>
          </a:p>
          <a:p>
            <a:pPr algn="ctr"/>
            <a:r>
              <a:rPr sz="900" b="0">
                <a:solidFill>
                  <a:srgbClr val="8A93A3"/>
                </a:solidFill>
              </a:rPr>
              <a:t>parallel</a:t>
            </a:r>
          </a:p>
        </p:txBody>
      </p:sp>
      <p:sp>
        <p:nvSpPr>
          <p:cNvPr id="12" name="Right Arrow 11"/>
          <p:cNvSpPr/>
          <p:nvPr/>
        </p:nvSpPr>
        <p:spPr>
          <a:xfrm>
            <a:off x="9372600" y="3268979"/>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955279" y="86868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imputation / retrieval</a:t>
            </a:r>
          </a:p>
        </p:txBody>
      </p:sp>
      <p:sp>
        <p:nvSpPr>
          <p:cNvPr id="14" name="Rounded Rectangle 13"/>
          <p:cNvSpPr/>
          <p:nvPr/>
        </p:nvSpPr>
        <p:spPr>
          <a:xfrm>
            <a:off x="7955279" y="525780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OOD / similarity</a:t>
            </a:r>
          </a:p>
        </p:txBody>
      </p:sp>
      <p:cxnSp>
        <p:nvCxnSpPr>
          <p:cNvPr id="15" name="Connector 14"/>
          <p:cNvCxnSpPr/>
          <p:nvPr/>
        </p:nvCxnSpPr>
        <p:spPr>
          <a:xfrm flipV="1">
            <a:off x="8412480" y="1600200"/>
            <a:ext cx="640080" cy="1138428"/>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412480" y="4165091"/>
            <a:ext cx="640080" cy="1092709"/>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4572000"/>
            <a:ext cx="7315200" cy="731520"/>
          </a:xfrm>
          <a:prstGeom prst="rect">
            <a:avLst/>
          </a:prstGeom>
          <a:noFill/>
        </p:spPr>
        <p:txBody>
          <a:bodyPr wrap="square">
            <a:spAutoFit/>
          </a:bodyPr>
          <a:lstStyle/>
          <a:p>
            <a:pPr algn="l"/>
            <a:r>
              <a:rPr sz="1300" b="0">
                <a:solidFill>
                  <a:srgbClr val="1A2238"/>
                </a:solidFill>
              </a:rPr>
              <a:t>one shared encoder -&gt; latent h -&gt; parallel heads (supervised) and training-free encoder apps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INPUTS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 rock is a bag of (element, amount) tokens</a:t>
            </a:r>
          </a:p>
        </p:txBody>
      </p:sp>
      <p:sp>
        <p:nvSpPr>
          <p:cNvPr id="4" name="Rounded Rectangle 3"/>
          <p:cNvSpPr/>
          <p:nvPr/>
        </p:nvSpPr>
        <p:spPr>
          <a:xfrm>
            <a:off x="1478127"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5" name="Rounded Rectangle 4"/>
          <p:cNvSpPr/>
          <p:nvPr/>
        </p:nvSpPr>
        <p:spPr>
          <a:xfrm>
            <a:off x="3050895"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6" name="Rounded Rectangle 5"/>
          <p:cNvSpPr/>
          <p:nvPr/>
        </p:nvSpPr>
        <p:spPr>
          <a:xfrm>
            <a:off x="4623663"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7" name="Rounded Rectangle 6"/>
          <p:cNvSpPr/>
          <p:nvPr/>
        </p:nvSpPr>
        <p:spPr>
          <a:xfrm>
            <a:off x="6196431"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Mg</a:t>
            </a:r>
          </a:p>
          <a:p>
            <a:pPr algn="ctr"/>
            <a:r>
              <a:rPr sz="1500" b="0">
                <a:solidFill>
                  <a:srgbClr val="8A93A3"/>
                </a:solidFill>
              </a:rPr>
              <a:t>0.075</a:t>
            </a:r>
          </a:p>
        </p:txBody>
      </p:sp>
      <p:sp>
        <p:nvSpPr>
          <p:cNvPr id="8" name="Rounded Rectangle 7"/>
          <p:cNvSpPr/>
          <p:nvPr/>
        </p:nvSpPr>
        <p:spPr>
          <a:xfrm>
            <a:off x="7769199"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sp>
        <p:nvSpPr>
          <p:cNvPr id="9" name="Rounded Rectangle 8"/>
          <p:cNvSpPr/>
          <p:nvPr/>
        </p:nvSpPr>
        <p:spPr>
          <a:xfrm>
            <a:off x="9341967"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Yb</a:t>
            </a:r>
          </a:p>
          <a:p>
            <a:pPr algn="ctr"/>
            <a:r>
              <a:rPr sz="1500" b="0">
                <a:solidFill>
                  <a:srgbClr val="8A93A3"/>
                </a:solidFill>
              </a:rPr>
              <a:t>2e-6</a:t>
            </a:r>
          </a:p>
        </p:txBody>
      </p:sp>
      <p:sp>
        <p:nvSpPr>
          <p:cNvPr id="10" name="TextBox 9"/>
          <p:cNvSpPr txBox="1"/>
          <p:nvPr/>
        </p:nvSpPr>
        <p:spPr>
          <a:xfrm>
            <a:off x="502920" y="4297680"/>
            <a:ext cx="11155680" cy="731520"/>
          </a:xfrm>
          <a:prstGeom prst="rect">
            <a:avLst/>
          </a:prstGeom>
          <a:noFill/>
        </p:spPr>
        <p:txBody>
          <a:bodyPr wrap="square">
            <a:spAutoFit/>
          </a:bodyPr>
          <a:lstStyle/>
          <a:p>
            <a:pPr algn="ctr"/>
            <a:r>
              <a:rPr sz="1300" b="0">
                <a:solidFill>
                  <a:srgbClr val="1A2238"/>
                </a:solidFill>
              </a:rPr>
              <a:t>9 majors (wt%/100, blue)  +  13 traces (ppm/1e6, teal), 22 token slots; absent = padding (src=0)</a:t>
            </a:r>
          </a:p>
        </p:txBody>
      </p:sp>
      <p:sp>
        <p:nvSpPr>
          <p:cNvPr id="11" name="TextBox 10"/>
          <p:cNvSpPr txBox="1"/>
          <p:nvPr/>
        </p:nvSpPr>
        <p:spPr>
          <a:xfrm>
            <a:off x="502920" y="4937760"/>
            <a:ext cx="11155680" cy="731520"/>
          </a:xfrm>
          <a:prstGeom prst="rect">
            <a:avLst/>
          </a:prstGeom>
          <a:noFill/>
        </p:spPr>
        <p:txBody>
          <a:bodyPr wrap="square">
            <a:spAutoFit/>
          </a:bodyPr>
          <a:lstStyle/>
          <a:p>
            <a:pPr algn="ctr"/>
            <a:r>
              <a:rPr sz="1200" b="0">
                <a:solidFill>
                  <a:srgbClr val="8A93A3"/>
                </a:solidFill>
              </a:rPr>
              <a:t>no T, P, or H2O ever enters the forward graph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Each token becomes a chemistry-aware vector</a:t>
            </a:r>
          </a:p>
        </p:txBody>
      </p:sp>
      <p:sp>
        <p:nvSpPr>
          <p:cNvPr id="4" name="Rounded Rectangle 3"/>
          <p:cNvSpPr/>
          <p:nvPr/>
        </p:nvSpPr>
        <p:spPr>
          <a:xfrm>
            <a:off x="640080" y="2880360"/>
            <a:ext cx="1463040" cy="109728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cxnSp>
        <p:nvCxnSpPr>
          <p:cNvPr id="5" name="Connector 4"/>
          <p:cNvCxnSpPr/>
          <p:nvPr/>
        </p:nvCxnSpPr>
        <p:spPr>
          <a:xfrm flipV="1">
            <a:off x="2103120" y="2331720"/>
            <a:ext cx="822960" cy="82296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103120" y="3703320"/>
            <a:ext cx="822960" cy="64008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926080" y="1965960"/>
            <a:ext cx="2286000" cy="7772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atomic number 14</a:t>
            </a:r>
          </a:p>
        </p:txBody>
      </p:sp>
      <p:sp>
        <p:nvSpPr>
          <p:cNvPr id="8" name="Right Arrow 7"/>
          <p:cNvSpPr/>
          <p:nvPr/>
        </p:nvSpPr>
        <p:spPr>
          <a:xfrm>
            <a:off x="5303520" y="21488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806440" y="1783080"/>
            <a:ext cx="4023360" cy="11430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mat2vec lookup</a:t>
            </a:r>
          </a:p>
          <a:p>
            <a:pPr algn="ctr"/>
            <a:r>
              <a:rPr sz="900" b="0">
                <a:solidFill>
                  <a:srgbClr val="8A93A3"/>
                </a:solidFill>
              </a:rPr>
              <a:t>200-d element vector,</a:t>
            </a:r>
          </a:p>
          <a:p>
            <a:pPr algn="ctr"/>
            <a:r>
              <a:rPr sz="900" b="0">
                <a:solidFill>
                  <a:srgbClr val="8A93A3"/>
                </a:solidFill>
              </a:rPr>
              <a:t>pretrained on materials-science text</a:t>
            </a:r>
          </a:p>
        </p:txBody>
      </p:sp>
      <p:sp>
        <p:nvSpPr>
          <p:cNvPr id="10" name="Rounded Rectangle 9"/>
          <p:cNvSpPr/>
          <p:nvPr/>
        </p:nvSpPr>
        <p:spPr>
          <a:xfrm>
            <a:off x="2926080" y="4023360"/>
            <a:ext cx="2286000" cy="7772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amount  0.50</a:t>
            </a:r>
          </a:p>
        </p:txBody>
      </p:sp>
      <p:sp>
        <p:nvSpPr>
          <p:cNvPr id="11" name="Right Arrow 10"/>
          <p:cNvSpPr/>
          <p:nvPr/>
        </p:nvSpPr>
        <p:spPr>
          <a:xfrm>
            <a:off x="5303520" y="42062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06440" y="3840480"/>
            <a:ext cx="402336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linear projection</a:t>
            </a:r>
          </a:p>
          <a:p>
            <a:pPr algn="ctr"/>
            <a:r>
              <a:rPr sz="900" b="0">
                <a:solidFill>
                  <a:srgbClr val="8A93A3"/>
                </a:solidFill>
              </a:rPr>
              <a:t>amount -&gt; vector</a:t>
            </a:r>
          </a:p>
        </p:txBody>
      </p:sp>
      <p:sp>
        <p:nvSpPr>
          <p:cNvPr id="13" name="Rounded Rectangle 12"/>
          <p:cNvSpPr/>
          <p:nvPr/>
        </p:nvSpPr>
        <p:spPr>
          <a:xfrm>
            <a:off x="10058400" y="2743200"/>
            <a:ext cx="173736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t>
            </a:r>
          </a:p>
          <a:p>
            <a:pPr algn="ctr"/>
            <a:r>
              <a:rPr sz="1500" b="0">
                <a:solidFill>
                  <a:srgbClr val="8A93A3"/>
                </a:solidFill>
              </a:rPr>
              <a:t>token</a:t>
            </a:r>
          </a:p>
          <a:p>
            <a:pPr algn="ctr"/>
            <a:r>
              <a:rPr sz="1500" b="0">
                <a:solidFill>
                  <a:srgbClr val="8A93A3"/>
                </a:solidFill>
              </a:rPr>
              <a:t>256-d</a:t>
            </a:r>
          </a:p>
        </p:txBody>
      </p:sp>
      <p:cxnSp>
        <p:nvCxnSpPr>
          <p:cNvPr id="14" name="Connector 13"/>
          <p:cNvCxnSpPr/>
          <p:nvPr/>
        </p:nvCxnSpPr>
        <p:spPr>
          <a:xfrm>
            <a:off x="9829800" y="2331720"/>
            <a:ext cx="228600" cy="7772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829800" y="3749039"/>
            <a:ext cx="228600" cy="548641"/>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mat2vec gives a learned chemistry vector per element (materials-informatics embedding); summed with the projected amount.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Attention mixes elements, then pool to one h</a:t>
            </a:r>
          </a:p>
        </p:txBody>
      </p:sp>
      <p:sp>
        <p:nvSpPr>
          <p:cNvPr id="4" name="TextBox 3"/>
          <p:cNvSpPr txBox="1"/>
          <p:nvPr/>
        </p:nvSpPr>
        <p:spPr>
          <a:xfrm>
            <a:off x="1005840" y="1554480"/>
            <a:ext cx="4572000" cy="731520"/>
          </a:xfrm>
          <a:prstGeom prst="rect">
            <a:avLst/>
          </a:prstGeom>
          <a:noFill/>
        </p:spPr>
        <p:txBody>
          <a:bodyPr wrap="square">
            <a:spAutoFit/>
          </a:bodyPr>
          <a:lstStyle/>
          <a:p>
            <a:pPr algn="l"/>
            <a:r>
              <a:rPr sz="1200" b="0">
                <a:solidFill>
                  <a:srgbClr val="6C5CE7"/>
                </a:solidFill>
              </a:rPr>
              <a:t>self-attention: every token attends to every token</a:t>
            </a:r>
          </a:p>
        </p:txBody>
      </p:sp>
      <p:sp>
        <p:nvSpPr>
          <p:cNvPr id="5" name="TextBox 4"/>
          <p:cNvSpPr txBox="1"/>
          <p:nvPr/>
        </p:nvSpPr>
        <p:spPr>
          <a:xfrm>
            <a:off x="502920" y="2057400"/>
            <a:ext cx="457200" cy="365760"/>
          </a:xfrm>
          <a:prstGeom prst="rect">
            <a:avLst/>
          </a:prstGeom>
          <a:noFill/>
        </p:spPr>
        <p:txBody>
          <a:bodyPr wrap="square">
            <a:spAutoFit/>
          </a:bodyPr>
          <a:lstStyle/>
          <a:p>
            <a:pPr algn="ctr"/>
            <a:r>
              <a:rPr sz="1100" b="1">
                <a:solidFill>
                  <a:srgbClr val="1A2238"/>
                </a:solidFill>
              </a:rPr>
              <a:t>Si</a:t>
            </a:r>
          </a:p>
        </p:txBody>
      </p:sp>
      <p:sp>
        <p:nvSpPr>
          <p:cNvPr id="6" name="TextBox 5"/>
          <p:cNvSpPr txBox="1"/>
          <p:nvPr/>
        </p:nvSpPr>
        <p:spPr>
          <a:xfrm>
            <a:off x="1005840" y="1645920"/>
            <a:ext cx="548640" cy="274320"/>
          </a:xfrm>
          <a:prstGeom prst="rect">
            <a:avLst/>
          </a:prstGeom>
          <a:noFill/>
        </p:spPr>
        <p:txBody>
          <a:bodyPr wrap="square">
            <a:spAutoFit/>
          </a:bodyPr>
          <a:lstStyle/>
          <a:p>
            <a:pPr algn="ctr"/>
            <a:r>
              <a:rPr sz="1100" b="1">
                <a:solidFill>
                  <a:srgbClr val="1A2238"/>
                </a:solidFill>
              </a:rPr>
              <a:t>Si</a:t>
            </a:r>
          </a:p>
        </p:txBody>
      </p:sp>
      <p:sp>
        <p:nvSpPr>
          <p:cNvPr id="7" name="TextBox 6"/>
          <p:cNvSpPr txBox="1"/>
          <p:nvPr/>
        </p:nvSpPr>
        <p:spPr>
          <a:xfrm>
            <a:off x="502920" y="2624328"/>
            <a:ext cx="457200" cy="365760"/>
          </a:xfrm>
          <a:prstGeom prst="rect">
            <a:avLst/>
          </a:prstGeom>
          <a:noFill/>
        </p:spPr>
        <p:txBody>
          <a:bodyPr wrap="square">
            <a:spAutoFit/>
          </a:bodyPr>
          <a:lstStyle/>
          <a:p>
            <a:pPr algn="ctr"/>
            <a:r>
              <a:rPr sz="1100" b="1">
                <a:solidFill>
                  <a:srgbClr val="1A2238"/>
                </a:solidFill>
              </a:rPr>
              <a:t>Al</a:t>
            </a:r>
          </a:p>
        </p:txBody>
      </p:sp>
      <p:sp>
        <p:nvSpPr>
          <p:cNvPr id="8" name="TextBox 7"/>
          <p:cNvSpPr txBox="1"/>
          <p:nvPr/>
        </p:nvSpPr>
        <p:spPr>
          <a:xfrm>
            <a:off x="1572768" y="1645920"/>
            <a:ext cx="548640" cy="274320"/>
          </a:xfrm>
          <a:prstGeom prst="rect">
            <a:avLst/>
          </a:prstGeom>
          <a:noFill/>
        </p:spPr>
        <p:txBody>
          <a:bodyPr wrap="square">
            <a:spAutoFit/>
          </a:bodyPr>
          <a:lstStyle/>
          <a:p>
            <a:pPr algn="ctr"/>
            <a:r>
              <a:rPr sz="1100" b="1">
                <a:solidFill>
                  <a:srgbClr val="1A2238"/>
                </a:solidFill>
              </a:rPr>
              <a:t>Al</a:t>
            </a:r>
          </a:p>
        </p:txBody>
      </p:sp>
      <p:sp>
        <p:nvSpPr>
          <p:cNvPr id="9" name="TextBox 8"/>
          <p:cNvSpPr txBox="1"/>
          <p:nvPr/>
        </p:nvSpPr>
        <p:spPr>
          <a:xfrm>
            <a:off x="502920" y="3191256"/>
            <a:ext cx="457200" cy="365760"/>
          </a:xfrm>
          <a:prstGeom prst="rect">
            <a:avLst/>
          </a:prstGeom>
          <a:noFill/>
        </p:spPr>
        <p:txBody>
          <a:bodyPr wrap="square">
            <a:spAutoFit/>
          </a:bodyPr>
          <a:lstStyle/>
          <a:p>
            <a:pPr algn="ctr"/>
            <a:r>
              <a:rPr sz="1100" b="1">
                <a:solidFill>
                  <a:srgbClr val="1A2238"/>
                </a:solidFill>
              </a:rPr>
              <a:t>Mg</a:t>
            </a:r>
          </a:p>
        </p:txBody>
      </p:sp>
      <p:sp>
        <p:nvSpPr>
          <p:cNvPr id="10" name="TextBox 9"/>
          <p:cNvSpPr txBox="1"/>
          <p:nvPr/>
        </p:nvSpPr>
        <p:spPr>
          <a:xfrm>
            <a:off x="2139696" y="1645920"/>
            <a:ext cx="548640" cy="274320"/>
          </a:xfrm>
          <a:prstGeom prst="rect">
            <a:avLst/>
          </a:prstGeom>
          <a:noFill/>
        </p:spPr>
        <p:txBody>
          <a:bodyPr wrap="square">
            <a:spAutoFit/>
          </a:bodyPr>
          <a:lstStyle/>
          <a:p>
            <a:pPr algn="ctr"/>
            <a:r>
              <a:rPr sz="1100" b="1">
                <a:solidFill>
                  <a:srgbClr val="1A2238"/>
                </a:solidFill>
              </a:rPr>
              <a:t>Mg</a:t>
            </a:r>
          </a:p>
        </p:txBody>
      </p:sp>
      <p:sp>
        <p:nvSpPr>
          <p:cNvPr id="11" name="TextBox 10"/>
          <p:cNvSpPr txBox="1"/>
          <p:nvPr/>
        </p:nvSpPr>
        <p:spPr>
          <a:xfrm>
            <a:off x="502920" y="3758183"/>
            <a:ext cx="457200" cy="365760"/>
          </a:xfrm>
          <a:prstGeom prst="rect">
            <a:avLst/>
          </a:prstGeom>
          <a:noFill/>
        </p:spPr>
        <p:txBody>
          <a:bodyPr wrap="square">
            <a:spAutoFit/>
          </a:bodyPr>
          <a:lstStyle/>
          <a:p>
            <a:pPr algn="ctr"/>
            <a:r>
              <a:rPr sz="1100" b="1">
                <a:solidFill>
                  <a:srgbClr val="1A2238"/>
                </a:solidFill>
              </a:rPr>
              <a:t>Fe</a:t>
            </a:r>
          </a:p>
        </p:txBody>
      </p:sp>
      <p:sp>
        <p:nvSpPr>
          <p:cNvPr id="12" name="TextBox 11"/>
          <p:cNvSpPr txBox="1"/>
          <p:nvPr/>
        </p:nvSpPr>
        <p:spPr>
          <a:xfrm>
            <a:off x="2706624" y="1645920"/>
            <a:ext cx="548640" cy="274320"/>
          </a:xfrm>
          <a:prstGeom prst="rect">
            <a:avLst/>
          </a:prstGeom>
          <a:noFill/>
        </p:spPr>
        <p:txBody>
          <a:bodyPr wrap="square">
            <a:spAutoFit/>
          </a:bodyPr>
          <a:lstStyle/>
          <a:p>
            <a:pPr algn="ctr"/>
            <a:r>
              <a:rPr sz="1100" b="1">
                <a:solidFill>
                  <a:srgbClr val="1A2238"/>
                </a:solidFill>
              </a:rPr>
              <a:t>Fe</a:t>
            </a:r>
          </a:p>
        </p:txBody>
      </p:sp>
      <p:sp>
        <p:nvSpPr>
          <p:cNvPr id="13" name="Rectangle 12"/>
          <p:cNvSpPr/>
          <p:nvPr/>
        </p:nvSpPr>
        <p:spPr>
          <a:xfrm>
            <a:off x="1005840" y="2011680"/>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2011680"/>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39696" y="2011680"/>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06624" y="2011680"/>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5840" y="2578608"/>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72768" y="2578608"/>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39696" y="2578608"/>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06624" y="2578608"/>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05840" y="3145536"/>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72768" y="3145536"/>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39696" y="3145536"/>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06624" y="3145536"/>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5840" y="3712464"/>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72768" y="3712464"/>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139696" y="3712464"/>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06624" y="3712464"/>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44805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303520" y="2697480"/>
            <a:ext cx="3108960" cy="137160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masked-mean pool</a:t>
            </a:r>
          </a:p>
          <a:p>
            <a:pPr algn="ctr"/>
            <a:r>
              <a:rPr sz="1100" b="0">
                <a:solidFill>
                  <a:srgbClr val="8A93A3"/>
                </a:solidFill>
              </a:rPr>
              <a:t>average the real tokens</a:t>
            </a:r>
          </a:p>
          <a:p>
            <a:pPr algn="ctr"/>
            <a:r>
              <a:rPr sz="1100" b="0">
                <a:solidFill>
                  <a:srgbClr val="8A93A3"/>
                </a:solidFill>
              </a:rPr>
              <a:t>(skip padding)</a:t>
            </a:r>
          </a:p>
        </p:txBody>
      </p:sp>
      <p:sp>
        <p:nvSpPr>
          <p:cNvPr id="31" name="Right Arrow 30"/>
          <p:cNvSpPr/>
          <p:nvPr/>
        </p:nvSpPr>
        <p:spPr>
          <a:xfrm>
            <a:off x="85953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555480" y="2606040"/>
            <a:ext cx="1554480" cy="155448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33" name="TextBox 32"/>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attention lets elements interact; pooling collapses the 22 contextualized vectors into one 256-d fingerprint 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SSL pretraining: fill in the blank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mask one element's amount, predict it from the rest -- the encoder learns which elements co-vary</a:t>
            </a:r>
          </a:p>
        </p:txBody>
      </p:sp>
      <p:sp>
        <p:nvSpPr>
          <p:cNvPr id="5" name="Rounded Rectangle 4"/>
          <p:cNvSpPr/>
          <p:nvPr/>
        </p:nvSpPr>
        <p:spPr>
          <a:xfrm>
            <a:off x="69174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6" name="Rounded Rectangle 5"/>
          <p:cNvSpPr/>
          <p:nvPr/>
        </p:nvSpPr>
        <p:spPr>
          <a:xfrm>
            <a:off x="2264511"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7" name="Rounded Rectangle 6"/>
          <p:cNvSpPr/>
          <p:nvPr/>
        </p:nvSpPr>
        <p:spPr>
          <a:xfrm>
            <a:off x="3837279"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8" name="Rounded Rectangle 7"/>
          <p:cNvSpPr/>
          <p:nvPr/>
        </p:nvSpPr>
        <p:spPr>
          <a:xfrm>
            <a:off x="5410047" y="1783080"/>
            <a:ext cx="1371600" cy="960120"/>
          </a:xfrm>
          <a:prstGeom prst="roundRect">
            <a:avLst/>
          </a:prstGeom>
          <a:solidFill>
            <a:srgbClr val="9AA3B2"/>
          </a:solidFill>
          <a:ln w="31750">
            <a:solidFill>
              <a:srgbClr val="9AA3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[MASK]</a:t>
            </a:r>
          </a:p>
          <a:p>
            <a:pPr algn="ctr"/>
            <a:r>
              <a:rPr sz="1400" b="0">
                <a:solidFill>
                  <a:srgbClr val="8A93A3"/>
                </a:solidFill>
              </a:rPr>
              <a:t>hide amount</a:t>
            </a:r>
          </a:p>
        </p:txBody>
      </p:sp>
      <p:sp>
        <p:nvSpPr>
          <p:cNvPr id="9" name="Rounded Rectangle 8"/>
          <p:cNvSpPr/>
          <p:nvPr/>
        </p:nvSpPr>
        <p:spPr>
          <a:xfrm>
            <a:off x="6982815"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Fe</a:t>
            </a:r>
          </a:p>
          <a:p>
            <a:pPr algn="ctr"/>
            <a:r>
              <a:rPr sz="1500" b="0">
                <a:solidFill>
                  <a:srgbClr val="8A93A3"/>
                </a:solidFill>
              </a:rPr>
              <a:t>0.11</a:t>
            </a:r>
          </a:p>
        </p:txBody>
      </p:sp>
      <p:sp>
        <p:nvSpPr>
          <p:cNvPr id="10" name="Rounded Rectangle 9"/>
          <p:cNvSpPr/>
          <p:nvPr/>
        </p:nvSpPr>
        <p:spPr>
          <a:xfrm>
            <a:off x="855558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Na</a:t>
            </a:r>
          </a:p>
          <a:p>
            <a:pPr algn="ctr"/>
            <a:r>
              <a:rPr sz="1500" b="0">
                <a:solidFill>
                  <a:srgbClr val="8A93A3"/>
                </a:solidFill>
              </a:rPr>
              <a:t>0.025</a:t>
            </a:r>
          </a:p>
        </p:txBody>
      </p:sp>
      <p:sp>
        <p:nvSpPr>
          <p:cNvPr id="11" name="Rounded Rectangle 10"/>
          <p:cNvSpPr/>
          <p:nvPr/>
        </p:nvSpPr>
        <p:spPr>
          <a:xfrm>
            <a:off x="10128351" y="1783080"/>
            <a:ext cx="1371600" cy="96012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cxnSp>
        <p:nvCxnSpPr>
          <p:cNvPr id="12" name="Connector 11"/>
          <p:cNvCxnSpPr/>
          <p:nvPr/>
        </p:nvCxnSpPr>
        <p:spPr>
          <a:xfrm>
            <a:off x="137754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95031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3079"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5847" y="2743200"/>
            <a:ext cx="0" cy="685800"/>
          </a:xfrm>
          <a:prstGeom prst="bentConnector3">
            <a:avLst/>
          </a:prstGeom>
          <a:ln w="17780">
            <a:solidFill>
              <a:srgbClr val="9AA3B2"/>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68615"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24138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1415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1743" y="3429000"/>
            <a:ext cx="10808208" cy="8686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A2238"/>
                </a:solidFill>
              </a:rPr>
              <a:t>transformer encoder</a:t>
            </a:r>
          </a:p>
          <a:p>
            <a:pPr algn="ctr"/>
            <a:r>
              <a:rPr sz="1200" b="0">
                <a:solidFill>
                  <a:srgbClr val="8A93A3"/>
                </a:solidFill>
              </a:rPr>
              <a:t>being trained -- weights updated each step (not frozen)</a:t>
            </a:r>
          </a:p>
        </p:txBody>
      </p:sp>
      <p:sp>
        <p:nvSpPr>
          <p:cNvPr id="20" name="Down Arrow 19"/>
          <p:cNvSpPr/>
          <p:nvPr/>
        </p:nvSpPr>
        <p:spPr>
          <a:xfrm>
            <a:off x="5949543" y="4343400"/>
            <a:ext cx="292608" cy="347472"/>
          </a:xfrm>
          <a:prstGeom prst="down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103120" y="4892040"/>
            <a:ext cx="2743200" cy="9144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encoder predicts</a:t>
            </a:r>
          </a:p>
          <a:p>
            <a:pPr algn="ctr"/>
            <a:r>
              <a:rPr sz="1000" b="0">
                <a:solidFill>
                  <a:srgbClr val="8A93A3"/>
                </a:solidFill>
              </a:rPr>
              <a:t>Mg amount ~ 0.071</a:t>
            </a:r>
          </a:p>
        </p:txBody>
      </p:sp>
      <p:sp>
        <p:nvSpPr>
          <p:cNvPr id="22" name="Rounded Rectangle 21"/>
          <p:cNvSpPr/>
          <p:nvPr/>
        </p:nvSpPr>
        <p:spPr>
          <a:xfrm>
            <a:off x="5120640" y="4892040"/>
            <a:ext cx="1737360" cy="91440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truth</a:t>
            </a:r>
          </a:p>
          <a:p>
            <a:pPr algn="ctr"/>
            <a:r>
              <a:rPr sz="1000" b="0">
                <a:solidFill>
                  <a:srgbClr val="8A93A3"/>
                </a:solidFill>
              </a:rPr>
              <a:t>0.075</a:t>
            </a:r>
          </a:p>
        </p:txBody>
      </p:sp>
      <p:sp>
        <p:nvSpPr>
          <p:cNvPr id="23" name="Right Arrow 22"/>
          <p:cNvSpPr/>
          <p:nvPr/>
        </p:nvSpPr>
        <p:spPr>
          <a:xfrm>
            <a:off x="489204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690372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0" y="4892040"/>
            <a:ext cx="2651760" cy="91440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log-space</a:t>
            </a:r>
          </a:p>
          <a:p>
            <a:pPr algn="ctr"/>
            <a:r>
              <a:rPr sz="1400" b="1">
                <a:solidFill>
                  <a:srgbClr val="1A2238"/>
                </a:solidFill>
              </a:rPr>
              <a:t>MSE loss</a:t>
            </a:r>
          </a:p>
        </p:txBody>
      </p:sp>
      <p:cxnSp>
        <p:nvCxnSpPr>
          <p:cNvPr id="26" name="Connector 25"/>
          <p:cNvCxnSpPr/>
          <p:nvPr/>
        </p:nvCxnSpPr>
        <p:spPr>
          <a:xfrm>
            <a:off x="9875520" y="5349240"/>
            <a:ext cx="1737360" cy="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1612880" y="3886200"/>
            <a:ext cx="0" cy="146304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28" name="Left Arrow 27"/>
          <p:cNvSpPr/>
          <p:nvPr/>
        </p:nvSpPr>
        <p:spPr>
          <a:xfrm>
            <a:off x="11109960" y="3721608"/>
            <a:ext cx="502920" cy="310896"/>
          </a:xfrm>
          <a:prstGeom prst="leftArrow">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78240" y="4114800"/>
            <a:ext cx="3108960" cy="548640"/>
          </a:xfrm>
          <a:prstGeom prst="rect">
            <a:avLst/>
          </a:prstGeom>
          <a:noFill/>
        </p:spPr>
        <p:txBody>
          <a:bodyPr wrap="square">
            <a:spAutoFit/>
          </a:bodyPr>
          <a:lstStyle/>
          <a:p>
            <a:pPr algn="ctr"/>
            <a:r>
              <a:rPr sz="1200" b="1">
                <a:solidFill>
                  <a:srgbClr val="C0392B"/>
                </a:solidFill>
              </a:rPr>
              <a:t>backpropagation:</a:t>
            </a:r>
          </a:p>
          <a:p>
            <a:pPr algn="ctr"/>
            <a:r>
              <a:rPr sz="1200" b="1">
                <a:solidFill>
                  <a:srgbClr val="C0392B"/>
                </a:solidFill>
              </a:rPr>
              <a:t>updates encoder weights</a:t>
            </a:r>
          </a:p>
        </p:txBody>
      </p:sp>
      <p:sp>
        <p:nvSpPr>
          <p:cNvPr id="30" name="Rounded Rectangle 29"/>
          <p:cNvSpPr/>
          <p:nvPr/>
        </p:nvSpPr>
        <p:spPr>
          <a:xfrm>
            <a:off x="146304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zⱼ = (log₁₀ fⱼ − μⱼ) / σⱼ</a:t>
            </a:r>
          </a:p>
          <a:p>
            <a:pPr algn="ctr"/>
            <a:r>
              <a:rPr sz="1200" b="0">
                <a:solidFill>
                  <a:srgbClr val="8A93A3"/>
                </a:solidFill>
              </a:rPr>
              <a:t>target: per-element z-scored log fraction; μⱼ, σⱼ from the train split only</a:t>
            </a:r>
          </a:p>
        </p:txBody>
      </p:sp>
      <p:sp>
        <p:nvSpPr>
          <p:cNvPr id="31" name="Rounded Rectangle 30"/>
          <p:cNvSpPr/>
          <p:nvPr/>
        </p:nvSpPr>
        <p:spPr>
          <a:xfrm>
            <a:off x="630936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L = 1/|M| Σⱼ∈M (ŷⱼ − zⱼ)²</a:t>
            </a:r>
          </a:p>
          <a:p>
            <a:pPr algn="ctr"/>
            <a:r>
              <a:rPr sz="1200" b="0">
                <a:solidFill>
                  <a:srgbClr val="8A93A3"/>
                </a:solidFill>
              </a:rPr>
              <a:t>plain MSE between prediction ŷ and z, at the masked positions M only</a:t>
            </a:r>
          </a:p>
        </p:txBody>
      </p:sp>
      <p:sp>
        <p:nvSpPr>
          <p:cNvPr id="32" name="TextBox 31"/>
          <p:cNvSpPr txBox="1"/>
          <p:nvPr/>
        </p:nvSpPr>
        <p:spPr>
          <a:xfrm>
            <a:off x="502920" y="5989320"/>
            <a:ext cx="91440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Workflow: pretrain, freeze, train heads</a:t>
            </a:r>
          </a:p>
        </p:txBody>
      </p:sp>
      <p:sp>
        <p:nvSpPr>
          <p:cNvPr id="4" name="Rounded Rectangle 3"/>
          <p:cNvSpPr/>
          <p:nvPr/>
        </p:nvSpPr>
        <p:spPr>
          <a:xfrm>
            <a:off x="640080" y="2377440"/>
            <a:ext cx="3017520" cy="155448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1. SSL pretrain</a:t>
            </a:r>
          </a:p>
          <a:p>
            <a:pPr algn="ctr"/>
            <a:r>
              <a:rPr sz="1400" b="1">
                <a:solidFill>
                  <a:srgbClr val="1A2238"/>
                </a:solidFill>
              </a:rPr>
              <a:t/>
            </a:r>
          </a:p>
          <a:p>
            <a:pPr algn="ctr"/>
            <a:r>
              <a:rPr sz="1100" b="0">
                <a:solidFill>
                  <a:srgbClr val="8A93A3"/>
                </a:solidFill>
              </a:rPr>
              <a:t>Gard bulks, masked-element</a:t>
            </a:r>
          </a:p>
          <a:p>
            <a:pPr algn="ctr"/>
            <a:r>
              <a:rPr sz="1100" b="0">
                <a:solidFill>
                  <a:srgbClr val="8A93A3"/>
                </a:solidFill>
              </a:rPr>
              <a:t>-&gt; encoder</a:t>
            </a:r>
          </a:p>
        </p:txBody>
      </p:sp>
      <p:sp>
        <p:nvSpPr>
          <p:cNvPr id="5" name="Right Arrow 4"/>
          <p:cNvSpPr/>
          <p:nvPr/>
        </p:nvSpPr>
        <p:spPr>
          <a:xfrm>
            <a:off x="3749039"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0" y="2377440"/>
            <a:ext cx="2743200" cy="15544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2. freeze</a:t>
            </a:r>
          </a:p>
          <a:p>
            <a:pPr algn="ctr"/>
            <a:r>
              <a:rPr sz="1400" b="1">
                <a:solidFill>
                  <a:srgbClr val="1A2238"/>
                </a:solidFill>
              </a:rPr>
              <a:t>encoder</a:t>
            </a:r>
          </a:p>
          <a:p>
            <a:pPr algn="ctr"/>
            <a:r>
              <a:rPr sz="1100" b="0">
                <a:solidFill>
                  <a:srgbClr val="8A93A3"/>
                </a:solidFill>
              </a:rPr>
              <a:t>weights fixed</a:t>
            </a:r>
          </a:p>
        </p:txBody>
      </p:sp>
      <p:sp>
        <p:nvSpPr>
          <p:cNvPr id="7" name="Right Arrow 6"/>
          <p:cNvSpPr/>
          <p:nvPr/>
        </p:nvSpPr>
        <p:spPr>
          <a:xfrm>
            <a:off x="7406640"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0" y="2377440"/>
            <a:ext cx="3291840" cy="155448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3. train heads</a:t>
            </a:r>
          </a:p>
          <a:p>
            <a:pPr algn="ctr"/>
            <a:r>
              <a:rPr sz="1400" b="1">
                <a:solidFill>
                  <a:srgbClr val="1A2238"/>
                </a:solidFill>
              </a:rPr>
              <a:t/>
            </a:r>
          </a:p>
          <a:p>
            <a:pPr algn="ctr"/>
            <a:r>
              <a:rPr sz="1100" b="0">
                <a:solidFill>
                  <a:srgbClr val="8A93A3"/>
                </a:solidFill>
              </a:rPr>
              <a:t>equilibrium corpus labels</a:t>
            </a:r>
          </a:p>
          <a:p>
            <a:pPr algn="ctr"/>
            <a:r>
              <a:rPr sz="1100" b="0">
                <a:solidFill>
                  <a:srgbClr val="8A93A3"/>
                </a:solidFill>
              </a:rPr>
              <a:t>encoder untouched</a:t>
            </a:r>
          </a:p>
        </p:txBody>
      </p:sp>
      <p:sp>
        <p:nvSpPr>
          <p:cNvPr id="9" name="TextBox 8"/>
          <p:cNvSpPr txBox="1"/>
          <p:nvPr/>
        </p:nvSpPr>
        <p:spPr>
          <a:xfrm>
            <a:off x="640080" y="4206240"/>
            <a:ext cx="10881360" cy="731520"/>
          </a:xfrm>
          <a:prstGeom prst="rect">
            <a:avLst/>
          </a:prstGeom>
          <a:noFill/>
        </p:spPr>
        <p:txBody>
          <a:bodyPr wrap="square">
            <a:spAutoFit/>
          </a:bodyPr>
          <a:lstStyle/>
          <a:p>
            <a:pPr algn="l"/>
            <a:r>
              <a:rPr sz="1300" b="0">
                <a:solidFill>
                  <a:srgbClr val="1A2238"/>
                </a:solidFill>
              </a:rPr>
              <a:t>the encoder is the durable contribution: heads can be re-supervised against any label source without retraining it.</a:t>
            </a:r>
          </a:p>
        </p:txBody>
      </p:sp>
      <p:sp>
        <p:nvSpPr>
          <p:cNvPr id="10" name="TextBox 9"/>
          <p:cNvSpPr txBox="1"/>
          <p:nvPr/>
        </p:nvSpPr>
        <p:spPr>
          <a:xfrm>
            <a:off x="640080" y="4937760"/>
            <a:ext cx="10881360" cy="731520"/>
          </a:xfrm>
          <a:prstGeom prst="rect">
            <a:avLst/>
          </a:prstGeom>
          <a:noFill/>
        </p:spPr>
        <p:txBody>
          <a:bodyPr wrap="square">
            <a:spAutoFit/>
          </a:bodyPr>
          <a:lstStyle/>
          <a:p>
            <a:pPr algn="l"/>
            <a:r>
              <a:rPr sz="1200" b="0">
                <a:solidFill>
                  <a:srgbClr val="8A93A3"/>
                </a:solidFill>
              </a:rPr>
              <a:t>evaluation: frozen-latent probes + the held-out mineralML grains.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Parallel heads on the frozen h</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869680" y="114300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ModeHead</a:t>
            </a:r>
          </a:p>
          <a:p>
            <a:pPr algn="ctr"/>
            <a:r>
              <a:rPr sz="1000" b="0">
                <a:solidFill>
                  <a:srgbClr val="8A93A3"/>
                </a:solidFill>
              </a:rPr>
              <a:t>modal mineralogy</a:t>
            </a:r>
          </a:p>
        </p:txBody>
      </p:sp>
      <p:cxnSp>
        <p:nvCxnSpPr>
          <p:cNvPr id="12" name="Connector 11"/>
          <p:cNvCxnSpPr/>
          <p:nvPr/>
        </p:nvCxnSpPr>
        <p:spPr>
          <a:xfrm flipV="1">
            <a:off x="8211312" y="1554480"/>
            <a:ext cx="658368" cy="190195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869680" y="210312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CompHead</a:t>
            </a:r>
          </a:p>
          <a:p>
            <a:pPr algn="ctr"/>
            <a:r>
              <a:rPr sz="1000" b="0">
                <a:solidFill>
                  <a:srgbClr val="8A93A3"/>
                </a:solidFill>
              </a:rPr>
              <a:t>per-mineral composition</a:t>
            </a:r>
          </a:p>
        </p:txBody>
      </p:sp>
      <p:cxnSp>
        <p:nvCxnSpPr>
          <p:cNvPr id="14" name="Connector 13"/>
          <p:cNvCxnSpPr/>
          <p:nvPr/>
        </p:nvCxnSpPr>
        <p:spPr>
          <a:xfrm flipV="1">
            <a:off x="8211312" y="2514600"/>
            <a:ext cx="658368" cy="94183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869680" y="306324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CondHead</a:t>
            </a:r>
          </a:p>
          <a:p>
            <a:pPr algn="ctr"/>
            <a:r>
              <a:rPr sz="1000" b="0">
                <a:solidFill>
                  <a:srgbClr val="8A93A3"/>
                </a:solidFill>
              </a:rPr>
              <a:t>T, P, H2O</a:t>
            </a:r>
          </a:p>
        </p:txBody>
      </p:sp>
      <p:cxnSp>
        <p:nvCxnSpPr>
          <p:cNvPr id="16" name="Connector 15"/>
          <p:cNvCxnSpPr/>
          <p:nvPr/>
        </p:nvCxnSpPr>
        <p:spPr>
          <a:xfrm>
            <a:off x="8211312" y="3456432"/>
            <a:ext cx="658368" cy="1828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869680" y="402336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ClassHead</a:t>
            </a:r>
          </a:p>
          <a:p>
            <a:pPr algn="ctr"/>
            <a:r>
              <a:rPr sz="1000" b="0">
                <a:solidFill>
                  <a:srgbClr val="8A93A3"/>
                </a:solidFill>
              </a:rPr>
              <a:t>rock class (aux)</a:t>
            </a:r>
          </a:p>
        </p:txBody>
      </p:sp>
      <p:cxnSp>
        <p:nvCxnSpPr>
          <p:cNvPr id="18" name="Connector 17"/>
          <p:cNvCxnSpPr/>
          <p:nvPr/>
        </p:nvCxnSpPr>
        <p:spPr>
          <a:xfrm>
            <a:off x="8211312" y="3456432"/>
            <a:ext cx="658368" cy="97840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69680" y="498348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G_sys</a:t>
            </a:r>
          </a:p>
          <a:p>
            <a:pPr algn="ctr"/>
            <a:r>
              <a:rPr sz="1000" b="0">
                <a:solidFill>
                  <a:srgbClr val="8A93A3"/>
                </a:solidFill>
              </a:rPr>
              <a:t>free energy (aux)</a:t>
            </a:r>
          </a:p>
        </p:txBody>
      </p:sp>
      <p:cxnSp>
        <p:nvCxnSpPr>
          <p:cNvPr id="20" name="Connector 19"/>
          <p:cNvCxnSpPr/>
          <p:nvPr/>
        </p:nvCxnSpPr>
        <p:spPr>
          <a:xfrm>
            <a:off x="8211312" y="3456432"/>
            <a:ext cx="658368" cy="193852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2920" y="5120640"/>
            <a:ext cx="7772400" cy="731520"/>
          </a:xfrm>
          <a:prstGeom prst="rect">
            <a:avLst/>
          </a:prstGeom>
          <a:noFill/>
        </p:spPr>
        <p:txBody>
          <a:bodyPr wrap="square">
            <a:spAutoFit/>
          </a:bodyPr>
          <a:lstStyle/>
          <a:p>
            <a:pPr algn="ctr"/>
            <a:r>
              <a:rPr sz="1200" b="0">
                <a:solidFill>
                  <a:srgbClr val="1A2238"/>
                </a:solidFill>
              </a:rPr>
              <a:t>encoder now frozen; each head is a small network reading the same h (anatomy on the next slide, outputs after)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ModeHead: a small MLP on the frozen h</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ModeHead, the first head trained end-to-end -- two clean factors of the hurdle likelihood P(modal) = P(present) x P(modal | present)</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shared trunk</a:t>
            </a:r>
          </a:p>
          <a:p>
            <a:pPr algn="ctr"/>
            <a:r>
              <a:rPr sz="1000" b="0">
                <a:solidFill>
                  <a:srgbClr val="8A93A3"/>
                </a:solidFill>
              </a:rPr>
              <a:t>Linear 256 -&gt; 128</a:t>
            </a:r>
          </a:p>
          <a:p>
            <a:pPr algn="ctr"/>
            <a:r>
              <a:rPr sz="1000" b="0">
                <a:solidFill>
                  <a:srgbClr val="8A93A3"/>
                </a:solidFill>
              </a:rPr>
              <a:t>GELU + dropout</a:t>
            </a:r>
          </a:p>
          <a:p>
            <a:pPr algn="ctr"/>
            <a:r>
              <a:rPr sz="1000" b="0">
                <a:solidFill>
                  <a:srgbClr val="8A93A3"/>
                </a:solidFill>
              </a:rPr>
              <a:t>32,896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presence branch</a:t>
            </a:r>
          </a:p>
          <a:p>
            <a:pPr algn="ctr"/>
            <a:r>
              <a:rPr sz="1000" b="0">
                <a:solidFill>
                  <a:srgbClr val="8A93A3"/>
                </a:solidFill>
              </a:rPr>
              <a:t>Linear 128 -&gt; 21, sigmoid</a:t>
            </a:r>
          </a:p>
          <a:p>
            <a:pPr algn="ctr"/>
            <a:r>
              <a:rPr sz="1000" b="0">
                <a:solidFill>
                  <a:srgbClr val="8A93A3"/>
                </a:solidFill>
              </a:rPr>
              <a:t>p_i = P(phase i present)</a:t>
            </a:r>
          </a:p>
          <a:p>
            <a:pPr algn="ctr"/>
            <a:r>
              <a:rPr sz="1000" b="0">
                <a:solidFill>
                  <a:srgbClr val="8A93A3"/>
                </a:solidFill>
              </a:rPr>
              <a:t>2,709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Bernoullis</a:t>
            </a:r>
          </a:p>
          <a:p>
            <a:pPr algn="ctr"/>
            <a:r>
              <a:rPr sz="900" b="0">
                <a:solidFill>
                  <a:srgbClr val="8A93A3"/>
                </a:solidFill>
              </a:rPr>
              <a:t>which minerals</a:t>
            </a:r>
          </a:p>
          <a:p>
            <a:pPr algn="ctr"/>
            <a:r>
              <a:rPr sz="900" b="0">
                <a:solidFill>
                  <a:srgbClr val="8A93A3"/>
                </a:solidFill>
              </a:rPr>
              <a:t>BCE loss</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magnitude branch</a:t>
            </a:r>
          </a:p>
          <a:p>
            <a:pPr algn="ctr"/>
            <a:r>
              <a:rPr sz="1000" b="0">
                <a:solidFill>
                  <a:srgbClr val="8A93A3"/>
                </a:solidFill>
              </a:rPr>
              <a:t>Linear 128 -&gt; 21, softplus</a:t>
            </a:r>
          </a:p>
          <a:p>
            <a:pPr algn="ctr"/>
            <a:r>
              <a:rPr sz="1000" b="0">
                <a:solidFill>
                  <a:srgbClr val="8A93A3"/>
                </a:solidFill>
              </a:rPr>
              <a:t>alpha_i, Dirichlet concentration</a:t>
            </a:r>
          </a:p>
          <a:p>
            <a:pPr algn="ctr"/>
            <a:r>
              <a:rPr sz="1000" b="0">
                <a:solidFill>
                  <a:srgbClr val="8A93A3"/>
                </a:solidFill>
              </a:rPr>
              <a:t>2,709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cond. Dirichlet</a:t>
            </a:r>
          </a:p>
          <a:p>
            <a:pPr algn="ctr"/>
            <a:r>
              <a:rPr sz="900" b="0">
                <a:solidFill>
                  <a:srgbClr val="8A93A3"/>
                </a:solidFill>
              </a:rPr>
              <a:t>how much of each,</a:t>
            </a:r>
          </a:p>
          <a:p>
            <a:pPr algn="ctr"/>
            <a:r>
              <a:rPr sz="900" b="0">
                <a:solidFill>
                  <a:srgbClr val="8A93A3"/>
                </a:solidFill>
              </a:rPr>
              <a:t>on the present set (NLL)</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38,314 trainable params (trunk 32,896 + 2 x 2,709) -- ~1.2% of the frozen encoder; retrains in under a minute, so the label proxy stays cheap to revise.</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(configs/heads/mode_head.yaml): hidden 128 . dropout 0.0 . magnitude_weight 1.0 . alpha_eps 1e-6 . lr 1e-3 . weight_decay 0 . batch 1024 . epochs 40 / patience 5 -- fixed in code: GELU, AdamW,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L_presence = −Σᵢ [ yᵢ ln pᵢ + (1−yᵢ) ln(1−pᵢ) ]</a:t>
            </a:r>
          </a:p>
          <a:p>
            <a:pPr algn="ctr"/>
            <a:r>
              <a:rPr sz="900" b="0">
                <a:solidFill>
                  <a:srgbClr val="8A93A3"/>
                </a:solidFill>
              </a:rPr>
              <a:t>BCE, all 21 phases x every row; minimized when p = the rock's true presence frequency</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L_magnitude = −log Dir(mₛ | αₛ)</a:t>
            </a:r>
          </a:p>
          <a:p>
            <a:pPr algn="ctr"/>
            <a:r>
              <a:rPr sz="900" b="0">
                <a:solidFill>
                  <a:srgbClr val="8A93A3"/>
                </a:solidFill>
              </a:rPr>
              <a:t>Dirichlet NLL scored only on the present set S -- absent phases belong to the Bernoullis</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L_presence + λ_mag · L_magnitude</a:t>
            </a:r>
          </a:p>
          <a:p>
            <a:pPr algn="ctr"/>
            <a:r>
              <a:rPr sz="900" b="0">
                <a:solidFill>
                  <a:srgbClr val="8A93A3"/>
                </a:solidFill>
              </a:rPr>
              <a:t>trained jointly: one backward pass; each branch gets only its own term's gradient, the shared trunk gets the SUM of both -- ∇L(trunk) = ∇L_pres + λ_mag ∇L_mag</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70% honest? One bin of the reliability check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presence head's headline eval: pool every prediction near a probability, then ask how often the mineral was really there</a:t>
            </a:r>
          </a:p>
        </p:txBody>
      </p:sp>
      <p:sp>
        <p:nvSpPr>
          <p:cNvPr id="5" name="TextBox 4"/>
          <p:cNvSpPr txBox="1"/>
          <p:nvPr/>
        </p:nvSpPr>
        <p:spPr>
          <a:xfrm>
            <a:off x="502920" y="1600200"/>
            <a:ext cx="2651760" cy="731520"/>
          </a:xfrm>
          <a:prstGeom prst="rect">
            <a:avLst/>
          </a:prstGeom>
          <a:noFill/>
        </p:spPr>
        <p:txBody>
          <a:bodyPr wrap="square">
            <a:spAutoFit/>
          </a:bodyPr>
          <a:lstStyle/>
          <a:p>
            <a:pPr algn="ctr"/>
            <a:r>
              <a:rPr sz="1100" b="0">
                <a:solidFill>
                  <a:srgbClr val="2E5BFF"/>
                </a:solidFill>
              </a:rPr>
              <a:t>22-token chemistry -&gt; one p per rock</a:t>
            </a:r>
          </a:p>
        </p:txBody>
      </p:sp>
      <p:sp>
        <p:nvSpPr>
          <p:cNvPr id="6" name="TextBox 5"/>
          <p:cNvSpPr txBox="1"/>
          <p:nvPr/>
        </p:nvSpPr>
        <p:spPr>
          <a:xfrm>
            <a:off x="3703320" y="1600200"/>
            <a:ext cx="2926080" cy="731520"/>
          </a:xfrm>
          <a:prstGeom prst="rect">
            <a:avLst/>
          </a:prstGeom>
          <a:noFill/>
        </p:spPr>
        <p:txBody>
          <a:bodyPr wrap="square">
            <a:spAutoFit/>
          </a:bodyPr>
          <a:lstStyle/>
          <a:p>
            <a:pPr algn="ctr"/>
            <a:r>
              <a:rPr sz="1100" b="0">
                <a:solidFill>
                  <a:srgbClr val="2A9D8F"/>
                </a:solidFill>
              </a:rPr>
              <a:t>truth: rows where cpx &gt; 0.1 wt% of the solids</a:t>
            </a:r>
          </a:p>
        </p:txBody>
      </p:sp>
      <p:sp>
        <p:nvSpPr>
          <p:cNvPr id="7" name="Rounded Rectangle 6"/>
          <p:cNvSpPr/>
          <p:nvPr/>
        </p:nvSpPr>
        <p:spPr>
          <a:xfrm>
            <a:off x="502920" y="192024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A (andesite)</a:t>
            </a:r>
          </a:p>
          <a:p>
            <a:pPr algn="ctr"/>
            <a:r>
              <a:rPr sz="900" b="0">
                <a:solidFill>
                  <a:srgbClr val="8A93A3"/>
                </a:solidFill>
              </a:rPr>
              <a:t>p_cpx = 0.71</a:t>
            </a:r>
          </a:p>
        </p:txBody>
      </p:sp>
      <p:sp>
        <p:nvSpPr>
          <p:cNvPr id="8" name="Right Arrow 7"/>
          <p:cNvSpPr/>
          <p:nvPr/>
        </p:nvSpPr>
        <p:spPr>
          <a:xfrm>
            <a:off x="3246120" y="214884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92024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96 rows: cpx in 70</a:t>
            </a:r>
          </a:p>
        </p:txBody>
      </p:sp>
      <p:cxnSp>
        <p:nvCxnSpPr>
          <p:cNvPr id="10" name="Connector 9"/>
          <p:cNvCxnSpPr/>
          <p:nvPr/>
        </p:nvCxnSpPr>
        <p:spPr>
          <a:xfrm>
            <a:off x="6629400" y="2304288"/>
            <a:ext cx="548640" cy="107899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288036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B (bas. andesite)</a:t>
            </a:r>
          </a:p>
          <a:p>
            <a:pPr algn="ctr"/>
            <a:r>
              <a:rPr sz="900" b="0">
                <a:solidFill>
                  <a:srgbClr val="8A93A3"/>
                </a:solidFill>
              </a:rPr>
              <a:t>p_cpx = 0.74</a:t>
            </a:r>
          </a:p>
        </p:txBody>
      </p:sp>
      <p:sp>
        <p:nvSpPr>
          <p:cNvPr id="12" name="Right Arrow 11"/>
          <p:cNvSpPr/>
          <p:nvPr/>
        </p:nvSpPr>
        <p:spPr>
          <a:xfrm>
            <a:off x="3246120" y="310896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03320" y="288036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96 rows: cpx in 61</a:t>
            </a:r>
          </a:p>
        </p:txBody>
      </p:sp>
      <p:cxnSp>
        <p:nvCxnSpPr>
          <p:cNvPr id="14" name="Connector 13"/>
          <p:cNvCxnSpPr/>
          <p:nvPr/>
        </p:nvCxnSpPr>
        <p:spPr>
          <a:xfrm>
            <a:off x="6629400" y="3264408"/>
            <a:ext cx="548640" cy="11887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2920" y="384048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C (andesite)</a:t>
            </a:r>
          </a:p>
          <a:p>
            <a:pPr algn="ctr"/>
            <a:r>
              <a:rPr sz="900" b="0">
                <a:solidFill>
                  <a:srgbClr val="8A93A3"/>
                </a:solidFill>
              </a:rPr>
              <a:t>p_cpx = 0.77</a:t>
            </a:r>
          </a:p>
        </p:txBody>
      </p:sp>
      <p:sp>
        <p:nvSpPr>
          <p:cNvPr id="16" name="Right Arrow 15"/>
          <p:cNvSpPr/>
          <p:nvPr/>
        </p:nvSpPr>
        <p:spPr>
          <a:xfrm>
            <a:off x="3246120" y="406908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03320" y="384048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96 rows: cpx in 74</a:t>
            </a:r>
          </a:p>
        </p:txBody>
      </p:sp>
      <p:cxnSp>
        <p:nvCxnSpPr>
          <p:cNvPr id="18" name="Connector 17"/>
          <p:cNvCxnSpPr/>
          <p:nvPr/>
        </p:nvCxnSpPr>
        <p:spPr>
          <a:xfrm flipV="1">
            <a:off x="6629400" y="3383280"/>
            <a:ext cx="548640" cy="84124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178040" y="2514600"/>
            <a:ext cx="23774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predictions binned:</a:t>
            </a:r>
          </a:p>
          <a:p>
            <a:pPr algn="ctr"/>
            <a:r>
              <a:rPr sz="1000" b="0">
                <a:solidFill>
                  <a:srgbClr val="8A93A3"/>
                </a:solidFill>
              </a:rPr>
              <a:t>p in [0.70, 0.80): 3 predictions,</a:t>
            </a:r>
          </a:p>
          <a:p>
            <a:pPr algn="ctr"/>
            <a:r>
              <a:rPr sz="1000" b="0">
                <a:solidFill>
                  <a:srgbClr val="8A93A3"/>
                </a:solidFill>
              </a:rPr>
              <a:t>x 96 labels each = 288 pairs</a:t>
            </a:r>
          </a:p>
          <a:p>
            <a:pPr algn="ctr"/>
            <a:r>
              <a:rPr sz="1000" b="0">
                <a:solidFill>
                  <a:srgbClr val="8A93A3"/>
                </a:solidFill>
              </a:rPr>
              <a:t>mean p = 0.740  .  actually</a:t>
            </a:r>
          </a:p>
          <a:p>
            <a:pPr algn="ctr"/>
            <a:r>
              <a:rPr sz="1000" b="0">
                <a:solidFill>
                  <a:srgbClr val="8A93A3"/>
                </a:solidFill>
              </a:rPr>
              <a:t>present: 205 / 288 = 0.712</a:t>
            </a:r>
          </a:p>
        </p:txBody>
      </p:sp>
      <p:sp>
        <p:nvSpPr>
          <p:cNvPr id="20" name="Rectangle 19"/>
          <p:cNvSpPr/>
          <p:nvPr/>
        </p:nvSpPr>
        <p:spPr>
          <a:xfrm>
            <a:off x="9875520" y="1783080"/>
            <a:ext cx="2103120" cy="21031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V="1">
            <a:off x="9875520" y="1783080"/>
            <a:ext cx="2103120" cy="210312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349532" y="2306482"/>
            <a:ext cx="164592" cy="164592"/>
          </a:xfrm>
          <a:prstGeom prst="ellipse">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58676" y="2826684"/>
            <a:ext cx="146304" cy="146304"/>
          </a:xfrm>
          <a:prstGeom prst="ellipse">
            <a:avLst/>
          </a:prstGeom>
          <a:solidFill>
            <a:srgbClr val="C8CD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V="1">
            <a:off x="8183879" y="2498506"/>
            <a:ext cx="3247949" cy="1753454"/>
          </a:xfrm>
          <a:prstGeom prst="bentConnector3">
            <a:avLst/>
          </a:prstGeom>
          <a:ln w="19050">
            <a:solidFill>
              <a:srgbClr val="E8883A"/>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601200" y="3931920"/>
            <a:ext cx="2651760" cy="731520"/>
          </a:xfrm>
          <a:prstGeom prst="rect">
            <a:avLst/>
          </a:prstGeom>
          <a:noFill/>
        </p:spPr>
        <p:txBody>
          <a:bodyPr wrap="square">
            <a:spAutoFit/>
          </a:bodyPr>
          <a:lstStyle/>
          <a:p>
            <a:pPr algn="ctr"/>
            <a:r>
              <a:rPr sz="1000" b="0">
                <a:solidFill>
                  <a:srgbClr val="8A93A3"/>
                </a:solidFill>
              </a:rPr>
              <a:t>predicted p -&gt;</a:t>
            </a:r>
          </a:p>
        </p:txBody>
      </p:sp>
      <p:sp>
        <p:nvSpPr>
          <p:cNvPr id="26" name="TextBox 25"/>
          <p:cNvSpPr txBox="1"/>
          <p:nvPr/>
        </p:nvSpPr>
        <p:spPr>
          <a:xfrm>
            <a:off x="9601200" y="1371600"/>
            <a:ext cx="2651760" cy="731520"/>
          </a:xfrm>
          <a:prstGeom prst="rect">
            <a:avLst/>
          </a:prstGeom>
          <a:noFill/>
        </p:spPr>
        <p:txBody>
          <a:bodyPr wrap="square">
            <a:spAutoFit/>
          </a:bodyPr>
          <a:lstStyle/>
          <a:p>
            <a:pPr algn="ctr"/>
            <a:r>
              <a:rPr sz="1100" b="0">
                <a:solidFill>
                  <a:srgbClr val="E8883A"/>
                </a:solidFill>
              </a:rPr>
              <a:t>on the diagonal = calibrated</a:t>
            </a:r>
          </a:p>
        </p:txBody>
      </p:sp>
      <p:sp>
        <p:nvSpPr>
          <p:cNvPr id="27" name="TextBox 26"/>
          <p:cNvSpPr txBox="1"/>
          <p:nvPr/>
        </p:nvSpPr>
        <p:spPr>
          <a:xfrm>
            <a:off x="9601200" y="4270248"/>
            <a:ext cx="2651760" cy="731520"/>
          </a:xfrm>
          <a:prstGeom prst="rect">
            <a:avLst/>
          </a:prstGeom>
          <a:noFill/>
        </p:spPr>
        <p:txBody>
          <a:bodyPr wrap="square">
            <a:spAutoFit/>
          </a:bodyPr>
          <a:lstStyle/>
          <a:p>
            <a:pPr algn="ctr"/>
            <a:r>
              <a:rPr sz="900" b="0">
                <a:solidFill>
                  <a:srgbClr val="8A93A3"/>
                </a:solidFill>
              </a:rPr>
              <a:t>gray dot: overconfident (if truth were 135/288)</a:t>
            </a:r>
          </a:p>
        </p:txBody>
      </p:sp>
      <p:sp>
        <p:nvSpPr>
          <p:cNvPr id="28" name="TextBox 27"/>
          <p:cNvSpPr txBox="1"/>
          <p:nvPr/>
        </p:nvSpPr>
        <p:spPr>
          <a:xfrm>
            <a:off x="502920" y="4709160"/>
            <a:ext cx="11155680" cy="731520"/>
          </a:xfrm>
          <a:prstGeom prst="rect">
            <a:avLst/>
          </a:prstGeom>
          <a:noFill/>
        </p:spPr>
        <p:txBody>
          <a:bodyPr wrap="square">
            <a:spAutoFit/>
          </a:bodyPr>
          <a:lstStyle/>
          <a:p>
            <a:pPr algn="l"/>
            <a:r>
              <a:rPr sz="1100" b="0">
                <a:solidFill>
                  <a:srgbClr val="1A2238"/>
                </a:solidFill>
              </a:rPr>
              <a:t>"actually present" is the pooled hit rate over the rows whose prediction landed in the bin -- never a corpus-wide rate, never one rock alone. Per-rock misses can cancel inside a bin (B deserved 0.64); the p-vs-frequency scatter is the stricter per-rock test, and the head is scored on both.</a:t>
            </a:r>
          </a:p>
        </p:txBody>
      </p:sp>
      <p:sp>
        <p:nvSpPr>
          <p:cNvPr id="29" name="TextBox 28"/>
          <p:cNvSpPr txBox="1"/>
          <p:nvPr/>
        </p:nvSpPr>
        <p:spPr>
          <a:xfrm>
            <a:off x="502920" y="5394960"/>
            <a:ext cx="11155680" cy="731520"/>
          </a:xfrm>
          <a:prstGeom prst="rect">
            <a:avLst/>
          </a:prstGeom>
          <a:noFill/>
        </p:spPr>
        <p:txBody>
          <a:bodyPr wrap="square">
            <a:spAutoFit/>
          </a:bodyPr>
          <a:lstStyle/>
          <a:p>
            <a:pPr algn="l"/>
            <a:r>
              <a:rPr sz="1100" b="0">
                <a:solidFill>
                  <a:srgbClr val="1A2238"/>
                </a:solidFill>
              </a:rPr>
              <a:t>3 rocks shown; the real figure pools the validation rocks only -- currently ~930 rocks x 96 rows = 86,617 (p, truth) pairs per mineral panel, partitioned across the 10 bins (the gray bars). Training rocks are excluded because a head that memorized them would grade itself calibrated. And since all 96 rows of a rock share one prediction, a panel holds only ~930 distinct p values, each stamped 96x -- the effective sample size is rocks, not rows, which is why every number stays provisional until the valtest tier (500 rocks x 128 draws) lands.</a:t>
            </a:r>
          </a:p>
        </p:txBody>
      </p:sp>
      <p:sp>
        <p:nvSpPr>
          <p:cNvPr id="30" name="TextBox 29"/>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BCE's per-rock minimum is the true fraction, so an honest head lands on the diagonal by construction. current limits (provisional): garnet presence under-predicted even at f &gt; 0.9; amphibole magnitude spread too narrow. full report: results/mode_head/&lt;tag&gt;/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If it's there, how much? One row through the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magnitude branch's eval: slice the predicted concentrations to the row's true support, compare means to truth, and ask whether the claimed spread is honest (PIT)</a:t>
            </a:r>
          </a:p>
        </p:txBody>
      </p:sp>
      <p:sp>
        <p:nvSpPr>
          <p:cNvPr id="5" name="Rounded Rectangle 4"/>
          <p:cNvSpPr/>
          <p:nvPr/>
        </p:nvSpPr>
        <p:spPr>
          <a:xfrm>
            <a:off x="502920" y="1920240"/>
            <a:ext cx="2743200" cy="18288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one row's truth</a:t>
            </a:r>
          </a:p>
          <a:p>
            <a:pPr algn="ctr"/>
            <a:r>
              <a:rPr sz="900" b="0">
                <a:solidFill>
                  <a:srgbClr val="8A93A3"/>
                </a:solidFill>
              </a:rPr>
              <a:t>bulk X . draw 17 . rung 50</a:t>
            </a:r>
          </a:p>
          <a:p>
            <a:pPr algn="ctr"/>
            <a:r>
              <a:rPr sz="900" b="0">
                <a:solidFill>
                  <a:srgbClr val="8A93A3"/>
                </a:solidFill>
              </a:rPr>
              <a:t>present: plag cpx amp ilm</a:t>
            </a:r>
          </a:p>
          <a:p>
            <a:pPr algn="ctr"/>
            <a:r>
              <a:rPr sz="900" b="0">
                <a:solidFill>
                  <a:srgbClr val="8A93A3"/>
                </a:solidFill>
              </a:rPr>
              <a:t>modes: .44  .26  .19  .11</a:t>
            </a:r>
          </a:p>
          <a:p>
            <a:pPr algn="ctr"/>
            <a:r>
              <a:rPr sz="900" b="0">
                <a:solidFill>
                  <a:srgbClr val="8A93A3"/>
                </a:solidFill>
              </a:rPr>
              <a:t>(crystals-renormalized, sum 1)</a:t>
            </a:r>
          </a:p>
        </p:txBody>
      </p:sp>
      <p:sp>
        <p:nvSpPr>
          <p:cNvPr id="6" name="Right Arrow 5"/>
          <p:cNvSpPr/>
          <p:nvPr/>
        </p:nvSpPr>
        <p:spPr>
          <a:xfrm>
            <a:off x="3337560" y="265176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94760" y="1920240"/>
            <a:ext cx="2743200" cy="18288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head output for bulk X</a:t>
            </a:r>
          </a:p>
          <a:p>
            <a:pPr algn="ctr"/>
            <a:r>
              <a:rPr sz="900" b="0">
                <a:solidFill>
                  <a:srgbClr val="8A93A3"/>
                </a:solidFill>
              </a:rPr>
              <a:t>alpha, sliced to the true support:</a:t>
            </a:r>
          </a:p>
          <a:p>
            <a:pPr algn="ctr"/>
            <a:r>
              <a:rPr sz="900" b="0">
                <a:solidFill>
                  <a:srgbClr val="8A93A3"/>
                </a:solidFill>
              </a:rPr>
              <a:t>plag 12.0    cpx 7.0</a:t>
            </a:r>
          </a:p>
          <a:p>
            <a:pPr algn="ctr"/>
            <a:r>
              <a:rPr sz="900" b="0">
                <a:solidFill>
                  <a:srgbClr val="8A93A3"/>
                </a:solidFill>
              </a:rPr>
              <a:t>amp 4.5      ilm 1.5</a:t>
            </a:r>
          </a:p>
          <a:p>
            <a:pPr algn="ctr"/>
            <a:r>
              <a:rPr sz="900" b="0">
                <a:solidFill>
                  <a:srgbClr val="8A93A3"/>
                </a:solidFill>
              </a:rPr>
              <a:t>alpha0 = sum = 25 (confidence)</a:t>
            </a:r>
          </a:p>
        </p:txBody>
      </p:sp>
      <p:sp>
        <p:nvSpPr>
          <p:cNvPr id="8" name="Right Arrow 7"/>
          <p:cNvSpPr/>
          <p:nvPr/>
        </p:nvSpPr>
        <p:spPr>
          <a:xfrm>
            <a:off x="6629400" y="265176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86600" y="1920240"/>
            <a:ext cx="2743200" cy="18288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predicted mean +/- spread</a:t>
            </a:r>
          </a:p>
          <a:p>
            <a:pPr algn="ctr"/>
            <a:r>
              <a:rPr sz="900" b="0">
                <a:solidFill>
                  <a:srgbClr val="8A93A3"/>
                </a:solidFill>
              </a:rPr>
              <a:t>plag 0.48 +/- 0.10   (true .44)</a:t>
            </a:r>
          </a:p>
          <a:p>
            <a:pPr algn="ctr"/>
            <a:r>
              <a:rPr sz="900" b="0">
                <a:solidFill>
                  <a:srgbClr val="8A93A3"/>
                </a:solidFill>
              </a:rPr>
              <a:t>cpx 0.28 +/- 0.09   (true .26)</a:t>
            </a:r>
          </a:p>
          <a:p>
            <a:pPr algn="ctr"/>
            <a:r>
              <a:rPr sz="900" b="0">
                <a:solidFill>
                  <a:srgbClr val="8A93A3"/>
                </a:solidFill>
              </a:rPr>
              <a:t>amp 0.18 +/- 0.08   (true .19)</a:t>
            </a:r>
          </a:p>
          <a:p>
            <a:pPr algn="ctr"/>
            <a:r>
              <a:rPr sz="900" b="0">
                <a:solidFill>
                  <a:srgbClr val="8A93A3"/>
                </a:solidFill>
              </a:rPr>
              <a:t>ilm 0.06 +/- 0.05   (true .11)</a:t>
            </a:r>
          </a:p>
        </p:txBody>
      </p:sp>
      <p:sp>
        <p:nvSpPr>
          <p:cNvPr id="10" name="Freeform 9"/>
          <p:cNvSpPr/>
          <p:nvPr/>
        </p:nvSpPr>
        <p:spPr>
          <a:xfrm>
            <a:off x="10104120" y="2240280"/>
            <a:ext cx="1828800" cy="1051560"/>
          </a:xfrm>
          <a:custGeom>
            <a:avLst/>
            <a:gdLst/>
            <a:ahLst/>
            <a:cxnLst/>
            <a:rect l="l" t="t" r="r" b="b"/>
            <a:pathLst>
              <a:path w="1828800" h="1051560">
                <a:moveTo>
                  <a:pt x="0" y="1051560"/>
                </a:moveTo>
                <a:lnTo>
                  <a:pt x="0" y="1051549"/>
                </a:lnTo>
                <a:lnTo>
                  <a:pt x="38100" y="1051532"/>
                </a:lnTo>
                <a:lnTo>
                  <a:pt x="76200" y="1051489"/>
                </a:lnTo>
                <a:lnTo>
                  <a:pt x="114300" y="1051387"/>
                </a:lnTo>
                <a:lnTo>
                  <a:pt x="152400" y="1051157"/>
                </a:lnTo>
                <a:lnTo>
                  <a:pt x="190500" y="1050659"/>
                </a:lnTo>
                <a:lnTo>
                  <a:pt x="228600" y="1049631"/>
                </a:lnTo>
                <a:lnTo>
                  <a:pt x="266700" y="1047606"/>
                </a:lnTo>
                <a:lnTo>
                  <a:pt x="304800" y="1043798"/>
                </a:lnTo>
                <a:lnTo>
                  <a:pt x="342900" y="1036971"/>
                </a:lnTo>
                <a:lnTo>
                  <a:pt x="381000" y="1025303"/>
                </a:lnTo>
                <a:lnTo>
                  <a:pt x="419100" y="1006310"/>
                </a:lnTo>
                <a:lnTo>
                  <a:pt x="457200" y="976891"/>
                </a:lnTo>
                <a:lnTo>
                  <a:pt x="495300" y="933578"/>
                </a:lnTo>
                <a:lnTo>
                  <a:pt x="533400" y="873059"/>
                </a:lnTo>
                <a:lnTo>
                  <a:pt x="571500" y="792967"/>
                </a:lnTo>
                <a:lnTo>
                  <a:pt x="609600" y="692851"/>
                </a:lnTo>
                <a:lnTo>
                  <a:pt x="647700" y="575109"/>
                </a:lnTo>
                <a:lnTo>
                  <a:pt x="685800" y="445599"/>
                </a:lnTo>
                <a:lnTo>
                  <a:pt x="723900" y="313619"/>
                </a:lnTo>
                <a:lnTo>
                  <a:pt x="762000" y="191063"/>
                </a:lnTo>
                <a:lnTo>
                  <a:pt x="800100" y="90773"/>
                </a:lnTo>
                <a:lnTo>
                  <a:pt x="838200" y="24359"/>
                </a:lnTo>
                <a:lnTo>
                  <a:pt x="876300" y="0"/>
                </a:lnTo>
                <a:lnTo>
                  <a:pt x="914400" y="20786"/>
                </a:lnTo>
                <a:lnTo>
                  <a:pt x="952500" y="84078"/>
                </a:lnTo>
                <a:lnTo>
                  <a:pt x="990600" y="182053"/>
                </a:lnTo>
                <a:lnTo>
                  <a:pt x="1028700" y="303298"/>
                </a:lnTo>
                <a:lnTo>
                  <a:pt x="1066800" y="434987"/>
                </a:lnTo>
                <a:lnTo>
                  <a:pt x="1104900" y="565079"/>
                </a:lnTo>
                <a:lnTo>
                  <a:pt x="1143000" y="684026"/>
                </a:lnTo>
                <a:lnTo>
                  <a:pt x="1181100" y="785683"/>
                </a:lnTo>
                <a:lnTo>
                  <a:pt x="1219200" y="867393"/>
                </a:lnTo>
                <a:lnTo>
                  <a:pt x="1257300" y="929409"/>
                </a:lnTo>
                <a:lnTo>
                  <a:pt x="1295400" y="973983"/>
                </a:lnTo>
                <a:lnTo>
                  <a:pt x="1333500" y="1004385"/>
                </a:lnTo>
                <a:lnTo>
                  <a:pt x="1371600" y="1024090"/>
                </a:lnTo>
                <a:lnTo>
                  <a:pt x="1409700" y="1036244"/>
                </a:lnTo>
                <a:lnTo>
                  <a:pt x="1447800" y="1043383"/>
                </a:lnTo>
                <a:lnTo>
                  <a:pt x="1485900" y="1047380"/>
                </a:lnTo>
                <a:lnTo>
                  <a:pt x="1524000" y="1049514"/>
                </a:lnTo>
                <a:lnTo>
                  <a:pt x="1562100" y="1050601"/>
                </a:lnTo>
                <a:lnTo>
                  <a:pt x="1600200" y="1051129"/>
                </a:lnTo>
                <a:lnTo>
                  <a:pt x="1638300" y="1051375"/>
                </a:lnTo>
                <a:lnTo>
                  <a:pt x="1676400" y="1051483"/>
                </a:lnTo>
                <a:lnTo>
                  <a:pt x="1714500" y="1051530"/>
                </a:lnTo>
                <a:lnTo>
                  <a:pt x="1752600" y="1051548"/>
                </a:lnTo>
                <a:lnTo>
                  <a:pt x="1790700" y="1051555"/>
                </a:lnTo>
                <a:lnTo>
                  <a:pt x="1828800" y="1051558"/>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plag marginal: Beta(12, 13)</a:t>
            </a:r>
          </a:p>
        </p:txBody>
      </p:sp>
      <p:cxnSp>
        <p:nvCxnSpPr>
          <p:cNvPr id="13" name="Connector 12"/>
          <p:cNvCxnSpPr/>
          <p:nvPr/>
        </p:nvCxnSpPr>
        <p:spPr>
          <a:xfrm flipV="1">
            <a:off x="10908792"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0.44 -&gt; PIT 0.34</a:t>
            </a:r>
          </a:p>
        </p:txBody>
      </p:sp>
      <p:sp>
        <p:nvSpPr>
          <p:cNvPr id="15" name="TextBox 14"/>
          <p:cNvSpPr txBox="1"/>
          <p:nvPr/>
        </p:nvSpPr>
        <p:spPr>
          <a:xfrm>
            <a:off x="502920" y="4160520"/>
            <a:ext cx="11155680" cy="731520"/>
          </a:xfrm>
          <a:prstGeom prst="rect">
            <a:avLst/>
          </a:prstGeom>
          <a:noFill/>
        </p:spPr>
        <p:txBody>
          <a:bodyPr wrap="square">
            <a:spAutoFit/>
          </a:bodyPr>
          <a:lstStyle/>
          <a:p>
            <a:pPr algn="l"/>
            <a:r>
              <a:rPr sz="1100" b="0">
                <a:solidFill>
                  <a:srgbClr val="1A2238"/>
                </a:solidFill>
              </a:rPr>
              <a:t>each present phase's marginal is a Beta distribution; PIT = where the truth lands inside it (its CDF value). Over many rows a flat PIT histogram means the spread is honest; a U means overconfident (truth keeps escaping the claimed range), a hump means underconfident.</a:t>
            </a:r>
          </a:p>
        </p:txBody>
      </p:sp>
      <p:sp>
        <p:nvSpPr>
          <p:cNvPr id="16" name="TextBox 15"/>
          <p:cNvSpPr txBox="1"/>
          <p:nvPr/>
        </p:nvSpPr>
        <p:spPr>
          <a:xfrm>
            <a:off x="502920" y="4892040"/>
            <a:ext cx="11155680" cy="731520"/>
          </a:xfrm>
          <a:prstGeom prst="rect">
            <a:avLst/>
          </a:prstGeom>
          <a:noFill/>
        </p:spPr>
        <p:txBody>
          <a:bodyPr wrap="square">
            <a:spAutoFit/>
          </a:bodyPr>
          <a:lstStyle/>
          <a:p>
            <a:pPr algn="l"/>
            <a:r>
              <a:rPr sz="1100" b="0">
                <a:solidFill>
                  <a:srgbClr val="1A2238"/>
                </a:solidFill>
              </a:rPr>
              <a:t>the support is teacher-forced: training and this eval slice alpha to the row's TRUE present set (absent phases contribute nothing -- they belong to the Bernoullis; the sub-composition of a Dirichlet is itself a Dirichlet, so the sliced score is a proper density). At inference the support is sampled from the presence branch instead.</a:t>
            </a:r>
          </a:p>
        </p:txBody>
      </p:sp>
      <p:sp>
        <p:nvSpPr>
          <p:cNvPr id="17" name="TextBox 16"/>
          <p:cNvSpPr txBox="1"/>
          <p:nvPr/>
        </p:nvSpPr>
        <p:spPr>
          <a:xfrm>
            <a:off x="502920" y="5760720"/>
            <a:ext cx="11155680" cy="731520"/>
          </a:xfrm>
          <a:prstGeom prst="rect">
            <a:avLst/>
          </a:prstGeom>
          <a:noFill/>
        </p:spPr>
        <p:txBody>
          <a:bodyPr wrap="square">
            <a:spAutoFit/>
          </a:bodyPr>
          <a:lstStyle/>
          <a:p>
            <a:pPr algn="l"/>
            <a:r>
              <a:rPr sz="1000" b="0">
                <a:solidFill>
                  <a:srgbClr val="8A93A3"/>
                </a:solidFill>
              </a:rPr>
              <a:t>population: only truly-present (row, phase) pairs are scored -- ~68k pairs for plag down to ~200 for corundum; single-phase rows are excluded (nothing to size). current limits (provisional): amphibole U-shaped PIT (spread too narrow; truth plausibly bimodal across paths), oxide accessories humped (too wide), plag under-sized. full report: results/mode_head/&lt;tag&gt;/ (magnitude_parity, magnitude_pit).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the heads emit (distributions, not point estimates)</a:t>
            </a:r>
          </a:p>
        </p:txBody>
      </p:sp>
      <p:sp>
        <p:nvSpPr>
          <p:cNvPr id="4" name="Rounded Rectangle 3"/>
          <p:cNvSpPr/>
          <p:nvPr/>
        </p:nvSpPr>
        <p:spPr>
          <a:xfrm>
            <a:off x="502920" y="2651760"/>
            <a:ext cx="2286000" cy="155448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example bulk</a:t>
            </a:r>
          </a:p>
          <a:p>
            <a:pPr algn="ctr"/>
            <a:r>
              <a:rPr sz="1200" b="1">
                <a:solidFill>
                  <a:srgbClr val="1A2238"/>
                </a:solidFill>
              </a:rPr>
              <a:t/>
            </a:r>
          </a:p>
          <a:p>
            <a:pPr algn="ctr"/>
            <a:r>
              <a:rPr sz="900" b="0">
                <a:solidFill>
                  <a:srgbClr val="8A93A3"/>
                </a:solidFill>
              </a:rPr>
              <a:t>SiO2 50  Al2O3 16</a:t>
            </a:r>
          </a:p>
          <a:p>
            <a:pPr algn="ctr"/>
            <a:r>
              <a:rPr sz="900" b="0">
                <a:solidFill>
                  <a:srgbClr val="8A93A3"/>
                </a:solidFill>
              </a:rPr>
              <a:t>MgO 7.5  FeO 11</a:t>
            </a:r>
          </a:p>
          <a:p>
            <a:pPr algn="ctr"/>
            <a:r>
              <a:rPr sz="900" b="0">
                <a:solidFill>
                  <a:srgbClr val="8A93A3"/>
                </a:solidFill>
              </a:rPr>
              <a:t>Sr 400 ppm ...</a:t>
            </a:r>
          </a:p>
        </p:txBody>
      </p:sp>
      <p:sp>
        <p:nvSpPr>
          <p:cNvPr id="5" name="Right Arrow 4"/>
          <p:cNvSpPr/>
          <p:nvPr/>
        </p:nvSpPr>
        <p:spPr>
          <a:xfrm>
            <a:off x="288036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456432" y="2770632"/>
            <a:ext cx="1316736" cy="1316736"/>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7" name="Right Arrow 6"/>
          <p:cNvSpPr/>
          <p:nvPr/>
        </p:nvSpPr>
        <p:spPr>
          <a:xfrm>
            <a:off x="489204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0" y="1417320"/>
            <a:ext cx="6309360" cy="20574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9" name="TextBox 8"/>
          <p:cNvSpPr txBox="1"/>
          <p:nvPr/>
        </p:nvSpPr>
        <p:spPr>
          <a:xfrm>
            <a:off x="5669280" y="1463040"/>
            <a:ext cx="5943600" cy="731520"/>
          </a:xfrm>
          <a:prstGeom prst="rect">
            <a:avLst/>
          </a:prstGeom>
          <a:noFill/>
        </p:spPr>
        <p:txBody>
          <a:bodyPr wrap="square">
            <a:spAutoFit/>
          </a:bodyPr>
          <a:lstStyle/>
          <a:p>
            <a:pPr algn="l"/>
            <a:r>
              <a:rPr sz="1200" b="0">
                <a:solidFill>
                  <a:srgbClr val="2A9D8F"/>
                </a:solidFill>
              </a:rPr>
              <a:t>ModeHead -&gt; per phase: p(present) x amount-when-present (hurdle Dirichlet; crystals renormalized to 1, groundmass/melt excluded)</a:t>
            </a:r>
          </a:p>
        </p:txBody>
      </p:sp>
      <p:sp>
        <p:nvSpPr>
          <p:cNvPr id="10" name="Rounded Rectangle 9"/>
          <p:cNvSpPr/>
          <p:nvPr/>
        </p:nvSpPr>
        <p:spPr>
          <a:xfrm>
            <a:off x="5715000" y="1874519"/>
            <a:ext cx="1892807"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397496" y="2020824"/>
            <a:ext cx="420624"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397496"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818120"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909560" y="1828799"/>
            <a:ext cx="4206240" cy="365760"/>
          </a:xfrm>
          <a:prstGeom prst="rect">
            <a:avLst/>
          </a:prstGeom>
          <a:noFill/>
        </p:spPr>
        <p:txBody>
          <a:bodyPr wrap="square">
            <a:spAutoFit/>
          </a:bodyPr>
          <a:lstStyle/>
          <a:p>
            <a:pPr algn="l"/>
            <a:r>
              <a:rPr sz="1200" b="0">
                <a:solidFill>
                  <a:srgbClr val="1A2238"/>
                </a:solidFill>
              </a:rPr>
              <a:t>plagioclase  0.45  |  p 1.00</a:t>
            </a:r>
          </a:p>
        </p:txBody>
      </p:sp>
      <p:sp>
        <p:nvSpPr>
          <p:cNvPr id="15" name="Rounded Rectangle 14"/>
          <p:cNvSpPr/>
          <p:nvPr/>
        </p:nvSpPr>
        <p:spPr>
          <a:xfrm>
            <a:off x="5715000" y="2185415"/>
            <a:ext cx="1135684"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682435" y="2331720"/>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682435"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018934"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10374" y="2139696"/>
            <a:ext cx="4206240" cy="365760"/>
          </a:xfrm>
          <a:prstGeom prst="rect">
            <a:avLst/>
          </a:prstGeom>
          <a:noFill/>
        </p:spPr>
        <p:txBody>
          <a:bodyPr wrap="square">
            <a:spAutoFit/>
          </a:bodyPr>
          <a:lstStyle/>
          <a:p>
            <a:pPr algn="l"/>
            <a:r>
              <a:rPr sz="1200" b="0">
                <a:solidFill>
                  <a:srgbClr val="1A2238"/>
                </a:solidFill>
              </a:rPr>
              <a:t>clinopyroxene  0.27  |  p 0.97</a:t>
            </a:r>
          </a:p>
        </p:txBody>
      </p:sp>
      <p:sp>
        <p:nvSpPr>
          <p:cNvPr id="20" name="Rounded Rectangle 19"/>
          <p:cNvSpPr/>
          <p:nvPr/>
        </p:nvSpPr>
        <p:spPr>
          <a:xfrm>
            <a:off x="5715000" y="2496312"/>
            <a:ext cx="7571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6219748" y="2642616"/>
            <a:ext cx="50474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19748"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724497"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15937" y="2450592"/>
            <a:ext cx="4206240" cy="365760"/>
          </a:xfrm>
          <a:prstGeom prst="rect">
            <a:avLst/>
          </a:prstGeom>
          <a:noFill/>
        </p:spPr>
        <p:txBody>
          <a:bodyPr wrap="square">
            <a:spAutoFit/>
          </a:bodyPr>
          <a:lstStyle/>
          <a:p>
            <a:pPr algn="l"/>
            <a:r>
              <a:rPr sz="1200" b="0">
                <a:solidFill>
                  <a:srgbClr val="1A2238"/>
                </a:solidFill>
              </a:rPr>
              <a:t>amphibole  0.18  |  p 0.41</a:t>
            </a:r>
          </a:p>
        </p:txBody>
      </p:sp>
      <p:sp>
        <p:nvSpPr>
          <p:cNvPr id="25" name="Rounded Rectangle 24"/>
          <p:cNvSpPr/>
          <p:nvPr/>
        </p:nvSpPr>
        <p:spPr>
          <a:xfrm>
            <a:off x="5715000" y="2807208"/>
            <a:ext cx="4206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5967374" y="2953512"/>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967374"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303873"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95313" y="2761488"/>
            <a:ext cx="4206240" cy="365760"/>
          </a:xfrm>
          <a:prstGeom prst="rect">
            <a:avLst/>
          </a:prstGeom>
          <a:noFill/>
        </p:spPr>
        <p:txBody>
          <a:bodyPr wrap="square">
            <a:spAutoFit/>
          </a:bodyPr>
          <a:lstStyle/>
          <a:p>
            <a:pPr algn="l"/>
            <a:r>
              <a:rPr sz="1200" b="0">
                <a:solidFill>
                  <a:srgbClr val="1A2238"/>
                </a:solidFill>
              </a:rPr>
              <a:t>orthopyroxene  0.10  |  p 0.63</a:t>
            </a:r>
          </a:p>
        </p:txBody>
      </p:sp>
      <p:sp>
        <p:nvSpPr>
          <p:cNvPr id="30" name="Rounded Rectangle 29"/>
          <p:cNvSpPr/>
          <p:nvPr/>
        </p:nvSpPr>
        <p:spPr>
          <a:xfrm>
            <a:off x="5715000" y="3118104"/>
            <a:ext cx="168249"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5799124" y="3264408"/>
            <a:ext cx="168250"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9912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737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058814" y="3072384"/>
            <a:ext cx="4206240" cy="365760"/>
          </a:xfrm>
          <a:prstGeom prst="rect">
            <a:avLst/>
          </a:prstGeom>
          <a:noFill/>
        </p:spPr>
        <p:txBody>
          <a:bodyPr wrap="square">
            <a:spAutoFit/>
          </a:bodyPr>
          <a:lstStyle/>
          <a:p>
            <a:pPr algn="l"/>
            <a:r>
              <a:rPr sz="1200" b="0">
                <a:solidFill>
                  <a:srgbClr val="1A2238"/>
                </a:solidFill>
              </a:rPr>
              <a:t>magnetite  0.04  |  p 0.95</a:t>
            </a:r>
          </a:p>
        </p:txBody>
      </p:sp>
      <p:sp>
        <p:nvSpPr>
          <p:cNvPr id="35" name="Rounded Rectangle 34"/>
          <p:cNvSpPr/>
          <p:nvPr/>
        </p:nvSpPr>
        <p:spPr>
          <a:xfrm>
            <a:off x="5486400" y="3657600"/>
            <a:ext cx="6309360" cy="23317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36" name="TextBox 35"/>
          <p:cNvSpPr txBox="1"/>
          <p:nvPr/>
        </p:nvSpPr>
        <p:spPr>
          <a:xfrm>
            <a:off x="5669280" y="3703320"/>
            <a:ext cx="5943600" cy="731520"/>
          </a:xfrm>
          <a:prstGeom prst="rect">
            <a:avLst/>
          </a:prstGeom>
          <a:noFill/>
        </p:spPr>
        <p:txBody>
          <a:bodyPr wrap="square">
            <a:spAutoFit/>
          </a:bodyPr>
          <a:lstStyle/>
          <a:p>
            <a:pPr algn="l"/>
            <a:r>
              <a:rPr sz="1200" b="0">
                <a:solidFill>
                  <a:srgbClr val="6C5CE7"/>
                </a:solidFill>
              </a:rPr>
              <a:t>CondHead -&gt; storage conditions (per-axis GMM; P and H2O are sampled axes, T is the derived phenocryst-window endpoint temperature)</a:t>
            </a:r>
          </a:p>
        </p:txBody>
      </p:sp>
      <p:sp>
        <p:nvSpPr>
          <p:cNvPr id="37" name="Freeform 36"/>
          <p:cNvSpPr/>
          <p:nvPr/>
        </p:nvSpPr>
        <p:spPr>
          <a:xfrm>
            <a:off x="5806440" y="4434840"/>
            <a:ext cx="1737360" cy="960119"/>
          </a:xfrm>
          <a:custGeom>
            <a:avLst/>
            <a:gdLst/>
            <a:ahLst/>
            <a:cxnLst/>
            <a:rect l="l" t="t" r="r" b="b"/>
            <a:pathLst>
              <a:path w="1737360" h="960119">
                <a:moveTo>
                  <a:pt x="0" y="960119"/>
                </a:moveTo>
                <a:lnTo>
                  <a:pt x="0" y="952846"/>
                </a:lnTo>
                <a:lnTo>
                  <a:pt x="36195" y="949286"/>
                </a:lnTo>
                <a:lnTo>
                  <a:pt x="72390" y="944254"/>
                </a:lnTo>
                <a:lnTo>
                  <a:pt x="108585" y="937276"/>
                </a:lnTo>
                <a:lnTo>
                  <a:pt x="144780" y="927782"/>
                </a:lnTo>
                <a:lnTo>
                  <a:pt x="180975" y="915112"/>
                </a:lnTo>
                <a:lnTo>
                  <a:pt x="217169" y="898531"/>
                </a:lnTo>
                <a:lnTo>
                  <a:pt x="253365" y="877258"/>
                </a:lnTo>
                <a:lnTo>
                  <a:pt x="289559" y="850511"/>
                </a:lnTo>
                <a:lnTo>
                  <a:pt x="325755" y="817567"/>
                </a:lnTo>
                <a:lnTo>
                  <a:pt x="361949" y="777839"/>
                </a:lnTo>
                <a:lnTo>
                  <a:pt x="398145" y="730958"/>
                </a:lnTo>
                <a:lnTo>
                  <a:pt x="434339" y="676862"/>
                </a:lnTo>
                <a:lnTo>
                  <a:pt x="470535" y="615883"/>
                </a:lnTo>
                <a:lnTo>
                  <a:pt x="506730" y="548809"/>
                </a:lnTo>
                <a:lnTo>
                  <a:pt x="542925" y="476928"/>
                </a:lnTo>
                <a:lnTo>
                  <a:pt x="579119" y="402028"/>
                </a:lnTo>
                <a:lnTo>
                  <a:pt x="615315" y="326353"/>
                </a:lnTo>
                <a:lnTo>
                  <a:pt x="651510" y="252517"/>
                </a:lnTo>
                <a:lnTo>
                  <a:pt x="687705" y="183360"/>
                </a:lnTo>
                <a:lnTo>
                  <a:pt x="723900" y="121779"/>
                </a:lnTo>
                <a:lnTo>
                  <a:pt x="760094" y="70526"/>
                </a:lnTo>
                <a:lnTo>
                  <a:pt x="796290" y="32010"/>
                </a:lnTo>
                <a:lnTo>
                  <a:pt x="832484" y="8104"/>
                </a:lnTo>
                <a:lnTo>
                  <a:pt x="868680" y="0"/>
                </a:lnTo>
                <a:lnTo>
                  <a:pt x="904874" y="8104"/>
                </a:lnTo>
                <a:lnTo>
                  <a:pt x="941070" y="32010"/>
                </a:lnTo>
                <a:lnTo>
                  <a:pt x="977264" y="70526"/>
                </a:lnTo>
                <a:lnTo>
                  <a:pt x="1013460" y="121779"/>
                </a:lnTo>
                <a:lnTo>
                  <a:pt x="1049654" y="183360"/>
                </a:lnTo>
                <a:lnTo>
                  <a:pt x="1085850" y="252517"/>
                </a:lnTo>
                <a:lnTo>
                  <a:pt x="1122044" y="326353"/>
                </a:lnTo>
                <a:lnTo>
                  <a:pt x="1158240" y="402028"/>
                </a:lnTo>
                <a:lnTo>
                  <a:pt x="1194435" y="476928"/>
                </a:lnTo>
                <a:lnTo>
                  <a:pt x="1230630" y="548809"/>
                </a:lnTo>
                <a:lnTo>
                  <a:pt x="1266824" y="615883"/>
                </a:lnTo>
                <a:lnTo>
                  <a:pt x="1303019" y="676862"/>
                </a:lnTo>
                <a:lnTo>
                  <a:pt x="1339215" y="730958"/>
                </a:lnTo>
                <a:lnTo>
                  <a:pt x="1375409" y="777839"/>
                </a:lnTo>
                <a:lnTo>
                  <a:pt x="1411605" y="817567"/>
                </a:lnTo>
                <a:lnTo>
                  <a:pt x="1447799" y="850511"/>
                </a:lnTo>
                <a:lnTo>
                  <a:pt x="1483995" y="877258"/>
                </a:lnTo>
                <a:lnTo>
                  <a:pt x="1520189" y="898531"/>
                </a:lnTo>
                <a:lnTo>
                  <a:pt x="1556384" y="915112"/>
                </a:lnTo>
                <a:lnTo>
                  <a:pt x="1592580" y="927782"/>
                </a:lnTo>
                <a:lnTo>
                  <a:pt x="1628775" y="937276"/>
                </a:lnTo>
                <a:lnTo>
                  <a:pt x="1664969" y="944254"/>
                </a:lnTo>
                <a:lnTo>
                  <a:pt x="1701165" y="949286"/>
                </a:lnTo>
                <a:lnTo>
                  <a:pt x="1737360" y="952846"/>
                </a:lnTo>
                <a:lnTo>
                  <a:pt x="1737360" y="960119"/>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580644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23559" y="5440679"/>
            <a:ext cx="2103120" cy="365760"/>
          </a:xfrm>
          <a:prstGeom prst="rect">
            <a:avLst/>
          </a:prstGeom>
          <a:noFill/>
        </p:spPr>
        <p:txBody>
          <a:bodyPr wrap="square">
            <a:spAutoFit/>
          </a:bodyPr>
          <a:lstStyle/>
          <a:p>
            <a:pPr algn="ctr"/>
            <a:r>
              <a:rPr sz="1200" b="1">
                <a:solidFill>
                  <a:srgbClr val="1A2238"/>
                </a:solidFill>
              </a:rPr>
              <a:t>T  1010 +/- 40 C</a:t>
            </a:r>
          </a:p>
        </p:txBody>
      </p:sp>
      <p:sp>
        <p:nvSpPr>
          <p:cNvPr id="40" name="Freeform 39"/>
          <p:cNvSpPr/>
          <p:nvPr/>
        </p:nvSpPr>
        <p:spPr>
          <a:xfrm>
            <a:off x="7772400" y="4434840"/>
            <a:ext cx="1737360" cy="960119"/>
          </a:xfrm>
          <a:custGeom>
            <a:avLst/>
            <a:gdLst/>
            <a:ahLst/>
            <a:cxnLst/>
            <a:rect l="l" t="t" r="r" b="b"/>
            <a:pathLst>
              <a:path w="1737360" h="960119">
                <a:moveTo>
                  <a:pt x="0" y="960119"/>
                </a:moveTo>
                <a:lnTo>
                  <a:pt x="0" y="939852"/>
                </a:lnTo>
                <a:lnTo>
                  <a:pt x="36195" y="932353"/>
                </a:lnTo>
                <a:lnTo>
                  <a:pt x="72390" y="922586"/>
                </a:lnTo>
                <a:lnTo>
                  <a:pt x="108585" y="910058"/>
                </a:lnTo>
                <a:lnTo>
                  <a:pt x="144780" y="894237"/>
                </a:lnTo>
                <a:lnTo>
                  <a:pt x="180974" y="874570"/>
                </a:lnTo>
                <a:lnTo>
                  <a:pt x="217170" y="850511"/>
                </a:lnTo>
                <a:lnTo>
                  <a:pt x="253365" y="821553"/>
                </a:lnTo>
                <a:lnTo>
                  <a:pt x="289560" y="787277"/>
                </a:lnTo>
                <a:lnTo>
                  <a:pt x="325754" y="747391"/>
                </a:lnTo>
                <a:lnTo>
                  <a:pt x="361950" y="701784"/>
                </a:lnTo>
                <a:lnTo>
                  <a:pt x="398145" y="650575"/>
                </a:lnTo>
                <a:lnTo>
                  <a:pt x="434340" y="594149"/>
                </a:lnTo>
                <a:lnTo>
                  <a:pt x="470534" y="533196"/>
                </a:lnTo>
                <a:lnTo>
                  <a:pt x="506730" y="468718"/>
                </a:lnTo>
                <a:lnTo>
                  <a:pt x="542925" y="402028"/>
                </a:lnTo>
                <a:lnTo>
                  <a:pt x="579120" y="334721"/>
                </a:lnTo>
                <a:lnTo>
                  <a:pt x="615315" y="268623"/>
                </a:lnTo>
                <a:lnTo>
                  <a:pt x="651510" y="205713"/>
                </a:lnTo>
                <a:lnTo>
                  <a:pt x="687705" y="148031"/>
                </a:lnTo>
                <a:lnTo>
                  <a:pt x="723900" y="97571"/>
                </a:lnTo>
                <a:lnTo>
                  <a:pt x="760095" y="56167"/>
                </a:lnTo>
                <a:lnTo>
                  <a:pt x="796290" y="25381"/>
                </a:lnTo>
                <a:lnTo>
                  <a:pt x="832485" y="6409"/>
                </a:lnTo>
                <a:lnTo>
                  <a:pt x="868680" y="0"/>
                </a:lnTo>
                <a:lnTo>
                  <a:pt x="904875" y="6409"/>
                </a:lnTo>
                <a:lnTo>
                  <a:pt x="941070" y="25381"/>
                </a:lnTo>
                <a:lnTo>
                  <a:pt x="977265" y="56167"/>
                </a:lnTo>
                <a:lnTo>
                  <a:pt x="1013460" y="97571"/>
                </a:lnTo>
                <a:lnTo>
                  <a:pt x="1049655" y="148031"/>
                </a:lnTo>
                <a:lnTo>
                  <a:pt x="1085850" y="205713"/>
                </a:lnTo>
                <a:lnTo>
                  <a:pt x="1122045" y="268623"/>
                </a:lnTo>
                <a:lnTo>
                  <a:pt x="1158240" y="334721"/>
                </a:lnTo>
                <a:lnTo>
                  <a:pt x="1194435" y="402028"/>
                </a:lnTo>
                <a:lnTo>
                  <a:pt x="1230630" y="468718"/>
                </a:lnTo>
                <a:lnTo>
                  <a:pt x="1266825" y="533196"/>
                </a:lnTo>
                <a:lnTo>
                  <a:pt x="1303020" y="594149"/>
                </a:lnTo>
                <a:lnTo>
                  <a:pt x="1339215" y="650575"/>
                </a:lnTo>
                <a:lnTo>
                  <a:pt x="1375410" y="701784"/>
                </a:lnTo>
                <a:lnTo>
                  <a:pt x="1411605" y="747391"/>
                </a:lnTo>
                <a:lnTo>
                  <a:pt x="1447800" y="787277"/>
                </a:lnTo>
                <a:lnTo>
                  <a:pt x="1483995" y="821553"/>
                </a:lnTo>
                <a:lnTo>
                  <a:pt x="1520190" y="850511"/>
                </a:lnTo>
                <a:lnTo>
                  <a:pt x="1556385" y="874570"/>
                </a:lnTo>
                <a:lnTo>
                  <a:pt x="1592580" y="894237"/>
                </a:lnTo>
                <a:lnTo>
                  <a:pt x="1628775" y="910058"/>
                </a:lnTo>
                <a:lnTo>
                  <a:pt x="1664970" y="922586"/>
                </a:lnTo>
                <a:lnTo>
                  <a:pt x="1701165" y="932353"/>
                </a:lnTo>
                <a:lnTo>
                  <a:pt x="1737360" y="939852"/>
                </a:lnTo>
                <a:lnTo>
                  <a:pt x="1737360" y="96011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777240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589520" y="5440679"/>
            <a:ext cx="2103120" cy="365760"/>
          </a:xfrm>
          <a:prstGeom prst="rect">
            <a:avLst/>
          </a:prstGeom>
          <a:noFill/>
        </p:spPr>
        <p:txBody>
          <a:bodyPr wrap="square">
            <a:spAutoFit/>
          </a:bodyPr>
          <a:lstStyle/>
          <a:p>
            <a:pPr algn="ctr"/>
            <a:r>
              <a:rPr sz="1200" b="1">
                <a:solidFill>
                  <a:srgbClr val="1A2238"/>
                </a:solidFill>
              </a:rPr>
              <a:t>P  4.8 +/- 1.9 kbar</a:t>
            </a:r>
          </a:p>
        </p:txBody>
      </p:sp>
      <p:sp>
        <p:nvSpPr>
          <p:cNvPr id="43" name="Freeform 42"/>
          <p:cNvSpPr/>
          <p:nvPr/>
        </p:nvSpPr>
        <p:spPr>
          <a:xfrm>
            <a:off x="9738360" y="4434840"/>
            <a:ext cx="1783080" cy="960119"/>
          </a:xfrm>
          <a:custGeom>
            <a:avLst/>
            <a:gdLst/>
            <a:ahLst/>
            <a:cxnLst/>
            <a:rect l="l" t="t" r="r" b="b"/>
            <a:pathLst>
              <a:path w="1783080" h="960119">
                <a:moveTo>
                  <a:pt x="0" y="960119"/>
                </a:moveTo>
                <a:lnTo>
                  <a:pt x="0" y="954380"/>
                </a:lnTo>
                <a:lnTo>
                  <a:pt x="37147" y="949181"/>
                </a:lnTo>
                <a:lnTo>
                  <a:pt x="74295" y="940156"/>
                </a:lnTo>
                <a:lnTo>
                  <a:pt x="111442" y="925235"/>
                </a:lnTo>
                <a:lnTo>
                  <a:pt x="148590" y="901749"/>
                </a:lnTo>
                <a:lnTo>
                  <a:pt x="185737" y="866600"/>
                </a:lnTo>
                <a:lnTo>
                  <a:pt x="222885" y="816648"/>
                </a:lnTo>
                <a:lnTo>
                  <a:pt x="260032" y="749364"/>
                </a:lnTo>
                <a:lnTo>
                  <a:pt x="297180" y="663673"/>
                </a:lnTo>
                <a:lnTo>
                  <a:pt x="334327" y="560845"/>
                </a:lnTo>
                <a:lnTo>
                  <a:pt x="371475" y="445176"/>
                </a:lnTo>
                <a:lnTo>
                  <a:pt x="408622" y="324178"/>
                </a:lnTo>
                <a:lnTo>
                  <a:pt x="445770" y="208043"/>
                </a:lnTo>
                <a:lnTo>
                  <a:pt x="482917" y="108354"/>
                </a:lnTo>
                <a:lnTo>
                  <a:pt x="520065" y="36181"/>
                </a:lnTo>
                <a:lnTo>
                  <a:pt x="557212" y="0"/>
                </a:lnTo>
                <a:lnTo>
                  <a:pt x="594360" y="3933"/>
                </a:lnTo>
                <a:lnTo>
                  <a:pt x="631507" y="46793"/>
                </a:lnTo>
                <a:lnTo>
                  <a:pt x="668655" y="122197"/>
                </a:lnTo>
                <a:lnTo>
                  <a:pt x="705802" y="219711"/>
                </a:lnTo>
                <a:lnTo>
                  <a:pt x="742950" y="326710"/>
                </a:lnTo>
                <a:lnTo>
                  <a:pt x="780097" y="430457"/>
                </a:lnTo>
                <a:lnTo>
                  <a:pt x="817245" y="519915"/>
                </a:lnTo>
                <a:lnTo>
                  <a:pt x="854392" y="586970"/>
                </a:lnTo>
                <a:lnTo>
                  <a:pt x="891540" y="626939"/>
                </a:lnTo>
                <a:lnTo>
                  <a:pt x="928687" y="638485"/>
                </a:lnTo>
                <a:lnTo>
                  <a:pt x="965835" y="623138"/>
                </a:lnTo>
                <a:lnTo>
                  <a:pt x="1002982" y="584667"/>
                </a:lnTo>
                <a:lnTo>
                  <a:pt x="1040130" y="528460"/>
                </a:lnTo>
                <a:lnTo>
                  <a:pt x="1077277" y="460988"/>
                </a:lnTo>
                <a:lnTo>
                  <a:pt x="1114425" y="389315"/>
                </a:lnTo>
                <a:lnTo>
                  <a:pt x="1151572" y="320622"/>
                </a:lnTo>
                <a:lnTo>
                  <a:pt x="1188720" y="261689"/>
                </a:lnTo>
                <a:lnTo>
                  <a:pt x="1225867" y="218338"/>
                </a:lnTo>
                <a:lnTo>
                  <a:pt x="1263015" y="194904"/>
                </a:lnTo>
                <a:lnTo>
                  <a:pt x="1300162" y="193807"/>
                </a:lnTo>
                <a:lnTo>
                  <a:pt x="1337310" y="215337"/>
                </a:lnTo>
                <a:lnTo>
                  <a:pt x="1374457" y="257689"/>
                </a:lnTo>
                <a:lnTo>
                  <a:pt x="1411605" y="317276"/>
                </a:lnTo>
                <a:lnTo>
                  <a:pt x="1448752" y="389265"/>
                </a:lnTo>
                <a:lnTo>
                  <a:pt x="1485900" y="468240"/>
                </a:lnTo>
                <a:lnTo>
                  <a:pt x="1523047" y="548872"/>
                </a:lnTo>
                <a:lnTo>
                  <a:pt x="1560195" y="626495"/>
                </a:lnTo>
                <a:lnTo>
                  <a:pt x="1597342" y="697502"/>
                </a:lnTo>
                <a:lnTo>
                  <a:pt x="1634490" y="759534"/>
                </a:lnTo>
                <a:lnTo>
                  <a:pt x="1671637" y="811463"/>
                </a:lnTo>
                <a:lnTo>
                  <a:pt x="1708785" y="853219"/>
                </a:lnTo>
                <a:lnTo>
                  <a:pt x="1745932" y="885529"/>
                </a:lnTo>
                <a:lnTo>
                  <a:pt x="1783080" y="909618"/>
                </a:lnTo>
                <a:lnTo>
                  <a:pt x="1783080" y="960119"/>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a:off x="9738360" y="5394959"/>
            <a:ext cx="1783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9555480" y="5440679"/>
            <a:ext cx="2148840" cy="365760"/>
          </a:xfrm>
          <a:prstGeom prst="rect">
            <a:avLst/>
          </a:prstGeom>
          <a:noFill/>
        </p:spPr>
        <p:txBody>
          <a:bodyPr wrap="square">
            <a:spAutoFit/>
          </a:bodyPr>
          <a:lstStyle/>
          <a:p>
            <a:pPr algn="ctr"/>
            <a:r>
              <a:rPr sz="1200" b="1">
                <a:solidFill>
                  <a:srgbClr val="1A2238"/>
                </a:solidFill>
              </a:rPr>
              <a:t>H2O  multimodal</a:t>
            </a:r>
          </a:p>
        </p:txBody>
      </p:sp>
      <p:sp>
        <p:nvSpPr>
          <p:cNvPr id="46" name="TextBox 45"/>
          <p:cNvSpPr txBox="1"/>
          <p:nvPr/>
        </p:nvSpPr>
        <p:spPr>
          <a:xfrm>
            <a:off x="502920" y="6172200"/>
            <a:ext cx="11247120" cy="731520"/>
          </a:xfrm>
          <a:prstGeom prst="rect">
            <a:avLst/>
          </a:prstGeom>
          <a:noFill/>
        </p:spPr>
        <p:txBody>
          <a:bodyPr wrap="square">
            <a:spAutoFit/>
          </a:bodyPr>
          <a:lstStyle/>
          <a:p>
            <a:pPr algn="l"/>
            <a:r>
              <a:rPr sz="1200" b="0">
                <a:solidFill>
                  <a:srgbClr val="8A93A3"/>
                </a:solidFill>
              </a:rPr>
              <a:t>values illustrative -- every phase carries both numbers; faded bars = presence genuinely uncertain (here the amphibole/orthopyroxene either-or: wet-deep grows amp, dry-shallow grows opx). This marginal view is a projection; the primary output is the ranked-scenario view on the next slide.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coherent answer: ranked scenarios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marginal table can't show WHICH minerals trade off; scenarios can -- sample the posterior, cluster by assemblage, rank by weight</a:t>
            </a:r>
          </a:p>
        </p:txBody>
      </p:sp>
      <p:sp>
        <p:nvSpPr>
          <p:cNvPr id="5" name="Rounded Rectangle 4"/>
          <p:cNvSpPr/>
          <p:nvPr/>
        </p:nvSpPr>
        <p:spPr>
          <a:xfrm>
            <a:off x="640080" y="1783080"/>
            <a:ext cx="5394960" cy="32918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A -- deep &amp; wet . weight ~45%</a:t>
            </a:r>
          </a:p>
          <a:p>
            <a:pPr algn="ctr"/>
            <a:r>
              <a:rPr sz="1100" b="0">
                <a:solidFill>
                  <a:srgbClr val="8A93A3"/>
                </a:solidFill>
              </a:rPr>
              <a:t>P 6-9 kbar   H2O 4-6 wt%   T ~950-990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44 +/- 4    clinopyroxene 26 +/- 3</a:t>
            </a:r>
          </a:p>
          <a:p>
            <a:pPr algn="ctr"/>
            <a:r>
              <a:rPr sz="1100" b="0">
                <a:solidFill>
                  <a:srgbClr val="8A93A3"/>
                </a:solidFill>
              </a:rPr>
              <a:t>amphibole 18 +/- 4      Fe-Ti oxides 12 +/- 2</a:t>
            </a:r>
          </a:p>
        </p:txBody>
      </p:sp>
      <p:sp>
        <p:nvSpPr>
          <p:cNvPr id="6" name="Rounded Rectangle 5"/>
          <p:cNvSpPr/>
          <p:nvPr/>
        </p:nvSpPr>
        <p:spPr>
          <a:xfrm>
            <a:off x="6309360" y="1783080"/>
            <a:ext cx="5394960" cy="32918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B -- shallow &amp; dry . weight ~35%</a:t>
            </a:r>
          </a:p>
          <a:p>
            <a:pPr algn="ctr"/>
            <a:r>
              <a:rPr sz="1100" b="0">
                <a:solidFill>
                  <a:srgbClr val="8A93A3"/>
                </a:solidFill>
              </a:rPr>
              <a:t>P 1-3 kbar   H2O 1-2.5 wt%   T ~1000-1040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48 +/- 4    clinopyroxene 24 +/- 3</a:t>
            </a:r>
          </a:p>
          <a:p>
            <a:pPr algn="ctr"/>
            <a:r>
              <a:rPr sz="1100" b="0">
                <a:solidFill>
                  <a:srgbClr val="8A93A3"/>
                </a:solidFill>
              </a:rPr>
              <a:t>orthopyroxene 16 +/- 3  Fe-Ti oxides 12 +/- 2</a:t>
            </a:r>
          </a:p>
        </p:txBody>
      </p:sp>
      <p:sp>
        <p:nvSpPr>
          <p:cNvPr id="7" name="TextBox 6"/>
          <p:cNvSpPr txBox="1"/>
          <p:nvPr/>
        </p:nvSpPr>
        <p:spPr>
          <a:xfrm>
            <a:off x="640080" y="5212080"/>
            <a:ext cx="11064240" cy="731520"/>
          </a:xfrm>
          <a:prstGeom prst="rect">
            <a:avLst/>
          </a:prstGeom>
          <a:noFill/>
        </p:spPr>
        <p:txBody>
          <a:bodyPr wrap="square">
            <a:spAutoFit/>
          </a:bodyPr>
          <a:lstStyle/>
          <a:p>
            <a:pPr algn="l"/>
            <a:r>
              <a:rPr sz="1200" b="0">
                <a:solidFill>
                  <a:srgbClr val="1A2238"/>
                </a:solidFill>
              </a:rPr>
              <a:t>+ intermediate scenario (amp + opx coexist, ~12%) + tail (~8%) -- nothing silently dropped; weights are prior-weighted plausibility, reweightable</a:t>
            </a:r>
          </a:p>
        </p:txBody>
      </p:sp>
      <p:sp>
        <p:nvSpPr>
          <p:cNvPr id="8" name="TextBox 7"/>
          <p:cNvSpPr txBox="1"/>
          <p:nvPr/>
        </p:nvSpPr>
        <p:spPr>
          <a:xfrm>
            <a:off x="640080" y="5806440"/>
            <a:ext cx="11064240" cy="731520"/>
          </a:xfrm>
          <a:prstGeom prst="rect">
            <a:avLst/>
          </a:prstGeom>
          <a:noFill/>
        </p:spPr>
        <p:txBody>
          <a:bodyPr wrap="square">
            <a:spAutoFit/>
          </a:bodyPr>
          <a:lstStyle/>
          <a:p>
            <a:pPr algn="l"/>
            <a:r>
              <a:rPr sz="1200" b="0">
                <a:solidFill>
                  <a:srgbClr val="8A93A3"/>
                </a:solidFill>
              </a:rPr>
              <a:t>per-phase composition (An#, Mg#) is bulk-controlled -- one shared band across scenarios, not re-predicted per scenario. Each scenario is a falsifiable hypothesis: amphibole in thin section selects A, and with it A's conditions.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