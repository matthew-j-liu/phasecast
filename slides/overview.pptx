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Living deck: how the current canonical model and its training/inference pipeline work. Regenerated on every major architecture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corpora. Pretrain (Gard) is inputs-only and trains the encoder; the equilibrium corpus (MAGEMin cooling, phenocryst-regime endpoint -- generation pipeline on the next slide) carries the labels that train the heads; the real volcanic benchmark and mineralML grains are held out for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Track B label factory, left to right: stratified volcanic bulk tables; solubility-bounded Latin-Hypercube (P, H2O) draws with the proposal density stored per row; chunked MAGEMin equilibrium cooling stopped below 30% residual melt (fresh Julia worker per chunk, atomic parquet + manifest, rerun-to-resume); three tables with full labels at the four candidate rungs; crystals-renormalized training labels rebuilt at train time (presence cutoff is a rebuild, not a regen).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one-to-many mapping that everything downstream leans on: one gard bulk -&gt; 48 solubility-bounded (P, H2O) draws -&gt; each read out at two melt-fraction rungs (50/30) -&gt; 96 label rows sharing one input vector. Assemblage numbers illustrative; amp-vs-opx flips with wetness/depth (the flagship multimodality). This is the visual justification for fractional presence targets (within-bulk frequency), the bulk-level split rule, and the per-bulk latent cache in training. Same-bulk-at-both-rungs is intentional (rungs LOCKED 50+30).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strip for the corpus regen, now fully landed -- the slide is a record, not a plan. Candidate to retire or fold into the corpora slide at the next deck pass (owner call).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map before the detailed walk-through: tokens -&gt; embed -&gt; encoder -&gt; h -&gt; {heads, encoder apps}. Following slides zoom into each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 = up to 22 (element id, amount) pairs. Padding is src==0. The conditions (T,P,H2O) are CondHead targets, never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Opens the embed step: element id -&gt; mat2vec vector, amount -&gt; projection, summed into the per-token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Self-attention (4x4 heatmap, diagonal strongest) then masked-mean pool over non-padding tokens into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Masked-element modelling. Encoder is TRAINED here (frozen is the downstream state). Loss is per-element standardized log-space MSE so traces get supervised (fracs span ~8 decades; linear MSE leaves traces unsupervised). mu/sigma are per-element log10-frac stats from the train split (pretrain_objective.compute_loss_stats), stored as head buffers. Over ~167k rocks.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three-stage training pipeline. Stage 1 is the SSL loop from the prior slide; stage 2 freezes; stage 3 trains the heads on the labeled equilibrium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Structural view: which heads exist and that they all read the same frozen h. Head internals on the next slide; outputs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Anatomy of the trained ModeHead (checkpoints/joint_heads_supportmag_seed0): two parallel trunks of 3 stacked Linear(-&gt;256)+GELU+dropout blocks. The presence trunk reads h alone (it predicts the support, so it must not see it) -&gt; logits (sigmoid -&gt; per-phase Bernoulli, BCE). The magnitude trunk reads h concatenated with the 21-dim support vector -&gt; concentrations (softplus + eps -&gt; conditional Dirichlet, masked NLL on the same support) -- the chain rule CondHead already uses: teacher-forced true mask at train, sampled from the presence Bernoullis at inference. Support-conditioning (adopted 2026-07-22, #25) exists because the conditional truth is bimodal by support for path-sensitive phases (deep-wet-much-amp vs shallow-dry-little); a support-blind Dirichlet could only average the humps -- amp magnitude parity r went 0.715 -&gt; 0.876. Param counts are pulled from the checkpoint (mode_hidden 256, mode_layers 3 per trunk, the joint-HPO winner kept for isolation). Loss boxes mirror the SSL slide: BCE is a proper scoring rule (per-rock minimum = within-bulk presence frequency, which is why intermediate p is signal); the Dirichlet NLL is masked to the label's present set (sub-composition property keeps it a proper density); λ_mag is the loss-weighting coefficient (config key magnitude_weight, 0.25 tuned) -- λ chosen over w to avoid clashing with layer weights and to match the λ_balance / λ_comp family. 'Trained jointly' is one scalar L, one backward pass, one AdamW step; with the trunks split, the two ModeHead terms touch disjoint params -- λ_mag no longer arbitrates a shared trunk; its remaining role is balancing the Dirichlet term against the mass-balance closure (which also reads the magnitude alphas), with a second-order coupling via the per-head gradient clip pooling both trunks' norms. NOT alternating epochs, NOT separate optimizers, NOT staged pretraining of one branch. The hurdle split exists because one full-simplex Dirichlet cannot be simultaneously confident about absences and honest about present-phase spread (shared concentration). CompHead/CondHead follow the same small-MLP-emitting-distribution-parameters pattern; their two-slide reports follow ModeHead's.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 for the reliability diagram in runs/mode_head/&lt;tag&gt;/reliability.png. Numbers illustrative but to scale: three rocks predicted in [0.70, 0.80) -- a real bin edge of the 10 equal-width bins the code uses -- contribute 3 predictions x 256 labels = 768 (p, truth) pairs -- 3 predictions, not 768; each rock's single p is scored against its 256 labels. x = count-weighted mean p (0.740), y = pooled fraction of pairs with cpx present (547/768 = 0.712). ECE on the real panels is the count-weighted |x - y| over 10 such bins. The gray ghost dot shows the overconfident failure mode. Real population: the sealed valtest tier's val roster (221 assigned rocks, 218 contributing 55,576 rows at 128 draws x rungs 50/30, minus attrition). Fixed roster: panel numbers move only when the head retrains. Pair with figure 2 (p vs within-bulk frequency): reliability is aggregate honesty, the scatter is per-rock sharpness; a base-rate predictor passes the first and fails the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Eval-semantics slide for the magnitude branch, mirroring the presence branch's reliability worked example. Laid out as two tracks converging at a scoring node: the prediction track never sees the truth's modes; the truth contributes its support twice (conditioning input to the magnitude trunk + the score's slice, both teacher-forced) and its modes meet the prediction only at scoring. Numbers illustrative but to scale: alpha sliced to the true 4-phase support gives Dirichlet means alpha_i/alpha0 and Beta marginals Beta(alpha_i, alpha0 - alpha_i); plag Beta(12,13) has mean 0.48, sd ~0.10, and truth 0.44 lands at CDF 0.34. alpha0 is the single shared confidence knob per row -- the reason per-phase spreads can't be tuned independently (see alpha_concentration.png). PIT histograms are the magnitude analog of reliability diagrams; parity plots are the point-estimate view. Scored by masked Dirichlet NLL (anatomy slide's L_magnitude). Worked numbers for the expansion box: this row scores -4.34 nats (normalizer -28.37 + shape +24.03); scaling alpha x4 improves to -5.26 when truth is near the peak but explodes to +17.9 when truth swaps to the other hump (plag/amp values exchanged) -- the mechanism that pinned the support-blind head's amphibole alpha0 low and its mean in the middle. Support-conditioning resolves the between-support humps; the within-support ones still punish confidence the same way (the mixture candidate's target).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Anatomy of CompHead (trains in the joint trainer, checkpoints/joint_heads_seed0). Interface: h [256] in, alpha [21, 11] out; one training example is one (bulk, draw, rung) row; targets are per-phase oxide mass fractions from the rungs table (same-token instances merged by mass-weighted mean, feldspar split into plag/afs BEFORE averaging so the solvus pair never mixes), eps-clipped at comp_eps and renormalized. Param counts are exact (instantiated at d_model 256, hidden 128). The shared-concentration factorization is the locked heads.md parameterization: one c_p per phase blurs per-oxide error bars toward each other -- accepted because composition spreads are 10-30x tighter than modal spreads (the reason CompHead is bulk-controlled and unconditioned). L_comp's minimum: the Dirichlet matching the per-bulk composition distribution of each phase. L_closure is the one loss term coupling two heads (mode x comp product); squared-L2 is a constraint penalty, not a head likelihood, so the no-MSE rule for heads doesn't apply. Known limits: hard-zero oxides are clipped (a q row is 'SiO2 + 10 eps-floors'); ~0.3% of corpus rows don't self-close (melt immiscibility, dropped-phase mass, worst 5.2 wt%) and set an unattainable closure floor there; endmember bonus heads deferred (heads.md).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Eval-semantics slide for CompHead, mirroring the ModeHead magnitude worked example: two tracks converge at a scoring node; the truth contributes its support to the slice and meets the prediction only at scoring. Box numbers illustrative but to scale (a plag Dirichlet with alpha0 ~780 has SiO2 sd ~0.018); headline numbers are real, from runs/comp_head/joint_heads_seed0/metrics.json vs the preserved joint_heads_seed0_baseline run: NLL -50.25 -&gt; -53.85, closure L2 mean 0.0181 -&gt; 0.0134 with the stable +SiO2/-Al2O3 signed bias collapsed to zero-centered residuals (the closure-penalty-form question, #38, closed on this evidence), An# parity mae 0.064 -&gt; 0.060 / r 0.920 -&gt; 0.927. The alpha0-span story is the headline fix: comp_concentration.png baseline vs tuned shows the 100-650 compression opening to 25-32,000, ordered by how constrained each mineral's chemistry really is. PIT here is per-oxide Beta marginals of the 11-simplex Dirichlet (same sub-composition property as the mode slice).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Anatomy of CondHead (trains in the joint trainer, checkpoints/joint_heads_seed0). Interface: concat(h [256], presence [21]) in; (log_w, mu, sigma) each [3 axes, K] out; one training example is one (bulk, draw, rung) row with targets (T_end from the rung row; P_kbar, H2O from the draw). Param counts pulled from the checkpoint (cond_hidden 512, cond_layers 2, K=3): cond was the one head that wanted capacity -- starved at 128x1 under the shared tuned lr, fixed by the mini-sweep adoption. Support-conditioning is the locked chain-rule decision: independent heads assume a conditional independence the corpus violates by design -- the within-bulk label variance is driven by the shared hidden (P, H2O) path, and marginals forget which condition mode went with which support. Raw linear units are deliberate (no log transforms; negative mass is a diagnostic, not a bug -- mass_below_zero in the cond eval). init_output_bias seeds component means at target mean +/- 1 std and sigmas at the target std; without it Adam needs ~mu/lr steps to walk mu from 0 to ~900 C. lambda_cond nuance: L_cond's gradient reaches only CondHead's own weights (frozen encoder, separate trunks, teacher-forced input), and per-head clipping + Adam's per-parameter scaling make the constant nearly inert for optimization; per-head best selection (each head keeps its own raw-val best epoch) removed its old early-stopping lever too, leaving it a raw-unit scale absorber (mineralogy-first). Known limits: axes are independent mixtures (no (T, P) correlation, deferred per ADR 006); exposure bias measured, not yet mitigated (#31); T is a derived cooling endpoint, not a sampled axis, in the scenario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Eval-semantics slide for CondHead. The two-pass protocol is the point: teacher-forced scoring isolates the head's conditional skill p(T,P,H2O | h, true support); sampled-support scoring measures the deployed chain with ModeHead's Bernoulli draws standing in for the truth (exposure_seed pins reproducibility). Mixture drawing illustrative but to scale for a bimodal amp/opx bulk (deep-wet vs shallow-dry is the flagship condition multimodality). Real numbers from runs/cond_head/joint_heads_seed0/metrics.json vs the preserved baseline: teacher-forced NLL 8.60 -&gt; 8.32 and coverage_68 0.65-0.69 -&gt; 0.67-0.72 (tuning + the 512x2 trunk), while the exposure delta WIDENED (T 2.91 -&gt; 3.94, H2O 1.53 -&gt; 2.40, P finite -&gt; inf on some rows) -- the sharper head is more wrong under mismatched supports. Coverage is central-interval mass via the mixture CDF (PIT), same construction as the mode/comp calibration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 FORM, not measured results (heads train in issue #10). ModeHead = hurdle Dirichlet over the crystals-renormalized solid assemblage (liq/fl dropped, solids sum to 1 -- matches real itemized-phenocrysts + lumped-groundmass granularity). EVERY phase gets a presence Bernoulli AND a conditional amount +/- CI; near-certain phases just have p~1. Amp 0.41 / opx 0.63 anti-correlated is the flagship multimodality (deep-wet-amp vs shallow-dry-opx), so their marginal amounts are conditional on presence, not rock-wide means. CondHead = per-axis GMM; P and H2O were sampled at generation, T is derived (cooling endpoint at the phenocryst window), hence the lower illustrative T. Second read-out view: top-K scenarios; weights labeled prior-weighted plausibility, reweightable p/q. Mass-balance closure teacher-forces the label melt fraction at training. Numbers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 2 from heads.md, modernized to the locked corpus design: crystals-renormalized (no residual-melt row -- melt-fraction head dropped), composition shared across scenarios (CompHead reads h only), no inference-time mass-balance checkmark (closure is teacher-forced at training; the inference residual as OOD signal is an open rethink). Marginal view = projection of these scenarios; scenarios are the primary object. The joint-sampling mechanism exists (two-step ancestral sampling: presence Bernoullis -&gt; support, then the support-conditioned magnitude Dirichlet and CondHead both condition on it -- scripts/view/scenario_view.py); per-scenario mode shares and conditions are genuinely re-predicted per support. Numbers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737360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060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CrabNet-Mineral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474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883A"/>
                </a:solidFill>
              </a:rPr>
              <a:t>model &amp; pipeline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Three corpora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66160" cy="237744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SSL pretrain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data/bulks/gard2019.csv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~167k igneous bulks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inputs only (no labels)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566160" cy="237744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supervised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equilibrium corpus (MAGEMin)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volcanic bulks x 48 (P, H2O) draws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phenocryst-regime labels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566160" cy="237744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held-out eval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730 real volcanic modes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+ mineralML grains (~88k)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never trained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2B5A5"/>
                </a:solidFill>
              </a:rPr>
              <a:t>trains the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44805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9D8F"/>
                </a:solidFill>
              </a:rPr>
              <a:t>trains the heads (next two slides)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4805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C5CE7"/>
                </a:solidFill>
              </a:rPr>
              <a:t>evaluation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238"/>
                </a:solidFill>
              </a:rPr>
              <a:t>inputs everywhere are the same 22-token cation+trace vector; the corpora differ in what supervision (if any) they attach.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How the supervised labels are generated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148840" cy="173736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volcanic core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gard2019 -&gt; 324k bulks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stratified: 10k train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+ 500 val/test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9544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build_corpus_bulk_tables.py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417320"/>
            <a:ext cx="2148840" cy="173736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sample conditions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48 (P, H2O) draws/bulk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solubility-bounded LHS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density q stored per 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209544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cnmineral.data.condition_proposal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88336" y="2121408"/>
            <a:ext cx="155447" cy="329184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57800" y="1417320"/>
            <a:ext cx="2148840" cy="173736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equilibrium cooling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MAGEMin, 1200 -&gt; 600 C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stop below 30% melt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chunked + resumable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209544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generate_mineralogy_corpus.py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65776" y="2121408"/>
            <a:ext cx="155448" cy="329184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35240" y="1417320"/>
            <a:ext cx="2148840" cy="173736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corpus tables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draws / ladder / rungs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full labels at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60/50/40/30% melt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209544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parquet + manifest per chunk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43215" y="2121408"/>
            <a:ext cx="155448" cy="329184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12680" y="1417320"/>
            <a:ext cx="2148840" cy="17373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training labels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crystals-renormalized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solids; presence + modes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rebuild, never a regen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3209544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training-time transform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820655" y="2121408"/>
            <a:ext cx="155448" cy="329184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4526280"/>
            <a:ext cx="3291840" cy="1600200"/>
          </a:xfrm>
          <a:prstGeom prst="rect">
            <a:avLst/>
          </a:prstGeom>
          <a:noFill/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97280" y="4526280"/>
            <a:ext cx="3291840" cy="1600200"/>
          </a:xfrm>
          <a:custGeom>
            <a:avLst/>
            <a:gdLst/>
            <a:ahLst/>
            <a:cxnLst/>
            <a:rect l="l" t="t" r="r" b="b"/>
            <a:pathLst>
              <a:path w="3291840" h="1600200">
                <a:moveTo>
                  <a:pt x="0" y="1600200"/>
                </a:moveTo>
                <a:lnTo>
                  <a:pt x="0" y="1080135"/>
                </a:lnTo>
                <a:lnTo>
                  <a:pt x="143123" y="824103"/>
                </a:lnTo>
                <a:lnTo>
                  <a:pt x="286246" y="614076"/>
                </a:lnTo>
                <a:lnTo>
                  <a:pt x="429370" y="416052"/>
                </a:lnTo>
                <a:lnTo>
                  <a:pt x="572493" y="220027"/>
                </a:lnTo>
                <a:lnTo>
                  <a:pt x="715617" y="22002"/>
                </a:lnTo>
                <a:lnTo>
                  <a:pt x="729929" y="0"/>
                </a:lnTo>
                <a:lnTo>
                  <a:pt x="3291840" y="0"/>
                </a:lnTo>
                <a:lnTo>
                  <a:pt x="3291840" y="1600200"/>
                </a:lnTo>
                <a:close/>
              </a:path>
            </a:pathLst>
          </a:custGeom>
          <a:solidFill>
            <a:srgbClr val="C4D1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144768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P  0.5 -&gt; 12 kbar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480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H2O</a:t>
            </a:r>
          </a:p>
          <a:p>
            <a:pPr algn="ctr"/>
            <a:r>
              <a:rPr sz="700" b="0">
                <a:solidFill>
                  <a:srgbClr val="8A93A3"/>
                </a:solidFill>
              </a:rPr>
              <a:t>0-8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1605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E5BFF"/>
                </a:solidFill>
              </a:rPr>
              <a:t>sampled (P, H2O)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544068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38"/>
                </a:solidFill>
              </a:rPr>
              <a:t>water is bounded by what melt can dissolve at each pressure (Newman &amp; Lowenstern 2002 rhyolite curve, capped at 8 wt%) -- the old flat box (whole rectangle) sampled impossible wet-shallow corners. q is the sampling density; inference reweights scenarios by p/q, so the corpus itself stays prior-agnostic.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One rock, 96 labels: the one-to-many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5BFF"/>
                </a:solidFill>
              </a:rPr>
              <a:t>ONE input rock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188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5CE7"/>
                </a:solidFill>
              </a:rPr>
              <a:t>48 sampled (P, H2O)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1887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883A"/>
                </a:solidFill>
              </a:rPr>
              <a:t>x 2 rungs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18872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9D8F"/>
                </a:solidFill>
              </a:rPr>
              <a:t>96 training labels (solid wt%, crystals-renormalized)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17520"/>
            <a:ext cx="1828800" cy="100584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one gard2019 rock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SiO2 58 . Al2O3 17 . MgO 3.5 ...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331720" y="1828800"/>
            <a:ext cx="960120" cy="1691640"/>
          </a:xfrm>
          <a:prstGeom prst="bentConnector3">
            <a:avLst/>
          </a:prstGeom>
          <a:ln w="1778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463040"/>
            <a:ext cx="1920240" cy="73152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(P₁, H₂O₁)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9 kbar . 5.5 wt% -- deep, wet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212080" y="1463040"/>
            <a:ext cx="548640" cy="36576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60720" y="1234440"/>
            <a:ext cx="1234440" cy="4572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>50% melt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95160" y="1463040"/>
            <a:ext cx="594360" cy="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1234440"/>
            <a:ext cx="4069080" cy="45720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>plag 44 . cpx 26 . amp 19 . ox 11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12080" y="1828800"/>
            <a:ext cx="548640" cy="36576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60720" y="1965960"/>
            <a:ext cx="1234440" cy="4572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>30% melt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95160" y="2194560"/>
            <a:ext cx="594360" cy="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89520" y="1965960"/>
            <a:ext cx="4069080" cy="45720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>plag 40 . cpx 25 . amp 24 . ox 11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331720" y="3291840"/>
            <a:ext cx="960120" cy="228600"/>
          </a:xfrm>
          <a:prstGeom prst="bentConnector3">
            <a:avLst/>
          </a:prstGeom>
          <a:ln w="1778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291840" y="2926080"/>
            <a:ext cx="1920240" cy="73152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(P₂, H₂O₂)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2 kbar . 1.5 wt% -- shallow, dry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5212080" y="2926080"/>
            <a:ext cx="548640" cy="36576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760720" y="2697480"/>
            <a:ext cx="1234440" cy="4572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>50% melt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95160" y="2926080"/>
            <a:ext cx="594360" cy="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89520" y="2697480"/>
            <a:ext cx="4069080" cy="45720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>plag 49 . cpx 26 . opx 14 . ox 11   (no amp)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12080" y="3291840"/>
            <a:ext cx="548640" cy="36576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760720" y="3429000"/>
            <a:ext cx="1234440" cy="4572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>30% melt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95160" y="3657600"/>
            <a:ext cx="594360" cy="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89520" y="3429000"/>
            <a:ext cx="4069080" cy="45720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>plag 46 . cpx 25 . opx 18 . ox 11   (no amp)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31720" y="3520440"/>
            <a:ext cx="960120" cy="1691640"/>
          </a:xfrm>
          <a:prstGeom prst="bentConnector3">
            <a:avLst/>
          </a:prstGeom>
          <a:ln w="1778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291840" y="4846320"/>
            <a:ext cx="1920240" cy="73152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(P₄₈, H₂O₄₈)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5 kbar . 3 wt% -- intermediate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212080" y="4846320"/>
            <a:ext cx="548640" cy="36576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60720" y="4617720"/>
            <a:ext cx="1234440" cy="4572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>50% melt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95160" y="4846320"/>
            <a:ext cx="594360" cy="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589520" y="4617720"/>
            <a:ext cx="4069080" cy="45720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>plag 45 . cpx 24 . amp 10 . opx 10 . ox 11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12080" y="5212080"/>
            <a:ext cx="548640" cy="36576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760720" y="5349240"/>
            <a:ext cx="1234440" cy="4572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>30% melt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995160" y="5577840"/>
            <a:ext cx="594360" cy="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589520" y="5349240"/>
            <a:ext cx="4069080" cy="45720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>plag 43 . cpx 23 . amp 12 . opx 11 . ox 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3931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3A3"/>
                </a:solidFill>
              </a:rPr>
              <a:t>. . 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39319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3A3"/>
                </a:solidFill>
              </a:rPr>
              <a:t>. . 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93192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3A3"/>
                </a:solidFill>
              </a:rPr>
              <a:t>. . 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617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A3"/>
                </a:solidFill>
              </a:rPr>
              <a:t>each path drawn from the bounded (P, H2O) region: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5074920"/>
            <a:ext cx="2194560" cy="1188720"/>
          </a:xfrm>
          <a:prstGeom prst="rect">
            <a:avLst/>
          </a:prstGeom>
          <a:noFill/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868680" y="5074920"/>
            <a:ext cx="2194559" cy="1188720"/>
          </a:xfrm>
          <a:custGeom>
            <a:avLst/>
            <a:gdLst/>
            <a:ahLst/>
            <a:cxnLst/>
            <a:rect l="l" t="t" r="r" b="b"/>
            <a:pathLst>
              <a:path w="2194559" h="1188720">
                <a:moveTo>
                  <a:pt x="0" y="1188720"/>
                </a:moveTo>
                <a:lnTo>
                  <a:pt x="0" y="802385"/>
                </a:lnTo>
                <a:lnTo>
                  <a:pt x="95415" y="612190"/>
                </a:lnTo>
                <a:lnTo>
                  <a:pt x="190831" y="456171"/>
                </a:lnTo>
                <a:lnTo>
                  <a:pt x="286246" y="309067"/>
                </a:lnTo>
                <a:lnTo>
                  <a:pt x="381662" y="163449"/>
                </a:lnTo>
                <a:lnTo>
                  <a:pt x="477078" y="16344"/>
                </a:lnTo>
                <a:lnTo>
                  <a:pt x="486619" y="0"/>
                </a:lnTo>
                <a:lnTo>
                  <a:pt x="2194559" y="0"/>
                </a:lnTo>
                <a:lnTo>
                  <a:pt x="2194559" y="1188720"/>
                </a:lnTo>
                <a:close/>
              </a:path>
            </a:pathLst>
          </a:custGeom>
          <a:solidFill>
            <a:srgbClr val="C4D1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6281927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P  0.5 -&gt; 12 kbar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1" y="5029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H2O</a:t>
            </a:r>
          </a:p>
          <a:p>
            <a:pPr algn="ctr"/>
            <a:r>
              <a:rPr sz="700" b="0">
                <a:solidFill>
                  <a:srgbClr val="8A93A3"/>
                </a:solidFill>
              </a:rPr>
              <a:t>0-8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806440"/>
            <a:ext cx="8321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238"/>
                </a:solidFill>
              </a:rPr>
              <a:t>why this shape matters for the presence head: it only ever sees the left box, so all 96 rows share one input and it emits ONE p per mineral against 96 different truths -- amp grows on the wet-deep paths, opx on the dry-shallow. BCE's optimum is the fraction of paths growing the mineral, so an intermediate p is the multimodal signal, not indecision.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Corpus regen: where we 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03120"/>
            <a:ext cx="2148840" cy="192024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1. bounded sampler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>landed + tested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condition_proposal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19072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9D8F"/>
                </a:solidFill>
              </a:rPr>
              <a:t>LANDED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2103120"/>
            <a:ext cx="2148840" cy="192024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2. orchestrator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>landed + smoke-run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generate_mineralogy_corpus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719072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9D8F"/>
                </a:solidFill>
              </a:rPr>
              <a:t>LANDED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88336" y="2898647"/>
            <a:ext cx="155447" cy="329184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57800" y="2103120"/>
            <a:ext cx="2148840" cy="192024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3. water A/B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>switch holds;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biotite gap is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prior-side, not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719072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9D8F"/>
                </a:solidFill>
              </a:rPr>
              <a:t>LANDED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65776" y="2898647"/>
            <a:ext cx="155448" cy="329184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35240" y="2103120"/>
            <a:ext cx="2148840" cy="192024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4. pilot + rung pick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>passed; rungs locked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50 + 30 (owner,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rung_prescreen.py)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19072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9D8F"/>
                </a:solidFill>
              </a:rPr>
              <a:t>LANDED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43215" y="2898647"/>
            <a:ext cx="155448" cy="329184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12680" y="2103120"/>
            <a:ext cx="2148840" cy="192024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5. production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>both tiers complete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948k train rows;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valtest 125k, sealed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221/278 val/test roster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1719072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9D8F"/>
                </a:solidFill>
              </a:rPr>
              <a:t>LANDED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820655" y="2898647"/>
            <a:ext cx="155448" cy="329184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54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238"/>
                </a:solidFill>
              </a:rPr>
              <a:t>all gates passed: the water A/B held under bounded sampling; the pilot pre-screen locked rungs 50 + 30; production completed 2026-07-17 (train 99.2% point convergence, valtest 97.7% usable rows after dropping one solver-poisoned bulk). The 499 valtest bulks divide 16:20 into a committed val/test roster (valtest_split.csv); test stays sealed.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064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3"/>
                </a:solidFill>
              </a:rPr>
              <a:t>spec: docs/corpus_regen_spec.md (all design decisions locked 2026-07-14; generation complete 2026-07-17).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43200"/>
            <a:ext cx="1828800" cy="141732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input tokens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22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2743200"/>
            <a:ext cx="1828800" cy="141732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embed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mat2vec + amount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39" y="3268979"/>
            <a:ext cx="36576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2743200"/>
            <a:ext cx="1828800" cy="141732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transformer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>encoder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3268979"/>
            <a:ext cx="411479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99248" y="2738628"/>
            <a:ext cx="1426464" cy="1426464"/>
          </a:xfrm>
          <a:prstGeom prst="ellipse">
            <a:avLst/>
          </a:prstGeom>
          <a:solidFill>
            <a:srgbClr val="E8883A"/>
          </a:solidFill>
          <a:ln w="3175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59" y="3268979"/>
            <a:ext cx="457199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29800" y="2743200"/>
            <a:ext cx="1828800" cy="141732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heads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parallel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2600" y="3268979"/>
            <a:ext cx="41148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79" y="868680"/>
            <a:ext cx="2377440" cy="73152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imputation /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5257800"/>
            <a:ext cx="2377440" cy="73152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OOD / similarity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412480" y="1600200"/>
            <a:ext cx="640080" cy="1138428"/>
          </a:xfrm>
          <a:prstGeom prst="bentConnector3">
            <a:avLst/>
          </a:prstGeom>
          <a:ln w="17780">
            <a:solidFill>
              <a:srgbClr val="12B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80" y="4165091"/>
            <a:ext cx="640080" cy="1092709"/>
          </a:xfrm>
          <a:prstGeom prst="bentConnector3">
            <a:avLst/>
          </a:prstGeom>
          <a:ln w="17780">
            <a:solidFill>
              <a:srgbClr val="12B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572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238"/>
                </a:solidFill>
              </a:rPr>
              <a:t>one shared encoder -&gt; latent h -&gt; parallel heads (supervised) and training-free encoder apps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A rock is a bag of (element, amount) tokens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78127" y="2926080"/>
            <a:ext cx="1371600" cy="100584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Si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50895" y="2926080"/>
            <a:ext cx="1371600" cy="100584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Al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23663" y="2926080"/>
            <a:ext cx="1371600" cy="100584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Ca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1" y="2926080"/>
            <a:ext cx="1371600" cy="100584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Mg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0.075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69199" y="2926080"/>
            <a:ext cx="1371600" cy="1005840"/>
          </a:xfrm>
          <a:prstGeom prst="roundRect">
            <a:avLst/>
          </a:prstGeom>
          <a:solidFill>
            <a:srgbClr val="CAEEEB"/>
          </a:solidFill>
          <a:ln w="22225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Sr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4e-4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41967" y="2926080"/>
            <a:ext cx="1371600" cy="1005840"/>
          </a:xfrm>
          <a:prstGeom prst="roundRect">
            <a:avLst/>
          </a:prstGeom>
          <a:solidFill>
            <a:srgbClr val="CAEEEB"/>
          </a:solidFill>
          <a:ln w="22225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Yb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2e-6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2238"/>
                </a:solidFill>
              </a:rPr>
              <a:t>9 majors (wt%/100, blue)  +  13 traces (ppm/1e6, teal), 22 token slots; absent = padding (src=0)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377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3A3"/>
                </a:solidFill>
              </a:rPr>
              <a:t>no T, P, or H2O ever enters the forward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Each token becomes a chemistry-aware vector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880360"/>
            <a:ext cx="1463040" cy="109728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Si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0.50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2103120" y="2331720"/>
            <a:ext cx="822960" cy="822960"/>
          </a:xfrm>
          <a:prstGeom prst="bentConnector3">
            <a:avLst/>
          </a:prstGeom>
          <a:ln w="1778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03120" y="3703320"/>
            <a:ext cx="822960" cy="640080"/>
          </a:xfrm>
          <a:prstGeom prst="bentConnector3">
            <a:avLst/>
          </a:prstGeom>
          <a:ln w="1778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26080" y="1965960"/>
            <a:ext cx="2286000" cy="77724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atomic number 14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03520" y="2148840"/>
            <a:ext cx="41148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06440" y="1783080"/>
            <a:ext cx="4023360" cy="114300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mat2vec lookup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200-d element vector,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pretrained on materials-science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4023360"/>
            <a:ext cx="2286000" cy="77724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amount  0.50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03520" y="4206240"/>
            <a:ext cx="41148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3840480"/>
            <a:ext cx="4023360" cy="96012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linear projection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amount -&gt; vector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743200"/>
            <a:ext cx="1737360" cy="13716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+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token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256-d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29800" y="2331720"/>
            <a:ext cx="228600" cy="777240"/>
          </a:xfrm>
          <a:prstGeom prst="bentConnector3">
            <a:avLst/>
          </a:prstGeom>
          <a:ln w="1778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829800" y="3749039"/>
            <a:ext cx="228600" cy="548641"/>
          </a:xfrm>
          <a:prstGeom prst="bentConnector3">
            <a:avLst/>
          </a:prstGeom>
          <a:ln w="1778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238"/>
                </a:solidFill>
              </a:rPr>
              <a:t>mat2vec gives a learned chemistry vector per element (materials-informatics embedding); summed with the projected amount.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Attention mixes elements, then pool to one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5CE7"/>
                </a:solidFill>
              </a:rPr>
              <a:t>self-attention: every token attends to every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24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645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912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Mg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1645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Mg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5818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1645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Fe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011680"/>
            <a:ext cx="512064" cy="512064"/>
          </a:xfrm>
          <a:prstGeom prst="rect">
            <a:avLst/>
          </a:prstGeom>
          <a:solidFill>
            <a:srgbClr val="8274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72768" y="2011680"/>
            <a:ext cx="512064" cy="512064"/>
          </a:xfrm>
          <a:prstGeom prst="rect">
            <a:avLst/>
          </a:prstGeom>
          <a:solidFill>
            <a:srgbClr val="C1BA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39696" y="2011680"/>
            <a:ext cx="512064" cy="512064"/>
          </a:xfrm>
          <a:prstGeom prst="rect">
            <a:avLst/>
          </a:prstGeom>
          <a:solidFill>
            <a:srgbClr val="AFA6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06624" y="2011680"/>
            <a:ext cx="512064" cy="512064"/>
          </a:xfrm>
          <a:prstGeom prst="rect">
            <a:avLst/>
          </a:prstGeom>
          <a:solidFill>
            <a:srgbClr val="9D93E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2578608"/>
            <a:ext cx="512064" cy="512064"/>
          </a:xfrm>
          <a:prstGeom prst="rect">
            <a:avLst/>
          </a:prstGeom>
          <a:solidFill>
            <a:srgbClr val="C1BA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72768" y="2578608"/>
            <a:ext cx="512064" cy="512064"/>
          </a:xfrm>
          <a:prstGeom prst="rect">
            <a:avLst/>
          </a:prstGeom>
          <a:solidFill>
            <a:srgbClr val="8274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39696" y="2578608"/>
            <a:ext cx="512064" cy="512064"/>
          </a:xfrm>
          <a:prstGeom prst="rect">
            <a:avLst/>
          </a:prstGeom>
          <a:solidFill>
            <a:srgbClr val="9D93E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06624" y="2578608"/>
            <a:ext cx="512064" cy="512064"/>
          </a:xfrm>
          <a:prstGeom prst="rect">
            <a:avLst/>
          </a:prstGeom>
          <a:solidFill>
            <a:srgbClr val="D2CE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3145536"/>
            <a:ext cx="512064" cy="512064"/>
          </a:xfrm>
          <a:prstGeom prst="rect">
            <a:avLst/>
          </a:prstGeom>
          <a:solidFill>
            <a:srgbClr val="AFA6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72768" y="3145536"/>
            <a:ext cx="512064" cy="512064"/>
          </a:xfrm>
          <a:prstGeom prst="rect">
            <a:avLst/>
          </a:prstGeom>
          <a:solidFill>
            <a:srgbClr val="9D93E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39696" y="3145536"/>
            <a:ext cx="512064" cy="512064"/>
          </a:xfrm>
          <a:prstGeom prst="rect">
            <a:avLst/>
          </a:prstGeom>
          <a:solidFill>
            <a:srgbClr val="8274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06624" y="3145536"/>
            <a:ext cx="512064" cy="512064"/>
          </a:xfrm>
          <a:prstGeom prst="rect">
            <a:avLst/>
          </a:prstGeom>
          <a:solidFill>
            <a:srgbClr val="C1BA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3712464"/>
            <a:ext cx="512064" cy="512064"/>
          </a:xfrm>
          <a:prstGeom prst="rect">
            <a:avLst/>
          </a:prstGeom>
          <a:solidFill>
            <a:srgbClr val="9D93E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72768" y="3712464"/>
            <a:ext cx="512064" cy="512064"/>
          </a:xfrm>
          <a:prstGeom prst="rect">
            <a:avLst/>
          </a:prstGeom>
          <a:solidFill>
            <a:srgbClr val="D2CE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39696" y="3712464"/>
            <a:ext cx="512064" cy="512064"/>
          </a:xfrm>
          <a:prstGeom prst="rect">
            <a:avLst/>
          </a:prstGeom>
          <a:solidFill>
            <a:srgbClr val="C1BA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06624" y="3712464"/>
            <a:ext cx="512064" cy="512064"/>
          </a:xfrm>
          <a:prstGeom prst="rect">
            <a:avLst/>
          </a:prstGeom>
          <a:solidFill>
            <a:srgbClr val="8274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4480560" y="3200400"/>
            <a:ext cx="640080" cy="41148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03520" y="2697480"/>
            <a:ext cx="3108960" cy="137160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masked-mean pool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average the real tokens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(skip padding)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595360" y="3200400"/>
            <a:ext cx="640080" cy="41148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2606040"/>
            <a:ext cx="1554480" cy="1554480"/>
          </a:xfrm>
          <a:prstGeom prst="ellipse">
            <a:avLst/>
          </a:prstGeom>
          <a:solidFill>
            <a:srgbClr val="E8883A"/>
          </a:solidFill>
          <a:ln w="3175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238"/>
                </a:solidFill>
              </a:rPr>
              <a:t>attention lets elements interact; pooling collapses the 22 contextualized vectors into one 256-d fingerprint 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SSL pretraining: fill in the blank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3"/>
                </a:solidFill>
              </a:rPr>
              <a:t>mask one element's amount, predict it from the rest -- the encoder learns which elements co-vary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743" y="1783080"/>
            <a:ext cx="1371600" cy="96012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Si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4511" y="1783080"/>
            <a:ext cx="1371600" cy="96012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Al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37279" y="1783080"/>
            <a:ext cx="1371600" cy="96012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Ca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0047" y="1783080"/>
            <a:ext cx="1371600" cy="960120"/>
          </a:xfrm>
          <a:prstGeom prst="roundRect">
            <a:avLst/>
          </a:prstGeom>
          <a:solidFill>
            <a:srgbClr val="9AA3B2"/>
          </a:solidFill>
          <a:ln w="3175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[MASK]</a:t>
            </a:r>
          </a:p>
          <a:p>
            <a:pPr algn="ctr"/>
            <a:r>
              <a:rPr sz="1400" b="0">
                <a:solidFill>
                  <a:srgbClr val="8A93A3"/>
                </a:solidFill>
              </a:rPr>
              <a:t>hide 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82815" y="1783080"/>
            <a:ext cx="1371600" cy="96012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Fe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55583" y="1783080"/>
            <a:ext cx="1371600" cy="96012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Na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28351" y="1783080"/>
            <a:ext cx="1371600" cy="960120"/>
          </a:xfrm>
          <a:prstGeom prst="roundRect">
            <a:avLst/>
          </a:prstGeom>
          <a:solidFill>
            <a:srgbClr val="CAEEEB"/>
          </a:solidFill>
          <a:ln w="22225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Sr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4e-4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7543" y="2743200"/>
            <a:ext cx="0" cy="685800"/>
          </a:xfrm>
          <a:prstGeom prst="bentConnector3">
            <a:avLst/>
          </a:prstGeom>
          <a:ln w="1778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50311" y="2743200"/>
            <a:ext cx="0" cy="685800"/>
          </a:xfrm>
          <a:prstGeom prst="bentConnector3">
            <a:avLst/>
          </a:prstGeom>
          <a:ln w="1778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3079" y="2743200"/>
            <a:ext cx="0" cy="685800"/>
          </a:xfrm>
          <a:prstGeom prst="bentConnector3">
            <a:avLst/>
          </a:prstGeom>
          <a:ln w="1778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5847" y="2743200"/>
            <a:ext cx="0" cy="685800"/>
          </a:xfrm>
          <a:prstGeom prst="bentConnector3">
            <a:avLst/>
          </a:prstGeom>
          <a:ln w="17780">
            <a:solidFill>
              <a:srgbClr val="9AA3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68615" y="2743200"/>
            <a:ext cx="0" cy="685800"/>
          </a:xfrm>
          <a:prstGeom prst="bentConnector3">
            <a:avLst/>
          </a:prstGeom>
          <a:ln w="1778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41383" y="2743200"/>
            <a:ext cx="0" cy="685800"/>
          </a:xfrm>
          <a:prstGeom prst="bentConnector3">
            <a:avLst/>
          </a:prstGeom>
          <a:ln w="1778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814151" y="2743200"/>
            <a:ext cx="0" cy="685800"/>
          </a:xfrm>
          <a:prstGeom prst="bentConnector3">
            <a:avLst/>
          </a:prstGeom>
          <a:ln w="1778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1743" y="3429000"/>
            <a:ext cx="10808208" cy="86868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2238"/>
                </a:solidFill>
              </a:rPr>
              <a:t>transformer encoder</a:t>
            </a:r>
          </a:p>
          <a:p>
            <a:pPr algn="ctr"/>
            <a:r>
              <a:rPr sz="1200" b="0">
                <a:solidFill>
                  <a:srgbClr val="8A93A3"/>
                </a:solidFill>
              </a:rPr>
              <a:t>being trained -- weights updated each step (not frozen)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49543" y="4343400"/>
            <a:ext cx="292608" cy="347472"/>
          </a:xfrm>
          <a:prstGeom prst="down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03120" y="4892040"/>
            <a:ext cx="2743200" cy="9144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encoder predicts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Mg amount ~ 0.071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89204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A93A3"/>
                </a:solidFill>
              </a:rPr>
              <a:t>truth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0.075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892040" y="5166360"/>
            <a:ext cx="256032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6903720" y="5166360"/>
            <a:ext cx="256032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4892040"/>
            <a:ext cx="2651760" cy="914400"/>
          </a:xfrm>
          <a:prstGeom prst="roundRect">
            <a:avLst/>
          </a:prstGeom>
          <a:solidFill>
            <a:srgbClr val="F6E3E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log-space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>MSE loss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75520" y="5349240"/>
            <a:ext cx="1737360" cy="0"/>
          </a:xfrm>
          <a:prstGeom prst="bentConnector3">
            <a:avLst/>
          </a:prstGeom>
          <a:ln w="3175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1612880" y="3886200"/>
            <a:ext cx="0" cy="1463040"/>
          </a:xfrm>
          <a:prstGeom prst="bentConnector3">
            <a:avLst/>
          </a:prstGeom>
          <a:ln w="3175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Left Arrow 27"/>
          <p:cNvSpPr/>
          <p:nvPr/>
        </p:nvSpPr>
        <p:spPr>
          <a:xfrm>
            <a:off x="11109960" y="3721608"/>
            <a:ext cx="502920" cy="310896"/>
          </a:xfrm>
          <a:prstGeom prst="lef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</a:rPr>
              <a:t>backpropagation:</a:t>
            </a:r>
          </a:p>
          <a:p>
            <a:pPr algn="ctr"/>
            <a:r>
              <a:rPr sz="1200" b="1">
                <a:solidFill>
                  <a:srgbClr val="C0392B"/>
                </a:solidFill>
              </a:rPr>
              <a:t>updates encoder weights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3040" y="5943600"/>
            <a:ext cx="4206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A93A3"/>
                </a:solidFill>
              </a:rPr>
              <a:t>zⱼ = (log₁₀ fⱼ − μⱼ) / σⱼ</a:t>
            </a:r>
          </a:p>
          <a:p>
            <a:pPr algn="ctr"/>
            <a:r>
              <a:rPr sz="1200" b="0">
                <a:solidFill>
                  <a:srgbClr val="8A93A3"/>
                </a:solidFill>
              </a:rPr>
              <a:t>target: per-element z-scored log fraction; μⱼ, σⱼ from the train split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5943600"/>
            <a:ext cx="4206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8A93A3"/>
                </a:solidFill>
              </a:rPr>
              <a:t>L = 1/|M| Σⱼ∈M (ŷⱼ − zⱼ)²</a:t>
            </a:r>
          </a:p>
          <a:p>
            <a:pPr algn="ctr"/>
            <a:r>
              <a:rPr sz="1200" b="0">
                <a:solidFill>
                  <a:srgbClr val="8A93A3"/>
                </a:solidFill>
              </a:rPr>
              <a:t>plain MSE between prediction ŷ and z, at the masked positions M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989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</a:rPr>
              <a:t>the loss,
explicitly: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Workflow: pretrain, freeze, train heads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3017520" cy="155448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1. SSL pretrain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Gard bulks, masked-element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-&gt; encoder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49039" y="2971800"/>
            <a:ext cx="640080" cy="41148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2377440"/>
            <a:ext cx="2743200" cy="155448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2. freeze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>encoder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weights fixed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406640" y="2971800"/>
            <a:ext cx="640080" cy="41148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0" y="2377440"/>
            <a:ext cx="3291840" cy="155448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3. train heads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equilibrium corpus labels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encoder untouched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238"/>
                </a:solidFill>
              </a:rPr>
              <a:t>the encoder is the durable contribution: heads can be re-supervised against any label source without retraining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3"/>
                </a:solidFill>
              </a:rPr>
              <a:t>evaluation: frozen-latent probes + the held-out mineralML grains.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Parallel heads on the frozen 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43200"/>
            <a:ext cx="1828800" cy="141732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input tokens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22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2743200"/>
            <a:ext cx="1828800" cy="141732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embed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mat2vec + amount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39" y="3268979"/>
            <a:ext cx="36576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2743200"/>
            <a:ext cx="1828800" cy="141732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transformer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>encoder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3268979"/>
            <a:ext cx="411479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99248" y="2738628"/>
            <a:ext cx="1426464" cy="1426464"/>
          </a:xfrm>
          <a:prstGeom prst="ellipse">
            <a:avLst/>
          </a:prstGeom>
          <a:solidFill>
            <a:srgbClr val="E8883A"/>
          </a:solidFill>
          <a:ln w="3175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59" y="3268979"/>
            <a:ext cx="457199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0" y="1143000"/>
            <a:ext cx="2834640" cy="8229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ModeHead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modal mineralogy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211312" y="1554480"/>
            <a:ext cx="658368" cy="1901952"/>
          </a:xfrm>
          <a:prstGeom prst="bentConnector3">
            <a:avLst/>
          </a:prstGeom>
          <a:ln w="1905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69680" y="2103120"/>
            <a:ext cx="2834640" cy="8229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CompHead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per-mineral composition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211312" y="2514600"/>
            <a:ext cx="658368" cy="941832"/>
          </a:xfrm>
          <a:prstGeom prst="bentConnector3">
            <a:avLst/>
          </a:prstGeom>
          <a:ln w="1905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69680" y="3063240"/>
            <a:ext cx="2834640" cy="8229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CondHead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T, P, H2O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11312" y="3456432"/>
            <a:ext cx="658368" cy="18288"/>
          </a:xfrm>
          <a:prstGeom prst="bentConnector3">
            <a:avLst/>
          </a:prstGeom>
          <a:ln w="1905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69680" y="4023360"/>
            <a:ext cx="2834640" cy="8229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ClassHead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rock class (aux)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11312" y="3456432"/>
            <a:ext cx="658368" cy="978408"/>
          </a:xfrm>
          <a:prstGeom prst="bentConnector3">
            <a:avLst/>
          </a:prstGeom>
          <a:ln w="1905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69680" y="4983480"/>
            <a:ext cx="2834640" cy="8229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G_sys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free energy (aux)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11312" y="3456432"/>
            <a:ext cx="658368" cy="1938528"/>
          </a:xfrm>
          <a:prstGeom prst="bentConnector3">
            <a:avLst/>
          </a:prstGeom>
          <a:ln w="1905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51206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238"/>
                </a:solidFill>
              </a:rPr>
              <a:t>encoder now frozen; each head is a small network reading the same h (anatomy on the next slide, outputs after)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Inside ModeHead: two small MLPs on the frozen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3"/>
                </a:solidFill>
              </a:rPr>
              <a:t>ModeHead, the first head trained end-to-end -- two clean factors of the hurdle likelihood P(modal) = P(present) x P(modal | present), each with its own trunk: presence reads h alone; magnitude reads h + the mineral set it is sizing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834640"/>
            <a:ext cx="1371600" cy="1371600"/>
          </a:xfrm>
          <a:prstGeom prst="ellipse">
            <a:avLst/>
          </a:prstGeom>
          <a:solidFill>
            <a:srgbClr val="E8883A"/>
          </a:solidFill>
          <a:ln w="3175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34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from the frozen encoder (3.23M params, not trained here)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86000" y="3337560"/>
            <a:ext cx="45720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2788920"/>
            <a:ext cx="2651760" cy="146304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two parallel trunks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presence: 3 x [Linear -&gt; 256] on h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magnitude: 3 x [Linear -&gt; 256]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on [h, support(21)] -- chain rule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197,376 + 202,752 params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486400" y="2537460"/>
            <a:ext cx="685800" cy="982980"/>
          </a:xfrm>
          <a:prstGeom prst="bentConnector3">
            <a:avLst/>
          </a:prstGeom>
          <a:ln w="1905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72200" y="1828800"/>
            <a:ext cx="3017520" cy="141732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presence branch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Linear 256 -&gt; 21, sigmoid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p_i = P(phase i present)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5,397 params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81160" y="2372868"/>
            <a:ext cx="365760" cy="32004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38360" y="1874519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21 Bernoullis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which minerals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BCE loss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3520440"/>
            <a:ext cx="685800" cy="1028700"/>
          </a:xfrm>
          <a:prstGeom prst="bentConnector3">
            <a:avLst/>
          </a:prstGeom>
          <a:ln w="1905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3840480"/>
            <a:ext cx="3017520" cy="141732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magnitude branch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Linear 256 -&gt; 21, softplus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alpha_i, support-conditioned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5,397 params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81160" y="4384548"/>
            <a:ext cx="365760" cy="32004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38360" y="3886200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cond. Dirichlet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how much, GIVEN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this mineral set (NLL)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238"/>
                </a:solidFill>
              </a:rPr>
              <a:t>410,922 trainable params (trunks 197,376 + 202,752, outputs 2 x 5,397) -- ~12.7% of the frozen encoder; 256 x 3 per trunk is the joint-HPO winner, kept unchanged when the support-conditioned trunk was added (isolation, #25).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A3"/>
                </a:solidFill>
              </a:rPr>
              <a:t>dials (configs/heads/joint_heads.yaml): mode_hidden 256 . mode_layers 3 . dropout 0.348 . magnitude_weight 0.25 . alpha_eps 1e-6 . lr 2.15e-4 . weight_decay 1.04e-5 . batch 1024 . epochs 120 / per-head patience 10 -- fixed in code: GELU, AdamW, grad-clip 1.0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6035040"/>
            <a:ext cx="3139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L_presence = −Σᵢ [ yᵢ ln pᵢ + (1−yᵢ) ln(1−pᵢ) ]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BCE, all 21 phases x every row; minimized when p = the rock's true presence frequency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76800" y="6035040"/>
            <a:ext cx="3139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L_magnitude = −log Dir(mₛ | αₛ)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Dirichlet NLL scored only on the present set S -- absent phases belong to the Bernoullis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0560" y="6035040"/>
            <a:ext cx="3139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L = L_presence + λ_mag · L_magnitude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one backward pass; the trunks are param-disjoint, so λ_mag no longer arbitrates a shared trunk -- it balances the Dirichlet term against the mass-balance closure on the magnitude trunk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960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</a:rPr>
              <a:t>the loss,
explicitly: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Is 70% honest? One bin of the reliability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3"/>
                </a:solidFill>
              </a:rPr>
              <a:t>the presence head's headline eval: pool every prediction near a probability, then ask how often the mineral was really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E5BFF"/>
                </a:solidFill>
              </a:rPr>
              <a:t>22-token chemistry -&gt; one p per rock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600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9D8F"/>
                </a:solidFill>
              </a:rPr>
              <a:t>truth: rows where cpx &gt; 0.1 wt% of the solids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51760" cy="77724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rock A (andesite)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p_cpx = 0.71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46120" y="2148840"/>
            <a:ext cx="365760" cy="32004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03320" y="1920240"/>
            <a:ext cx="2926080" cy="77724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256 rows: cpx in 187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29400" y="2304288"/>
            <a:ext cx="548640" cy="1078992"/>
          </a:xfrm>
          <a:prstGeom prst="bentConnector3">
            <a:avLst/>
          </a:prstGeom>
          <a:ln w="1905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2880360"/>
            <a:ext cx="2651760" cy="77724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rock B (bas. andesite)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p_cpx = 0.74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46120" y="3108960"/>
            <a:ext cx="365760" cy="32004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3320" y="2880360"/>
            <a:ext cx="2926080" cy="77724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256 rows: cpx in 163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29400" y="3264408"/>
            <a:ext cx="548640" cy="118872"/>
          </a:xfrm>
          <a:prstGeom prst="bentConnector3">
            <a:avLst/>
          </a:prstGeom>
          <a:ln w="1905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3840480"/>
            <a:ext cx="2651760" cy="77724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rock C (andesite)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p_cpx = 0.77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46120" y="4069080"/>
            <a:ext cx="365760" cy="32004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03320" y="3840480"/>
            <a:ext cx="2926080" cy="77724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256 rows: cpx in 197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629400" y="3383280"/>
            <a:ext cx="548640" cy="841248"/>
          </a:xfrm>
          <a:prstGeom prst="bentConnector3">
            <a:avLst/>
          </a:prstGeom>
          <a:ln w="1905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78040" y="2514600"/>
            <a:ext cx="2377440" cy="173736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predictions binned: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p in [0.70, 0.80): 3 predictions,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x 256 labels each = 768 pairs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mean p = 0.740  .  actually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present: 547 / 768 = 0.712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783080"/>
            <a:ext cx="2103120" cy="2103120"/>
          </a:xfrm>
          <a:prstGeom prst="rect">
            <a:avLst/>
          </a:prstGeom>
          <a:noFill/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9875520" y="1783080"/>
            <a:ext cx="2103120" cy="2103120"/>
          </a:xfrm>
          <a:prstGeom prst="bentConnector3">
            <a:avLst/>
          </a:prstGeom>
          <a:ln w="1524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1349532" y="2306482"/>
            <a:ext cx="164592" cy="164592"/>
          </a:xfrm>
          <a:prstGeom prst="ellipse">
            <a:avLst/>
          </a:prstGeom>
          <a:solidFill>
            <a:srgbClr val="E88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58676" y="2826684"/>
            <a:ext cx="146304" cy="146304"/>
          </a:xfrm>
          <a:prstGeom prst="ellipse">
            <a:avLst/>
          </a:prstGeom>
          <a:solidFill>
            <a:srgbClr val="C8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8183879" y="2498506"/>
            <a:ext cx="3247949" cy="1753454"/>
          </a:xfrm>
          <a:prstGeom prst="bentConnector3">
            <a:avLst/>
          </a:prstGeom>
          <a:ln w="19050">
            <a:solidFill>
              <a:srgbClr val="E888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01200" y="3931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predicted p -&gt;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3716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883A"/>
                </a:solidFill>
              </a:rPr>
              <a:t>on the diagonal = calibrated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270248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3A3"/>
                </a:solidFill>
              </a:rPr>
              <a:t>gray dot: overconfident (if truth were 360/768)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091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238"/>
                </a:solidFill>
              </a:rPr>
              <a:t>"actually present" is the pooled hit rate over the rows whose prediction landed in the bin -- never a corpus-wide rate, never one rock alone. Per-rock misses can cancel inside a bin (B deserved 0.64); the p-vs-frequency scatter is the stricter per-rock test, and the head is scored on both.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3949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238"/>
                </a:solidFill>
              </a:rPr>
              <a:t>3 rocks shown; the real figure pools the val-roster rocks only -- 218 rocks x ~255 rows = 55,576 (p, truth) pairs per mineral panel, partitioned across the 10 bins (the gray bars). Training rocks are excluded because a head that memorized them would grade itself calibrated. And since all ~255 rows of a rock share one prediction, a panel holds only 218 distinct p values, each stamped ~255x -- the effective sample size is rocks, not rows. The population is the fixed val roster of the sealed valtest tier (128 draws/rock at rungs 50+30), so panels are comparable across retrains.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550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A3"/>
                </a:solidFill>
              </a:rPr>
              <a:t>BCE's per-rock minimum is the true fraction, so an honest head lands on the diagonal by construction. current limits (tuned model): intermediate-frequency presence is the miss mode (garnet recall 0.58 in f = [0.5, 0.9) and 0.0 elsewhere; opx 0.25 / ru 0.08 / ol 0.08 overall); spinel is the worst-calibrated panel (ECE 0.037); amphibole magnitude spread stays too narrow (next slide). full report: runs/mode_head/&lt;tag&gt;/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If it's there, how much? One row through the Dirichlet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3"/>
                </a:solidFill>
              </a:rPr>
              <a:t>the magnitude branch's eval: slice the predicted concentrations to the row's true support, then meet the truth at the scoring step -- are the means right, and is the claimed spread honest (PIT)?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560320" cy="13716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head output for bulk X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alpha for all 21 phases, from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the latent + the row's support --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the true MODES are not an input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2331720"/>
            <a:ext cx="320040" cy="27432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20440" y="1783080"/>
            <a:ext cx="2560320" cy="13716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alpha sliced to the support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plag 12.0    cpx 7.0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amp 4.5      ilm 1.5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alpha0 = sum = 25 (confidence)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2331720"/>
            <a:ext cx="320040" cy="27432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783080"/>
            <a:ext cx="2560320" cy="137160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predicted mean +/- spread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plag 0.48 +/- 0.10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cpx 0.28 +/- 0.09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amp 0.18 +/- 0.08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ilm 0.06 +/- 0.05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2560320" cy="118872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one row's truth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bulk X . draw 17 . rung 50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present: plag cpx amp ilm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modes: .44  .26  .19  .11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54680" y="3886200"/>
            <a:ext cx="320040" cy="27432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40" y="3429000"/>
            <a:ext cx="2560320" cy="118872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scoring -- truth meets prediction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eval: PIT of each true mode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train: masked Dirichlet NLL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651760" y="3154680"/>
            <a:ext cx="1280160" cy="274320"/>
          </a:xfrm>
          <a:prstGeom prst="bentConnector3">
            <a:avLst/>
          </a:prstGeom>
          <a:ln w="1905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172968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A9D8F"/>
                </a:solidFill>
              </a:rPr>
              <a:t>support only (which phases)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080760" y="3154680"/>
            <a:ext cx="1737360" cy="777240"/>
          </a:xfrm>
          <a:prstGeom prst="bentConnector3">
            <a:avLst/>
          </a:prstGeom>
          <a:ln w="19050">
            <a:solidFill>
              <a:srgbClr val="6C5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0" y="3429000"/>
            <a:ext cx="4297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8A93A3"/>
                </a:solidFill>
              </a:rPr>
              <a:t>L_magnitude = −log Dir(mₛ | αₛ), expanded:</a:t>
            </a:r>
          </a:p>
          <a:p>
            <a:pPr algn="ctr"/>
            <a:r>
              <a:rPr sz="1100" b="1">
                <a:solidFill>
                  <a:srgbClr val="8A93A3"/>
                </a:solidFill>
              </a:rPr>
              <a:t>= Σ lnΓ(αᵢ) − lnΓ(α₀) − Σ (αᵢ−1) ln mᵢ   (sums over S)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mᵢ true mode . αᵢ predicted concentration . α₀ = Σ αᵢ . Γ extends factorial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Γ terms: normalizer -- the cost of confidence, grows with α₀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(αᵢ−1) ln mᵢ: shape term -- the only place truth meets prediction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a density, not a probability -- well-scored rows go negative</a:t>
            </a:r>
          </a:p>
        </p:txBody>
      </p:sp>
      <p:sp>
        <p:nvSpPr>
          <p:cNvPr id="17" name="Freeform 16"/>
          <p:cNvSpPr/>
          <p:nvPr/>
        </p:nvSpPr>
        <p:spPr>
          <a:xfrm>
            <a:off x="10104120" y="2240280"/>
            <a:ext cx="1828800" cy="1051560"/>
          </a:xfrm>
          <a:custGeom>
            <a:avLst/>
            <a:gdLst/>
            <a:ahLst/>
            <a:cxnLst/>
            <a:rect l="l" t="t" r="r" b="b"/>
            <a:pathLst>
              <a:path w="1828800" h="1051560">
                <a:moveTo>
                  <a:pt x="0" y="1051560"/>
                </a:moveTo>
                <a:lnTo>
                  <a:pt x="0" y="1051549"/>
                </a:lnTo>
                <a:lnTo>
                  <a:pt x="38100" y="1051532"/>
                </a:lnTo>
                <a:lnTo>
                  <a:pt x="76200" y="1051489"/>
                </a:lnTo>
                <a:lnTo>
                  <a:pt x="114300" y="1051387"/>
                </a:lnTo>
                <a:lnTo>
                  <a:pt x="152400" y="1051157"/>
                </a:lnTo>
                <a:lnTo>
                  <a:pt x="190500" y="1050659"/>
                </a:lnTo>
                <a:lnTo>
                  <a:pt x="228600" y="1049631"/>
                </a:lnTo>
                <a:lnTo>
                  <a:pt x="266700" y="1047606"/>
                </a:lnTo>
                <a:lnTo>
                  <a:pt x="304800" y="1043798"/>
                </a:lnTo>
                <a:lnTo>
                  <a:pt x="342900" y="1036971"/>
                </a:lnTo>
                <a:lnTo>
                  <a:pt x="381000" y="1025303"/>
                </a:lnTo>
                <a:lnTo>
                  <a:pt x="419100" y="1006310"/>
                </a:lnTo>
                <a:lnTo>
                  <a:pt x="457200" y="976891"/>
                </a:lnTo>
                <a:lnTo>
                  <a:pt x="495300" y="933578"/>
                </a:lnTo>
                <a:lnTo>
                  <a:pt x="533400" y="873059"/>
                </a:lnTo>
                <a:lnTo>
                  <a:pt x="571500" y="792967"/>
                </a:lnTo>
                <a:lnTo>
                  <a:pt x="609600" y="692851"/>
                </a:lnTo>
                <a:lnTo>
                  <a:pt x="647700" y="575109"/>
                </a:lnTo>
                <a:lnTo>
                  <a:pt x="685800" y="445599"/>
                </a:lnTo>
                <a:lnTo>
                  <a:pt x="723900" y="313619"/>
                </a:lnTo>
                <a:lnTo>
                  <a:pt x="762000" y="191063"/>
                </a:lnTo>
                <a:lnTo>
                  <a:pt x="800100" y="90773"/>
                </a:lnTo>
                <a:lnTo>
                  <a:pt x="838200" y="24359"/>
                </a:lnTo>
                <a:lnTo>
                  <a:pt x="876300" y="0"/>
                </a:lnTo>
                <a:lnTo>
                  <a:pt x="914400" y="20786"/>
                </a:lnTo>
                <a:lnTo>
                  <a:pt x="952500" y="84078"/>
                </a:lnTo>
                <a:lnTo>
                  <a:pt x="990600" y="182053"/>
                </a:lnTo>
                <a:lnTo>
                  <a:pt x="1028700" y="303298"/>
                </a:lnTo>
                <a:lnTo>
                  <a:pt x="1066800" y="434987"/>
                </a:lnTo>
                <a:lnTo>
                  <a:pt x="1104900" y="565079"/>
                </a:lnTo>
                <a:lnTo>
                  <a:pt x="1143000" y="684026"/>
                </a:lnTo>
                <a:lnTo>
                  <a:pt x="1181100" y="785683"/>
                </a:lnTo>
                <a:lnTo>
                  <a:pt x="1219200" y="867393"/>
                </a:lnTo>
                <a:lnTo>
                  <a:pt x="1257300" y="929409"/>
                </a:lnTo>
                <a:lnTo>
                  <a:pt x="1295400" y="973983"/>
                </a:lnTo>
                <a:lnTo>
                  <a:pt x="1333500" y="1004385"/>
                </a:lnTo>
                <a:lnTo>
                  <a:pt x="1371600" y="1024090"/>
                </a:lnTo>
                <a:lnTo>
                  <a:pt x="1409700" y="1036244"/>
                </a:lnTo>
                <a:lnTo>
                  <a:pt x="1447800" y="1043383"/>
                </a:lnTo>
                <a:lnTo>
                  <a:pt x="1485900" y="1047380"/>
                </a:lnTo>
                <a:lnTo>
                  <a:pt x="1524000" y="1049514"/>
                </a:lnTo>
                <a:lnTo>
                  <a:pt x="1562100" y="1050601"/>
                </a:lnTo>
                <a:lnTo>
                  <a:pt x="1600200" y="1051129"/>
                </a:lnTo>
                <a:lnTo>
                  <a:pt x="1638300" y="1051375"/>
                </a:lnTo>
                <a:lnTo>
                  <a:pt x="1676400" y="1051483"/>
                </a:lnTo>
                <a:lnTo>
                  <a:pt x="1714500" y="1051530"/>
                </a:lnTo>
                <a:lnTo>
                  <a:pt x="1752600" y="1051548"/>
                </a:lnTo>
                <a:lnTo>
                  <a:pt x="1790700" y="1051555"/>
                </a:lnTo>
                <a:lnTo>
                  <a:pt x="1828800" y="1051558"/>
                </a:lnTo>
                <a:lnTo>
                  <a:pt x="1828800" y="1051560"/>
                </a:lnTo>
                <a:close/>
              </a:path>
            </a:pathLst>
          </a:custGeom>
          <a:solidFill>
            <a:srgbClr val="D5D1F8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104120" y="3291840"/>
            <a:ext cx="1828800" cy="0"/>
          </a:xfrm>
          <a:prstGeom prst="bentConnector3">
            <a:avLst/>
          </a:prstGeom>
          <a:ln w="1270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921240" y="3337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238"/>
                </a:solidFill>
              </a:rPr>
              <a:t>plag marginal: Beta(12, 13)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0908792" y="2103120"/>
            <a:ext cx="0" cy="1188720"/>
          </a:xfrm>
          <a:prstGeom prst="bentConnector3">
            <a:avLst/>
          </a:prstGeom>
          <a:ln w="2540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87552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A9D8F"/>
                </a:solidFill>
              </a:rPr>
              <a:t>truth 0.44 -&gt; PIT 0.34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238"/>
                </a:solidFill>
              </a:rPr>
              <a:t>each present phase's marginal is a Beta distribution; PIT = where the truth lands inside it (its CDF value). Over many rows a flat PIT histogram means the spread is honest; a U means overconfident (truth keeps escaping the claimed range), a hump means underconfident.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864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238"/>
                </a:solidFill>
              </a:rPr>
              <a:t>the truth's modes never enter the model; its support enters twice -- it CONDITIONS alpha (the magnitude trunk reads [h, support]; teacher-forced at train/eval, sampled from the presence branch at inference) and it slices the score to the present set (a Dirichlet sub-composition is itself a Dirichlet, so the sliced score is a proper density).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263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A3"/>
                </a:solidFill>
              </a:rPr>
              <a:t>population: only truly-present (row, phase) pairs are scored -- ~41k pairs for plag down to ~240 for andalusite; single-phase rows are excluded (nothing to size). current limits (support-conditioned model): amp parity r 0.876 (was 0.715 support-blind) and its mean-shifted PIT groups fell 65% -&gt; 41%; the surviving miss is the ~11% of amp groups bimodal WITHIN one support (mixture parameterization is the staged candidate, #25). full report: runs/mode_head/&lt;tag&gt;/ (magnitude_parity, magnitude_pit).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Inside CompHead: one oxide Dirichlet per mineral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3"/>
                </a:solidFill>
              </a:rPr>
              <a:t>CompHead emits a Dirichlet over the 11 MAGEMin oxides for each of the 21 phases -- composition is bulk-controlled, so it reads h only (never the support or conditions)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834640"/>
            <a:ext cx="1371600" cy="1371600"/>
          </a:xfrm>
          <a:prstGeom prst="ellipse">
            <a:avLst/>
          </a:prstGeom>
          <a:solidFill>
            <a:srgbClr val="E8883A"/>
          </a:solidFill>
          <a:ln w="3175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34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from the frozen encoder (3.23M params, not trained here)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86000" y="3337560"/>
            <a:ext cx="45720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2788920"/>
            <a:ext cx="2651760" cy="146304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own trunk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Linear 256 -&gt; 128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GELU + dropout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32,896 params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486400" y="2537460"/>
            <a:ext cx="685800" cy="982980"/>
          </a:xfrm>
          <a:prstGeom prst="bentConnector3">
            <a:avLst/>
          </a:prstGeom>
          <a:ln w="1905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72200" y="1828800"/>
            <a:ext cx="3017520" cy="141732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mean branch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Linear 128 -&gt; 231 (21x11)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softmax per phase: m_p, the oxide mix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29,799 params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81160" y="2372868"/>
            <a:ext cx="365760" cy="32004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38360" y="1874519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21 simplex means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what each mineral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is made of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3520440"/>
            <a:ext cx="685800" cy="1028700"/>
          </a:xfrm>
          <a:prstGeom prst="bentConnector3">
            <a:avLst/>
          </a:prstGeom>
          <a:ln w="1905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3840480"/>
            <a:ext cx="3017520" cy="141732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concentration branch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Linear 128 -&gt; 21, softplus + eps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c_p = one certainty scalar per phase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2,709 params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81160" y="4384548"/>
            <a:ext cx="365760" cy="32004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38360" y="3886200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21 certainties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alpha_p = c_p · m_p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(mean invariant to c_p)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238"/>
                </a:solidFill>
              </a:rPr>
              <a:t>65,404 trainable params (trunk 32,896 + mean 29,799 + concentration 2,709) -- ~2.0% of the frozen encoder; the largest head, and still trivially retrainable.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A3"/>
                </a:solidFill>
              </a:rPr>
              <a:t>dials (configs/heads/joint_heads.yaml): comp_hidden 128 . comp_layers 1 (mini-sweep verdict: capacity above 128 x 1 hurts comp) . dropout 0.348 . alpha_eps 1e-6 . comp_eps 1e-4 (hard-zero clip on targets) . lambda_comp 1.0 . lambda_balance 54.5 -- fixed in code: GELU, AdamW, per-head grad-clip 1.0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6035040"/>
            <a:ext cx="3139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alpha_p = c_p · softmax(u_p)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mean x shared-concentration factorization: c_p scales certainty, never the predicted composition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76800" y="6035040"/>
            <a:ext cx="3139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L_comp = −mean_{p ∈ S} log Dir(x_p | alpha_p)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Dirichlet NLL only where the label marks phase p present; targets eps-clipped to full support, renormalized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0560" y="6035040"/>
            <a:ext cx="3139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L_closure = ‖(1−F_liq−F_fl)·Σᵢ mᵢCᵢ + F_liq·C_liq + F_fl·C_fl − B‖²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mass balance: ModeHead's modes m x CompHead's comps C must rebuild the input bulk B; melt/fluid side teacher-forced from the corpus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960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</a:rPr>
              <a:t>the loss,
explicitly: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Is the recipe right? One phase through the oxide Dirichlet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3"/>
                </a:solidFill>
              </a:rPr>
              <a:t>CompHead's eval: slice the per-phase Dirichlets to the row's true support, then score each present phase's 11-oxide simplex -- right mix (parity), honest error bars (PIT), and mass balance as the physics self-check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560320" cy="13716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head output for bulk X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alpha [21 phases x 11 oxides],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computed from the latent --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truth is not an input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2331720"/>
            <a:ext cx="320040" cy="27432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20440" y="1783080"/>
            <a:ext cx="2560320" cy="13716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one present phase: plag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alpha0 = 780 (confidence)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mean = alpha / alpha0: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SiO2 .55  Al2O3 .28  CaO .12 ...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2331720"/>
            <a:ext cx="320040" cy="27432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783080"/>
            <a:ext cx="2560320" cy="137160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predicted mix +/- spread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SiO2 0.55 +/- 0.018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Al2O3 0.28 +/- 0.016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CaO 0.12 +/- 0.012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2560320" cy="118872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one row's truth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bulk X . draw 17 . rung 50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plag measured (mass-frac):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.553  .285  .118  .041 ...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54680" y="3886200"/>
            <a:ext cx="320040" cy="27432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40" y="3429000"/>
            <a:ext cx="2560320" cy="118872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scoring -- truth meets prediction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eval: per-oxide Beta PIT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train: masked comp Dirichlet NLL</a:t>
            </a:r>
          </a:p>
        </p:txBody>
      </p:sp>
      <p:sp>
        <p:nvSpPr>
          <p:cNvPr id="13" name="Freeform 12"/>
          <p:cNvSpPr/>
          <p:nvPr/>
        </p:nvSpPr>
        <p:spPr>
          <a:xfrm>
            <a:off x="10104120" y="2240280"/>
            <a:ext cx="1828800" cy="1051560"/>
          </a:xfrm>
          <a:custGeom>
            <a:avLst/>
            <a:gdLst/>
            <a:ahLst/>
            <a:cxnLst/>
            <a:rect l="l" t="t" r="r" b="b"/>
            <a:pathLst>
              <a:path w="1828800" h="1051560">
                <a:moveTo>
                  <a:pt x="0" y="1051560"/>
                </a:moveTo>
                <a:lnTo>
                  <a:pt x="0" y="1050844"/>
                </a:lnTo>
                <a:lnTo>
                  <a:pt x="38100" y="1050329"/>
                </a:lnTo>
                <a:lnTo>
                  <a:pt x="76200" y="1049487"/>
                </a:lnTo>
                <a:lnTo>
                  <a:pt x="114300" y="1048141"/>
                </a:lnTo>
                <a:lnTo>
                  <a:pt x="152400" y="1046039"/>
                </a:lnTo>
                <a:lnTo>
                  <a:pt x="190500" y="1042828"/>
                </a:lnTo>
                <a:lnTo>
                  <a:pt x="228600" y="1038037"/>
                </a:lnTo>
                <a:lnTo>
                  <a:pt x="266700" y="1031050"/>
                </a:lnTo>
                <a:lnTo>
                  <a:pt x="304800" y="1021097"/>
                </a:lnTo>
                <a:lnTo>
                  <a:pt x="342900" y="1007252"/>
                </a:lnTo>
                <a:lnTo>
                  <a:pt x="381000" y="988449"/>
                </a:lnTo>
                <a:lnTo>
                  <a:pt x="419100" y="963528"/>
                </a:lnTo>
                <a:lnTo>
                  <a:pt x="457200" y="931310"/>
                </a:lnTo>
                <a:lnTo>
                  <a:pt x="495300" y="890704"/>
                </a:lnTo>
                <a:lnTo>
                  <a:pt x="533400" y="840842"/>
                </a:lnTo>
                <a:lnTo>
                  <a:pt x="571500" y="781241"/>
                </a:lnTo>
                <a:lnTo>
                  <a:pt x="609600" y="711966"/>
                </a:lnTo>
                <a:lnTo>
                  <a:pt x="647700" y="633774"/>
                </a:lnTo>
                <a:lnTo>
                  <a:pt x="685800" y="548225"/>
                </a:lnTo>
                <a:lnTo>
                  <a:pt x="723900" y="457719"/>
                </a:lnTo>
                <a:lnTo>
                  <a:pt x="762000" y="365451"/>
                </a:lnTo>
                <a:lnTo>
                  <a:pt x="800100" y="275267"/>
                </a:lnTo>
                <a:lnTo>
                  <a:pt x="838200" y="191423"/>
                </a:lnTo>
                <a:lnTo>
                  <a:pt x="876300" y="118263"/>
                </a:lnTo>
                <a:lnTo>
                  <a:pt x="914400" y="59857"/>
                </a:lnTo>
                <a:lnTo>
                  <a:pt x="952500" y="19623"/>
                </a:lnTo>
                <a:lnTo>
                  <a:pt x="990600" y="0"/>
                </a:lnTo>
                <a:lnTo>
                  <a:pt x="1028700" y="2198"/>
                </a:lnTo>
                <a:lnTo>
                  <a:pt x="1066800" y="26083"/>
                </a:lnTo>
                <a:lnTo>
                  <a:pt x="1104900" y="70182"/>
                </a:lnTo>
                <a:lnTo>
                  <a:pt x="1143000" y="131838"/>
                </a:lnTo>
                <a:lnTo>
                  <a:pt x="1181100" y="207474"/>
                </a:lnTo>
                <a:lnTo>
                  <a:pt x="1219200" y="292937"/>
                </a:lnTo>
                <a:lnTo>
                  <a:pt x="1257300" y="383869"/>
                </a:lnTo>
                <a:lnTo>
                  <a:pt x="1295400" y="476074"/>
                </a:lnTo>
                <a:lnTo>
                  <a:pt x="1333500" y="565820"/>
                </a:lnTo>
                <a:lnTo>
                  <a:pt x="1371600" y="650063"/>
                </a:lnTo>
                <a:lnTo>
                  <a:pt x="1409700" y="726570"/>
                </a:lnTo>
                <a:lnTo>
                  <a:pt x="1447800" y="793946"/>
                </a:lnTo>
                <a:lnTo>
                  <a:pt x="1485900" y="851585"/>
                </a:lnTo>
                <a:lnTo>
                  <a:pt x="1524000" y="899542"/>
                </a:lnTo>
                <a:lnTo>
                  <a:pt x="1562100" y="938392"/>
                </a:lnTo>
                <a:lnTo>
                  <a:pt x="1600200" y="969059"/>
                </a:lnTo>
                <a:lnTo>
                  <a:pt x="1638300" y="992661"/>
                </a:lnTo>
                <a:lnTo>
                  <a:pt x="1676400" y="1010382"/>
                </a:lnTo>
                <a:lnTo>
                  <a:pt x="1714500" y="1023367"/>
                </a:lnTo>
                <a:lnTo>
                  <a:pt x="1752600" y="1032658"/>
                </a:lnTo>
                <a:lnTo>
                  <a:pt x="1790700" y="1039149"/>
                </a:lnTo>
                <a:lnTo>
                  <a:pt x="1828800" y="1043580"/>
                </a:lnTo>
                <a:lnTo>
                  <a:pt x="1828800" y="1051560"/>
                </a:lnTo>
                <a:close/>
              </a:path>
            </a:pathLst>
          </a:custGeom>
          <a:solidFill>
            <a:srgbClr val="D5D1F8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0104120" y="3291840"/>
            <a:ext cx="1828800" cy="0"/>
          </a:xfrm>
          <a:prstGeom prst="bentConnector3">
            <a:avLst/>
          </a:prstGeom>
          <a:ln w="1270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921240" y="3337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238"/>
                </a:solidFill>
              </a:rPr>
              <a:t>SiO2 marginal (Beta)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1073384" y="2103120"/>
            <a:ext cx="0" cy="1188720"/>
          </a:xfrm>
          <a:prstGeom prst="bentConnector3">
            <a:avLst/>
          </a:prstGeom>
          <a:ln w="2540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7552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A9D8F"/>
                </a:solidFill>
              </a:rPr>
              <a:t>truth 0.553 -&gt; PIT 0.43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54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238"/>
                </a:solidFill>
              </a:rPr>
              <a:t>population: only truly-present (row, phase) pairs -- 42k for cpx down to ~240 for andalusite. headline (val roster, tuned): comp NLL -53.85 nats per present (row, phase), from -50.25 untuned; majors' PIT tails sit near the nominal 10% (cpx 0.055/0.056).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238"/>
                </a:solidFill>
              </a:rPr>
              <a:t>the tuned confidence spans ~3 decades and tracks real mineralogy: near-stoichiometric phases (q, ru, sph, sill) earn alpha0 up to ~30,000 while wide solid solutions (spl, ilm, cpx) stay soft -- the untuned model hedged every phase into alpha0 100-650. mass balance closes to 1.3% mean L2 with signed per-oxide residuals centered on zero; plag An# parity r = 0.93.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63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A3"/>
                </a:solidFill>
              </a:rPr>
              <a:t>current limits: hard-zero oxides ride the eps floor (a quartz row is 'SiO2 + 10 floors'); ilmenite FeO/TiO2 stays the accuracy outlier; ~0.3% of corpus rows cannot self-close and set an unattainable closure floor there. full report: runs/comp_head/&lt;tag&gt;/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Inside CondHead: a support-conditioned mixture over (T, P, H2O)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3"/>
                </a:solidFill>
              </a:rPr>
              <a:t>the inverse-inference head, chain rule p(support | h) x p(T, P, H2O | h, support): the presence vector joins h at the input -- teacher-forced true set at train, ModeHead-sampled at inference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834640"/>
            <a:ext cx="1371600" cy="1371600"/>
          </a:xfrm>
          <a:prstGeom prst="ellipse">
            <a:avLst/>
          </a:prstGeom>
          <a:solidFill>
            <a:srgbClr val="E8883A"/>
          </a:solidFill>
          <a:ln w="3175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34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3A3"/>
                </a:solidFill>
              </a:rPr>
              <a:t>frozen h [256] ++ presence vector [21] = 277-dim input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86000" y="3337560"/>
            <a:ext cx="45720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2788920"/>
            <a:ext cx="2651760" cy="146304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own trunk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2 x [Linear -&gt; 512]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GELU + dropout each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404,992 params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486400" y="2354580"/>
            <a:ext cx="685800" cy="1165860"/>
          </a:xfrm>
          <a:prstGeom prst="bentConnector3">
            <a:avLst/>
          </a:prstGeom>
          <a:ln w="1905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72200" y="1828800"/>
            <a:ext cx="3017520" cy="105156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weight branch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Linear 512 -&gt; 9 (3 axes x K=3)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log-softmax over K per axis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4,617 params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81160" y="2189988"/>
            <a:ext cx="365760" cy="32004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38360" y="1874519"/>
            <a:ext cx="2057400" cy="9601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mixture weights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which condition mode,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how likely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3520440"/>
            <a:ext cx="685800" cy="22860"/>
          </a:xfrm>
          <a:prstGeom prst="bentConnector3">
            <a:avLst/>
          </a:prstGeom>
          <a:ln w="1905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3017520"/>
            <a:ext cx="3017520" cy="10515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mean branch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Linear 512 -&gt; 9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mu_k in raw units (C, kbar, wt%)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4,617 params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81160" y="3378708"/>
            <a:ext cx="365760" cy="32004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38360" y="3063239"/>
            <a:ext cx="2057400" cy="9601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component centers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e.g. deep-wet vs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shallow-dry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0" y="3520440"/>
            <a:ext cx="685800" cy="1211580"/>
          </a:xfrm>
          <a:prstGeom prst="bentConnector3">
            <a:avLst/>
          </a:prstGeom>
          <a:ln w="1905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72200" y="4206240"/>
            <a:ext cx="3017520" cy="105156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spread branch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Linear 512 -&gt; 9, softplus + eps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sigma_k, heteroscedastic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4,617 params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81160" y="4567428"/>
            <a:ext cx="365760" cy="32004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38360" y="4251959"/>
            <a:ext cx="2057400" cy="9601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per-mode spreads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row-dependent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error bars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492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238"/>
                </a:solidFill>
              </a:rPr>
              <a:t>418,843 trainable params (trunk 404,992 + 3 x 4,617) -- ~13% of the frozen encoder; the 512 x 2 trunk is the mini-sweep winner (0.29 nats over the starved 128 x 1). Output biases seeded at the targets' mean/std (raw-unit cold-start fix).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A3"/>
                </a:solidFill>
              </a:rPr>
              <a:t>dials (configs/heads/joint_heads.yaml): cond_n_components 3 . cond_sigma_eps 1e-3 . cond_hidden 512 . cond_layers 2 (adopted from the architecture mini-sweep) . dropout 0.348 . lambda_cond 0.01 -- fixed in code: GELU, AdamW, per-head grad-clip 1.0, linear units (no log transform of T/P/H2O)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6035040"/>
            <a:ext cx="3139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L_cond = Σ_axis −log Σ_k w_k · N(t | mu_k, sigma_k²)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per-axis GMM NLL in raw units; minimized when the mixture matches each rock's condition distribution per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0" y="6035040"/>
            <a:ext cx="3139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support in, never through the encoder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teacher-forced true set at train -&gt; no gradient coupling to ModeHead; sampled sets at inference (exposure bias, #31)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0560" y="6035040"/>
            <a:ext cx="3139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L = L_mode + λ_comp·L_comp + λ_cond·L_cond + λ_bal·L_closure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heads share no weights and each is snapshotted at its own raw-val best, so λ_cond only absorbs the raw-unit scale in the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80760"/>
            <a:ext cx="960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</a:rPr>
              <a:t>the loss,
explicitly: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Is the 68% band honest? Coverage, and the exposure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3"/>
                </a:solidFill>
              </a:rPr>
              <a:t>CondHead's eval scores every row twice: told the TRUE mineral list (teacher-forced -- the head's own skill) and told ModeHead's SAMPLED list (the deployed pipeline). The first is calibrated; the gap to the second is the exposure bias.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651760" cy="128016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one row's input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h [256] ++ true presence [21]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bulk X: plag cpx amp ilm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2331720"/>
            <a:ext cx="320040" cy="27432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28800"/>
            <a:ext cx="2834640" cy="128016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T-axis mixture (K=3)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deep-wet:  mu 780 C, w 0.58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shallow-dry: mu 940 C, w 0.39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(third component ~unused)</a:t>
            </a:r>
          </a:p>
        </p:txBody>
      </p:sp>
      <p:sp>
        <p:nvSpPr>
          <p:cNvPr id="8" name="Freeform 7"/>
          <p:cNvSpPr/>
          <p:nvPr/>
        </p:nvSpPr>
        <p:spPr>
          <a:xfrm>
            <a:off x="6903720" y="1874519"/>
            <a:ext cx="2377440" cy="1143001"/>
          </a:xfrm>
          <a:custGeom>
            <a:avLst/>
            <a:gdLst/>
            <a:ahLst/>
            <a:cxnLst/>
            <a:rect l="l" t="t" r="r" b="b"/>
            <a:pathLst>
              <a:path w="2377440" h="1143001">
                <a:moveTo>
                  <a:pt x="0" y="1143001"/>
                </a:moveTo>
                <a:lnTo>
                  <a:pt x="0" y="1140938"/>
                </a:lnTo>
                <a:lnTo>
                  <a:pt x="49529" y="1138428"/>
                </a:lnTo>
                <a:lnTo>
                  <a:pt x="99060" y="1133390"/>
                </a:lnTo>
                <a:lnTo>
                  <a:pt x="148589" y="1123858"/>
                </a:lnTo>
                <a:lnTo>
                  <a:pt x="198120" y="1106860"/>
                </a:lnTo>
                <a:lnTo>
                  <a:pt x="247650" y="1078329"/>
                </a:lnTo>
                <a:lnTo>
                  <a:pt x="297180" y="1033310"/>
                </a:lnTo>
                <a:lnTo>
                  <a:pt x="346710" y="966661"/>
                </a:lnTo>
                <a:lnTo>
                  <a:pt x="396240" y="874305"/>
                </a:lnTo>
                <a:lnTo>
                  <a:pt x="445770" y="754939"/>
                </a:lnTo>
                <a:lnTo>
                  <a:pt x="495300" y="611787"/>
                </a:lnTo>
                <a:lnTo>
                  <a:pt x="544830" y="453767"/>
                </a:lnTo>
                <a:lnTo>
                  <a:pt x="594359" y="295397"/>
                </a:lnTo>
                <a:lnTo>
                  <a:pt x="643890" y="155020"/>
                </a:lnTo>
                <a:lnTo>
                  <a:pt x="693420" y="51478"/>
                </a:lnTo>
                <a:lnTo>
                  <a:pt x="742950" y="0"/>
                </a:lnTo>
                <a:lnTo>
                  <a:pt x="792479" y="8538"/>
                </a:lnTo>
                <a:lnTo>
                  <a:pt x="842010" y="75747"/>
                </a:lnTo>
                <a:lnTo>
                  <a:pt x="891540" y="191322"/>
                </a:lnTo>
                <a:lnTo>
                  <a:pt x="941069" y="338550"/>
                </a:lnTo>
                <a:lnTo>
                  <a:pt x="990600" y="498187"/>
                </a:lnTo>
                <a:lnTo>
                  <a:pt x="1040130" y="652364"/>
                </a:lnTo>
                <a:lnTo>
                  <a:pt x="1089660" y="787363"/>
                </a:lnTo>
                <a:lnTo>
                  <a:pt x="1139189" y="894668"/>
                </a:lnTo>
                <a:lnTo>
                  <a:pt x="1188720" y="970345"/>
                </a:lnTo>
                <a:lnTo>
                  <a:pt x="1238250" y="1013401"/>
                </a:lnTo>
                <a:lnTo>
                  <a:pt x="1287779" y="1024014"/>
                </a:lnTo>
                <a:lnTo>
                  <a:pt x="1337309" y="1002483"/>
                </a:lnTo>
                <a:lnTo>
                  <a:pt x="1386840" y="949410"/>
                </a:lnTo>
                <a:lnTo>
                  <a:pt x="1436370" y="867099"/>
                </a:lnTo>
                <a:lnTo>
                  <a:pt x="1485900" y="761531"/>
                </a:lnTo>
                <a:lnTo>
                  <a:pt x="1535430" y="643826"/>
                </a:lnTo>
                <a:lnTo>
                  <a:pt x="1584960" y="530029"/>
                </a:lnTo>
                <a:lnTo>
                  <a:pt x="1634490" y="438642"/>
                </a:lnTo>
                <a:lnTo>
                  <a:pt x="1684020" y="386335"/>
                </a:lnTo>
                <a:lnTo>
                  <a:pt x="1733550" y="383317"/>
                </a:lnTo>
                <a:lnTo>
                  <a:pt x="1783080" y="430256"/>
                </a:lnTo>
                <a:lnTo>
                  <a:pt x="1832610" y="518129"/>
                </a:lnTo>
                <a:lnTo>
                  <a:pt x="1882140" y="631084"/>
                </a:lnTo>
                <a:lnTo>
                  <a:pt x="1931670" y="751118"/>
                </a:lnTo>
                <a:lnTo>
                  <a:pt x="1981200" y="862677"/>
                </a:lnTo>
                <a:lnTo>
                  <a:pt x="2030729" y="955625"/>
                </a:lnTo>
                <a:lnTo>
                  <a:pt x="2080260" y="1025967"/>
                </a:lnTo>
                <a:lnTo>
                  <a:pt x="2129790" y="1074694"/>
                </a:lnTo>
                <a:lnTo>
                  <a:pt x="2179320" y="1105748"/>
                </a:lnTo>
                <a:lnTo>
                  <a:pt x="2228850" y="1124016"/>
                </a:lnTo>
                <a:lnTo>
                  <a:pt x="2278380" y="1133960"/>
                </a:lnTo>
                <a:lnTo>
                  <a:pt x="2327910" y="1138978"/>
                </a:lnTo>
                <a:lnTo>
                  <a:pt x="2377440" y="1141328"/>
                </a:lnTo>
                <a:lnTo>
                  <a:pt x="2377440" y="1143001"/>
                </a:lnTo>
                <a:close/>
              </a:path>
            </a:pathLst>
          </a:custGeom>
          <a:solidFill>
            <a:srgbClr val="BCEAE5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903720" y="3017520"/>
            <a:ext cx="2377440" cy="0"/>
          </a:xfrm>
          <a:prstGeom prst="bentConnector3">
            <a:avLst/>
          </a:prstGeom>
          <a:ln w="1270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20840" y="30632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238"/>
                </a:solidFill>
              </a:rPr>
              <a:t>p(T | h, support): two condition modes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807147" y="1737360"/>
            <a:ext cx="0" cy="1280160"/>
          </a:xfrm>
          <a:prstGeom prst="bentConnector3">
            <a:avLst/>
          </a:prstGeom>
          <a:ln w="2540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20840" y="137159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A9D8F"/>
                </a:solidFill>
              </a:rPr>
              <a:t>truth T = 815 C, inside the 68% band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828800"/>
            <a:ext cx="2148840" cy="12801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coverage question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does the central 68% of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the mixture catch the</a:t>
            </a:r>
          </a:p>
          <a:p>
            <a:pPr algn="ctr"/>
            <a:r>
              <a:rPr sz="800" b="0">
                <a:solidFill>
                  <a:srgbClr val="8A93A3"/>
                </a:solidFill>
              </a:rPr>
              <a:t>truth ~68% of rows?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57600"/>
            <a:ext cx="5394960" cy="10515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teacher-forced (true list): honest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68% band catches truth on 71.5% of rows (T),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67.1% (P), 68.4% (H2O) . NLL 8.32 nats/row (was 8.60)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57600"/>
            <a:ext cx="5532120" cy="1051560"/>
          </a:xfrm>
          <a:prstGeom prst="roundRect">
            <a:avLst/>
          </a:prstGeom>
          <a:solidFill>
            <a:srgbClr val="F6E3E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ModeHead-sampled list: the exposure gap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coverage collapses to 26-35% . NLL +2.4 to +3.9 nats/axis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(P_kbar hits inf rows) -- sharper under truth = more wrong under 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377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238"/>
                </a:solidFill>
              </a:rPr>
              <a:t>the gap is a deliberate debt: the head trains and is graded teacher-forced (mineralogy-first -- conditions are the bonus product), and tuning made the head sharper, which widened the gap. It is measured, tracked (#31, P3), and untouched by design until the mineralogy heads are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23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238"/>
                </a:solidFill>
              </a:rPr>
              <a:t>population: all 55,576 val-roster rows, both scoring passes on the same rows with a fixed sampling seed. per-axis NLL (tuned, teacher-forced): T 4.97, P 1.82, H2O 1.53 -- summed 8.32.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093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A3"/>
                </a:solidFill>
              </a:rPr>
              <a:t>current limits: axes are independent mixtures (no (T, P) correlation, deferred per ADR 006); T is a derived cooling endpoint, not a sampled axis; sampled-support P rows can blow up numerically (the inf rows are #31's starting point). full report: runs/cond_head/&lt;tag&gt;/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What the heads emit (distributions, not point estimates)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651760"/>
            <a:ext cx="2286000" cy="155448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example bulk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SiO2 50  Al2O3 16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MgO 7.5  FeO 11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Sr 400 ppm ...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80360" y="3246120"/>
            <a:ext cx="45720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56432" y="2770632"/>
            <a:ext cx="1316736" cy="1316736"/>
          </a:xfrm>
          <a:prstGeom prst="ellipse">
            <a:avLst/>
          </a:prstGeom>
          <a:solidFill>
            <a:srgbClr val="E8883A"/>
          </a:solidFill>
          <a:ln w="3175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92040" y="3246120"/>
            <a:ext cx="45720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0" y="1417320"/>
            <a:ext cx="6309360" cy="205740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463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9D8F"/>
                </a:solidFill>
              </a:rPr>
              <a:t>ModeHead -&gt; per phase: p(present) x amount-when-present (hurdle Dirichlet; crystals renormalized to 1, groundmass/melt excluded)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874519"/>
            <a:ext cx="1892807" cy="29260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97496" y="2020824"/>
            <a:ext cx="420624" cy="0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97496" y="1956816"/>
            <a:ext cx="0" cy="128015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18120" y="1956816"/>
            <a:ext cx="0" cy="128015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09560" y="182879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38"/>
                </a:solidFill>
              </a:rPr>
              <a:t>plagioclase  0.45  |  p 1.00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185415"/>
            <a:ext cx="1135684" cy="29260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682435" y="2331720"/>
            <a:ext cx="336499" cy="0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82435" y="2267712"/>
            <a:ext cx="0" cy="128015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18934" y="2267712"/>
            <a:ext cx="0" cy="128015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10374" y="213969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38"/>
                </a:solidFill>
              </a:rPr>
              <a:t>clinopyroxene  0.27  |  p 0.97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496312"/>
            <a:ext cx="757123" cy="292608"/>
          </a:xfrm>
          <a:prstGeom prst="roundRect">
            <a:avLst/>
          </a:prstGeom>
          <a:solidFill>
            <a:srgbClr val="A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219748" y="2642616"/>
            <a:ext cx="504749" cy="0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19748" y="2578608"/>
            <a:ext cx="0" cy="128016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24497" y="2578608"/>
            <a:ext cx="0" cy="128016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15937" y="24505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38"/>
                </a:solidFill>
              </a:rPr>
              <a:t>amphibole  0.18  |  p 0.41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807208"/>
            <a:ext cx="420623" cy="292608"/>
          </a:xfrm>
          <a:prstGeom prst="roundRect">
            <a:avLst/>
          </a:prstGeom>
          <a:solidFill>
            <a:srgbClr val="A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967374" y="2953512"/>
            <a:ext cx="336499" cy="0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67374" y="2889504"/>
            <a:ext cx="0" cy="128016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303873" y="2889504"/>
            <a:ext cx="0" cy="128016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95313" y="276148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38"/>
                </a:solidFill>
              </a:rPr>
              <a:t>orthopyroxene  0.10  |  p 0.63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0" y="3118104"/>
            <a:ext cx="168249" cy="29260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799124" y="3264408"/>
            <a:ext cx="168250" cy="0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799124" y="3200400"/>
            <a:ext cx="0" cy="128016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967374" y="3200400"/>
            <a:ext cx="0" cy="128016"/>
          </a:xfrm>
          <a:prstGeom prst="bentConnector3">
            <a:avLst/>
          </a:prstGeom>
          <a:ln w="15875">
            <a:solidFill>
              <a:srgbClr val="1A22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58814" y="307238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38"/>
                </a:solidFill>
              </a:rPr>
              <a:t>magnetite  0.04  |  p 0.95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3657600"/>
            <a:ext cx="6309360" cy="233172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3703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5CE7"/>
                </a:solidFill>
              </a:rPr>
              <a:t>CondHead -&gt; storage conditions (per-axis GMM; P and H2O are sampled axes, T is the derived phenocryst-window endpoint temperature)</a:t>
            </a:r>
          </a:p>
        </p:txBody>
      </p:sp>
      <p:sp>
        <p:nvSpPr>
          <p:cNvPr id="37" name="Freeform 36"/>
          <p:cNvSpPr/>
          <p:nvPr/>
        </p:nvSpPr>
        <p:spPr>
          <a:xfrm>
            <a:off x="5806440" y="4434840"/>
            <a:ext cx="1737360" cy="960119"/>
          </a:xfrm>
          <a:custGeom>
            <a:avLst/>
            <a:gdLst/>
            <a:ahLst/>
            <a:cxnLst/>
            <a:rect l="l" t="t" r="r" b="b"/>
            <a:pathLst>
              <a:path w="1737360" h="960119">
                <a:moveTo>
                  <a:pt x="0" y="960119"/>
                </a:moveTo>
                <a:lnTo>
                  <a:pt x="0" y="952846"/>
                </a:lnTo>
                <a:lnTo>
                  <a:pt x="36195" y="949286"/>
                </a:lnTo>
                <a:lnTo>
                  <a:pt x="72390" y="944254"/>
                </a:lnTo>
                <a:lnTo>
                  <a:pt x="108585" y="937276"/>
                </a:lnTo>
                <a:lnTo>
                  <a:pt x="144780" y="927782"/>
                </a:lnTo>
                <a:lnTo>
                  <a:pt x="180975" y="915112"/>
                </a:lnTo>
                <a:lnTo>
                  <a:pt x="217169" y="898531"/>
                </a:lnTo>
                <a:lnTo>
                  <a:pt x="253365" y="877258"/>
                </a:lnTo>
                <a:lnTo>
                  <a:pt x="289559" y="850511"/>
                </a:lnTo>
                <a:lnTo>
                  <a:pt x="325755" y="817567"/>
                </a:lnTo>
                <a:lnTo>
                  <a:pt x="361949" y="777839"/>
                </a:lnTo>
                <a:lnTo>
                  <a:pt x="398145" y="730958"/>
                </a:lnTo>
                <a:lnTo>
                  <a:pt x="434339" y="676862"/>
                </a:lnTo>
                <a:lnTo>
                  <a:pt x="470535" y="615883"/>
                </a:lnTo>
                <a:lnTo>
                  <a:pt x="506730" y="548809"/>
                </a:lnTo>
                <a:lnTo>
                  <a:pt x="542925" y="476928"/>
                </a:lnTo>
                <a:lnTo>
                  <a:pt x="579119" y="402028"/>
                </a:lnTo>
                <a:lnTo>
                  <a:pt x="615315" y="326353"/>
                </a:lnTo>
                <a:lnTo>
                  <a:pt x="651510" y="252517"/>
                </a:lnTo>
                <a:lnTo>
                  <a:pt x="687705" y="183360"/>
                </a:lnTo>
                <a:lnTo>
                  <a:pt x="723900" y="121779"/>
                </a:lnTo>
                <a:lnTo>
                  <a:pt x="760094" y="70526"/>
                </a:lnTo>
                <a:lnTo>
                  <a:pt x="796290" y="32010"/>
                </a:lnTo>
                <a:lnTo>
                  <a:pt x="832484" y="8104"/>
                </a:lnTo>
                <a:lnTo>
                  <a:pt x="868680" y="0"/>
                </a:lnTo>
                <a:lnTo>
                  <a:pt x="904874" y="8104"/>
                </a:lnTo>
                <a:lnTo>
                  <a:pt x="941070" y="32010"/>
                </a:lnTo>
                <a:lnTo>
                  <a:pt x="977264" y="70526"/>
                </a:lnTo>
                <a:lnTo>
                  <a:pt x="1013460" y="121779"/>
                </a:lnTo>
                <a:lnTo>
                  <a:pt x="1049654" y="183360"/>
                </a:lnTo>
                <a:lnTo>
                  <a:pt x="1085850" y="252517"/>
                </a:lnTo>
                <a:lnTo>
                  <a:pt x="1122044" y="326353"/>
                </a:lnTo>
                <a:lnTo>
                  <a:pt x="1158240" y="402028"/>
                </a:lnTo>
                <a:lnTo>
                  <a:pt x="1194435" y="476928"/>
                </a:lnTo>
                <a:lnTo>
                  <a:pt x="1230630" y="548809"/>
                </a:lnTo>
                <a:lnTo>
                  <a:pt x="1266824" y="615883"/>
                </a:lnTo>
                <a:lnTo>
                  <a:pt x="1303019" y="676862"/>
                </a:lnTo>
                <a:lnTo>
                  <a:pt x="1339215" y="730958"/>
                </a:lnTo>
                <a:lnTo>
                  <a:pt x="1375409" y="777839"/>
                </a:lnTo>
                <a:lnTo>
                  <a:pt x="1411605" y="817567"/>
                </a:lnTo>
                <a:lnTo>
                  <a:pt x="1447799" y="850511"/>
                </a:lnTo>
                <a:lnTo>
                  <a:pt x="1483995" y="877258"/>
                </a:lnTo>
                <a:lnTo>
                  <a:pt x="1520189" y="898531"/>
                </a:lnTo>
                <a:lnTo>
                  <a:pt x="1556384" y="915112"/>
                </a:lnTo>
                <a:lnTo>
                  <a:pt x="1592580" y="927782"/>
                </a:lnTo>
                <a:lnTo>
                  <a:pt x="1628775" y="937276"/>
                </a:lnTo>
                <a:lnTo>
                  <a:pt x="1664969" y="944254"/>
                </a:lnTo>
                <a:lnTo>
                  <a:pt x="1701165" y="949286"/>
                </a:lnTo>
                <a:lnTo>
                  <a:pt x="1737360" y="952846"/>
                </a:lnTo>
                <a:lnTo>
                  <a:pt x="1737360" y="960119"/>
                </a:lnTo>
                <a:close/>
              </a:path>
            </a:pathLst>
          </a:custGeom>
          <a:solidFill>
            <a:srgbClr val="C4D1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5806440" y="5394959"/>
            <a:ext cx="1737360" cy="0"/>
          </a:xfrm>
          <a:prstGeom prst="bentConnector3">
            <a:avLst/>
          </a:prstGeom>
          <a:ln w="1270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23559" y="54406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238"/>
                </a:solidFill>
              </a:rPr>
              <a:t>T  1010 +/- 40 C</a:t>
            </a:r>
          </a:p>
        </p:txBody>
      </p:sp>
      <p:sp>
        <p:nvSpPr>
          <p:cNvPr id="40" name="Freeform 39"/>
          <p:cNvSpPr/>
          <p:nvPr/>
        </p:nvSpPr>
        <p:spPr>
          <a:xfrm>
            <a:off x="7772400" y="4434840"/>
            <a:ext cx="1737360" cy="960119"/>
          </a:xfrm>
          <a:custGeom>
            <a:avLst/>
            <a:gdLst/>
            <a:ahLst/>
            <a:cxnLst/>
            <a:rect l="l" t="t" r="r" b="b"/>
            <a:pathLst>
              <a:path w="1737360" h="960119">
                <a:moveTo>
                  <a:pt x="0" y="960119"/>
                </a:moveTo>
                <a:lnTo>
                  <a:pt x="0" y="939852"/>
                </a:lnTo>
                <a:lnTo>
                  <a:pt x="36195" y="932353"/>
                </a:lnTo>
                <a:lnTo>
                  <a:pt x="72390" y="922586"/>
                </a:lnTo>
                <a:lnTo>
                  <a:pt x="108585" y="910058"/>
                </a:lnTo>
                <a:lnTo>
                  <a:pt x="144780" y="894237"/>
                </a:lnTo>
                <a:lnTo>
                  <a:pt x="180974" y="874570"/>
                </a:lnTo>
                <a:lnTo>
                  <a:pt x="217170" y="850511"/>
                </a:lnTo>
                <a:lnTo>
                  <a:pt x="253365" y="821553"/>
                </a:lnTo>
                <a:lnTo>
                  <a:pt x="289560" y="787277"/>
                </a:lnTo>
                <a:lnTo>
                  <a:pt x="325754" y="747391"/>
                </a:lnTo>
                <a:lnTo>
                  <a:pt x="361950" y="701784"/>
                </a:lnTo>
                <a:lnTo>
                  <a:pt x="398145" y="650575"/>
                </a:lnTo>
                <a:lnTo>
                  <a:pt x="434340" y="594149"/>
                </a:lnTo>
                <a:lnTo>
                  <a:pt x="470534" y="533196"/>
                </a:lnTo>
                <a:lnTo>
                  <a:pt x="506730" y="468718"/>
                </a:lnTo>
                <a:lnTo>
                  <a:pt x="542925" y="402028"/>
                </a:lnTo>
                <a:lnTo>
                  <a:pt x="579120" y="334721"/>
                </a:lnTo>
                <a:lnTo>
                  <a:pt x="615315" y="268623"/>
                </a:lnTo>
                <a:lnTo>
                  <a:pt x="651510" y="205713"/>
                </a:lnTo>
                <a:lnTo>
                  <a:pt x="687705" y="148031"/>
                </a:lnTo>
                <a:lnTo>
                  <a:pt x="723900" y="97571"/>
                </a:lnTo>
                <a:lnTo>
                  <a:pt x="760095" y="56167"/>
                </a:lnTo>
                <a:lnTo>
                  <a:pt x="796290" y="25381"/>
                </a:lnTo>
                <a:lnTo>
                  <a:pt x="832485" y="6409"/>
                </a:lnTo>
                <a:lnTo>
                  <a:pt x="868680" y="0"/>
                </a:lnTo>
                <a:lnTo>
                  <a:pt x="904875" y="6409"/>
                </a:lnTo>
                <a:lnTo>
                  <a:pt x="941070" y="25381"/>
                </a:lnTo>
                <a:lnTo>
                  <a:pt x="977265" y="56167"/>
                </a:lnTo>
                <a:lnTo>
                  <a:pt x="1013460" y="97571"/>
                </a:lnTo>
                <a:lnTo>
                  <a:pt x="1049655" y="148031"/>
                </a:lnTo>
                <a:lnTo>
                  <a:pt x="1085850" y="205713"/>
                </a:lnTo>
                <a:lnTo>
                  <a:pt x="1122045" y="268623"/>
                </a:lnTo>
                <a:lnTo>
                  <a:pt x="1158240" y="334721"/>
                </a:lnTo>
                <a:lnTo>
                  <a:pt x="1194435" y="402028"/>
                </a:lnTo>
                <a:lnTo>
                  <a:pt x="1230630" y="468718"/>
                </a:lnTo>
                <a:lnTo>
                  <a:pt x="1266825" y="533196"/>
                </a:lnTo>
                <a:lnTo>
                  <a:pt x="1303020" y="594149"/>
                </a:lnTo>
                <a:lnTo>
                  <a:pt x="1339215" y="650575"/>
                </a:lnTo>
                <a:lnTo>
                  <a:pt x="1375410" y="701784"/>
                </a:lnTo>
                <a:lnTo>
                  <a:pt x="1411605" y="747391"/>
                </a:lnTo>
                <a:lnTo>
                  <a:pt x="1447800" y="787277"/>
                </a:lnTo>
                <a:lnTo>
                  <a:pt x="1483995" y="821553"/>
                </a:lnTo>
                <a:lnTo>
                  <a:pt x="1520190" y="850511"/>
                </a:lnTo>
                <a:lnTo>
                  <a:pt x="1556385" y="874570"/>
                </a:lnTo>
                <a:lnTo>
                  <a:pt x="1592580" y="894237"/>
                </a:lnTo>
                <a:lnTo>
                  <a:pt x="1628775" y="910058"/>
                </a:lnTo>
                <a:lnTo>
                  <a:pt x="1664970" y="922586"/>
                </a:lnTo>
                <a:lnTo>
                  <a:pt x="1701165" y="932353"/>
                </a:lnTo>
                <a:lnTo>
                  <a:pt x="1737360" y="939852"/>
                </a:lnTo>
                <a:lnTo>
                  <a:pt x="1737360" y="960119"/>
                </a:lnTo>
                <a:close/>
              </a:path>
            </a:pathLst>
          </a:custGeom>
          <a:solidFill>
            <a:srgbClr val="BCEAE5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772400" y="5394959"/>
            <a:ext cx="1737360" cy="0"/>
          </a:xfrm>
          <a:prstGeom prst="bentConnector3">
            <a:avLst/>
          </a:prstGeom>
          <a:ln w="1270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589520" y="54406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238"/>
                </a:solidFill>
              </a:rPr>
              <a:t>P  4.8 +/- 1.9 kbar</a:t>
            </a:r>
          </a:p>
        </p:txBody>
      </p:sp>
      <p:sp>
        <p:nvSpPr>
          <p:cNvPr id="43" name="Freeform 42"/>
          <p:cNvSpPr/>
          <p:nvPr/>
        </p:nvSpPr>
        <p:spPr>
          <a:xfrm>
            <a:off x="9738360" y="4434840"/>
            <a:ext cx="1783080" cy="960119"/>
          </a:xfrm>
          <a:custGeom>
            <a:avLst/>
            <a:gdLst/>
            <a:ahLst/>
            <a:cxnLst/>
            <a:rect l="l" t="t" r="r" b="b"/>
            <a:pathLst>
              <a:path w="1783080" h="960119">
                <a:moveTo>
                  <a:pt x="0" y="960119"/>
                </a:moveTo>
                <a:lnTo>
                  <a:pt x="0" y="954380"/>
                </a:lnTo>
                <a:lnTo>
                  <a:pt x="37147" y="949181"/>
                </a:lnTo>
                <a:lnTo>
                  <a:pt x="74295" y="940156"/>
                </a:lnTo>
                <a:lnTo>
                  <a:pt x="111442" y="925235"/>
                </a:lnTo>
                <a:lnTo>
                  <a:pt x="148590" y="901749"/>
                </a:lnTo>
                <a:lnTo>
                  <a:pt x="185737" y="866600"/>
                </a:lnTo>
                <a:lnTo>
                  <a:pt x="222885" y="816648"/>
                </a:lnTo>
                <a:lnTo>
                  <a:pt x="260032" y="749364"/>
                </a:lnTo>
                <a:lnTo>
                  <a:pt x="297180" y="663673"/>
                </a:lnTo>
                <a:lnTo>
                  <a:pt x="334327" y="560845"/>
                </a:lnTo>
                <a:lnTo>
                  <a:pt x="371475" y="445176"/>
                </a:lnTo>
                <a:lnTo>
                  <a:pt x="408622" y="324178"/>
                </a:lnTo>
                <a:lnTo>
                  <a:pt x="445770" y="208043"/>
                </a:lnTo>
                <a:lnTo>
                  <a:pt x="482917" y="108354"/>
                </a:lnTo>
                <a:lnTo>
                  <a:pt x="520065" y="36181"/>
                </a:lnTo>
                <a:lnTo>
                  <a:pt x="557212" y="0"/>
                </a:lnTo>
                <a:lnTo>
                  <a:pt x="594360" y="3933"/>
                </a:lnTo>
                <a:lnTo>
                  <a:pt x="631507" y="46793"/>
                </a:lnTo>
                <a:lnTo>
                  <a:pt x="668655" y="122197"/>
                </a:lnTo>
                <a:lnTo>
                  <a:pt x="705802" y="219711"/>
                </a:lnTo>
                <a:lnTo>
                  <a:pt x="742950" y="326710"/>
                </a:lnTo>
                <a:lnTo>
                  <a:pt x="780097" y="430457"/>
                </a:lnTo>
                <a:lnTo>
                  <a:pt x="817245" y="519915"/>
                </a:lnTo>
                <a:lnTo>
                  <a:pt x="854392" y="586970"/>
                </a:lnTo>
                <a:lnTo>
                  <a:pt x="891540" y="626939"/>
                </a:lnTo>
                <a:lnTo>
                  <a:pt x="928687" y="638485"/>
                </a:lnTo>
                <a:lnTo>
                  <a:pt x="965835" y="623138"/>
                </a:lnTo>
                <a:lnTo>
                  <a:pt x="1002982" y="584667"/>
                </a:lnTo>
                <a:lnTo>
                  <a:pt x="1040130" y="528460"/>
                </a:lnTo>
                <a:lnTo>
                  <a:pt x="1077277" y="460988"/>
                </a:lnTo>
                <a:lnTo>
                  <a:pt x="1114425" y="389315"/>
                </a:lnTo>
                <a:lnTo>
                  <a:pt x="1151572" y="320622"/>
                </a:lnTo>
                <a:lnTo>
                  <a:pt x="1188720" y="261689"/>
                </a:lnTo>
                <a:lnTo>
                  <a:pt x="1225867" y="218338"/>
                </a:lnTo>
                <a:lnTo>
                  <a:pt x="1263015" y="194904"/>
                </a:lnTo>
                <a:lnTo>
                  <a:pt x="1300162" y="193807"/>
                </a:lnTo>
                <a:lnTo>
                  <a:pt x="1337310" y="215337"/>
                </a:lnTo>
                <a:lnTo>
                  <a:pt x="1374457" y="257689"/>
                </a:lnTo>
                <a:lnTo>
                  <a:pt x="1411605" y="317276"/>
                </a:lnTo>
                <a:lnTo>
                  <a:pt x="1448752" y="389265"/>
                </a:lnTo>
                <a:lnTo>
                  <a:pt x="1485900" y="468240"/>
                </a:lnTo>
                <a:lnTo>
                  <a:pt x="1523047" y="548872"/>
                </a:lnTo>
                <a:lnTo>
                  <a:pt x="1560195" y="626495"/>
                </a:lnTo>
                <a:lnTo>
                  <a:pt x="1597342" y="697502"/>
                </a:lnTo>
                <a:lnTo>
                  <a:pt x="1634490" y="759534"/>
                </a:lnTo>
                <a:lnTo>
                  <a:pt x="1671637" y="811463"/>
                </a:lnTo>
                <a:lnTo>
                  <a:pt x="1708785" y="853219"/>
                </a:lnTo>
                <a:lnTo>
                  <a:pt x="1745932" y="885529"/>
                </a:lnTo>
                <a:lnTo>
                  <a:pt x="1783080" y="909618"/>
                </a:lnTo>
                <a:lnTo>
                  <a:pt x="1783080" y="960119"/>
                </a:lnTo>
                <a:close/>
              </a:path>
            </a:pathLst>
          </a:custGeom>
          <a:solidFill>
            <a:srgbClr val="F8DDC7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9738360" y="5394959"/>
            <a:ext cx="1783080" cy="0"/>
          </a:xfrm>
          <a:prstGeom prst="bentConnector3">
            <a:avLst/>
          </a:prstGeom>
          <a:ln w="1270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555480" y="54406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238"/>
                </a:solidFill>
              </a:rPr>
              <a:t>H2O  multimodal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172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3"/>
                </a:solidFill>
              </a:rPr>
              <a:t>values illustrative -- every phase carries both numbers; faded bars = presence genuinely uncertain (here the amphibole/orthopyroxene either-or: wet-deep grows amp, dry-shallow grows opx). This marginal view is a projection; the primary output is the ranked-scenario view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The coherent answer: ranked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3"/>
                </a:solidFill>
              </a:rPr>
              <a:t>the marginal table can't show WHICH minerals trade off; scenarios can -- sample the posterior, cluster by assemblage, rank by weight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94960" cy="329184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Scenario A -- deep &amp; wet . weight ~45%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P 6-9 kbar   H2O 4-6 wt%   T ~950-990 C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phenocrysts (wt% of cargo, sums to 100):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plagioclase 44 +/- 4    clinopyroxene 26 +/- 3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amphibole 18 +/- 4      Fe-Ti oxides 12 +/- 2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394960" cy="329184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Scenario B -- shallow &amp; dry . weight ~35%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P 1-3 kbar   H2O 1-2.5 wt%   T ~1000-1040 C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phenocrysts (wt% of cargo, sums to 100):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plagioclase 48 +/- 4    clinopyroxene 24 +/- 3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orthopyroxene 16 +/- 3  Fe-Ti oxides 12 +/- 2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38"/>
                </a:solidFill>
              </a:rPr>
              <a:t>+ intermediate scenario (amp + opx coexist, ~12%) + tail (~8%) -- nothing silently dropped; weights are prior-weighted plausibility, reweightable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3"/>
                </a:solidFill>
              </a:rPr>
              <a:t>per-phase composition (An#, Mg#) is bulk-controlled -- one shared band across scenarios, not re-predicted per scenario. Each scenario is a falsifiable hypothesis: amphibole in thin section selects A, and with it A's conditions.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