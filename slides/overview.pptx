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Living deck: how the current canonical model and its training/inference pipeline work. Regenerated on every major architecture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corpora. Pretrain (Gard) is inputs-only and trains the encoder; the equilibrium corpus (MAGEMin cooling, phenocryst-regime endpoint -- generation pipeline on the next slide) carries the labels that train the heads; the real volcanic benchmark and mineralML grains are held out for validation.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Track B label factory, left to right: stratified volcanic bulk tables; solubility-bounded Latin-Hypercube (P, H2O) draws with the proposal density stored per row; chunked MAGEMin equilibrium cooling stopped below 30% residual melt (fresh Julia worker per chunk, atomic parquet + manifest, rerun-to-resume); three tables with full labels at the four candidate rungs; crystals-renormalized training labels rebuilt at train time (presence cutoff is a rebuild, not a regen).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Status strip for the corpus regen. Stages 1-2 are code, landed and tested. Stage 3-5 are runs the owner executes in his own terminal; each has a decision gate before the next. Update this slide as stages complete.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map before the detailed walk-through: tokens -&gt; embed -&gt; encoder -&gt; h -&gt; {heads, encoder apps}. Following slides zoom into each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Input = up to 22 (element id, amount) pairs. Padding is src==0. The conditions (T,P,H2O) are CondHead targets, never inputs.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Opens the embed step: element id -&gt; mat2vec vector, amount -&gt; projection, summed into the per-token vector.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Self-attention (4x4 heatmap, diagonal strongest) then masked-mean pool over non-padding tokens into 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Masked-element modelling. Encoder is TRAINED here (frozen is the downstream state). Loss is per-element standardized log-space MSE so traces get supervised (fracs span ~8 decades; linear MSE leaves traces unsupervised). mu/sigma are per-element log10-frac stats from the train split (pretrain_objective.compute_loss_stats), stored as head buffers. Over ~167k rocks.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three-stage training pipeline. Stage 1 is the SSL loop from the prior slide; stage 2 freezes; stage 3 trains the heads on the labeled equilibrium corpus.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Structural view: which heads exist and that they all read the same frozen h. Outputs are drawn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Output FORM, not measured results (heads train in issue #10). ModeHead = hurdle Dirichlet over the crystals-renormalized solid assemblage (liq/fl dropped, solids sum to 1 -- matches real itemized-phenocrysts + lumped-groundmass granularity). EVERY phase gets a presence Bernoulli AND a conditional amount +/- CI; near-certain phases just have p~1. Amp 0.41 / opx 0.63 anti-correlated is the flagship multimodality (deep-wet-amp vs shallow-dry-opx), so their marginal amounts are conditional on presence, not rock-wide means. CondHead = per-axis GMM; P and H2O were sampled at generation, T is derived (cooling endpoint at the phenocryst window), hence the lower illustrative T. Second read-out view: top-K scenarios; weights labeled prior-weighted plausibility, reweightable p/q. Mass-balance closure teacher-forces the label melt fraction at training. Numbers illustrative.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View 2 from heads.md, modernized to the locked corpus design: crystals-renormalized (no residual-melt row -- melt-fraction head dropped), composition shared across scenarios (CompHead reads h only), no inference-time mass-balance checkmark (closure is teacher-forced at training; the inference residual as OOD signal is an open rethink). Marginal view = projection of these scenarios; scenarios are the primary object. Open mechanism detail for #10/#13: coupling conditions to assemblage in a sampled scenario requires joint sampling across heads. Numbers illustrative.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1737360"/>
          </a:xfrm>
          <a:prstGeom prst="rect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60604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CrabNet-Mineral v3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58952" y="347472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E8883A"/>
                </a:solidFill>
              </a:rPr>
              <a:t>model &amp; pipeline overview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Three corpora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828800"/>
            <a:ext cx="3566160" cy="237744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238"/>
                </a:solidFill>
              </a:rPr>
              <a:t>SSL pretrain</a:t>
            </a:r>
          </a:p>
          <a:p>
            <a:pPr algn="ctr"/>
            <a:r>
              <a:rPr sz="14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data/bulks/gard2019.csv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~167k igneous bulks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inputs only (no labels)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0" y="1828800"/>
            <a:ext cx="3566160" cy="237744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238"/>
                </a:solidFill>
              </a:rPr>
              <a:t>supervised</a:t>
            </a:r>
          </a:p>
          <a:p>
            <a:pPr algn="ctr"/>
            <a:r>
              <a:rPr sz="14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equilibrium corpus (MAGEMin)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volcanic bulks x 48 (P, H2O) draws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phenocryst-regime labels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828800"/>
            <a:ext cx="3566160" cy="237744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238"/>
                </a:solidFill>
              </a:rPr>
              <a:t>held-out eval</a:t>
            </a:r>
          </a:p>
          <a:p>
            <a:pPr algn="ctr"/>
            <a:r>
              <a:rPr sz="14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730 real volcanic modes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+ mineralML grains (~88k)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never trained 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48056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2B5A5"/>
                </a:solidFill>
              </a:rPr>
              <a:t>trains the encoder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448056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A9D8F"/>
                </a:solidFill>
              </a:rPr>
              <a:t>trains the heads (next two slides)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448056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C5CE7"/>
                </a:solidFill>
              </a:rPr>
              <a:t>evaluation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21208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238"/>
                </a:solidFill>
              </a:rPr>
              <a:t>inputs everywhere are the same 22-token cation+trace vector; the corpora differ in what supervision (if any) they attach.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How the supervised labels are generated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2148840" cy="173736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volcanic core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gard2019 -&gt; 324k bulks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stratified: 10k train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+ 500 val/test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209544"/>
            <a:ext cx="2423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A93A3"/>
                </a:solidFill>
              </a:rPr>
              <a:t>build_corpus_bulk_tables.py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80360" y="1417320"/>
            <a:ext cx="2148840" cy="1737360"/>
          </a:xfrm>
          <a:prstGeom prst="roundRect">
            <a:avLst/>
          </a:prstGeom>
          <a:solidFill>
            <a:srgbClr val="E1E8FF"/>
          </a:solidFill>
          <a:ln w="25400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sample conditions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48 (P, H2O) draws/bulk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solubility-bounded LHS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density q stored per row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3209544"/>
            <a:ext cx="2423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A93A3"/>
                </a:solidFill>
              </a:rPr>
              <a:t>cnmineral.data.condition_proposal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688336" y="2121408"/>
            <a:ext cx="155447" cy="329184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257800" y="1417320"/>
            <a:ext cx="2148840" cy="173736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equilibrium cooling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MAGEMin, 1200 -&gt; 600 C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stop below 30% melt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chunked + resumable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3209544"/>
            <a:ext cx="2423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A93A3"/>
                </a:solidFill>
              </a:rPr>
              <a:t>generate_mineralogy_corpus.py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065776" y="2121408"/>
            <a:ext cx="155448" cy="329184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35240" y="1417320"/>
            <a:ext cx="2148840" cy="173736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corpus tables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draws / ladder / rungs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full labels at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60/50/40/30% melt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3209544"/>
            <a:ext cx="2423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A93A3"/>
                </a:solidFill>
              </a:rPr>
              <a:t>parquet + manifest per chunk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443215" y="2121408"/>
            <a:ext cx="155448" cy="329184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012680" y="1417320"/>
            <a:ext cx="2148840" cy="173736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training labels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crystals-renormalized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solids; presence + modes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rebuild, never a regen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19" y="3209544"/>
            <a:ext cx="2423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A93A3"/>
                </a:solidFill>
              </a:rPr>
              <a:t>training-time transform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820655" y="2121408"/>
            <a:ext cx="155448" cy="329184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97280" y="4526280"/>
            <a:ext cx="3291840" cy="1600200"/>
          </a:xfrm>
          <a:prstGeom prst="rect">
            <a:avLst/>
          </a:prstGeom>
          <a:noFill/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reeform 18"/>
          <p:cNvSpPr/>
          <p:nvPr/>
        </p:nvSpPr>
        <p:spPr>
          <a:xfrm>
            <a:off x="1097280" y="4526280"/>
            <a:ext cx="3291840" cy="1600200"/>
          </a:xfrm>
          <a:custGeom>
            <a:avLst/>
            <a:gdLst/>
            <a:ahLst/>
            <a:cxnLst/>
            <a:rect l="l" t="t" r="r" b="b"/>
            <a:pathLst>
              <a:path w="3291840" h="1600200">
                <a:moveTo>
                  <a:pt x="0" y="1600200"/>
                </a:moveTo>
                <a:lnTo>
                  <a:pt x="0" y="1080135"/>
                </a:lnTo>
                <a:lnTo>
                  <a:pt x="143123" y="824103"/>
                </a:lnTo>
                <a:lnTo>
                  <a:pt x="286246" y="614076"/>
                </a:lnTo>
                <a:lnTo>
                  <a:pt x="429370" y="416052"/>
                </a:lnTo>
                <a:lnTo>
                  <a:pt x="572493" y="220027"/>
                </a:lnTo>
                <a:lnTo>
                  <a:pt x="715617" y="22002"/>
                </a:lnTo>
                <a:lnTo>
                  <a:pt x="729929" y="0"/>
                </a:lnTo>
                <a:lnTo>
                  <a:pt x="3291840" y="0"/>
                </a:lnTo>
                <a:lnTo>
                  <a:pt x="3291840" y="1600200"/>
                </a:lnTo>
                <a:close/>
              </a:path>
            </a:pathLst>
          </a:custGeom>
          <a:solidFill>
            <a:srgbClr val="C4D1FF"/>
          </a:solidFill>
          <a:ln w="25400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6144768"/>
            <a:ext cx="3657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A93A3"/>
                </a:solidFill>
              </a:rPr>
              <a:t>P  0.5 -&gt; 12 kbar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" y="44805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8A93A3"/>
                </a:solidFill>
              </a:rPr>
              <a:t>H2O</a:t>
            </a:r>
          </a:p>
          <a:p>
            <a:pPr algn="ctr"/>
            <a:r>
              <a:rPr sz="700" b="0">
                <a:solidFill>
                  <a:srgbClr val="8A93A3"/>
                </a:solidFill>
              </a:rPr>
              <a:t>0-8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160520"/>
            <a:ext cx="3291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E5BFF"/>
                </a:solidFill>
              </a:rPr>
              <a:t>sampled (P, H2O) region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60" y="5440680"/>
            <a:ext cx="6766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2238"/>
                </a:solidFill>
              </a:rPr>
              <a:t>water is bounded by what melt can dissolve at each pressure (Newman &amp; Lowenstern 2002 rhyolite curve, capped at 8 wt%) -- the old flat box (whole rectangle) sampled impossible wet-shallow corners. q is the sampling density; inference reweights scenarios by p/q, so the corpus itself stays prior-agnostic.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Corpus regen: where we are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103120"/>
            <a:ext cx="2148840" cy="192024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1. bounded sampler</a:t>
            </a:r>
          </a:p>
          <a:p>
            <a:pPr algn="ctr"/>
            <a:r>
              <a:rPr sz="12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1200" b="1">
                <a:solidFill>
                  <a:srgbClr val="1A2238"/>
                </a:solidFill>
              </a:rPr>
              <a:t>landed + tested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condition_proposal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19072"/>
            <a:ext cx="2148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A9D8F"/>
                </a:solidFill>
              </a:rPr>
              <a:t>LANDED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880360" y="2103120"/>
            <a:ext cx="2148840" cy="192024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2. orchestrator</a:t>
            </a:r>
          </a:p>
          <a:p>
            <a:pPr algn="ctr"/>
            <a:r>
              <a:rPr sz="12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1200" b="1">
                <a:solidFill>
                  <a:srgbClr val="1A2238"/>
                </a:solidFill>
              </a:rPr>
              <a:t>landed + smoke-run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generate_mineralogy_corpus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360" y="1719072"/>
            <a:ext cx="2148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A9D8F"/>
                </a:solidFill>
              </a:rPr>
              <a:t>LANDED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688336" y="2898647"/>
            <a:ext cx="155447" cy="329184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257800" y="2103120"/>
            <a:ext cx="2148840" cy="192024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3. water A/B</a:t>
            </a:r>
          </a:p>
          <a:p>
            <a:pPr algn="ctr"/>
            <a:r>
              <a:rPr sz="12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1200" b="1">
                <a:solidFill>
                  <a:srgbClr val="1A2238"/>
                </a:solidFill>
              </a:rPr>
              <a:t>switch holds;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biotite gap is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prior-side, not coverage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0" y="1719072"/>
            <a:ext cx="2148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2A9D8F"/>
                </a:solidFill>
              </a:rPr>
              <a:t>LANDED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065776" y="2898647"/>
            <a:ext cx="155448" cy="329184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35240" y="2103120"/>
            <a:ext cx="2148840" cy="192024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4. pilot + rung pick</a:t>
            </a:r>
          </a:p>
          <a:p>
            <a:pPr algn="ctr"/>
            <a:r>
              <a:rPr sz="12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1200" b="1">
                <a:solidFill>
                  <a:srgbClr val="1A2238"/>
                </a:solidFill>
              </a:rPr>
              <a:t>first 5 train chunks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health report +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rung_prescreen.py -&gt; owner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1719072"/>
            <a:ext cx="2148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8883A"/>
                </a:solidFill>
              </a:rPr>
              <a:t>NEXT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443215" y="2898647"/>
            <a:ext cx="155448" cy="329184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0012680" y="2103120"/>
            <a:ext cx="2148840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A93A3"/>
                </a:solidFill>
              </a:rPr>
              <a:t>5. production</a:t>
            </a:r>
          </a:p>
          <a:p>
            <a:pPr algn="ctr"/>
            <a:r>
              <a:rPr sz="1200" b="1">
                <a:solidFill>
                  <a:srgbClr val="8A93A3"/>
                </a:solidFill>
              </a:rPr>
              <a:t/>
            </a:r>
          </a:p>
          <a:p>
            <a:pPr algn="ctr"/>
            <a:r>
              <a:rPr sz="1200" b="1">
                <a:solidFill>
                  <a:srgbClr val="8A93A3"/>
                </a:solidFill>
              </a:rPr>
              <a:t>10k x 48 + 500 x 128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~2 days, pausable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rerun command = resume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12680" y="1719072"/>
            <a:ext cx="21488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8A93A3"/>
                </a:solidFill>
              </a:rPr>
              <a:t>queued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820655" y="2898647"/>
            <a:ext cx="155448" cy="329184"/>
          </a:xfrm>
          <a:prstGeom prst="rightArrow">
            <a:avLst/>
          </a:prstGeom>
          <a:solidFill>
            <a:srgbClr val="C8C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47548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238"/>
                </a:solidFill>
              </a:rPr>
              <a:t>gates between stages: the A/B re-checks the amp/opx multimodality magnitude and the biotite presence gap under bounded water; the pilot pre-screen scores each rung against the real benchmark (presence per SiO2 band, then rank of proportions) and the owner picks the training rung before production launches.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80644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A93A3"/>
                </a:solidFill>
              </a:rPr>
              <a:t>spec: docs/corpus_regen_spec.md (all design decisions locked 2026-07-14; what remains is measurement and generation).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At a glance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743200"/>
            <a:ext cx="1828800" cy="1417320"/>
          </a:xfrm>
          <a:prstGeom prst="roundRect">
            <a:avLst/>
          </a:prstGeom>
          <a:solidFill>
            <a:srgbClr val="E1E8FF"/>
          </a:solidFill>
          <a:ln w="25400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input tokens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22 elements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88920" y="2743200"/>
            <a:ext cx="1828800" cy="141732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embed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mat2vec + amount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377439" y="3268979"/>
            <a:ext cx="365760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120640" y="2743200"/>
            <a:ext cx="1828800" cy="141732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transformer</a:t>
            </a:r>
          </a:p>
          <a:p>
            <a:pPr algn="ctr"/>
            <a:r>
              <a:rPr sz="1200" b="1">
                <a:solidFill>
                  <a:srgbClr val="1A2238"/>
                </a:solidFill>
              </a:rPr>
              <a:t>encoder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663440" y="3268979"/>
            <a:ext cx="411479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699248" y="2738628"/>
            <a:ext cx="1426464" cy="1426464"/>
          </a:xfrm>
          <a:prstGeom prst="ellipse">
            <a:avLst/>
          </a:prstGeom>
          <a:solidFill>
            <a:srgbClr val="E8883A"/>
          </a:solidFill>
          <a:ln w="3175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h</a:t>
            </a:r>
          </a:p>
          <a:p>
            <a:pPr algn="ctr"/>
            <a:r>
              <a:rPr sz="1900" b="0">
                <a:solidFill>
                  <a:srgbClr val="8A93A3"/>
                </a:solidFill>
              </a:rPr>
              <a:t>256-d latent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995159" y="3268979"/>
            <a:ext cx="457199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829800" y="2743200"/>
            <a:ext cx="1828800" cy="141732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heads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parallel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372600" y="3268979"/>
            <a:ext cx="411480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955279" y="868680"/>
            <a:ext cx="2377440" cy="73152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2238"/>
                </a:solidFill>
              </a:rPr>
              <a:t>imputation / retrieval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79" y="5257800"/>
            <a:ext cx="2377440" cy="73152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A2238"/>
                </a:solidFill>
              </a:rPr>
              <a:t>OOD / similarity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8412480" y="1600200"/>
            <a:ext cx="640080" cy="1138428"/>
          </a:xfrm>
          <a:prstGeom prst="bentConnector3">
            <a:avLst/>
          </a:prstGeom>
          <a:ln w="17780">
            <a:solidFill>
              <a:srgbClr val="12B5A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412480" y="4165091"/>
            <a:ext cx="640080" cy="1092709"/>
          </a:xfrm>
          <a:prstGeom prst="bentConnector3">
            <a:avLst/>
          </a:prstGeom>
          <a:ln w="17780">
            <a:solidFill>
              <a:srgbClr val="12B5A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02920" y="45720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238"/>
                </a:solidFill>
              </a:rPr>
              <a:t>one shared encoder -&gt; latent h -&gt; parallel heads (supervised) and training-free encoder apps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INPUTS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A rock is a bag of (element, amount) tokens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78127" y="2926080"/>
            <a:ext cx="1371600" cy="100584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Si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0.50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50895" y="2926080"/>
            <a:ext cx="1371600" cy="100584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Al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23663" y="2926080"/>
            <a:ext cx="1371600" cy="100584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Ca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6431" y="2926080"/>
            <a:ext cx="1371600" cy="100584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Mg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0.075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69199" y="2926080"/>
            <a:ext cx="1371600" cy="1005840"/>
          </a:xfrm>
          <a:prstGeom prst="roundRect">
            <a:avLst/>
          </a:prstGeom>
          <a:solidFill>
            <a:srgbClr val="CAEEEB"/>
          </a:solidFill>
          <a:ln w="22225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Sr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4e-4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341967" y="2926080"/>
            <a:ext cx="1371600" cy="1005840"/>
          </a:xfrm>
          <a:prstGeom prst="roundRect">
            <a:avLst/>
          </a:prstGeom>
          <a:solidFill>
            <a:srgbClr val="CAEEEB"/>
          </a:solidFill>
          <a:ln w="22225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Yb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2e-6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2976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A2238"/>
                </a:solidFill>
              </a:rPr>
              <a:t>9 majors (wt%/100, blue)  +  13 traces (ppm/1e6, teal), 22 token slots; absent = padding (src=0)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93776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8A93A3"/>
                </a:solidFill>
              </a:rPr>
              <a:t>no T, P, or H2O ever enters the forward graph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ENCODER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Each token becomes a chemistry-aware vector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880360"/>
            <a:ext cx="1463040" cy="109728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Si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0.50</a:t>
            </a:r>
          </a:p>
        </p:txBody>
      </p:sp>
      <p:cxnSp>
        <p:nvCxnSpPr>
          <p:cNvPr id="5" name="Connector 4"/>
          <p:cNvCxnSpPr/>
          <p:nvPr/>
        </p:nvCxnSpPr>
        <p:spPr>
          <a:xfrm flipV="1">
            <a:off x="2103120" y="2331720"/>
            <a:ext cx="822960" cy="822960"/>
          </a:xfrm>
          <a:prstGeom prst="bentConnector3">
            <a:avLst/>
          </a:prstGeom>
          <a:ln w="1778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2103120" y="3703320"/>
            <a:ext cx="822960" cy="640080"/>
          </a:xfrm>
          <a:prstGeom prst="bentConnector3">
            <a:avLst/>
          </a:prstGeom>
          <a:ln w="1778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926080" y="1965960"/>
            <a:ext cx="2286000" cy="77724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atomic number 14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303520" y="2148840"/>
            <a:ext cx="411480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06440" y="1783080"/>
            <a:ext cx="4023360" cy="114300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mat2vec lookup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200-d element vector,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pretrained on materials-science text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26080" y="4023360"/>
            <a:ext cx="2286000" cy="77724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amount  0.50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303520" y="4206240"/>
            <a:ext cx="411480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806440" y="3840480"/>
            <a:ext cx="4023360" cy="96012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linear projection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amount -&gt; vector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0" y="2743200"/>
            <a:ext cx="1737360" cy="137160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+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token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256-d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829800" y="2331720"/>
            <a:ext cx="228600" cy="777240"/>
          </a:xfrm>
          <a:prstGeom prst="bentConnector3">
            <a:avLst/>
          </a:prstGeom>
          <a:ln w="1778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9829800" y="3749039"/>
            <a:ext cx="228600" cy="548641"/>
          </a:xfrm>
          <a:prstGeom prst="bentConnector3">
            <a:avLst/>
          </a:prstGeom>
          <a:ln w="1778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02920" y="56692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A2238"/>
                </a:solidFill>
              </a:rPr>
              <a:t>mat2vec gives a learned chemistry vector per element (materials-informatics embedding); summed with the projected amount.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ENCODER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Attention mixes elements, then pool to one 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55448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C5CE7"/>
                </a:solidFill>
              </a:rPr>
              <a:t>self-attention: every token attends to every token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0574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2238"/>
                </a:solidFill>
              </a:rPr>
              <a:t>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645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2238"/>
                </a:solidFill>
              </a:rPr>
              <a:t>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62432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2238"/>
                </a:solidFill>
              </a:rPr>
              <a:t>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72768" y="1645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2238"/>
                </a:solidFill>
              </a:rPr>
              <a:t>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191256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2238"/>
                </a:solidFill>
              </a:rPr>
              <a:t>Mg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39696" y="1645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2238"/>
                </a:solidFill>
              </a:rPr>
              <a:t>Mg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758183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2238"/>
                </a:solidFill>
              </a:rPr>
              <a:t>Fe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06624" y="16459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1A2238"/>
                </a:solidFill>
              </a:rPr>
              <a:t>Fe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5840" y="2011680"/>
            <a:ext cx="512064" cy="512064"/>
          </a:xfrm>
          <a:prstGeom prst="rect">
            <a:avLst/>
          </a:prstGeom>
          <a:solidFill>
            <a:srgbClr val="8274E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572768" y="2011680"/>
            <a:ext cx="512064" cy="512064"/>
          </a:xfrm>
          <a:prstGeom prst="rect">
            <a:avLst/>
          </a:prstGeom>
          <a:solidFill>
            <a:srgbClr val="C1BAF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139696" y="2011680"/>
            <a:ext cx="512064" cy="512064"/>
          </a:xfrm>
          <a:prstGeom prst="rect">
            <a:avLst/>
          </a:prstGeom>
          <a:solidFill>
            <a:srgbClr val="AFA6F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06624" y="2011680"/>
            <a:ext cx="512064" cy="512064"/>
          </a:xfrm>
          <a:prstGeom prst="rect">
            <a:avLst/>
          </a:prstGeom>
          <a:solidFill>
            <a:srgbClr val="9D9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05840" y="2578608"/>
            <a:ext cx="512064" cy="512064"/>
          </a:xfrm>
          <a:prstGeom prst="rect">
            <a:avLst/>
          </a:prstGeom>
          <a:solidFill>
            <a:srgbClr val="C1BAF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572768" y="2578608"/>
            <a:ext cx="512064" cy="512064"/>
          </a:xfrm>
          <a:prstGeom prst="rect">
            <a:avLst/>
          </a:prstGeom>
          <a:solidFill>
            <a:srgbClr val="8274E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139696" y="2578608"/>
            <a:ext cx="512064" cy="512064"/>
          </a:xfrm>
          <a:prstGeom prst="rect">
            <a:avLst/>
          </a:prstGeom>
          <a:solidFill>
            <a:srgbClr val="9D9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06624" y="2578608"/>
            <a:ext cx="512064" cy="512064"/>
          </a:xfrm>
          <a:prstGeom prst="rect">
            <a:avLst/>
          </a:prstGeom>
          <a:solidFill>
            <a:srgbClr val="D2CEF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05840" y="3145536"/>
            <a:ext cx="512064" cy="512064"/>
          </a:xfrm>
          <a:prstGeom prst="rect">
            <a:avLst/>
          </a:prstGeom>
          <a:solidFill>
            <a:srgbClr val="AFA6F2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572768" y="3145536"/>
            <a:ext cx="512064" cy="512064"/>
          </a:xfrm>
          <a:prstGeom prst="rect">
            <a:avLst/>
          </a:prstGeom>
          <a:solidFill>
            <a:srgbClr val="9D9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139696" y="3145536"/>
            <a:ext cx="512064" cy="512064"/>
          </a:xfrm>
          <a:prstGeom prst="rect">
            <a:avLst/>
          </a:prstGeom>
          <a:solidFill>
            <a:srgbClr val="8274E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706624" y="3145536"/>
            <a:ext cx="512064" cy="512064"/>
          </a:xfrm>
          <a:prstGeom prst="rect">
            <a:avLst/>
          </a:prstGeom>
          <a:solidFill>
            <a:srgbClr val="C1BAF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005840" y="3712464"/>
            <a:ext cx="512064" cy="512064"/>
          </a:xfrm>
          <a:prstGeom prst="rect">
            <a:avLst/>
          </a:prstGeom>
          <a:solidFill>
            <a:srgbClr val="9D93E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572768" y="3712464"/>
            <a:ext cx="512064" cy="512064"/>
          </a:xfrm>
          <a:prstGeom prst="rect">
            <a:avLst/>
          </a:prstGeom>
          <a:solidFill>
            <a:srgbClr val="D2CEF7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139696" y="3712464"/>
            <a:ext cx="512064" cy="512064"/>
          </a:xfrm>
          <a:prstGeom prst="rect">
            <a:avLst/>
          </a:prstGeom>
          <a:solidFill>
            <a:srgbClr val="C1BAF4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706624" y="3712464"/>
            <a:ext cx="512064" cy="512064"/>
          </a:xfrm>
          <a:prstGeom prst="rect">
            <a:avLst/>
          </a:prstGeom>
          <a:solidFill>
            <a:srgbClr val="8274E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ight Arrow 28"/>
          <p:cNvSpPr/>
          <p:nvPr/>
        </p:nvSpPr>
        <p:spPr>
          <a:xfrm>
            <a:off x="4480560" y="3200400"/>
            <a:ext cx="640080" cy="41148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303520" y="2697480"/>
            <a:ext cx="3108960" cy="137160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238"/>
                </a:solidFill>
              </a:rPr>
              <a:t>masked-mean pool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average the real tokens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(skip padding)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8595360" y="3200400"/>
            <a:ext cx="640080" cy="41148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555480" y="2606040"/>
            <a:ext cx="1554480" cy="1554480"/>
          </a:xfrm>
          <a:prstGeom prst="ellipse">
            <a:avLst/>
          </a:prstGeom>
          <a:solidFill>
            <a:srgbClr val="E8883A"/>
          </a:solidFill>
          <a:ln w="3175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h</a:t>
            </a:r>
          </a:p>
          <a:p>
            <a:pPr algn="ctr"/>
            <a:r>
              <a:rPr sz="1900" b="0">
                <a:solidFill>
                  <a:srgbClr val="8A93A3"/>
                </a:solidFill>
              </a:rPr>
              <a:t>256-d latent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566928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A2238"/>
                </a:solidFill>
              </a:rPr>
              <a:t>attention lets elements interact; pooling collapses the 22 contextualized vectors into one 256-d fingerprint 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SSL pretraining: fill in the blank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A93A3"/>
                </a:solidFill>
              </a:rPr>
              <a:t>mask one element's amount, predict it from the rest -- the encoder learns which elements co-vary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91743" y="1783080"/>
            <a:ext cx="1371600" cy="96012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Si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0.50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64511" y="1783080"/>
            <a:ext cx="1371600" cy="96012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Al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37279" y="1783080"/>
            <a:ext cx="1371600" cy="96012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Ca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10047" y="1783080"/>
            <a:ext cx="1371600" cy="960120"/>
          </a:xfrm>
          <a:prstGeom prst="roundRect">
            <a:avLst/>
          </a:prstGeom>
          <a:solidFill>
            <a:srgbClr val="9AA3B2"/>
          </a:solidFill>
          <a:ln w="31750">
            <a:solidFill>
              <a:srgbClr val="9AA3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</a:rPr>
              <a:t>[MASK]</a:t>
            </a:r>
          </a:p>
          <a:p>
            <a:pPr algn="ctr"/>
            <a:r>
              <a:rPr sz="1400" b="0">
                <a:solidFill>
                  <a:srgbClr val="8A93A3"/>
                </a:solidFill>
              </a:rPr>
              <a:t>hide amount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82815" y="1783080"/>
            <a:ext cx="1371600" cy="96012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Fe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55583" y="1783080"/>
            <a:ext cx="1371600" cy="960120"/>
          </a:xfrm>
          <a:prstGeom prst="roundRect">
            <a:avLst/>
          </a:prstGeom>
          <a:solidFill>
            <a:srgbClr val="D1DAFF"/>
          </a:solidFill>
          <a:ln w="22225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Na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0.025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128351" y="1783080"/>
            <a:ext cx="1371600" cy="960120"/>
          </a:xfrm>
          <a:prstGeom prst="roundRect">
            <a:avLst/>
          </a:prstGeom>
          <a:solidFill>
            <a:srgbClr val="CAEEEB"/>
          </a:solidFill>
          <a:ln w="22225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1A2238"/>
                </a:solidFill>
              </a:rPr>
              <a:t>Sr</a:t>
            </a:r>
          </a:p>
          <a:p>
            <a:pPr algn="ctr"/>
            <a:r>
              <a:rPr sz="1500" b="0">
                <a:solidFill>
                  <a:srgbClr val="8A93A3"/>
                </a:solidFill>
              </a:rPr>
              <a:t>4e-4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377543" y="2743200"/>
            <a:ext cx="0" cy="685800"/>
          </a:xfrm>
          <a:prstGeom prst="bentConnector3">
            <a:avLst/>
          </a:prstGeom>
          <a:ln w="17780">
            <a:solidFill>
              <a:srgbClr val="C8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950311" y="2743200"/>
            <a:ext cx="0" cy="685800"/>
          </a:xfrm>
          <a:prstGeom prst="bentConnector3">
            <a:avLst/>
          </a:prstGeom>
          <a:ln w="17780">
            <a:solidFill>
              <a:srgbClr val="C8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523079" y="2743200"/>
            <a:ext cx="0" cy="685800"/>
          </a:xfrm>
          <a:prstGeom prst="bentConnector3">
            <a:avLst/>
          </a:prstGeom>
          <a:ln w="17780">
            <a:solidFill>
              <a:srgbClr val="C8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095847" y="2743200"/>
            <a:ext cx="0" cy="685800"/>
          </a:xfrm>
          <a:prstGeom prst="bentConnector3">
            <a:avLst/>
          </a:prstGeom>
          <a:ln w="17780">
            <a:solidFill>
              <a:srgbClr val="9AA3B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668615" y="2743200"/>
            <a:ext cx="0" cy="685800"/>
          </a:xfrm>
          <a:prstGeom prst="bentConnector3">
            <a:avLst/>
          </a:prstGeom>
          <a:ln w="17780">
            <a:solidFill>
              <a:srgbClr val="C8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241383" y="2743200"/>
            <a:ext cx="0" cy="685800"/>
          </a:xfrm>
          <a:prstGeom prst="bentConnector3">
            <a:avLst/>
          </a:prstGeom>
          <a:ln w="17780">
            <a:solidFill>
              <a:srgbClr val="C8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814151" y="2743200"/>
            <a:ext cx="0" cy="685800"/>
          </a:xfrm>
          <a:prstGeom prst="bentConnector3">
            <a:avLst/>
          </a:prstGeom>
          <a:ln w="17780">
            <a:solidFill>
              <a:srgbClr val="C8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91743" y="3429000"/>
            <a:ext cx="10808208" cy="86868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A2238"/>
                </a:solidFill>
              </a:rPr>
              <a:t>transformer encoder</a:t>
            </a:r>
          </a:p>
          <a:p>
            <a:pPr algn="ctr"/>
            <a:r>
              <a:rPr sz="1200" b="0">
                <a:solidFill>
                  <a:srgbClr val="8A93A3"/>
                </a:solidFill>
              </a:rPr>
              <a:t>being trained -- weights updated each step (not frozen)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5949543" y="4343400"/>
            <a:ext cx="292608" cy="347472"/>
          </a:xfrm>
          <a:prstGeom prst="down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103120" y="4892040"/>
            <a:ext cx="2743200" cy="914400"/>
          </a:xfrm>
          <a:prstGeom prst="roundRect">
            <a:avLst/>
          </a:prstGeom>
          <a:solidFill>
            <a:srgbClr val="FBEEE3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encoder predicts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Mg amount ~ 0.071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20640" y="4892040"/>
            <a:ext cx="1737360" cy="914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8A93A3"/>
                </a:solidFill>
              </a:rPr>
              <a:t>truth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0.075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4892040" y="5166360"/>
            <a:ext cx="256032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ight Arrow 23"/>
          <p:cNvSpPr/>
          <p:nvPr/>
        </p:nvSpPr>
        <p:spPr>
          <a:xfrm>
            <a:off x="6903720" y="5166360"/>
            <a:ext cx="256032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223760" y="4892040"/>
            <a:ext cx="2651760" cy="914400"/>
          </a:xfrm>
          <a:prstGeom prst="roundRect">
            <a:avLst/>
          </a:prstGeom>
          <a:solidFill>
            <a:srgbClr val="F6E3E1"/>
          </a:solidFill>
          <a:ln w="254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238"/>
                </a:solidFill>
              </a:rPr>
              <a:t>log-space</a:t>
            </a:r>
          </a:p>
          <a:p>
            <a:pPr algn="ctr"/>
            <a:r>
              <a:rPr sz="1400" b="1">
                <a:solidFill>
                  <a:srgbClr val="1A2238"/>
                </a:solidFill>
              </a:rPr>
              <a:t>MSE loss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875520" y="5349240"/>
            <a:ext cx="1737360" cy="0"/>
          </a:xfrm>
          <a:prstGeom prst="bentConnector3">
            <a:avLst/>
          </a:prstGeom>
          <a:ln w="31750">
            <a:solidFill>
              <a:srgbClr val="C039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11612880" y="3886200"/>
            <a:ext cx="0" cy="1463040"/>
          </a:xfrm>
          <a:prstGeom prst="bentConnector3">
            <a:avLst/>
          </a:prstGeom>
          <a:ln w="31750">
            <a:solidFill>
              <a:srgbClr val="C039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Left Arrow 27"/>
          <p:cNvSpPr/>
          <p:nvPr/>
        </p:nvSpPr>
        <p:spPr>
          <a:xfrm>
            <a:off x="11109960" y="3721608"/>
            <a:ext cx="502920" cy="310896"/>
          </a:xfrm>
          <a:prstGeom prst="leftArrow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78240" y="411480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0392B"/>
                </a:solidFill>
              </a:rPr>
              <a:t>backpropagation:</a:t>
            </a:r>
          </a:p>
          <a:p>
            <a:pPr algn="ctr"/>
            <a:r>
              <a:rPr sz="1200" b="1">
                <a:solidFill>
                  <a:srgbClr val="C0392B"/>
                </a:solidFill>
              </a:rPr>
              <a:t>updates encoder weights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463040" y="5943600"/>
            <a:ext cx="420624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8A93A3"/>
                </a:solidFill>
              </a:rPr>
              <a:t>zⱼ = (log₁₀ fⱼ − μⱼ) / σⱼ</a:t>
            </a:r>
          </a:p>
          <a:p>
            <a:pPr algn="ctr"/>
            <a:r>
              <a:rPr sz="1200" b="0">
                <a:solidFill>
                  <a:srgbClr val="8A93A3"/>
                </a:solidFill>
              </a:rPr>
              <a:t>target: per-element z-scored log fraction; μⱼ, σⱼ from the train split only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09360" y="5943600"/>
            <a:ext cx="420624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8C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8A93A3"/>
                </a:solidFill>
              </a:rPr>
              <a:t>L = 1/|M| Σⱼ∈M (ŷⱼ − zⱼ)²</a:t>
            </a:r>
          </a:p>
          <a:p>
            <a:pPr algn="ctr"/>
            <a:r>
              <a:rPr sz="1200" b="0">
                <a:solidFill>
                  <a:srgbClr val="8A93A3"/>
                </a:solidFill>
              </a:rPr>
              <a:t>plain MSE between prediction ŷ and z, at the masked positions M only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598932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0392B"/>
                </a:solidFill>
              </a:rPr>
              <a:t>the loss,
explicitly: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Workflow: pretrain, freeze, train heads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377440"/>
            <a:ext cx="3017520" cy="155448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238"/>
                </a:solidFill>
              </a:rPr>
              <a:t>1. SSL pretrain</a:t>
            </a:r>
          </a:p>
          <a:p>
            <a:pPr algn="ctr"/>
            <a:r>
              <a:rPr sz="14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Gard bulks, masked-element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-&gt; encoder</a:t>
            </a:r>
          </a:p>
        </p:txBody>
      </p:sp>
      <p:sp>
        <p:nvSpPr>
          <p:cNvPr id="5" name="Right Arrow 4"/>
          <p:cNvSpPr/>
          <p:nvPr/>
        </p:nvSpPr>
        <p:spPr>
          <a:xfrm>
            <a:off x="3749039" y="2971800"/>
            <a:ext cx="640080" cy="41148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0" y="2377440"/>
            <a:ext cx="2743200" cy="155448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238"/>
                </a:solidFill>
              </a:rPr>
              <a:t>2. freeze</a:t>
            </a:r>
          </a:p>
          <a:p>
            <a:pPr algn="ctr"/>
            <a:r>
              <a:rPr sz="1400" b="1">
                <a:solidFill>
                  <a:srgbClr val="1A2238"/>
                </a:solidFill>
              </a:rPr>
              <a:t>encoder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weights fixed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406640" y="2971800"/>
            <a:ext cx="640080" cy="41148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0" y="2377440"/>
            <a:ext cx="3291840" cy="155448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238"/>
                </a:solidFill>
              </a:rPr>
              <a:t>3. train heads</a:t>
            </a:r>
          </a:p>
          <a:p>
            <a:pPr algn="ctr"/>
            <a:r>
              <a:rPr sz="14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equilibrium corpus labels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encoder untouched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2062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238"/>
                </a:solidFill>
              </a:rPr>
              <a:t>the encoder is the durable contribution: heads can be re-supervised against any label source without retraining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3776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A93A3"/>
                </a:solidFill>
              </a:rPr>
              <a:t>evaluation: frozen-latent probes + the held-out mineralML grains.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HEADS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Parallel heads on the frozen 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743200"/>
            <a:ext cx="1828800" cy="1417320"/>
          </a:xfrm>
          <a:prstGeom prst="roundRect">
            <a:avLst/>
          </a:prstGeom>
          <a:solidFill>
            <a:srgbClr val="E1E8FF"/>
          </a:solidFill>
          <a:ln w="25400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input tokens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22 elements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88920" y="2743200"/>
            <a:ext cx="1828800" cy="141732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embed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mat2vec + amount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377439" y="3268979"/>
            <a:ext cx="365760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120640" y="2743200"/>
            <a:ext cx="1828800" cy="141732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transformer</a:t>
            </a:r>
          </a:p>
          <a:p>
            <a:pPr algn="ctr"/>
            <a:r>
              <a:rPr sz="1200" b="1">
                <a:solidFill>
                  <a:srgbClr val="1A2238"/>
                </a:solidFill>
              </a:rPr>
              <a:t>encoder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663440" y="3268979"/>
            <a:ext cx="411479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699248" y="2738628"/>
            <a:ext cx="1426464" cy="1426464"/>
          </a:xfrm>
          <a:prstGeom prst="ellipse">
            <a:avLst/>
          </a:prstGeom>
          <a:solidFill>
            <a:srgbClr val="E8883A"/>
          </a:solidFill>
          <a:ln w="3175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h</a:t>
            </a:r>
          </a:p>
          <a:p>
            <a:pPr algn="ctr"/>
            <a:r>
              <a:rPr sz="1900" b="0">
                <a:solidFill>
                  <a:srgbClr val="8A93A3"/>
                </a:solidFill>
              </a:rPr>
              <a:t>256-d latent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6995159" y="3268979"/>
            <a:ext cx="457199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869680" y="1143000"/>
            <a:ext cx="2834640" cy="82296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ModeHead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modal mineralogy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8211312" y="1554480"/>
            <a:ext cx="658368" cy="1901952"/>
          </a:xfrm>
          <a:prstGeom prst="bentConnector3">
            <a:avLst/>
          </a:prstGeom>
          <a:ln w="19050">
            <a:solidFill>
              <a:srgbClr val="2A9D8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869680" y="2103120"/>
            <a:ext cx="2834640" cy="82296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CompHead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per-mineral composition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8211312" y="2514600"/>
            <a:ext cx="658368" cy="941832"/>
          </a:xfrm>
          <a:prstGeom prst="bentConnector3">
            <a:avLst/>
          </a:prstGeom>
          <a:ln w="19050">
            <a:solidFill>
              <a:srgbClr val="2A9D8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869680" y="3063240"/>
            <a:ext cx="2834640" cy="82296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CondHead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T, P, H2O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211312" y="3456432"/>
            <a:ext cx="658368" cy="18288"/>
          </a:xfrm>
          <a:prstGeom prst="bentConnector3">
            <a:avLst/>
          </a:prstGeom>
          <a:ln w="19050">
            <a:solidFill>
              <a:srgbClr val="2A9D8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869680" y="4023360"/>
            <a:ext cx="2834640" cy="82296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ClassHead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rock class (aux)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211312" y="3456432"/>
            <a:ext cx="658368" cy="978408"/>
          </a:xfrm>
          <a:prstGeom prst="bentConnector3">
            <a:avLst/>
          </a:prstGeom>
          <a:ln w="19050">
            <a:solidFill>
              <a:srgbClr val="2A9D8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869680" y="4983480"/>
            <a:ext cx="2834640" cy="82296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>G_sys</a:t>
            </a:r>
          </a:p>
          <a:p>
            <a:pPr algn="ctr"/>
            <a:r>
              <a:rPr sz="1000" b="0">
                <a:solidFill>
                  <a:srgbClr val="8A93A3"/>
                </a:solidFill>
              </a:rPr>
              <a:t>free energy (aux)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211312" y="3456432"/>
            <a:ext cx="658368" cy="1938528"/>
          </a:xfrm>
          <a:prstGeom prst="bentConnector3">
            <a:avLst/>
          </a:prstGeom>
          <a:ln w="19050">
            <a:solidFill>
              <a:srgbClr val="2A9D8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02920" y="5120640"/>
            <a:ext cx="7772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A2238"/>
                </a:solidFill>
              </a:rPr>
              <a:t>encoder now frozen; each head is a small network reading the same h (outputs on the next slide)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HEADS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What the heads emit (distributions, not point estimates)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651760"/>
            <a:ext cx="2286000" cy="1554480"/>
          </a:xfrm>
          <a:prstGeom prst="roundRect">
            <a:avLst/>
          </a:prstGeom>
          <a:solidFill>
            <a:srgbClr val="E1E8FF"/>
          </a:solidFill>
          <a:ln w="25400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A2238"/>
                </a:solidFill>
              </a:rPr>
              <a:t>example bulk</a:t>
            </a:r>
          </a:p>
          <a:p>
            <a:pPr algn="ctr"/>
            <a:r>
              <a:rPr sz="12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SiO2 50  Al2O3 16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MgO 7.5  FeO 11</a:t>
            </a:r>
          </a:p>
          <a:p>
            <a:pPr algn="ctr"/>
            <a:r>
              <a:rPr sz="900" b="0">
                <a:solidFill>
                  <a:srgbClr val="8A93A3"/>
                </a:solidFill>
              </a:rPr>
              <a:t>Sr 400 ppm ...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880360" y="3246120"/>
            <a:ext cx="457200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456432" y="2770632"/>
            <a:ext cx="1316736" cy="1316736"/>
          </a:xfrm>
          <a:prstGeom prst="ellipse">
            <a:avLst/>
          </a:prstGeom>
          <a:solidFill>
            <a:srgbClr val="E8883A"/>
          </a:solidFill>
          <a:ln w="3175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</a:rPr>
              <a:t>h</a:t>
            </a:r>
          </a:p>
          <a:p>
            <a:pPr algn="ctr"/>
            <a:r>
              <a:rPr sz="1900" b="0">
                <a:solidFill>
                  <a:srgbClr val="8A93A3"/>
                </a:solidFill>
              </a:rPr>
              <a:t>256-d latent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92040" y="3246120"/>
            <a:ext cx="457200" cy="365760"/>
          </a:xfrm>
          <a:prstGeom prst="rightArrow">
            <a:avLst/>
          </a:prstGeom>
          <a:solidFill>
            <a:srgbClr val="1A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0" y="1417320"/>
            <a:ext cx="6309360" cy="205740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146304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A9D8F"/>
                </a:solidFill>
              </a:rPr>
              <a:t>ModeHead -&gt; per phase: p(present) x amount-when-present (hurdle Dirichlet; crystals renormalized to 1, groundmass/melt excluded)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15000" y="1874519"/>
            <a:ext cx="1892807" cy="292608"/>
          </a:xfrm>
          <a:prstGeom prst="round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7397496" y="2020824"/>
            <a:ext cx="420624" cy="0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397496" y="1956816"/>
            <a:ext cx="0" cy="128015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818120" y="1956816"/>
            <a:ext cx="0" cy="128015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7909560" y="1828799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2238"/>
                </a:solidFill>
              </a:rPr>
              <a:t>plagioclase  0.45  |  p 1.00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15000" y="2185415"/>
            <a:ext cx="1135684" cy="292608"/>
          </a:xfrm>
          <a:prstGeom prst="round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6682435" y="2331720"/>
            <a:ext cx="336499" cy="0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682435" y="2267712"/>
            <a:ext cx="0" cy="128015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018934" y="2267712"/>
            <a:ext cx="0" cy="128015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110374" y="2139696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2238"/>
                </a:solidFill>
              </a:rPr>
              <a:t>clinopyroxene  0.27  |  p 0.97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15000" y="2496312"/>
            <a:ext cx="757123" cy="292608"/>
          </a:xfrm>
          <a:prstGeom prst="roundRect">
            <a:avLst/>
          </a:prstGeom>
          <a:solidFill>
            <a:srgbClr val="A9D7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6219748" y="2642616"/>
            <a:ext cx="504749" cy="0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219748" y="2578608"/>
            <a:ext cx="0" cy="128016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724497" y="2578608"/>
            <a:ext cx="0" cy="128016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15937" y="2450592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2238"/>
                </a:solidFill>
              </a:rPr>
              <a:t>amphibole  0.18  |  p 0.41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15000" y="2807208"/>
            <a:ext cx="420623" cy="292608"/>
          </a:xfrm>
          <a:prstGeom prst="roundRect">
            <a:avLst/>
          </a:prstGeom>
          <a:solidFill>
            <a:srgbClr val="A9D7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>
            <a:off x="5967374" y="2953512"/>
            <a:ext cx="336499" cy="0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967374" y="2889504"/>
            <a:ext cx="0" cy="128016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6303873" y="2889504"/>
            <a:ext cx="0" cy="128016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6395313" y="2761488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2238"/>
                </a:solidFill>
              </a:rPr>
              <a:t>orthopyroxene  0.10  |  p 0.63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715000" y="3118104"/>
            <a:ext cx="168249" cy="292608"/>
          </a:xfrm>
          <a:prstGeom prst="round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5799124" y="3264408"/>
            <a:ext cx="168250" cy="0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799124" y="3200400"/>
            <a:ext cx="0" cy="128016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967374" y="3200400"/>
            <a:ext cx="0" cy="128016"/>
          </a:xfrm>
          <a:prstGeom prst="bentConnector3">
            <a:avLst/>
          </a:prstGeom>
          <a:ln w="15875">
            <a:solidFill>
              <a:srgbClr val="1A223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058814" y="3072384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2238"/>
                </a:solidFill>
              </a:rPr>
              <a:t>magnetite  0.04  |  p 0.95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0" y="3657600"/>
            <a:ext cx="6309360" cy="2331720"/>
          </a:xfrm>
          <a:prstGeom prst="roundRect">
            <a:avLst/>
          </a:prstGeom>
          <a:solidFill>
            <a:srgbClr val="EAE8FB"/>
          </a:solidFill>
          <a:ln w="25400">
            <a:solidFill>
              <a:srgbClr val="6C5C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A2238"/>
                </a:solidFill>
              </a:rPr>
              <a:t/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0" y="370332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C5CE7"/>
                </a:solidFill>
              </a:rPr>
              <a:t>CondHead -&gt; storage conditions (per-axis GMM; P and H2O are sampled axes, T is the derived phenocryst-window endpoint temperature)</a:t>
            </a:r>
          </a:p>
        </p:txBody>
      </p:sp>
      <p:sp>
        <p:nvSpPr>
          <p:cNvPr id="37" name="Freeform 36"/>
          <p:cNvSpPr/>
          <p:nvPr/>
        </p:nvSpPr>
        <p:spPr>
          <a:xfrm>
            <a:off x="5806440" y="4434840"/>
            <a:ext cx="1737360" cy="960119"/>
          </a:xfrm>
          <a:custGeom>
            <a:avLst/>
            <a:gdLst/>
            <a:ahLst/>
            <a:cxnLst/>
            <a:rect l="l" t="t" r="r" b="b"/>
            <a:pathLst>
              <a:path w="1737360" h="960119">
                <a:moveTo>
                  <a:pt x="0" y="960119"/>
                </a:moveTo>
                <a:lnTo>
                  <a:pt x="0" y="952846"/>
                </a:lnTo>
                <a:lnTo>
                  <a:pt x="36195" y="949286"/>
                </a:lnTo>
                <a:lnTo>
                  <a:pt x="72390" y="944254"/>
                </a:lnTo>
                <a:lnTo>
                  <a:pt x="108585" y="937276"/>
                </a:lnTo>
                <a:lnTo>
                  <a:pt x="144780" y="927782"/>
                </a:lnTo>
                <a:lnTo>
                  <a:pt x="180975" y="915112"/>
                </a:lnTo>
                <a:lnTo>
                  <a:pt x="217169" y="898531"/>
                </a:lnTo>
                <a:lnTo>
                  <a:pt x="253365" y="877258"/>
                </a:lnTo>
                <a:lnTo>
                  <a:pt x="289559" y="850511"/>
                </a:lnTo>
                <a:lnTo>
                  <a:pt x="325755" y="817567"/>
                </a:lnTo>
                <a:lnTo>
                  <a:pt x="361949" y="777839"/>
                </a:lnTo>
                <a:lnTo>
                  <a:pt x="398145" y="730958"/>
                </a:lnTo>
                <a:lnTo>
                  <a:pt x="434339" y="676862"/>
                </a:lnTo>
                <a:lnTo>
                  <a:pt x="470535" y="615883"/>
                </a:lnTo>
                <a:lnTo>
                  <a:pt x="506730" y="548809"/>
                </a:lnTo>
                <a:lnTo>
                  <a:pt x="542925" y="476928"/>
                </a:lnTo>
                <a:lnTo>
                  <a:pt x="579119" y="402028"/>
                </a:lnTo>
                <a:lnTo>
                  <a:pt x="615315" y="326353"/>
                </a:lnTo>
                <a:lnTo>
                  <a:pt x="651510" y="252517"/>
                </a:lnTo>
                <a:lnTo>
                  <a:pt x="687705" y="183360"/>
                </a:lnTo>
                <a:lnTo>
                  <a:pt x="723900" y="121779"/>
                </a:lnTo>
                <a:lnTo>
                  <a:pt x="760094" y="70526"/>
                </a:lnTo>
                <a:lnTo>
                  <a:pt x="796290" y="32010"/>
                </a:lnTo>
                <a:lnTo>
                  <a:pt x="832484" y="8104"/>
                </a:lnTo>
                <a:lnTo>
                  <a:pt x="868680" y="0"/>
                </a:lnTo>
                <a:lnTo>
                  <a:pt x="904874" y="8104"/>
                </a:lnTo>
                <a:lnTo>
                  <a:pt x="941070" y="32010"/>
                </a:lnTo>
                <a:lnTo>
                  <a:pt x="977264" y="70526"/>
                </a:lnTo>
                <a:lnTo>
                  <a:pt x="1013460" y="121779"/>
                </a:lnTo>
                <a:lnTo>
                  <a:pt x="1049654" y="183360"/>
                </a:lnTo>
                <a:lnTo>
                  <a:pt x="1085850" y="252517"/>
                </a:lnTo>
                <a:lnTo>
                  <a:pt x="1122044" y="326353"/>
                </a:lnTo>
                <a:lnTo>
                  <a:pt x="1158240" y="402028"/>
                </a:lnTo>
                <a:lnTo>
                  <a:pt x="1194435" y="476928"/>
                </a:lnTo>
                <a:lnTo>
                  <a:pt x="1230630" y="548809"/>
                </a:lnTo>
                <a:lnTo>
                  <a:pt x="1266824" y="615883"/>
                </a:lnTo>
                <a:lnTo>
                  <a:pt x="1303019" y="676862"/>
                </a:lnTo>
                <a:lnTo>
                  <a:pt x="1339215" y="730958"/>
                </a:lnTo>
                <a:lnTo>
                  <a:pt x="1375409" y="777839"/>
                </a:lnTo>
                <a:lnTo>
                  <a:pt x="1411605" y="817567"/>
                </a:lnTo>
                <a:lnTo>
                  <a:pt x="1447799" y="850511"/>
                </a:lnTo>
                <a:lnTo>
                  <a:pt x="1483995" y="877258"/>
                </a:lnTo>
                <a:lnTo>
                  <a:pt x="1520189" y="898531"/>
                </a:lnTo>
                <a:lnTo>
                  <a:pt x="1556384" y="915112"/>
                </a:lnTo>
                <a:lnTo>
                  <a:pt x="1592580" y="927782"/>
                </a:lnTo>
                <a:lnTo>
                  <a:pt x="1628775" y="937276"/>
                </a:lnTo>
                <a:lnTo>
                  <a:pt x="1664969" y="944254"/>
                </a:lnTo>
                <a:lnTo>
                  <a:pt x="1701165" y="949286"/>
                </a:lnTo>
                <a:lnTo>
                  <a:pt x="1737360" y="952846"/>
                </a:lnTo>
                <a:lnTo>
                  <a:pt x="1737360" y="960119"/>
                </a:lnTo>
                <a:close/>
              </a:path>
            </a:pathLst>
          </a:custGeom>
          <a:solidFill>
            <a:srgbClr val="C4D1FF"/>
          </a:solidFill>
          <a:ln w="25400">
            <a:solidFill>
              <a:srgbClr val="2E5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8" name="Connector 37"/>
          <p:cNvCxnSpPr/>
          <p:nvPr/>
        </p:nvCxnSpPr>
        <p:spPr>
          <a:xfrm>
            <a:off x="5806440" y="5394959"/>
            <a:ext cx="1737360" cy="0"/>
          </a:xfrm>
          <a:prstGeom prst="bentConnector3">
            <a:avLst/>
          </a:prstGeom>
          <a:ln w="1270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5623559" y="5440679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2238"/>
                </a:solidFill>
              </a:rPr>
              <a:t>T  1010 +/- 40 C</a:t>
            </a:r>
          </a:p>
        </p:txBody>
      </p:sp>
      <p:sp>
        <p:nvSpPr>
          <p:cNvPr id="40" name="Freeform 39"/>
          <p:cNvSpPr/>
          <p:nvPr/>
        </p:nvSpPr>
        <p:spPr>
          <a:xfrm>
            <a:off x="7772400" y="4434840"/>
            <a:ext cx="1737360" cy="960119"/>
          </a:xfrm>
          <a:custGeom>
            <a:avLst/>
            <a:gdLst/>
            <a:ahLst/>
            <a:cxnLst/>
            <a:rect l="l" t="t" r="r" b="b"/>
            <a:pathLst>
              <a:path w="1737360" h="960119">
                <a:moveTo>
                  <a:pt x="0" y="960119"/>
                </a:moveTo>
                <a:lnTo>
                  <a:pt x="0" y="939852"/>
                </a:lnTo>
                <a:lnTo>
                  <a:pt x="36195" y="932353"/>
                </a:lnTo>
                <a:lnTo>
                  <a:pt x="72390" y="922586"/>
                </a:lnTo>
                <a:lnTo>
                  <a:pt x="108585" y="910058"/>
                </a:lnTo>
                <a:lnTo>
                  <a:pt x="144780" y="894237"/>
                </a:lnTo>
                <a:lnTo>
                  <a:pt x="180974" y="874570"/>
                </a:lnTo>
                <a:lnTo>
                  <a:pt x="217170" y="850511"/>
                </a:lnTo>
                <a:lnTo>
                  <a:pt x="253365" y="821553"/>
                </a:lnTo>
                <a:lnTo>
                  <a:pt x="289560" y="787277"/>
                </a:lnTo>
                <a:lnTo>
                  <a:pt x="325754" y="747391"/>
                </a:lnTo>
                <a:lnTo>
                  <a:pt x="361950" y="701784"/>
                </a:lnTo>
                <a:lnTo>
                  <a:pt x="398145" y="650575"/>
                </a:lnTo>
                <a:lnTo>
                  <a:pt x="434340" y="594149"/>
                </a:lnTo>
                <a:lnTo>
                  <a:pt x="470534" y="533196"/>
                </a:lnTo>
                <a:lnTo>
                  <a:pt x="506730" y="468718"/>
                </a:lnTo>
                <a:lnTo>
                  <a:pt x="542925" y="402028"/>
                </a:lnTo>
                <a:lnTo>
                  <a:pt x="579120" y="334721"/>
                </a:lnTo>
                <a:lnTo>
                  <a:pt x="615315" y="268623"/>
                </a:lnTo>
                <a:lnTo>
                  <a:pt x="651510" y="205713"/>
                </a:lnTo>
                <a:lnTo>
                  <a:pt x="687705" y="148031"/>
                </a:lnTo>
                <a:lnTo>
                  <a:pt x="723900" y="97571"/>
                </a:lnTo>
                <a:lnTo>
                  <a:pt x="760095" y="56167"/>
                </a:lnTo>
                <a:lnTo>
                  <a:pt x="796290" y="25381"/>
                </a:lnTo>
                <a:lnTo>
                  <a:pt x="832485" y="6409"/>
                </a:lnTo>
                <a:lnTo>
                  <a:pt x="868680" y="0"/>
                </a:lnTo>
                <a:lnTo>
                  <a:pt x="904875" y="6409"/>
                </a:lnTo>
                <a:lnTo>
                  <a:pt x="941070" y="25381"/>
                </a:lnTo>
                <a:lnTo>
                  <a:pt x="977265" y="56167"/>
                </a:lnTo>
                <a:lnTo>
                  <a:pt x="1013460" y="97571"/>
                </a:lnTo>
                <a:lnTo>
                  <a:pt x="1049655" y="148031"/>
                </a:lnTo>
                <a:lnTo>
                  <a:pt x="1085850" y="205713"/>
                </a:lnTo>
                <a:lnTo>
                  <a:pt x="1122045" y="268623"/>
                </a:lnTo>
                <a:lnTo>
                  <a:pt x="1158240" y="334721"/>
                </a:lnTo>
                <a:lnTo>
                  <a:pt x="1194435" y="402028"/>
                </a:lnTo>
                <a:lnTo>
                  <a:pt x="1230630" y="468718"/>
                </a:lnTo>
                <a:lnTo>
                  <a:pt x="1266825" y="533196"/>
                </a:lnTo>
                <a:lnTo>
                  <a:pt x="1303020" y="594149"/>
                </a:lnTo>
                <a:lnTo>
                  <a:pt x="1339215" y="650575"/>
                </a:lnTo>
                <a:lnTo>
                  <a:pt x="1375410" y="701784"/>
                </a:lnTo>
                <a:lnTo>
                  <a:pt x="1411605" y="747391"/>
                </a:lnTo>
                <a:lnTo>
                  <a:pt x="1447800" y="787277"/>
                </a:lnTo>
                <a:lnTo>
                  <a:pt x="1483995" y="821553"/>
                </a:lnTo>
                <a:lnTo>
                  <a:pt x="1520190" y="850511"/>
                </a:lnTo>
                <a:lnTo>
                  <a:pt x="1556385" y="874570"/>
                </a:lnTo>
                <a:lnTo>
                  <a:pt x="1592580" y="894237"/>
                </a:lnTo>
                <a:lnTo>
                  <a:pt x="1628775" y="910058"/>
                </a:lnTo>
                <a:lnTo>
                  <a:pt x="1664970" y="922586"/>
                </a:lnTo>
                <a:lnTo>
                  <a:pt x="1701165" y="932353"/>
                </a:lnTo>
                <a:lnTo>
                  <a:pt x="1737360" y="939852"/>
                </a:lnTo>
                <a:lnTo>
                  <a:pt x="1737360" y="960119"/>
                </a:lnTo>
                <a:close/>
              </a:path>
            </a:pathLst>
          </a:custGeom>
          <a:solidFill>
            <a:srgbClr val="BCEAE5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>
            <a:off x="7772400" y="5394959"/>
            <a:ext cx="1737360" cy="0"/>
          </a:xfrm>
          <a:prstGeom prst="bentConnector3">
            <a:avLst/>
          </a:prstGeom>
          <a:ln w="1270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7589520" y="5440679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2238"/>
                </a:solidFill>
              </a:rPr>
              <a:t>P  4.8 +/- 1.9 kbar</a:t>
            </a:r>
          </a:p>
        </p:txBody>
      </p:sp>
      <p:sp>
        <p:nvSpPr>
          <p:cNvPr id="43" name="Freeform 42"/>
          <p:cNvSpPr/>
          <p:nvPr/>
        </p:nvSpPr>
        <p:spPr>
          <a:xfrm>
            <a:off x="9738360" y="4434840"/>
            <a:ext cx="1783080" cy="960119"/>
          </a:xfrm>
          <a:custGeom>
            <a:avLst/>
            <a:gdLst/>
            <a:ahLst/>
            <a:cxnLst/>
            <a:rect l="l" t="t" r="r" b="b"/>
            <a:pathLst>
              <a:path w="1783080" h="960119">
                <a:moveTo>
                  <a:pt x="0" y="960119"/>
                </a:moveTo>
                <a:lnTo>
                  <a:pt x="0" y="954380"/>
                </a:lnTo>
                <a:lnTo>
                  <a:pt x="37147" y="949181"/>
                </a:lnTo>
                <a:lnTo>
                  <a:pt x="74295" y="940156"/>
                </a:lnTo>
                <a:lnTo>
                  <a:pt x="111442" y="925235"/>
                </a:lnTo>
                <a:lnTo>
                  <a:pt x="148590" y="901749"/>
                </a:lnTo>
                <a:lnTo>
                  <a:pt x="185737" y="866600"/>
                </a:lnTo>
                <a:lnTo>
                  <a:pt x="222885" y="816648"/>
                </a:lnTo>
                <a:lnTo>
                  <a:pt x="260032" y="749364"/>
                </a:lnTo>
                <a:lnTo>
                  <a:pt x="297180" y="663673"/>
                </a:lnTo>
                <a:lnTo>
                  <a:pt x="334327" y="560845"/>
                </a:lnTo>
                <a:lnTo>
                  <a:pt x="371475" y="445176"/>
                </a:lnTo>
                <a:lnTo>
                  <a:pt x="408622" y="324178"/>
                </a:lnTo>
                <a:lnTo>
                  <a:pt x="445770" y="208043"/>
                </a:lnTo>
                <a:lnTo>
                  <a:pt x="482917" y="108354"/>
                </a:lnTo>
                <a:lnTo>
                  <a:pt x="520065" y="36181"/>
                </a:lnTo>
                <a:lnTo>
                  <a:pt x="557212" y="0"/>
                </a:lnTo>
                <a:lnTo>
                  <a:pt x="594360" y="3933"/>
                </a:lnTo>
                <a:lnTo>
                  <a:pt x="631507" y="46793"/>
                </a:lnTo>
                <a:lnTo>
                  <a:pt x="668655" y="122197"/>
                </a:lnTo>
                <a:lnTo>
                  <a:pt x="705802" y="219711"/>
                </a:lnTo>
                <a:lnTo>
                  <a:pt x="742950" y="326710"/>
                </a:lnTo>
                <a:lnTo>
                  <a:pt x="780097" y="430457"/>
                </a:lnTo>
                <a:lnTo>
                  <a:pt x="817245" y="519915"/>
                </a:lnTo>
                <a:lnTo>
                  <a:pt x="854392" y="586970"/>
                </a:lnTo>
                <a:lnTo>
                  <a:pt x="891540" y="626939"/>
                </a:lnTo>
                <a:lnTo>
                  <a:pt x="928687" y="638485"/>
                </a:lnTo>
                <a:lnTo>
                  <a:pt x="965835" y="623138"/>
                </a:lnTo>
                <a:lnTo>
                  <a:pt x="1002982" y="584667"/>
                </a:lnTo>
                <a:lnTo>
                  <a:pt x="1040130" y="528460"/>
                </a:lnTo>
                <a:lnTo>
                  <a:pt x="1077277" y="460988"/>
                </a:lnTo>
                <a:lnTo>
                  <a:pt x="1114425" y="389315"/>
                </a:lnTo>
                <a:lnTo>
                  <a:pt x="1151572" y="320622"/>
                </a:lnTo>
                <a:lnTo>
                  <a:pt x="1188720" y="261689"/>
                </a:lnTo>
                <a:lnTo>
                  <a:pt x="1225867" y="218338"/>
                </a:lnTo>
                <a:lnTo>
                  <a:pt x="1263015" y="194904"/>
                </a:lnTo>
                <a:lnTo>
                  <a:pt x="1300162" y="193807"/>
                </a:lnTo>
                <a:lnTo>
                  <a:pt x="1337310" y="215337"/>
                </a:lnTo>
                <a:lnTo>
                  <a:pt x="1374457" y="257689"/>
                </a:lnTo>
                <a:lnTo>
                  <a:pt x="1411605" y="317276"/>
                </a:lnTo>
                <a:lnTo>
                  <a:pt x="1448752" y="389265"/>
                </a:lnTo>
                <a:lnTo>
                  <a:pt x="1485900" y="468240"/>
                </a:lnTo>
                <a:lnTo>
                  <a:pt x="1523047" y="548872"/>
                </a:lnTo>
                <a:lnTo>
                  <a:pt x="1560195" y="626495"/>
                </a:lnTo>
                <a:lnTo>
                  <a:pt x="1597342" y="697502"/>
                </a:lnTo>
                <a:lnTo>
                  <a:pt x="1634490" y="759534"/>
                </a:lnTo>
                <a:lnTo>
                  <a:pt x="1671637" y="811463"/>
                </a:lnTo>
                <a:lnTo>
                  <a:pt x="1708785" y="853219"/>
                </a:lnTo>
                <a:lnTo>
                  <a:pt x="1745932" y="885529"/>
                </a:lnTo>
                <a:lnTo>
                  <a:pt x="1783080" y="909618"/>
                </a:lnTo>
                <a:lnTo>
                  <a:pt x="1783080" y="960119"/>
                </a:lnTo>
                <a:close/>
              </a:path>
            </a:pathLst>
          </a:custGeom>
          <a:solidFill>
            <a:srgbClr val="F8DDC7"/>
          </a:solidFill>
          <a:ln w="25400">
            <a:solidFill>
              <a:srgbClr val="E888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4" name="Connector 43"/>
          <p:cNvCxnSpPr/>
          <p:nvPr/>
        </p:nvCxnSpPr>
        <p:spPr>
          <a:xfrm>
            <a:off x="9738360" y="5394959"/>
            <a:ext cx="1783080" cy="0"/>
          </a:xfrm>
          <a:prstGeom prst="bentConnector3">
            <a:avLst/>
          </a:prstGeom>
          <a:ln w="12700">
            <a:solidFill>
              <a:srgbClr val="8A93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9555480" y="5440679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A2238"/>
                </a:solidFill>
              </a:rPr>
              <a:t>H2O  multimodal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61722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A93A3"/>
                </a:solidFill>
              </a:rPr>
              <a:t>values illustrative -- every phase carries both numbers; faded bars = presence genuinely uncertain (here the amphibole/orthopyroxene either-or: wet-deep grows amp, dry-shallow grows opx). This marginal view is a projection; the primary output is the ranked-scenario view on the next slide.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5BFF"/>
                </a:solidFill>
              </a:rPr>
              <a:t>HEADS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238"/>
                </a:solidFill>
              </a:rPr>
              <a:t>The coherent answer: ranked scenarios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5156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A93A3"/>
                </a:solidFill>
              </a:rPr>
              <a:t>the marginal table can't show WHICH minerals trade off; scenarios can -- sample the posterior, cluster by assemblage, rank by weight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5394960" cy="3291840"/>
          </a:xfrm>
          <a:prstGeom prst="roundRect">
            <a:avLst/>
          </a:prstGeom>
          <a:solidFill>
            <a:srgbClr val="E1F1EF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238"/>
                </a:solidFill>
              </a:rPr>
              <a:t>Scenario A -- deep &amp; wet . weight ~45%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P 6-9 kbar   H2O 4-6 wt%   T ~950-990 C</a:t>
            </a:r>
          </a:p>
          <a:p>
            <a:pPr algn="ctr"/>
            <a:r>
              <a:rPr sz="14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phenocrysts (wt% of cargo, sums to 100):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plagioclase 44 +/- 4    clinopyroxene 26 +/- 3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amphibole 18 +/- 4      Fe-Ti oxides 12 +/- 2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783080"/>
            <a:ext cx="5394960" cy="3291840"/>
          </a:xfrm>
          <a:prstGeom prst="roundRect">
            <a:avLst/>
          </a:prstGeom>
          <a:solidFill>
            <a:srgbClr val="DDF4F2"/>
          </a:solidFill>
          <a:ln w="25400">
            <a:solidFill>
              <a:srgbClr val="12B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1A2238"/>
                </a:solidFill>
              </a:rPr>
              <a:t>Scenario B -- shallow &amp; dry . weight ~35%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P 1-3 kbar   H2O 1-2.5 wt%   T ~1000-1040 C</a:t>
            </a:r>
          </a:p>
          <a:p>
            <a:pPr algn="ctr"/>
            <a:r>
              <a:rPr sz="1400" b="1">
                <a:solidFill>
                  <a:srgbClr val="1A2238"/>
                </a:solidFill>
              </a:rPr>
              <a:t/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phenocrysts (wt% of cargo, sums to 100):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plagioclase 48 +/- 4    clinopyroxene 24 +/- 3</a:t>
            </a:r>
          </a:p>
          <a:p>
            <a:pPr algn="ctr"/>
            <a:r>
              <a:rPr sz="1100" b="0">
                <a:solidFill>
                  <a:srgbClr val="8A93A3"/>
                </a:solidFill>
              </a:rPr>
              <a:t>orthopyroxene 16 +/- 3  Fe-Ti oxides 12 +/- 2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21208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2238"/>
                </a:solidFill>
              </a:rPr>
              <a:t>+ intermediate scenario (amp + opx coexist, ~12%) + tail (~8%) -- nothing silently dropped; weights are prior-weighted plausibility, reweightable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80644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A93A3"/>
                </a:solidFill>
              </a:rPr>
              <a:t>per-phase composition (An#, Mg#) is bulk-controlled -- one shared band across scenarios, not re-predicted per scenario. Each scenario is a falsifiable hypothesis: amphibole in thin section selects A, and with it A's conditions.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