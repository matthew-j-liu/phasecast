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 Counts are the traced regen (2026-07-27): train tier 35,000 bulks listed / 34,474 with rows x 24 draws x 2 rungs = 1.65M rows; a separate sealed valtest tier runs 2,000 bulks at 128 draws. The real benchmark is 724 rocks carrying both chemistry and modes, of which 640 least-altered form the headline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trace-conditional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 The sampler changed at the 2026-07-23 regen (#48): the solubility-bounded LHS that generated the pre-regen corpus is now the floor component of a per-bulk mixture -- an immobile-element discriminant cascade assigns each bulk a soft arc/ridge/intraplate posterior, and draws come from posterior-weighted per-(maficity, setting) literature boxes, falling back to per-class Wallace/Plank + Putirka ranges where traces are missing. The stored q carries the exact mixture density either way, so the p/q reweighting is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one-to-many mapping that everything downstream leans on: one gard bulk -&gt; 24 trace-conditional (P, H2O) draws -&gt; each read out at two melt-fraction rungs (50/30) -&gt; 48 label rows sharing one input vector. The sealed valtest tier runs 128 draws per bulk (256 rows) so per-bulk frequencies are measured precisely where they are scored; 24 is where the training-side scaling curve flattened (#27). Assemblage numbers illustrative; amp-vs-opx flips with wetness/depth (the flagship multimodality). This is the visual justification for fractional presence targets (within-bulk frequency), the bulk-level split rule, and the per-bulk latent cache in training. Same-bulk-at-both-rungs is intentional (rungs LOCKED 50+30).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regen, now fully landed -- the slide is a record, not a plan. Two generations have run: the first (2026-07-17, 10k train bulks x 48 broad-box draws) and the traced regen (2026-07-27) described here. Step 5 is cascade 1: heads retrained at the incumbent dials on the traced tiers, then a weights-only mini-HPO. Its winner (joint_heads_regen_tuned_seed0) was provisionally adopted 2026-07-29 and reversed 2026-08-03: both traced-corpus checkpoints lose to the old-corpus production model on real rocks after identical recalibration (sealed test joint NLL 0.478 / 0.769 / 1.371), so production remains joint_heads_supportmag_seed0 and the traced corpus is a measured non-production arm (its wins: quartz presence, assemblage ranking). Cascade 2 -- the all-rock + redox encoder (accepted 2026-07-28) on the old broad-draw corpus, baseline-first -- has not run, which is why every architecture slide in this deck still shows the 22-token encoder. Candidate to retire or fold into the corpora slide at the next deck pass (owner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 (fracs span ~8 decades; linear MSE leaves traces unsupervised). mu/sigma are per-element log10-frac stats from the train split (pretrain_objective.compute_loss_stats), stored as head buffers.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 The production stack is checkpoints/pretrain_v3_logmse_std_seed0 (stage 1-2) + checkpoints/joint_heads_supportmag_seed0 (stage 3, old broad-draw corpus; the traced-corpus retrains were measured and not adopted). Stage 3 is cheap by design -- ~900k head params against a 3.23M frozen encoder -- which is what makes re-supervising the heads against a different label source a retrain rather than a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Three heads are in the joint trainer -- ModeHead, CompHead, CondHead. ClassHead and G_sys are drawn gray because they are application slots the architecture allows, not code that runs: nothing in src/cnmineral/models implements them and no checkpoint carries their weights. G_sys in particular is an encoder regularizer if it is ever built, never a polymorph disambiguator. Head internals on the next slide; outputs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the trained ModeHead (checkpoints/joint_heads_supportmag_seed0, the production run): two parallel trunks of 3 stacked Linear(-&gt;256)+GELU+dropout blocks. The presence trunk reads h alone (it predicts the support, so it must not see it) -&gt; logits (sigmoid -&gt; per-phase Bernoulli, BCE). The magnitude trunk reads h concatenated with the 21-dim support vector -&gt; concentrations (softplus + eps -&gt; conditional Dirichlet, masked NLL on the same support) -- the chain rule CondHead already uses: teacher-forced true mask at train, sampled from the presence Bernoullis at inference. Support-conditioning (adopted 2026-07-22, #25) exists because the conditional truth is bimodal by support for path-sensitive phases (deep-wet-much-amp vs shallow-dry-little); a support-blind Dirichlet could only average the humps -- amp magnitude parity r went 0.715 -&gt; 0.876 when it landed (the traced-corpus retrains later read 0.886 on their own instrument). Param counts are pulled from the checkpoint (mode_hidden 256, mode_layers 3 per trunk, the joint-HPO winner). Loss boxes mirror the SSL slide: BCE is a proper scoring rule (per-rock minimum = within-bulk presence frequency, which is why intermediate p is signal); the Dirichlet NLL is masked to the label's present set (sub-composition property keeps it a proper density); λ_mag is the loss-weighting coefficient (config key magnitude_weight, 0.25 in production) -- λ chosen over w to avoid clashing with layer weights and to match the λ_balance / λ_comp family. Note the reduction asymmetry: BCE means over the 21 phases while the Dirichlet NLL sums them, so 0.25 in the config is ~5.3 against (effective lambda; the reversed trial-22 dials ran 7.76 = 163) a per-phase-summed BCE. 'Trained jointly' is one scalar L, one backward pass, one AdamW step; with the trunks split, the two ModeHead terms touch disjoint params, coupled only second-order through the per-head gradient clip pooling both trunks' norms. NOT alternating epochs, NOT separate optimizers, NOT staged pretraining of one branch. The hurdle split exists because one full-simplex Dirichlet cannot be simultaneously confident about absences and honest about present-phase spread (shared concentration). CompHead/CondHead follow the same small-MLP-emitting-distribution-parameters pattern; their two-slide reports follow ModeHead's.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for the reliability diagram in runs/mode_head/&lt;tag&gt;/reliability.png. Numbers illustrative but to scale: three rocks predicted in [0.70, 0.80) -- a real bin edge of the 10 equal-width bins the code uses -- contribute 3 predictions x 256 labels = 768 (p, truth) pairs -- 3 predictions, not 768; each rock's single p is scored against its 256 labels. x = count-weighted mean p (0.740), y = pooled fraction of pairs with cpx present (547/768 = 0.712). ECE on the real panels is the count-weighted |x - y| over 10 such bins. The gray ghost dot shows the overconfident failure mode. Real population: the production instrument's val roster (221 assigned bulks, 218 contributing 55,576 rows at 128 draws x rungs 50/30, minus attrition). Fixed roster: panel numbers move only when the head retrains. Pair with figure 2 (p vs within-bulk frequency): reliability is aggregate honesty, the scatter is per-rock sharpness; a base-rate predictor passes the first and fails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the magnitude branch, mirroring the presence branch's reliability worked example. Laid out as two tracks converging at a scoring node: the prediction track never sees the truth's modes; the truth contributes its support twice (conditioning input to the magnitude trunk + the score's slice, both teacher-forced) and its modes meet the prediction only at scoring. Numbers illustrative but to scale: alpha sliced to the true 4-phase support gives Dirichlet means alpha_i/alpha0 and Beta marginals Beta(alpha_i, alpha0 - alpha_i); plag Beta(12,13) has mean 0.48, sd ~0.10, and truth 0.44 lands at CDF 0.34. alpha0 is the single shared confidence knob per row -- the reason per-phase spreads can't be tuned independently (see alpha_concentration.png). PIT histograms are the magnitude analog of reliability diagrams; parity plots are the point-estimate view. Scored by masked Dirichlet NLL (anatomy slide's L_magnitude). Worked numbers for the expansion box: this row scores -4.34 nats (normalizer -28.37 + shape +24.03); scaling alpha x4 improves to -5.26 when truth is near the peak but explodes to +17.9 when truth swaps to the other hump (plag/amp values exchanged) -- the mechanism that pinned the support-blind head's amphibole alpha0 low and its mean in the middle. Support-conditioning resolves the between-support humps; the within-support ones still punish confidence the same way (the mixture candidate's target). The 0.715 -&gt; 0.876 amp parity jump that justified support-conditioning was measured on the retired instrument and cannot be restated here: on the traced corpus both the pre-sweep and the production dials read ~0.88, because the weights-only sweep moved sharpness, not conditioning. That sharpness is also why the sampled-support number is worse than the teacher-forced one -- the head specialized to the true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CompHead (trains in the joint trainer, checkpoints/joint_heads_supportmag_seed0, the production run). Interface: h [256] in, alpha [21, 11] out; one training example is one (bulk, draw, rung) row; targets are per-phase oxide mass fractions from the rungs table (same-token instances merged by mass-weighted mean, feldspar split into plag/afs BEFORE averaging so the solvus pair never mixes), eps-clipped at comp_eps and renormalized. Param counts are exact (instantiated at d_model 256, hidden 128). The shared-concentration factorization is the locked heads.md parameterization: one c_p per phase blurs per-oxide error bars toward each other -- accepted because composition spreads are 10-30x tighter than modal spreads (the reason CompHead is bulk-controlled and unconditioned). L_comp's minimum: the Dirichlet matching the per-bulk composition distribution of each phase. L_closure is the one loss term coupling two heads (mode x comp product); squared-L2 is a constraint penalty, not a head likelihood, so the no-MSE rule for heads doesn't apply. Known limits: hard-zero oxides are clipped (a q row is 'SiO2 + 10 eps-floors'); ~0.3% of corpus rows don't self-close (melt immiscibility, dropped-phase mass, worst 5.2 wt%) and set an unattainable closure floor there; endmember bonus heads deferred (heads.md).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CompHead, mirroring the ModeHead magnitude worked example: two tracks converge at a scoring node; the truth contributes its support to the slice and meets the prediction only at scoring. Box numbers illustrative but to scale (a plag Dirichlet with alpha0 ~780 has SiO2 sd ~0.018); headline numbers are real, from runs/comp_head/joint_heads_supportmag_seed0/metrics.json (the production run). In the later traced-corpus sweep CompHead was the head the weights-only sweep did not move (NLL -56.30 -&gt; -56.29, inside the tie band) -- which is why that sweep's adoption argument rested on ModeHead, before the adoption itself was reversed 2026-08-03 on the real-rock evidence. The alpha0 span is the durable story (comp_concentration.png): medians run ~170 for garnet to ~40,000 for quartz, ordered by how constrained each mineral's chemistry really is; the earlier untuned model compressed everything into 100-650, but that comparison was measured on the since-retired instrument. PIT here is per-oxide Beta marginals of the 11-simplex Dirichlet (same sub-composition property as the mode slice).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CondHead (trains in the joint trainer, checkpoints/joint_heads_supportmag_seed0, the production run). Interface: concat(h [256], presence [21]) in; (log_w, mu, sigma) each [3 axes, K] out; one training example is one (bulk, draw, rung) row with targets (T_end from the rung row; P_kbar, H2O from the draw). Param counts pulled from the checkpoint (cond_hidden 512, cond_layers 2, K=3): cond was the one head that wanted capacity -- starved at 128x1 under the shared tuned lr, fixed by the mini-sweep adoption. Support-conditioning is the locked chain-rule decision: independent heads assume a conditional independence the corpus violates by design -- the within-bulk label variance is driven by the shared hidden (P, H2O) path, and marginals forget which condition mode went with which support. Raw linear units are deliberate (no log transforms; negative mass is a diagnostic, not a bug -- mass_below_zero in the cond eval). init_output_bias seeds component means at target mean +/- 1 std and sigmas at the target std; without it Adam needs ~mu/lr steps to walk mu from 0 to ~900 C. lambda_cond nuance: L_cond's gradient reaches only CondHead's own weights (frozen encoder, separate trunks, teacher-forced input), and per-head clipping + Adam's per-parameter scaling make the constant nearly inert for optimization; per-head best selection (each head keeps its own raw-val best epoch) removed its old early-stopping lever too, leaving it a raw-unit scale absorber (mineralogy-first). Known limits: axes are independent mixtures (no (T, P) correlation, deferred per ADR 006); exposure bias measured, not yet mitigated (#31); T is a derived cooling endpoint, not a sampled axis, in the scenario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CondHead. The two-pass protocol is the point: teacher-forced scoring isolates the head's conditional skill p(T,P,H2O | h, true support); sampled-support scoring measures the deployed chain with ModeHead's Bernoulli draws standing in for the truth (exposure_seed pins reproducibility). Mixture drawing illustrative but to scale for a bimodal amp/opx bulk (deep-wet vs shallow-dry is the flagship condition multimodality). Real numbers from runs/cond_head/joint_heads_supportmag_seed0/metrics.json (the production run): teacher-forced per-axis NLL T 4.97 / P 1.82 / H2O 1.52, coverage-68 0.710/0.674/0.679, exposure delta T 4.00 / P 2.73 / H2O 2.40 nats with sampled coverage falling to 0.26/0.34/0.34. (The later traced-corpus sweep sharpened NLL slightly while coverage drifted down and the exposure delta widened -- one strand of the evidence behind the 2026-08-03 adoption reversal.) The sampled-support inf rows that used to appear here were a float32 underflow in the density guard, not a modelling failure; the per-axis NLL now goes through logsumexp, and those rows read 118-141 nats. Coverage is central-interval mass via the mixture CDF (PIT), same construction as the mode/comp calibration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joint view the three anatomy slides decompose: every branch reads the same frozen 256-d h, and the four likelihood terms plus the closure penalty sum to one scalar. Two arrows are not plain feed-forward: the magnitude branch and CondHead take concat(h, support) -- the chain rule p(support | h) x p(rest | h, support), teacher-forced true mask at train, ModeHead-sampled at inference (exposure bias, #31). CompHead deliberately does NOT see the support: composition is bulk-controlled (heads.md). Closure is drawn as a joiner, not a fifth branch, because it has no parameters -- it multiplies ModeHead's support-masked Dirichlet mean by CompHead's Dirichlet mean and asks whether the reconstructed bulk matches the input; squared-L2 is a constraint penalty, not a head likelihood, so the no-MSE rule for heads does not apply. It is the one term coupling two heads. Weights and param counts are from the production run (checkpoints/joint_heads_supportmag_seed0; the trial-22 adoption of 2026-07-29 was reversed 2026-08-03 -- the traced-corpus retrains lose on real rocks). The reduction asymmetry in the last caption is a real footgun when transcribing the equation: BCE reduces over batch AND phases, the Dirichlet NLL over batch only, so magnitude_weight in the config is 1/21 of the coefficient you would write against a summed BCE. lambda_cond is small because L_cond is in raw units (T in the hundreds); it absorbs scale, it is not a statement about how much the conditions matter. Each head is snapshotted at its own best raw-val epoch and clipped separately, so the lambdas do not act as early-stopping levers. Not shown because they are not in the joint trainer: the auxiliary ClassHead and G_sys remain application slots, unimplemented.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-- the numbers on this slide are illustrative even though the heads are trained. ModeHead = hurdle Dirichlet over the crystals-renormalized solid assemblage (liq/fl dropped, solids sum to 1 -- matches real itemized-phenocrysts + lumped-groundmass granularity). EVERY phase gets a presence Bernoulli AND a conditional amount +/- CI; near-certain phases just have p~1. Amp 0.41 / opx 0.63 anti-correlated is the flagship multimodality (deep-wet-amp vs shallow-dry-opx), so their marginal amounts are conditional on presence, not rock-wide means. CondHead = per-axis GMM; P and H2O were sampled at generation, T is derived (cooling endpoint at the phenocryst window), hence the lower illustrative T. Second read-out view: top-K scenarios; weights labeled prior-weighted plausibility, reweightable p/q. Mass-balance closure teacher-forces the label melt fraction at training.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 2 from heads.md, modernized to the locked corpus design: crystals-renormalized (no residual-melt row -- melt-fraction head dropped), composition shared across scenarios (CompHead reads h only), no inference-time mass-balance checkmark (closure is teacher-forced at training; the inference residual as OOD signal is an open rethink). Marginal view = projection of these scenarios; scenarios are the primary object. The joint-sampling mechanism exists (two-step ancestral sampling: presence Bernoullis -&gt; support, then the support-conditioned magnitude Dirichlet and CondHead both condition on it -- scripts/view/scenario_view.py); per-scenario mode shares and conditions are genuinely re-predicted per support.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for the ModeHead dirichlet layer (mixture), built and evaluated 2026-08-04 behind the K=1-identity `mode_n_components` dial. VERDICT (owner, same day): kept as a dial, K=1 stays the canonical output -- the trained K=2 posts the best corpus numbers on record on both axes (teacher-forced -3.0819 vs control -2.6713, sampled-support -2.1161 vs -1.9620) and collapses the targeted amp two-sided PIT residue, but the recalibrated real-rock val contrast leans against the same-dials control (1.642 vs 1.277, -0.365 [-0.864, +0.118], all in the magnitude term) and the gate hedges near 50/50 rather than switching. Attribution (journal 2026-08-04, second entry): the 7-group instrument passes 61% of the corpus advantage; the real amp population at matched chemistry has the same total spread but ONE hump (GMM BIC 39% vs 100% of matched corpus bulks); a single gate-offset recalibration parameter recovers ~60% of the penalty, to a tie, never a win. Drawn so the contrast with the two current-output slides is visual. Motivating measurements: 45% of sampled bulks bimodal in conditional amp proportion (2026-07-17 corpus exam), 34% of testable bimodal bulks still bimodal within their dominant support (the part support-conditioning cannot represent); amp two-sided PIT groups 0.026 -&gt; 0.114 when support-conditioning landed (truth escaping both tails = mean parked between humps); real-rock residual heavier-tailed than any Beta at the fitted mean. Design locked with the owner: K=2 fixed (not an HPO dial yet), assemblage-level components (one gate choosing whole alpha vectors -- on a simplex a per-phase mixture is not even coherent, and the humps co-vary through the shared hidden (P, H2O) path, cf. the 51% amp&lt;-&gt;opx switch), no gate regularizer in the first build (gate entropy is a read-after diagnostic; collapse = H~0 everywhere plus identical components), all-rock encoder with the allrock-tuned dials, control = joint_heads_allrock_tuned_seed0 as trained. Loss is logsumexp(log w_k + log Dir_k) on the present support -- CondHead's GMM pattern moved onto the Dirichlet. Build gate: K=1 under the new code must reproduce production metrics to float precision before any K=2 run. Old broad-draw corpus; verdict on the real-rock benchmark, val only, test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35k volcanic bulks x 24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1.65M phenocryst-regime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724 real volcanic rocks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35k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+ 2k sealed valtest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24 draws/bulk (128 valtest)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the floor: bounded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30352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wt%). Draws now come from literature (P, H2O) boxes picked per bulk by an immobile-trace tectonic-setting posterior, over a broad floor of this bounded region so importance weights stay finite. q is the mixture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rock, 48 labels: the one-to-many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BFF"/>
                </a:solidFill>
              </a:rPr>
              <a:t>ONE input 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188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5CE7"/>
                </a:solidFill>
              </a:rPr>
              <a:t>24 sampled (P, H2O)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1887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883A"/>
                </a:solidFill>
              </a:rPr>
              <a:t>x 2 rungs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887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</a:rPr>
              <a:t>48 training labels (solid wt%, crystals-renormalized)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828800" cy="10058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one gard2019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58 . Al2O3 17 . MgO 3.5 ...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" y="182880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6304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(P₁, H₂O₁)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9 kbar . 5.5 wt% -- deep, wet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212080" y="14630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60720" y="12344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95160" y="14630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12344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44 . cpx 26 . amp 19 . ox 11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12080" y="182880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60720" y="196596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219456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0" y="196596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40 . cpx 25 . amp 24 . ox 11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31720" y="3291840"/>
            <a:ext cx="960120" cy="22860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291840" y="292608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(P₂, H₂O₂)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2 kbar . 1.5 wt% -- shallow, dry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212080" y="2926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60720" y="269748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60" y="292608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269748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49 . cpx 26 . opx 14 . ox 11   (no amp)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2080" y="32918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60720" y="342900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65760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342900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46 . cpx 25 . opx 18 . ox 11   (no amp)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31720" y="352044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291840" y="484632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(P₂₄, H₂O₂₄)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5 kbar . 3 wt% -- intermediate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12080" y="484632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760720" y="461772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95160" y="484632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461772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45 . cpx 24 . amp 10 . opx 10 . ox 11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80" y="5212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760720" y="53492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60" y="55778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589520" y="53492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43 . cpx 23 . amp 12 . opx 11 . ox 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9319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393192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9319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each path drawn from the bounded (P, H2O) region: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074920"/>
            <a:ext cx="2194560" cy="11887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68680" y="5074920"/>
            <a:ext cx="2194559" cy="1188720"/>
          </a:xfrm>
          <a:custGeom>
            <a:avLst/>
            <a:gdLst/>
            <a:ahLst/>
            <a:cxnLst/>
            <a:rect l="l" t="t" r="r" b="b"/>
            <a:pathLst>
              <a:path w="2194559" h="1188720">
                <a:moveTo>
                  <a:pt x="0" y="1188720"/>
                </a:moveTo>
                <a:lnTo>
                  <a:pt x="0" y="802385"/>
                </a:lnTo>
                <a:lnTo>
                  <a:pt x="95415" y="612190"/>
                </a:lnTo>
                <a:lnTo>
                  <a:pt x="190831" y="456171"/>
                </a:lnTo>
                <a:lnTo>
                  <a:pt x="286246" y="309067"/>
                </a:lnTo>
                <a:lnTo>
                  <a:pt x="381662" y="163449"/>
                </a:lnTo>
                <a:lnTo>
                  <a:pt x="477078" y="16344"/>
                </a:lnTo>
                <a:lnTo>
                  <a:pt x="486619" y="0"/>
                </a:lnTo>
                <a:lnTo>
                  <a:pt x="2194559" y="0"/>
                </a:lnTo>
                <a:lnTo>
                  <a:pt x="2194559" y="118872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281927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1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5806440"/>
            <a:ext cx="8321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why this shape matters for the presence head: it only ever sees the left box, so all 48 rows share one input and it emits ONE p per mineral against 48 different truths -- amp grows on the wet-deep paths, opx on the dry-shallow. BCE's optimum is the fraction of paths growing the mineral, so an intermediate p is the multimodal signal, not indecision.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traced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adopted at default knobs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over the bounded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generator wiring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nested-block expansion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 any prefix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class-representative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train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35k bulks x 24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34,474 with rows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1.65M rows at 50 + 30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valtest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 + sealed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2k bulks x 128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roster grown by extension: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887 val / 1112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5. heads cascade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measured, not adopted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traced heads lost 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real rocks;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swap is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corpus was regenerated end to end in July 2026: 3.5x the bulks (scaling said bulks are where the nats are, and draws flatten past ~24), a trace-conditional (P, H2O) proposal replacing the broad box, and a valtest roster grown to 2,000 bulks by extension -- prior val/test assignments are frozen, so committed rows never move between splits.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. the roster change retired the old measuring instrument, so headline numbers before and after it are not comparable (results/ledger.yaml stamps each version with the instrument that measured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zⱼ = (log₁₀ fⱼ − μⱼ) / σⱼ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target: per-element z-scored log fraction; μⱼ, σⱼ from the train split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L = 1/|M| Σⱼ∈M (ŷⱼ − zⱼ)²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plain MSE between prediction ŷ and z, at the masked positions M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probes, the held-out mineralML grains, and zero-shot scoring on the real-rock benchmark.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-- slot, not built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-- slot, not built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h. three are trained (anatomy on the next slide, outputs after); the two auxiliary ones stay open slots.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ModeHead: two small MLPs on the frozen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ModeHead, the first head trained end-to-end -- two clean factors of the hurdle likelihood P(modal) = P(present) x P(modal | present), each with its own trunk: presence reads h alone; magnitude reads h + the mineral set it is sizing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two parallel trunks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presence: 3 x [Linear -&gt; 256] on 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magnitude: 3 x [Linear -&gt; 256]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on [h, support(21)] -- chain rule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197,376 + 202,752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presence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sigmoid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p_i = P(phase i present)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minerals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 loss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magnitude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softplus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alpha_i, support-conditioned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cond. Dirichlet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much, GIVEN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this mineral set (NLL)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410,922 trainable params (trunks 197,376 + 202,752, outputs 2 x 5,397) -- ~12.7% of the frozen encoder; 256 x 3 per trunk is the joint-HPO winner, kept unchanged when the support-conditioned trunk was added (isolation, #25).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(stamped in the production checkpoint): mode_hidden 256 . mode_layers 3 . dropout 0.348 . magnitude_weight 0.25 . alpha_eps 1e-6 . lr 2.15e-4 . weight_decay 1.04e-5 . batch 1024 . epochs 120 / per-head patience 10 -- fixed in code: GELU, AdamW,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L_presence = −Σᵢ [ yᵢ ln pᵢ + (1−yᵢ) ln(1−pᵢ) 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BCE, all 21 phases x every row; minimized when p = the rock's true presence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L_magnitude = −log Dir(mₛ | αₛ)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scored only on the present set S -- absent phases belong to the Bernoullis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L_presence + λ_mag · L_magnitude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one backward pass; the trunks are param-disjoint, so λ_mag no longer arbitrates a shared trunk -- it sets how hard the Dirichlet term pulls relative to the presence term; production runs 0.25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70% honest? One bin of the reliability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presence head's headline eval: pool every prediction near a probability, then ask how often the mineral was really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22-token chemistry -&gt; one p per rock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16002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truth: rows where cpx &gt; 0.1 wt% of the solids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A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14884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92024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187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29400" y="2304288"/>
            <a:ext cx="548640" cy="107899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88036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B (bas. 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0.74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46120" y="310896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3320" y="288036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163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264408"/>
            <a:ext cx="548640" cy="11887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384048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C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46120" y="406908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84048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197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3383280"/>
            <a:ext cx="548640" cy="84124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8040" y="2514600"/>
            <a:ext cx="23774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predictions binned: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 in [0.70, 0.80): 3 predictions,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x 256 labels each = 768 pairs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mean p = 0.740  .  actually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present: 547 / 768 = 0.712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783080"/>
            <a:ext cx="2103120" cy="21031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9875520" y="1783080"/>
            <a:ext cx="2103120" cy="210312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1349532" y="2306482"/>
            <a:ext cx="164592" cy="164592"/>
          </a:xfrm>
          <a:prstGeom prst="ellipse">
            <a:avLst/>
          </a:prstGeom>
          <a:solidFill>
            <a:srgbClr val="E88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58676" y="2826684"/>
            <a:ext cx="146304" cy="146304"/>
          </a:xfrm>
          <a:prstGeom prst="ellipse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8183879" y="2498506"/>
            <a:ext cx="3247949" cy="1753454"/>
          </a:xfrm>
          <a:prstGeom prst="bentConnector3">
            <a:avLst/>
          </a:prstGeom>
          <a:ln w="1905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01200" y="39319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predicted p 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3716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on the diagonal = calibrated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270248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3A3"/>
                </a:solidFill>
              </a:rPr>
              <a:t>gray dot: overconfident (if truth were 360/768)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709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"actually present" is the pooled hit rate over the rows whose prediction landed in the bin -- never a corpus-wide rate, never one rock alone. Per-rock misses can cancel inside a bin (B deserved 0.64); the p-vs-frequency scatter is the stricter per-rock test, and the head is scored on both.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949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3 rocks shown; the real figure pools the val-roster rocks only -- 218 rocks x ~255 rows = 55,576 (p, truth) pairs per mineral panel, partitioned across the 10 bins (the gray bars). Training rocks are excluded because a head that memorized them would grade itself calibrated. And since all ~255 rows of a rock share one prediction, a panel holds only 218 distinct p values, each stamped ~256x -- the effective sample size is rocks, not rows. The population is the fixed val roster of the sealed valtest tier (128 draws/rock at rungs 50+30), so panels are comparable across retrains.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55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BCE's per-rock minimum is the true fraction, so an honest head lands on the diagonal by construction. current limits (production model): intermediate-frequency presence is the miss mode -- where a mineral grows on 10-50% of a rock's paths, recall runs 0.00-0.41, against 0.76-1.00 where it grows on &gt;90%; the rarest phases are essentially never called; spinel is the worst-calibrated panel (ECE 0.072). full report: runs/mode_head/&lt;tag&gt;/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If it's there, how much? One row through the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magnitude branch's eval: slice the predicted concentrations to the row's true support, then meet the truth at the scoring step -- are the means right, and is the claimed spread honest (PIT)?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for all 21 phases, from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latent + the row's support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true MODES are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alpha sliced to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12.0    cpx 7.0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4.5      ilm 1.5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sum = 25 (confidence)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mean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0.48 +/- 0.10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cpx 0.28 +/- 0.09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0.18 +/- 0.08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ilm 0.06 +/- 0.05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present: plag cpx amp ilm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modes: .44  .26  .19  .11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PIT of each true mode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Dirichlet NLL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651760" y="3154680"/>
            <a:ext cx="1280160" cy="274320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172968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9D8F"/>
                </a:solidFill>
              </a:rPr>
              <a:t>support only (which phases)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3154680"/>
            <a:ext cx="1737360" cy="777240"/>
          </a:xfrm>
          <a:prstGeom prst="bentConnector3">
            <a:avLst/>
          </a:prstGeom>
          <a:ln w="19050">
            <a:solidFill>
              <a:srgbClr val="6C5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15200" y="3429000"/>
            <a:ext cx="4297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L_magnitude = −log Dir(mₛ | αₛ), expanded:</a:t>
            </a:r>
          </a:p>
          <a:p>
            <a:pPr algn="ctr"/>
            <a:r>
              <a:rPr sz="1100" b="1">
                <a:solidFill>
                  <a:srgbClr val="8A93A3"/>
                </a:solidFill>
              </a:rPr>
              <a:t>= Σ lnΓ(αᵢ) − lnΓ(α₀) − Σ (αᵢ−1) ln mᵢ   (sums over S)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mᵢ true mode . αᵢ predicted concentration . α₀ = Σ αᵢ . Γ extends factorial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Γ terms: normalizer -- the cost of confidence, grows with α₀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(αᵢ−1) ln mᵢ: shape term -- the only place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 density, not a probability -- well-scored rows go negative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1549"/>
                </a:lnTo>
                <a:lnTo>
                  <a:pt x="38100" y="1051532"/>
                </a:lnTo>
                <a:lnTo>
                  <a:pt x="76200" y="1051489"/>
                </a:lnTo>
                <a:lnTo>
                  <a:pt x="114300" y="1051387"/>
                </a:lnTo>
                <a:lnTo>
                  <a:pt x="152400" y="1051157"/>
                </a:lnTo>
                <a:lnTo>
                  <a:pt x="190500" y="1050659"/>
                </a:lnTo>
                <a:lnTo>
                  <a:pt x="228600" y="1049631"/>
                </a:lnTo>
                <a:lnTo>
                  <a:pt x="266700" y="1047606"/>
                </a:lnTo>
                <a:lnTo>
                  <a:pt x="304800" y="1043798"/>
                </a:lnTo>
                <a:lnTo>
                  <a:pt x="342900" y="1036971"/>
                </a:lnTo>
                <a:lnTo>
                  <a:pt x="381000" y="1025303"/>
                </a:lnTo>
                <a:lnTo>
                  <a:pt x="419100" y="1006310"/>
                </a:lnTo>
                <a:lnTo>
                  <a:pt x="457200" y="976891"/>
                </a:lnTo>
                <a:lnTo>
                  <a:pt x="495300" y="933578"/>
                </a:lnTo>
                <a:lnTo>
                  <a:pt x="533400" y="873059"/>
                </a:lnTo>
                <a:lnTo>
                  <a:pt x="571500" y="792967"/>
                </a:lnTo>
                <a:lnTo>
                  <a:pt x="609600" y="692851"/>
                </a:lnTo>
                <a:lnTo>
                  <a:pt x="647700" y="575109"/>
                </a:lnTo>
                <a:lnTo>
                  <a:pt x="685800" y="445599"/>
                </a:lnTo>
                <a:lnTo>
                  <a:pt x="723900" y="313619"/>
                </a:lnTo>
                <a:lnTo>
                  <a:pt x="762000" y="191063"/>
                </a:lnTo>
                <a:lnTo>
                  <a:pt x="800100" y="90773"/>
                </a:lnTo>
                <a:lnTo>
                  <a:pt x="838200" y="24359"/>
                </a:lnTo>
                <a:lnTo>
                  <a:pt x="876300" y="0"/>
                </a:lnTo>
                <a:lnTo>
                  <a:pt x="914400" y="20786"/>
                </a:lnTo>
                <a:lnTo>
                  <a:pt x="952500" y="84078"/>
                </a:lnTo>
                <a:lnTo>
                  <a:pt x="990600" y="182053"/>
                </a:lnTo>
                <a:lnTo>
                  <a:pt x="1028700" y="303298"/>
                </a:lnTo>
                <a:lnTo>
                  <a:pt x="1066800" y="434987"/>
                </a:lnTo>
                <a:lnTo>
                  <a:pt x="1104900" y="565079"/>
                </a:lnTo>
                <a:lnTo>
                  <a:pt x="1143000" y="684026"/>
                </a:lnTo>
                <a:lnTo>
                  <a:pt x="1181100" y="785683"/>
                </a:lnTo>
                <a:lnTo>
                  <a:pt x="1219200" y="867393"/>
                </a:lnTo>
                <a:lnTo>
                  <a:pt x="1257300" y="929409"/>
                </a:lnTo>
                <a:lnTo>
                  <a:pt x="1295400" y="973983"/>
                </a:lnTo>
                <a:lnTo>
                  <a:pt x="1333500" y="1004385"/>
                </a:lnTo>
                <a:lnTo>
                  <a:pt x="1371600" y="1024090"/>
                </a:lnTo>
                <a:lnTo>
                  <a:pt x="1409700" y="1036244"/>
                </a:lnTo>
                <a:lnTo>
                  <a:pt x="1447800" y="1043383"/>
                </a:lnTo>
                <a:lnTo>
                  <a:pt x="1485900" y="1047380"/>
                </a:lnTo>
                <a:lnTo>
                  <a:pt x="1524000" y="1049514"/>
                </a:lnTo>
                <a:lnTo>
                  <a:pt x="1562100" y="1050601"/>
                </a:lnTo>
                <a:lnTo>
                  <a:pt x="1600200" y="1051129"/>
                </a:lnTo>
                <a:lnTo>
                  <a:pt x="1638300" y="1051375"/>
                </a:lnTo>
                <a:lnTo>
                  <a:pt x="1676400" y="1051483"/>
                </a:lnTo>
                <a:lnTo>
                  <a:pt x="1714500" y="1051530"/>
                </a:lnTo>
                <a:lnTo>
                  <a:pt x="1752600" y="1051548"/>
                </a:lnTo>
                <a:lnTo>
                  <a:pt x="1790700" y="1051555"/>
                </a:lnTo>
                <a:lnTo>
                  <a:pt x="1828800" y="1051558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 marginal: Beta(12, 13)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908792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0.44 -&gt; PIT 0.34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each present phase's marginal is a Beta distribution; PIT = where the truth lands inside it (its CDF value). Over many rows a flat PIT histogram means the spread is honest; a U means overconfident (truth keeps escaping the claimed range), a hump means underconfident.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truth's modes never enter the model; its support enters twice -- it CONDITIONS alpha (the magnitude trunk reads [h, support]; teacher-forced at train/eval, sampled from the presence branch at inference) and it slices the score to the present set (a Dirichlet sub-composition is itself a Dirichlet, so the sliced score is a proper density).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population: only truly-present (row, phase) pairs are scored -- ~41k pairs for plag down to a few hundred for the rarest phases; single-phase rows are excluded (nothing to size). current limits (production model): amp parity r 0.876 teacher-forced but 0.539 on self-sampled supports; the interrogation also measured amp bimodal WITHIN one support (mixture parameterization is the staged candidate, #25). full report: runs/mode_head/&lt;tag&gt;/ (magnitude_parity, magnitude_pit).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CompHead: one oxide Dirichlet per mineral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 emits a Dirichlet over the 11 MAGEMin oxides for each of the 21 phases -- composition is bulk-controlled, so it reads h only (never the support or conditions)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128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32,896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231 (21x11)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softmax per phase: m_p, the oxide mix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29,799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simplex means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what each mineral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is made of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concentration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21,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c_p = one certainty scalar per phase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2,709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certainties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alpha_p = c_p · m_p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(mean invariant to c_p)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65,404 trainable params (trunk 32,896 + mean 29,799 + concentration 2,709) -- ~2.0% of the frozen encoder, and the smallest of the three heads despite emitting the most numbers (21 x 11).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comp_hidden null -&gt; 128 . comp_layers 1 (mini-sweep verdict: capacity above 128 x 1 hurts comp) . dropout 0.348 . alpha_eps 1e-6 . comp_eps 1e-4 (hard-zero clip on targets) . lambda_comp 1.0 . lambda_balance 54.5 -- fixed in code: GELU, AdamW, per-head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alpha_p = c_p · softmax(u_p)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mean x shared-concentration factorization: c_p scales certainty, never the predicted composition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L_comp = −mean_{p ∈ S} log Dir(x_p | alpha_p)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only where the label marks phase p present; targets eps-clipped to full support, renormalized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L_closure = ‖(1−F_liq−F_fl)·Σᵢ mᵢCᵢ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mass balance: ModeHead's modes m x CompHead's comps C must rebuild the input bulk B; melt/fluid side teacher-forced from the 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recipe right? One phase through the oxide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CompHead's eval: slice the per-phase Dirichlets to the row's true support, then score each present phase's 11-oxide simplex -- right mix (parity), honest error bars (PIT), and mass balance as the physics self-check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[21 phases x 11 oxides],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computed from the latent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is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present phase: plag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780 (confidence)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mean = alpha / alpha0: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.55  Al2O3 .28  CaO .12 ...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mix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0.55 +/- 0.018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Al2O3 0.28 +/- 0.016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CaO 0.12 +/- 0.012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measured (mass-frac):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.553  .285  .118  .041 ...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per-oxide Beta PIT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comp Dirichlet NLL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0844"/>
                </a:lnTo>
                <a:lnTo>
                  <a:pt x="38100" y="1050329"/>
                </a:lnTo>
                <a:lnTo>
                  <a:pt x="76200" y="1049487"/>
                </a:lnTo>
                <a:lnTo>
                  <a:pt x="114300" y="1048141"/>
                </a:lnTo>
                <a:lnTo>
                  <a:pt x="152400" y="1046039"/>
                </a:lnTo>
                <a:lnTo>
                  <a:pt x="190500" y="1042828"/>
                </a:lnTo>
                <a:lnTo>
                  <a:pt x="228600" y="1038037"/>
                </a:lnTo>
                <a:lnTo>
                  <a:pt x="266700" y="1031050"/>
                </a:lnTo>
                <a:lnTo>
                  <a:pt x="304800" y="1021097"/>
                </a:lnTo>
                <a:lnTo>
                  <a:pt x="342900" y="1007252"/>
                </a:lnTo>
                <a:lnTo>
                  <a:pt x="381000" y="988449"/>
                </a:lnTo>
                <a:lnTo>
                  <a:pt x="419100" y="963528"/>
                </a:lnTo>
                <a:lnTo>
                  <a:pt x="457200" y="931310"/>
                </a:lnTo>
                <a:lnTo>
                  <a:pt x="495300" y="890704"/>
                </a:lnTo>
                <a:lnTo>
                  <a:pt x="533400" y="840842"/>
                </a:lnTo>
                <a:lnTo>
                  <a:pt x="571500" y="781241"/>
                </a:lnTo>
                <a:lnTo>
                  <a:pt x="609600" y="711966"/>
                </a:lnTo>
                <a:lnTo>
                  <a:pt x="647700" y="633774"/>
                </a:lnTo>
                <a:lnTo>
                  <a:pt x="685800" y="548225"/>
                </a:lnTo>
                <a:lnTo>
                  <a:pt x="723900" y="457719"/>
                </a:lnTo>
                <a:lnTo>
                  <a:pt x="762000" y="365451"/>
                </a:lnTo>
                <a:lnTo>
                  <a:pt x="800100" y="275267"/>
                </a:lnTo>
                <a:lnTo>
                  <a:pt x="838200" y="191423"/>
                </a:lnTo>
                <a:lnTo>
                  <a:pt x="876300" y="118263"/>
                </a:lnTo>
                <a:lnTo>
                  <a:pt x="914400" y="59857"/>
                </a:lnTo>
                <a:lnTo>
                  <a:pt x="952500" y="19623"/>
                </a:lnTo>
                <a:lnTo>
                  <a:pt x="990600" y="0"/>
                </a:lnTo>
                <a:lnTo>
                  <a:pt x="1028700" y="2198"/>
                </a:lnTo>
                <a:lnTo>
                  <a:pt x="1066800" y="26083"/>
                </a:lnTo>
                <a:lnTo>
                  <a:pt x="1104900" y="70182"/>
                </a:lnTo>
                <a:lnTo>
                  <a:pt x="1143000" y="131838"/>
                </a:lnTo>
                <a:lnTo>
                  <a:pt x="1181100" y="207474"/>
                </a:lnTo>
                <a:lnTo>
                  <a:pt x="1219200" y="292937"/>
                </a:lnTo>
                <a:lnTo>
                  <a:pt x="1257300" y="383869"/>
                </a:lnTo>
                <a:lnTo>
                  <a:pt x="1295400" y="476074"/>
                </a:lnTo>
                <a:lnTo>
                  <a:pt x="1333500" y="565820"/>
                </a:lnTo>
                <a:lnTo>
                  <a:pt x="1371600" y="650063"/>
                </a:lnTo>
                <a:lnTo>
                  <a:pt x="1409700" y="726570"/>
                </a:lnTo>
                <a:lnTo>
                  <a:pt x="1447800" y="793946"/>
                </a:lnTo>
                <a:lnTo>
                  <a:pt x="1485900" y="851585"/>
                </a:lnTo>
                <a:lnTo>
                  <a:pt x="1524000" y="899542"/>
                </a:lnTo>
                <a:lnTo>
                  <a:pt x="1562100" y="938392"/>
                </a:lnTo>
                <a:lnTo>
                  <a:pt x="1600200" y="969059"/>
                </a:lnTo>
                <a:lnTo>
                  <a:pt x="1638300" y="992661"/>
                </a:lnTo>
                <a:lnTo>
                  <a:pt x="1676400" y="1010382"/>
                </a:lnTo>
                <a:lnTo>
                  <a:pt x="1714500" y="1023367"/>
                </a:lnTo>
                <a:lnTo>
                  <a:pt x="1752600" y="1032658"/>
                </a:lnTo>
                <a:lnTo>
                  <a:pt x="1790700" y="1039149"/>
                </a:lnTo>
                <a:lnTo>
                  <a:pt x="1828800" y="1043580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SiO2 marginal (Beta)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1073384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0.553 -&gt; PIT 0.43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only truly-present (row, phase) pairs -- 42k for cpx down to ~240 for andalusite. headline (val roster, production): comp NLL -53.90 nats per present (row, phase); majors' PIT tails sit near the nominal 10% (cpx 0.048/0.054).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confidence spans decades and tracks real mineralogy: near-stoichiometric phases (q, ru, sph) earn far higher median alpha0 than wide solid solutions (garnet, spinel, ilmenite) -- span measured on the traced-corpus retrain. mass balance closes to 1.3% mean L2 with signed per-oxide residuals centered on zero; plag An# parity r = 0.93.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hard-zero oxides ride the eps floor (a quartz row is 'SiO2 + 10 floors'); ilmenite FeO/TiO2 stays the accuracy outlier; ~0.3% of corpus rows cannot self-close and set an unattainable closure floor there. full report: runs/comp_head/&lt;tag&gt;/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CondHead: a support-conditioned mixture over (T, P, H2O)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inverse-inference head, chain rule p(support | h) x p(T, P, H2O | h, support): the presence vector joins h at the input -- teacher-forced true set at train, ModeHead-sampled at inference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frozen h [256] ++ presence vector [21] = 277-dim 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 x [Linear -&gt; 512]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 each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404,992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354580"/>
            <a:ext cx="685800" cy="1165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0515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weight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 (3 axes x K=3)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log-softmax over K per axis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18998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mixture weights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condition mode,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likely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22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017520"/>
            <a:ext cx="301752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mu_k in raw units (C, kbar, wt%)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337870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06323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component centers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e.g. deep-wet vs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shallow-dry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0" y="3520440"/>
            <a:ext cx="685800" cy="12115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4206240"/>
            <a:ext cx="3017520" cy="10515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spread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sigma_k, heteroscedastic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81160" y="456742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38360" y="425195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per-mode spreads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row-dependent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error bars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418,843 trainable params (trunk 404,992 + 3 x 4,617) -- ~13% of the frozen encoder; the 512 x 2 trunk is the mini-sweep winner (0.29 nats over the starved 128 x 1). Output biases seeded at the targets' mean/std (raw-unit cold-start fix).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cond_n_components 3 . cond_sigma_eps 1e-3 . cond_hidden 512 . cond_layers 2 (adopted from the architecture mini-sweep) . dropout 0.348 . lambda_cond 0.01 -- fixed in code: GELU, AdamW, per-head grad-clip 1.0, linear units (no log transform of T/P/H2O)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L_cond = Σ_axis −log Σ_k w_k · N(t | mu_k, sigma_k²)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per-axis GMM NLL in raw units; minimized when the mixture matches each rock's condition distribution per 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support in, never through the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teacher-forced true set at train -&gt; no gradient coupling to ModeHead; sampled sets at inference (exposure bias, #31)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L_mode + λ_comp·L_comp + λ_cond·L_cond + λ_bal·L_closure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heads share no weights and each is snapshotted at its own raw-val best, so λ_cond only absorbs the raw-unit scale in the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68% band honest? Coverage, and the exposure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CondHead's eval scores every row twice: told the TRUE mineral list (teacher-forced -- the head's own skill) and told ModeHead's SAMPLED list (the deployed pipeline). The first is calibrated; the gap to the second is the exposure bias.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651760" cy="12801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input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 [256] ++ true presence [21]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X: plag cpx amp ilm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612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834640" cy="12801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T-axis mixture (K=3)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deep-wet:  mu 780 C, w 0.58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shallow-dry: mu 940 C, w 0.39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(third component ~unused)</a:t>
            </a:r>
          </a:p>
        </p:txBody>
      </p:sp>
      <p:sp>
        <p:nvSpPr>
          <p:cNvPr id="8" name="Freeform 7"/>
          <p:cNvSpPr/>
          <p:nvPr/>
        </p:nvSpPr>
        <p:spPr>
          <a:xfrm>
            <a:off x="6903720" y="1874519"/>
            <a:ext cx="2377440" cy="1143001"/>
          </a:xfrm>
          <a:custGeom>
            <a:avLst/>
            <a:gdLst/>
            <a:ahLst/>
            <a:cxnLst/>
            <a:rect l="l" t="t" r="r" b="b"/>
            <a:pathLst>
              <a:path w="2377440" h="1143001">
                <a:moveTo>
                  <a:pt x="0" y="1143001"/>
                </a:moveTo>
                <a:lnTo>
                  <a:pt x="0" y="1140938"/>
                </a:lnTo>
                <a:lnTo>
                  <a:pt x="49529" y="1138428"/>
                </a:lnTo>
                <a:lnTo>
                  <a:pt x="99060" y="1133390"/>
                </a:lnTo>
                <a:lnTo>
                  <a:pt x="148589" y="1123858"/>
                </a:lnTo>
                <a:lnTo>
                  <a:pt x="198120" y="1106860"/>
                </a:lnTo>
                <a:lnTo>
                  <a:pt x="247650" y="1078329"/>
                </a:lnTo>
                <a:lnTo>
                  <a:pt x="297180" y="1033310"/>
                </a:lnTo>
                <a:lnTo>
                  <a:pt x="346710" y="966661"/>
                </a:lnTo>
                <a:lnTo>
                  <a:pt x="396240" y="874305"/>
                </a:lnTo>
                <a:lnTo>
                  <a:pt x="445770" y="754939"/>
                </a:lnTo>
                <a:lnTo>
                  <a:pt x="495300" y="611787"/>
                </a:lnTo>
                <a:lnTo>
                  <a:pt x="544830" y="453767"/>
                </a:lnTo>
                <a:lnTo>
                  <a:pt x="594359" y="295397"/>
                </a:lnTo>
                <a:lnTo>
                  <a:pt x="643890" y="155020"/>
                </a:lnTo>
                <a:lnTo>
                  <a:pt x="693420" y="51478"/>
                </a:lnTo>
                <a:lnTo>
                  <a:pt x="742950" y="0"/>
                </a:lnTo>
                <a:lnTo>
                  <a:pt x="792479" y="8538"/>
                </a:lnTo>
                <a:lnTo>
                  <a:pt x="842010" y="75747"/>
                </a:lnTo>
                <a:lnTo>
                  <a:pt x="891540" y="191322"/>
                </a:lnTo>
                <a:lnTo>
                  <a:pt x="941069" y="338550"/>
                </a:lnTo>
                <a:lnTo>
                  <a:pt x="990600" y="498187"/>
                </a:lnTo>
                <a:lnTo>
                  <a:pt x="1040130" y="652364"/>
                </a:lnTo>
                <a:lnTo>
                  <a:pt x="1089660" y="787363"/>
                </a:lnTo>
                <a:lnTo>
                  <a:pt x="1139189" y="894668"/>
                </a:lnTo>
                <a:lnTo>
                  <a:pt x="1188720" y="970345"/>
                </a:lnTo>
                <a:lnTo>
                  <a:pt x="1238250" y="1013401"/>
                </a:lnTo>
                <a:lnTo>
                  <a:pt x="1287779" y="1024014"/>
                </a:lnTo>
                <a:lnTo>
                  <a:pt x="1337309" y="1002483"/>
                </a:lnTo>
                <a:lnTo>
                  <a:pt x="1386840" y="949410"/>
                </a:lnTo>
                <a:lnTo>
                  <a:pt x="1436370" y="867099"/>
                </a:lnTo>
                <a:lnTo>
                  <a:pt x="1485900" y="761531"/>
                </a:lnTo>
                <a:lnTo>
                  <a:pt x="1535430" y="643826"/>
                </a:lnTo>
                <a:lnTo>
                  <a:pt x="1584960" y="530029"/>
                </a:lnTo>
                <a:lnTo>
                  <a:pt x="1634490" y="438642"/>
                </a:lnTo>
                <a:lnTo>
                  <a:pt x="1684020" y="386335"/>
                </a:lnTo>
                <a:lnTo>
                  <a:pt x="1733550" y="383317"/>
                </a:lnTo>
                <a:lnTo>
                  <a:pt x="1783080" y="430256"/>
                </a:lnTo>
                <a:lnTo>
                  <a:pt x="1832610" y="518129"/>
                </a:lnTo>
                <a:lnTo>
                  <a:pt x="1882140" y="631084"/>
                </a:lnTo>
                <a:lnTo>
                  <a:pt x="1931670" y="751118"/>
                </a:lnTo>
                <a:lnTo>
                  <a:pt x="1981200" y="862677"/>
                </a:lnTo>
                <a:lnTo>
                  <a:pt x="2030729" y="955625"/>
                </a:lnTo>
                <a:lnTo>
                  <a:pt x="2080260" y="1025967"/>
                </a:lnTo>
                <a:lnTo>
                  <a:pt x="2129790" y="1074694"/>
                </a:lnTo>
                <a:lnTo>
                  <a:pt x="2179320" y="1105748"/>
                </a:lnTo>
                <a:lnTo>
                  <a:pt x="2228850" y="1124016"/>
                </a:lnTo>
                <a:lnTo>
                  <a:pt x="2278380" y="1133960"/>
                </a:lnTo>
                <a:lnTo>
                  <a:pt x="2327910" y="1138978"/>
                </a:lnTo>
                <a:lnTo>
                  <a:pt x="2377440" y="1141328"/>
                </a:lnTo>
                <a:lnTo>
                  <a:pt x="2377440" y="1143001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903720" y="3017520"/>
            <a:ext cx="237744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20840" y="3063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p(T | h, support): two condition modes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807147" y="1737360"/>
            <a:ext cx="0" cy="128016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137159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T = 815 C, inside the 68%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828800"/>
            <a:ext cx="2148840" cy="12801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coverage question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does the central 68% of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mixture catch the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~68% of rows?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57600"/>
            <a:ext cx="539496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teacher-forced (true list): honest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68% band catches truth on 71.0% of rows (T),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67.4% (P), 67.9% (H2O) . NLL 8.31 nats/row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532120" cy="105156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ModeHead-sampled list: the exposure gap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coverage falls to 26% (T), 34% (P), 34% (H2O) . NLL +2.4 to +4.0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nats/axis -- sharp under truth = more wrong under mismatch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gap is a deliberate debt: the head trains and is graded teacher-forced (mineralogy-first -- conditions are the bonus product). It is measured, tracked (#31, P3), and untouched by design until the mineralogy heads are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23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all 55,576 val-roster rows, both scoring passes on the same rows with a fixed sampling seed. per-axis NLL (production, teacher-forced): T 4.97, P 1.82, H2O 1.52 -- summed 8.31.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axes are independent mixtures (no (T, P) correlation, deferred per ADR 006); T is a derived cooling endpoint, not a sampled axis; badly mismatched supports drive individual rows past 100 nats (#31). full report: runs/cond_head/&lt;tag&gt;/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latent, four branches, one scalar to minimize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the same frozen h feeds every branch; the two support-conditioned ones also take the assemblage set s (true set at train, ModeHead-sampled at inference). closure is the only term with no parameters of its own -- it is where two heads meet.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23160"/>
            <a:ext cx="1280160" cy="128016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3986784"/>
            <a:ext cx="1627632" cy="5486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 (21)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true set / sampled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828800" y="1783080"/>
            <a:ext cx="1051560" cy="12801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417320"/>
            <a:ext cx="3108960" cy="7315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presence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sigmoid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46520" y="1636776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1417320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which minerals are there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1732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L_presence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−Σᵢ [ yᵢ ln pᵢ + (1−yᵢ) ln(1−pᵢ) ]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828800" y="2633472"/>
            <a:ext cx="1051560" cy="42976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67712"/>
            <a:ext cx="3108960" cy="7315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softplus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46520" y="2487168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12280" y="2267712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Dirichlet on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how much, given that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267712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λ_mag · L_magnitude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−log Dir(mₛ | αₛ), present set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1051560" cy="420624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3118104"/>
            <a:ext cx="310896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 x [Linear -&gt; 128]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mean x softplus concentration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46520" y="3337560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118104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Dirichlets x 11 oxides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what each mineral is made 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118104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λ_comp · L_comp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−mean_{p ∈ S} log Dir(xₚ | αₚ)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3063240"/>
            <a:ext cx="1051560" cy="1271016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968496"/>
            <a:ext cx="310896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 x [Linear -&gt; 512]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log-softmax w, μ, softplus 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446520" y="4187952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3968496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3 axes x K=3 mixture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T, P, H2O in raw units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968496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λ_cond · L_cond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Σ_axis −log Σₖ wₖ N(t | μₖ, σₖ²)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011680" y="2770632"/>
            <a:ext cx="868680" cy="149047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261104"/>
            <a:ext cx="868680" cy="21031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9320" y="2633472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989320" y="3483864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17920" y="2633472"/>
            <a:ext cx="0" cy="2212848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4846320"/>
            <a:ext cx="88239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λ_bal · L_closure = ‖(1−F_liq−F_fl)·Σₚ mₚCₚ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no weights of its own: ModeHead's masked mean m x CompHead's mean C must rebuild the input bulk B, melt/fluid side teacher-forced from the corpus row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68112"/>
            <a:ext cx="11201400" cy="566928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 = L_presence + λ_mag·L_magnitude + λ_comp·L_comp + λ_cond·L_cond + λ_bal·L_closure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λ_mag 0.25 . λ_comp 1.0 . λ_cond 0.01 . λ_bal 54.5 (joint HPO, ADR 006) -- one scalar, one backward pass, one AdamW step; the branches share no weights, so each λ balances terms rather than arbitrating a trunk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716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238"/>
                </a:solidFill>
              </a:rPr>
              <a:t>895,169 params on the frozen 3.23M encoder (~28%): mode 410,922 . comp 65,404 . cond 418,843 -- from checkpoints/joint_heads_supportmag_seed0/heads_best.pt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27648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A93A3"/>
                </a:solidFill>
              </a:rPr>
              <a:t>dials (stamped in the production checkpoint): dropout 0.348 . lr 2.15e-4 . weight_decay 1.04e-5 . batch 1024 . epochs 120 / patience 10 -- in code: GELU, AdamW, grad-clip 1.0 per head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0392B"/>
                </a:solidFill>
              </a:rPr>
              <a:t>L_presence is meaned over the 21 phases while L_magnitude sums them, so against a per-phase-SUM BCE the same weight reads 21 x 0.25 = ~5.3 (the reversed trial-22 dials ran 21 x 7.76 = 163)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CURRENT CANONICAL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per phase: p(present) x amount-when-present (hurdle Dirichlet; crystals renormalized to 1, groundmass/melt excluded)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89280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97496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97496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18120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9560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0.45  |  p 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35684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82435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82435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8934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10374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0.27  |  p 0.97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7571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9748" y="2642616"/>
            <a:ext cx="50474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9748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4497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5937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0.18  |  p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4206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67374" y="2953512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67374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03873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95313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0.10  |  p 0.63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  |  p 0.95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storage conditions (per-axis GMM; P and H2O are sampled axes, T is the derived phenocryst-window endpoint temperature)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1010 +/- 40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phase carries both numbers; faded bars = presence genuinely uncertain (here the amphibole/orthopyroxene either-or: wet-deep grows amp, dry-shallow grows opx). This marginal view is a projection; the primary output is the ranked-scenario view on the next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CURRENT CANONICAL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coherent answer: ranked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marginal table can't show WHICH minerals trade off; scenarios can -- sample the posterior, cluster by assemblage, rank by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94960" cy="32918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A -- deep &amp; wet . weight ~45%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6-9 kbar   H2O 4-6 wt%   T ~950-990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44 +/- 4    clinopyroxene 26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amphibole 18 +/- 4      Fe-Ti oxides 12 +/- 2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94960" cy="32918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B -- shallow &amp; dry . weight ~35%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1-3 kbar   H2O 1-2.5 wt%   T ~1000-1040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48 +/- 4    clinopyroxene 24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orthopyroxene 16 +/- 3  Fe-Ti oxides 12 +/- 2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+ intermediate scenario (amp + opx coexist, ~12%) + tail (~8%) -- nothing silently dropped; weights are prior-weighted plausibility, reweightable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per-phase composition (An#, Mg#) is bulk-controlled -- one shared band across scenarios, not re-predicted per scenario. Each scenario is a falsifiable hypothesis: amphibole in thin section selects A, and with it A's conditions.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K=2 MIXTURE: EVALUATED, KEPT AS A DIAL (K=1 STAYS CANONICAL)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ModeHead dirichlet layer (mixture) -- trained 2026-08-04; wins the corpus, leans against on real rocks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same bulk, same h, same presence Bernoullis -- only the 'how much, given this mineral set' answer changes: two full-assemblage components chosen by a gate, instead of one Dirichlet per (rock, support)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amphibole's conditional share, one fixed support (same minerals present, path deep-wet or shallow-dry):</a:t>
            </a:r>
          </a:p>
        </p:txBody>
      </p:sp>
      <p:sp>
        <p:nvSpPr>
          <p:cNvPr id="6" name="Freeform 5"/>
          <p:cNvSpPr/>
          <p:nvPr/>
        </p:nvSpPr>
        <p:spPr>
          <a:xfrm>
            <a:off x="822960" y="2148840"/>
            <a:ext cx="2926080" cy="1188720"/>
          </a:xfrm>
          <a:custGeom>
            <a:avLst/>
            <a:gdLst/>
            <a:ahLst/>
            <a:cxnLst/>
            <a:rect l="l" t="t" r="r" b="b"/>
            <a:pathLst>
              <a:path w="2926080" h="1188720">
                <a:moveTo>
                  <a:pt x="0" y="1188720"/>
                </a:moveTo>
                <a:lnTo>
                  <a:pt x="0" y="1175468"/>
                </a:lnTo>
                <a:lnTo>
                  <a:pt x="60960" y="1146313"/>
                </a:lnTo>
                <a:lnTo>
                  <a:pt x="121920" y="1074642"/>
                </a:lnTo>
                <a:lnTo>
                  <a:pt x="182880" y="930747"/>
                </a:lnTo>
                <a:lnTo>
                  <a:pt x="243840" y="698322"/>
                </a:lnTo>
                <a:lnTo>
                  <a:pt x="304800" y="405067"/>
                </a:lnTo>
                <a:lnTo>
                  <a:pt x="365760" y="136029"/>
                </a:lnTo>
                <a:lnTo>
                  <a:pt x="426720" y="0"/>
                </a:lnTo>
                <a:lnTo>
                  <a:pt x="487680" y="60327"/>
                </a:lnTo>
                <a:lnTo>
                  <a:pt x="548640" y="288305"/>
                </a:lnTo>
                <a:lnTo>
                  <a:pt x="609600" y="584729"/>
                </a:lnTo>
                <a:lnTo>
                  <a:pt x="670560" y="848116"/>
                </a:lnTo>
                <a:lnTo>
                  <a:pt x="731520" y="1027149"/>
                </a:lnTo>
                <a:lnTo>
                  <a:pt x="792480" y="1123853"/>
                </a:lnTo>
                <a:lnTo>
                  <a:pt x="853440" y="1165256"/>
                </a:lnTo>
                <a:lnTo>
                  <a:pt x="914400" y="1176628"/>
                </a:lnTo>
                <a:lnTo>
                  <a:pt x="975360" y="1170496"/>
                </a:lnTo>
                <a:lnTo>
                  <a:pt x="1036320" y="1146969"/>
                </a:lnTo>
                <a:lnTo>
                  <a:pt x="1097280" y="1097886"/>
                </a:lnTo>
                <a:lnTo>
                  <a:pt x="1158239" y="1012517"/>
                </a:lnTo>
                <a:lnTo>
                  <a:pt x="1219200" y="885597"/>
                </a:lnTo>
                <a:lnTo>
                  <a:pt x="1280160" y="726470"/>
                </a:lnTo>
                <a:lnTo>
                  <a:pt x="1341120" y="563869"/>
                </a:lnTo>
                <a:lnTo>
                  <a:pt x="1402080" y="440005"/>
                </a:lnTo>
                <a:lnTo>
                  <a:pt x="1463040" y="393483"/>
                </a:lnTo>
                <a:lnTo>
                  <a:pt x="1524000" y="440005"/>
                </a:lnTo>
                <a:lnTo>
                  <a:pt x="1584960" y="563869"/>
                </a:lnTo>
                <a:lnTo>
                  <a:pt x="1645920" y="726470"/>
                </a:lnTo>
                <a:lnTo>
                  <a:pt x="1706880" y="885598"/>
                </a:lnTo>
                <a:lnTo>
                  <a:pt x="1767840" y="1012523"/>
                </a:lnTo>
                <a:lnTo>
                  <a:pt x="1828800" y="1097934"/>
                </a:lnTo>
                <a:lnTo>
                  <a:pt x="1889760" y="1147255"/>
                </a:lnTo>
                <a:lnTo>
                  <a:pt x="1950720" y="1171932"/>
                </a:lnTo>
                <a:lnTo>
                  <a:pt x="2011680" y="1182695"/>
                </a:lnTo>
                <a:lnTo>
                  <a:pt x="2072640" y="1186803"/>
                </a:lnTo>
                <a:lnTo>
                  <a:pt x="2133600" y="1188179"/>
                </a:lnTo>
                <a:lnTo>
                  <a:pt x="2194560" y="1188584"/>
                </a:lnTo>
                <a:lnTo>
                  <a:pt x="2255520" y="1188690"/>
                </a:lnTo>
                <a:lnTo>
                  <a:pt x="2316480" y="1188714"/>
                </a:lnTo>
                <a:lnTo>
                  <a:pt x="2377440" y="1188718"/>
                </a:lnTo>
                <a:lnTo>
                  <a:pt x="2438400" y="1188719"/>
                </a:lnTo>
                <a:lnTo>
                  <a:pt x="2499360" y="1188719"/>
                </a:lnTo>
                <a:lnTo>
                  <a:pt x="2560320" y="1188719"/>
                </a:lnTo>
                <a:lnTo>
                  <a:pt x="2621280" y="1188719"/>
                </a:lnTo>
                <a:lnTo>
                  <a:pt x="2682240" y="1188719"/>
                </a:lnTo>
                <a:lnTo>
                  <a:pt x="2743200" y="1188719"/>
                </a:lnTo>
                <a:lnTo>
                  <a:pt x="2804160" y="1188719"/>
                </a:lnTo>
                <a:lnTo>
                  <a:pt x="2865120" y="1188719"/>
                </a:lnTo>
                <a:lnTo>
                  <a:pt x="2926080" y="1188719"/>
                </a:lnTo>
                <a:lnTo>
                  <a:pt x="2926080" y="1188720"/>
                </a:lnTo>
                <a:close/>
              </a:path>
            </a:pathLst>
          </a:custGeom>
          <a:solidFill>
            <a:srgbClr val="C3E3D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22960" y="3337560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truth across paths: two humps</a:t>
            </a:r>
          </a:p>
        </p:txBody>
      </p:sp>
      <p:sp>
        <p:nvSpPr>
          <p:cNvPr id="9" name="Freeform 8"/>
          <p:cNvSpPr/>
          <p:nvPr/>
        </p:nvSpPr>
        <p:spPr>
          <a:xfrm>
            <a:off x="4617720" y="2148840"/>
            <a:ext cx="2926080" cy="1188720"/>
          </a:xfrm>
          <a:custGeom>
            <a:avLst/>
            <a:gdLst/>
            <a:ahLst/>
            <a:cxnLst/>
            <a:rect l="l" t="t" r="r" b="b"/>
            <a:pathLst>
              <a:path w="2926080" h="1188720">
                <a:moveTo>
                  <a:pt x="0" y="1188720"/>
                </a:moveTo>
                <a:lnTo>
                  <a:pt x="0" y="1005295"/>
                </a:lnTo>
                <a:lnTo>
                  <a:pt x="60960" y="951098"/>
                </a:lnTo>
                <a:lnTo>
                  <a:pt x="121920" y="886769"/>
                </a:lnTo>
                <a:lnTo>
                  <a:pt x="182880" y="812356"/>
                </a:lnTo>
                <a:lnTo>
                  <a:pt x="243840" y="728567"/>
                </a:lnTo>
                <a:lnTo>
                  <a:pt x="304800" y="636872"/>
                </a:lnTo>
                <a:lnTo>
                  <a:pt x="365760" y="539550"/>
                </a:lnTo>
                <a:lnTo>
                  <a:pt x="426720" y="439654"/>
                </a:lnTo>
                <a:lnTo>
                  <a:pt x="487680" y="340899"/>
                </a:lnTo>
                <a:lnTo>
                  <a:pt x="548640" y="247457"/>
                </a:lnTo>
                <a:lnTo>
                  <a:pt x="609600" y="163682"/>
                </a:lnTo>
                <a:lnTo>
                  <a:pt x="670560" y="93778"/>
                </a:lnTo>
                <a:lnTo>
                  <a:pt x="731520" y="41452"/>
                </a:lnTo>
                <a:lnTo>
                  <a:pt x="792479" y="9591"/>
                </a:lnTo>
                <a:lnTo>
                  <a:pt x="853440" y="0"/>
                </a:lnTo>
                <a:lnTo>
                  <a:pt x="914400" y="13225"/>
                </a:lnTo>
                <a:lnTo>
                  <a:pt x="975360" y="48512"/>
                </a:lnTo>
                <a:lnTo>
                  <a:pt x="1036320" y="103869"/>
                </a:lnTo>
                <a:lnTo>
                  <a:pt x="1097280" y="176259"/>
                </a:lnTo>
                <a:lnTo>
                  <a:pt x="1158240" y="261871"/>
                </a:lnTo>
                <a:lnTo>
                  <a:pt x="1219200" y="356455"/>
                </a:lnTo>
                <a:lnTo>
                  <a:pt x="1280160" y="455664"/>
                </a:lnTo>
                <a:lnTo>
                  <a:pt x="1341120" y="555382"/>
                </a:lnTo>
                <a:lnTo>
                  <a:pt x="1402080" y="651990"/>
                </a:lnTo>
                <a:lnTo>
                  <a:pt x="1463040" y="742552"/>
                </a:lnTo>
                <a:lnTo>
                  <a:pt x="1524000" y="824919"/>
                </a:lnTo>
                <a:lnTo>
                  <a:pt x="1584960" y="897748"/>
                </a:lnTo>
                <a:lnTo>
                  <a:pt x="1645920" y="960444"/>
                </a:lnTo>
                <a:lnTo>
                  <a:pt x="1706880" y="1013052"/>
                </a:lnTo>
                <a:lnTo>
                  <a:pt x="1767840" y="1056118"/>
                </a:lnTo>
                <a:lnTo>
                  <a:pt x="1828800" y="1090539"/>
                </a:lnTo>
                <a:lnTo>
                  <a:pt x="1889760" y="1117414"/>
                </a:lnTo>
                <a:lnTo>
                  <a:pt x="1950720" y="1137922"/>
                </a:lnTo>
                <a:lnTo>
                  <a:pt x="2011680" y="1153223"/>
                </a:lnTo>
                <a:lnTo>
                  <a:pt x="2072640" y="1164389"/>
                </a:lnTo>
                <a:lnTo>
                  <a:pt x="2133600" y="1172361"/>
                </a:lnTo>
                <a:lnTo>
                  <a:pt x="2194560" y="1177931"/>
                </a:lnTo>
                <a:lnTo>
                  <a:pt x="2255520" y="1181741"/>
                </a:lnTo>
                <a:lnTo>
                  <a:pt x="2316480" y="1184291"/>
                </a:lnTo>
                <a:lnTo>
                  <a:pt x="2377440" y="1185963"/>
                </a:lnTo>
                <a:lnTo>
                  <a:pt x="2438400" y="1187037"/>
                </a:lnTo>
                <a:lnTo>
                  <a:pt x="2499360" y="1187712"/>
                </a:lnTo>
                <a:lnTo>
                  <a:pt x="2560320" y="1188128"/>
                </a:lnTo>
                <a:lnTo>
                  <a:pt x="2621280" y="1188378"/>
                </a:lnTo>
                <a:lnTo>
                  <a:pt x="2682240" y="1188527"/>
                </a:lnTo>
                <a:lnTo>
                  <a:pt x="2743200" y="1188613"/>
                </a:lnTo>
                <a:lnTo>
                  <a:pt x="2804160" y="1188661"/>
                </a:lnTo>
                <a:lnTo>
                  <a:pt x="2865120" y="1188688"/>
                </a:lnTo>
                <a:lnTo>
                  <a:pt x="2926080" y="1188703"/>
                </a:lnTo>
                <a:lnTo>
                  <a:pt x="2926080" y="1188720"/>
                </a:lnTo>
                <a:close/>
              </a:path>
            </a:pathLst>
          </a:custGeom>
          <a:solidFill>
            <a:srgbClr val="EDC7C3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617720" y="3337560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3484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current: one Dirichlet -- mean in the valley</a:t>
            </a:r>
          </a:p>
        </p:txBody>
      </p:sp>
      <p:sp>
        <p:nvSpPr>
          <p:cNvPr id="12" name="Freeform 11"/>
          <p:cNvSpPr/>
          <p:nvPr/>
        </p:nvSpPr>
        <p:spPr>
          <a:xfrm>
            <a:off x="8412480" y="2148840"/>
            <a:ext cx="2926079" cy="1188720"/>
          </a:xfrm>
          <a:custGeom>
            <a:avLst/>
            <a:gdLst/>
            <a:ahLst/>
            <a:cxnLst/>
            <a:rect l="l" t="t" r="r" b="b"/>
            <a:pathLst>
              <a:path w="2926079" h="1188720">
                <a:moveTo>
                  <a:pt x="0" y="1188720"/>
                </a:moveTo>
                <a:lnTo>
                  <a:pt x="0" y="1159801"/>
                </a:lnTo>
                <a:lnTo>
                  <a:pt x="60960" y="1113093"/>
                </a:lnTo>
                <a:lnTo>
                  <a:pt x="121919" y="1017380"/>
                </a:lnTo>
                <a:lnTo>
                  <a:pt x="182879" y="852419"/>
                </a:lnTo>
                <a:lnTo>
                  <a:pt x="243840" y="616866"/>
                </a:lnTo>
                <a:lnTo>
                  <a:pt x="304800" y="346299"/>
                </a:lnTo>
                <a:lnTo>
                  <a:pt x="365760" y="113590"/>
                </a:lnTo>
                <a:lnTo>
                  <a:pt x="426720" y="0"/>
                </a:lnTo>
                <a:lnTo>
                  <a:pt x="487680" y="50080"/>
                </a:lnTo>
                <a:lnTo>
                  <a:pt x="548639" y="243826"/>
                </a:lnTo>
                <a:lnTo>
                  <a:pt x="609599" y="509388"/>
                </a:lnTo>
                <a:lnTo>
                  <a:pt x="670560" y="765499"/>
                </a:lnTo>
                <a:lnTo>
                  <a:pt x="731520" y="959944"/>
                </a:lnTo>
                <a:lnTo>
                  <a:pt x="792480" y="1080416"/>
                </a:lnTo>
                <a:lnTo>
                  <a:pt x="853440" y="1140830"/>
                </a:lnTo>
                <a:lnTo>
                  <a:pt x="914400" y="1161159"/>
                </a:lnTo>
                <a:lnTo>
                  <a:pt x="975360" y="1154423"/>
                </a:lnTo>
                <a:lnTo>
                  <a:pt x="1036319" y="1123358"/>
                </a:lnTo>
                <a:lnTo>
                  <a:pt x="1097279" y="1063366"/>
                </a:lnTo>
                <a:lnTo>
                  <a:pt x="1158239" y="968598"/>
                </a:lnTo>
                <a:lnTo>
                  <a:pt x="1219200" y="839313"/>
                </a:lnTo>
                <a:lnTo>
                  <a:pt x="1280160" y="688143"/>
                </a:lnTo>
                <a:lnTo>
                  <a:pt x="1341120" y="541568"/>
                </a:lnTo>
                <a:lnTo>
                  <a:pt x="1402080" y="433754"/>
                </a:lnTo>
                <a:lnTo>
                  <a:pt x="1463039" y="393962"/>
                </a:lnTo>
                <a:lnTo>
                  <a:pt x="1524000" y="433754"/>
                </a:lnTo>
                <a:lnTo>
                  <a:pt x="1584960" y="541568"/>
                </a:lnTo>
                <a:lnTo>
                  <a:pt x="1645920" y="688144"/>
                </a:lnTo>
                <a:lnTo>
                  <a:pt x="1706880" y="839322"/>
                </a:lnTo>
                <a:lnTo>
                  <a:pt x="1767840" y="968653"/>
                </a:lnTo>
                <a:lnTo>
                  <a:pt x="1828800" y="1063643"/>
                </a:lnTo>
                <a:lnTo>
                  <a:pt x="1889760" y="1124572"/>
                </a:lnTo>
                <a:lnTo>
                  <a:pt x="1950719" y="1159032"/>
                </a:lnTo>
                <a:lnTo>
                  <a:pt x="2011679" y="1176322"/>
                </a:lnTo>
                <a:lnTo>
                  <a:pt x="2072640" y="1184047"/>
                </a:lnTo>
                <a:lnTo>
                  <a:pt x="2133600" y="1187131"/>
                </a:lnTo>
                <a:lnTo>
                  <a:pt x="2194560" y="1188232"/>
                </a:lnTo>
                <a:lnTo>
                  <a:pt x="2255520" y="1188585"/>
                </a:lnTo>
                <a:lnTo>
                  <a:pt x="2316480" y="1188686"/>
                </a:lnTo>
                <a:lnTo>
                  <a:pt x="2377439" y="1188712"/>
                </a:lnTo>
                <a:lnTo>
                  <a:pt x="2438400" y="1188718"/>
                </a:lnTo>
                <a:lnTo>
                  <a:pt x="2499360" y="1188719"/>
                </a:lnTo>
                <a:lnTo>
                  <a:pt x="2560320" y="1188719"/>
                </a:lnTo>
                <a:lnTo>
                  <a:pt x="2621280" y="1188719"/>
                </a:lnTo>
                <a:lnTo>
                  <a:pt x="2682240" y="1188719"/>
                </a:lnTo>
                <a:lnTo>
                  <a:pt x="2743200" y="1188719"/>
                </a:lnTo>
                <a:lnTo>
                  <a:pt x="2804160" y="1188719"/>
                </a:lnTo>
                <a:lnTo>
                  <a:pt x="2865119" y="1188719"/>
                </a:lnTo>
                <a:lnTo>
                  <a:pt x="2926079" y="1188719"/>
                </a:lnTo>
                <a:lnTo>
                  <a:pt x="2926079" y="1188720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412480" y="3337560"/>
            <a:ext cx="2926079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proposed: K=2 -- mass on the humps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329184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gate (the new piece)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 = [0.60, 0.40] for this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over 2 logits from the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magnitude trunk on [h, support]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H(w) -&gt; 0 = commits to one answer</a:t>
            </a:r>
          </a:p>
        </p:txBody>
      </p:sp>
      <p:sp>
        <p:nvSpPr>
          <p:cNvPr id="16" name="Freeform 15"/>
          <p:cNvSpPr/>
          <p:nvPr/>
        </p:nvSpPr>
        <p:spPr>
          <a:xfrm>
            <a:off x="4617720" y="4434840"/>
            <a:ext cx="2926080" cy="1005839"/>
          </a:xfrm>
          <a:custGeom>
            <a:avLst/>
            <a:gdLst/>
            <a:ahLst/>
            <a:cxnLst/>
            <a:rect l="l" t="t" r="r" b="b"/>
            <a:pathLst>
              <a:path w="2926080" h="1005839">
                <a:moveTo>
                  <a:pt x="0" y="1005839"/>
                </a:moveTo>
                <a:lnTo>
                  <a:pt x="0" y="1005838"/>
                </a:lnTo>
                <a:lnTo>
                  <a:pt x="60960" y="1005836"/>
                </a:lnTo>
                <a:lnTo>
                  <a:pt x="121920" y="1005827"/>
                </a:lnTo>
                <a:lnTo>
                  <a:pt x="182880" y="1005804"/>
                </a:lnTo>
                <a:lnTo>
                  <a:pt x="243840" y="1005740"/>
                </a:lnTo>
                <a:lnTo>
                  <a:pt x="304800" y="1005578"/>
                </a:lnTo>
                <a:lnTo>
                  <a:pt x="365760" y="1005188"/>
                </a:lnTo>
                <a:lnTo>
                  <a:pt x="426720" y="1004299"/>
                </a:lnTo>
                <a:lnTo>
                  <a:pt x="487680" y="1002387"/>
                </a:lnTo>
                <a:lnTo>
                  <a:pt x="548640" y="998506"/>
                </a:lnTo>
                <a:lnTo>
                  <a:pt x="609600" y="991075"/>
                </a:lnTo>
                <a:lnTo>
                  <a:pt x="670560" y="977663"/>
                </a:lnTo>
                <a:lnTo>
                  <a:pt x="731520" y="954876"/>
                </a:lnTo>
                <a:lnTo>
                  <a:pt x="792479" y="918469"/>
                </a:lnTo>
                <a:lnTo>
                  <a:pt x="853440" y="863867"/>
                </a:lnTo>
                <a:lnTo>
                  <a:pt x="914400" y="787180"/>
                </a:lnTo>
                <a:lnTo>
                  <a:pt x="975360" y="686640"/>
                </a:lnTo>
                <a:lnTo>
                  <a:pt x="1036320" y="564183"/>
                </a:lnTo>
                <a:lnTo>
                  <a:pt x="1097280" y="426629"/>
                </a:lnTo>
                <a:lnTo>
                  <a:pt x="1158240" y="285865"/>
                </a:lnTo>
                <a:lnTo>
                  <a:pt x="1219200" y="157584"/>
                </a:lnTo>
                <a:lnTo>
                  <a:pt x="1280160" y="58588"/>
                </a:lnTo>
                <a:lnTo>
                  <a:pt x="1341120" y="3228"/>
                </a:lnTo>
                <a:lnTo>
                  <a:pt x="1402080" y="0"/>
                </a:lnTo>
                <a:lnTo>
                  <a:pt x="1463040" y="49408"/>
                </a:lnTo>
                <a:lnTo>
                  <a:pt x="1524000" y="143838"/>
                </a:lnTo>
                <a:lnTo>
                  <a:pt x="1584960" y="269478"/>
                </a:lnTo>
                <a:lnTo>
                  <a:pt x="1645920" y="409624"/>
                </a:lnTo>
                <a:lnTo>
                  <a:pt x="1706880" y="548284"/>
                </a:lnTo>
                <a:lnTo>
                  <a:pt x="1767840" y="673016"/>
                </a:lnTo>
                <a:lnTo>
                  <a:pt x="1828800" y="776377"/>
                </a:lnTo>
                <a:lnTo>
                  <a:pt x="1889760" y="855892"/>
                </a:lnTo>
                <a:lnTo>
                  <a:pt x="1950720" y="912965"/>
                </a:lnTo>
                <a:lnTo>
                  <a:pt x="2011680" y="951316"/>
                </a:lnTo>
                <a:lnTo>
                  <a:pt x="2072640" y="975501"/>
                </a:lnTo>
                <a:lnTo>
                  <a:pt x="2133600" y="989839"/>
                </a:lnTo>
                <a:lnTo>
                  <a:pt x="2194560" y="997841"/>
                </a:lnTo>
                <a:lnTo>
                  <a:pt x="2255520" y="1002050"/>
                </a:lnTo>
                <a:lnTo>
                  <a:pt x="2316480" y="1004138"/>
                </a:lnTo>
                <a:lnTo>
                  <a:pt x="2377440" y="1005115"/>
                </a:lnTo>
                <a:lnTo>
                  <a:pt x="2438400" y="1005547"/>
                </a:lnTo>
                <a:lnTo>
                  <a:pt x="2499360" y="1005728"/>
                </a:lnTo>
                <a:lnTo>
                  <a:pt x="2560320" y="1005799"/>
                </a:lnTo>
                <a:lnTo>
                  <a:pt x="2621280" y="1005826"/>
                </a:lnTo>
                <a:lnTo>
                  <a:pt x="2682240" y="1005835"/>
                </a:lnTo>
                <a:lnTo>
                  <a:pt x="2743200" y="1005838"/>
                </a:lnTo>
                <a:lnTo>
                  <a:pt x="2804160" y="1005839"/>
                </a:lnTo>
                <a:lnTo>
                  <a:pt x="2865120" y="1005839"/>
                </a:lnTo>
                <a:lnTo>
                  <a:pt x="2926080" y="1005839"/>
                </a:lnTo>
                <a:lnTo>
                  <a:pt x="2926080" y="100583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617720" y="5440679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4840" y="548639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plag: components coincide -- unimodal phases unchanged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114800"/>
            <a:ext cx="3383280" cy="13716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scenario view gains one field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 sample = support -&gt; component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-&gt; abundances; each scenario now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commits to a hump instead of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predicting the valley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unchanged: presence branch, CompHead, CondHead, closure. K=1 is the current head exactly (same parameters, same loss), so production checkpoints load untouched and the drop path is one deleted code branch.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verdict 2026-08-04: corpus best-on-record on both axes, amp two-sided PIT 0.120 -&gt; 0.023, but recalibrated real-rock val leans against the K=1 control (-0.365 [-0.864, +0.118]) -- the real amp population is one-humped at matched chemistry; the second hump belongs to the broad hidden-(P, H2O) prior. kept as the `mode_n_components` dial, K=1 default. drawings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