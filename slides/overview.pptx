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123-parameter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(the mixture candidate's target).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SiO2 wt%)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23, matrix 121, mlp 1095, tailed 123; the 5.07M denominator is the frozen encoder (3,234,699 trainable) plus heads (1,830,337). The SiO2 slopes shown are the PRESENCE-side ones on q and amp, which stay; a magnitude-side location slope was built alongside the tailed tier, measured +0.007 [-0.004, +0.016] nats, and excised as three dead parameters (journal 2026-08-06). The contamination is parameterized as an offset from a -3.0 prior logit so weight decay shrinks toward 'rare contamination' (eps ~0.05) rather than the eps = 0.5 a raw logit would decay to; k = 1 at init collapses the mixture, preserving identity-at-init.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(111 rocks, 39 eruption units) with the layer fit on the 368-rock train roster; the test slice is untouched. Levels from tailed_acceptance.json: zero-shot joint 13.444 (dirichlet 7.630 + bernoulli 5.813), vector 3.761, matrix 1.277, tailed 0.972. The matrix-minus-tailed contrast is +0.30445 [+0.04942, +0.65876] over 39 units; the bernoulli component of that contrast is exactly 0.0 because tailed forks from matrix and leaves the presence branch untouched -- worth saying out loud, since a reader may expect the usual both-terms-move pattern. Fitted contamination eps 0.05209, k 0.50665. Curve numbers from curve_val.json (10 whole-unit draws per budget, budgets 25-400, paired across tiers, weight decay re-selected on this checkpoint): per-budget median dirichlet for tailed runs 0.324 at 25, -0.753 at 50, -1.154 at 100, -1.814 at 200, -1.924 at full train, against a 7.630 zero-shot -- so the 9.55-nat gain is 7.630 minus -1.924. The distribution drawings are illustrative but to scale for k = 0.507: halving the concentration roughly doubles the variance, so the contaminating component is ~1.4x wider at the same mean. Note the 111-rock val zero-shot (13.444) is NOT the 640-rock headline zero-shot (11.638 in results/real_rock_ledger.yaml) -- different populations, and mixing them is the easiest mistake to make here. Internal reference, deliberately not on the slide: the climatology baseline reads val joint 2.175 against tailed's 0.965.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the K=1-identity `mode_n_components` dial. VERDICT (owner, same day):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phasecast</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(mixture parameterization is the staged candidate, #25).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123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263140"/>
            <a:ext cx="365760" cy="8001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178308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a:p>
            <a:pPr algn="ctr"/>
            <a:r>
              <a:rPr sz="900" b="0">
                <a:solidFill>
                  <a:srgbClr val="8A93A3"/>
                </a:solidFill>
              </a:rPr>
              <a:t>+ SiO2 slope on q, amp</a:t>
            </a:r>
          </a:p>
        </p:txBody>
      </p:sp>
      <p:sp>
        <p:nvSpPr>
          <p:cNvPr id="10" name="Right Arrow 9"/>
          <p:cNvSpPr/>
          <p:nvPr/>
        </p:nvSpPr>
        <p:spPr>
          <a:xfrm>
            <a:off x="9692640" y="210769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182880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38862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297180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29641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01752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cxnSp>
        <p:nvCxnSpPr>
          <p:cNvPr id="16" name="Connector 15"/>
          <p:cNvCxnSpPr/>
          <p:nvPr/>
        </p:nvCxnSpPr>
        <p:spPr>
          <a:xfrm>
            <a:off x="5577840" y="3063240"/>
            <a:ext cx="365760" cy="15773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160520"/>
            <a:ext cx="3657600" cy="9601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tail: precision contamination</a:t>
            </a:r>
          </a:p>
          <a:p>
            <a:pPr algn="ctr"/>
            <a:r>
              <a:rPr sz="900" b="0">
                <a:solidFill>
                  <a:srgbClr val="8A93A3"/>
                </a:solidFill>
              </a:rPr>
              <a:t>weight eps on a second alpha x k</a:t>
            </a:r>
          </a:p>
          <a:p>
            <a:pPr algn="ctr"/>
            <a:r>
              <a:rPr sz="900" b="0">
                <a:solidFill>
                  <a:srgbClr val="8A93A3"/>
                </a:solidFill>
              </a:rPr>
              <a:t>component -- same mean, fatter tail</a:t>
            </a:r>
          </a:p>
        </p:txBody>
      </p:sp>
      <p:sp>
        <p:nvSpPr>
          <p:cNvPr id="18" name="Right Arrow 17"/>
          <p:cNvSpPr/>
          <p:nvPr/>
        </p:nvSpPr>
        <p:spPr>
          <a:xfrm>
            <a:off x="9692640" y="44851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420624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2-component</a:t>
            </a:r>
          </a:p>
          <a:p>
            <a:pPr algn="ctr"/>
            <a:r>
              <a:rPr sz="800" b="0">
                <a:solidFill>
                  <a:srgbClr val="8A93A3"/>
                </a:solidFill>
              </a:rPr>
              <a:t>mixture out</a:t>
            </a:r>
          </a:p>
        </p:txBody>
      </p:sp>
      <p:sp>
        <p:nvSpPr>
          <p:cNvPr id="20" name="TextBox 19"/>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123 trainable params on a frozen 5.07M stack (0.002%): 7 presence scales + 7 offsets + 7 magnitude offsets + 2 SiO2 slopes + two 7x7 mixes + 2 contamination params. The tiers nest -- vector (23) in matrix (121), and tailed = matrix + 2. Identity at initialization, so an unfit recalibrator reproduces the zero-shot number exactly and every gain reads as nats recovered.</a:t>
            </a:r>
          </a:p>
        </p:txBody>
      </p:sp>
      <p:sp>
        <p:nvSpPr>
          <p:cNvPr id="21" name="TextBox 20"/>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0.1, matrix 1.0, tailed 1.0) . amphibole's magnitude correction is PINNED at zero -- the mapping audit's band straddles zero there, so a fitted value reads the mapping's uncertainty, not the model's error.</a:t>
            </a:r>
          </a:p>
        </p:txBody>
      </p:sp>
      <p:sp>
        <p:nvSpPr>
          <p:cNvPr id="22" name="TextBox 21"/>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-- 368 train (the fit) / 111 val (every number on the next slide) / 161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123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111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13.44</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(23)</a:t>
            </a:r>
          </a:p>
        </p:txBody>
      </p:sp>
      <p:sp>
        <p:nvSpPr>
          <p:cNvPr id="9" name="Rectangle 8"/>
          <p:cNvSpPr/>
          <p:nvPr/>
        </p:nvSpPr>
        <p:spPr>
          <a:xfrm>
            <a:off x="3017520" y="2578608"/>
            <a:ext cx="1381397"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357" y="2596896"/>
            <a:ext cx="1371600" cy="731520"/>
          </a:xfrm>
          <a:prstGeom prst="rect">
            <a:avLst/>
          </a:prstGeom>
          <a:noFill/>
        </p:spPr>
        <p:txBody>
          <a:bodyPr wrap="square">
            <a:spAutoFit/>
          </a:bodyPr>
          <a:lstStyle/>
          <a:p>
            <a:pPr algn="l"/>
            <a:r>
              <a:rPr sz="1200" b="0">
                <a:solidFill>
                  <a:srgbClr val="12B5A5"/>
                </a:solidFill>
              </a:rPr>
              <a:t>3.76</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(121)</a:t>
            </a:r>
          </a:p>
        </p:txBody>
      </p:sp>
      <p:sp>
        <p:nvSpPr>
          <p:cNvPr id="12" name="Rectangle 11"/>
          <p:cNvSpPr/>
          <p:nvPr/>
        </p:nvSpPr>
        <p:spPr>
          <a:xfrm>
            <a:off x="3017520" y="3236976"/>
            <a:ext cx="470262"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9222" y="3255264"/>
            <a:ext cx="1371600" cy="731520"/>
          </a:xfrm>
          <a:prstGeom prst="rect">
            <a:avLst/>
          </a:prstGeom>
          <a:noFill/>
        </p:spPr>
        <p:txBody>
          <a:bodyPr wrap="square">
            <a:spAutoFit/>
          </a:bodyPr>
          <a:lstStyle/>
          <a:p>
            <a:pPr algn="l"/>
            <a:r>
              <a:rPr sz="1200" b="0">
                <a:solidFill>
                  <a:srgbClr val="E8883A"/>
                </a:solidFill>
              </a:rPr>
              <a:t>1.28</a:t>
            </a:r>
          </a:p>
        </p:txBody>
      </p:sp>
      <p:sp>
        <p:nvSpPr>
          <p:cNvPr id="14" name="Rounded Rectangle 13"/>
          <p:cNvSpPr/>
          <p:nvPr/>
        </p:nvSpPr>
        <p:spPr>
          <a:xfrm>
            <a:off x="502920" y="3803904"/>
            <a:ext cx="2377440" cy="5486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tailed (123)</a:t>
            </a:r>
          </a:p>
        </p:txBody>
      </p:sp>
      <p:sp>
        <p:nvSpPr>
          <p:cNvPr id="15" name="Rectangle 14"/>
          <p:cNvSpPr/>
          <p:nvPr/>
        </p:nvSpPr>
        <p:spPr>
          <a:xfrm>
            <a:off x="3017520" y="3895344"/>
            <a:ext cx="356371" cy="36576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331" y="3913632"/>
            <a:ext cx="1371600" cy="731520"/>
          </a:xfrm>
          <a:prstGeom prst="rect">
            <a:avLst/>
          </a:prstGeom>
          <a:noFill/>
        </p:spPr>
        <p:txBody>
          <a:bodyPr wrap="square">
            <a:spAutoFit/>
          </a:bodyPr>
          <a:lstStyle/>
          <a:p>
            <a:pPr algn="l"/>
            <a:r>
              <a:rPr sz="1200" b="0">
                <a:solidFill>
                  <a:srgbClr val="2A9D8F"/>
                </a:solidFill>
              </a:rPr>
              <a:t>0.97</a:t>
            </a:r>
          </a:p>
        </p:txBody>
      </p:sp>
      <p:sp>
        <p:nvSpPr>
          <p:cNvPr id="17" name="TextBox 16"/>
          <p:cNvSpPr txBox="1"/>
          <p:nvPr/>
        </p:nvSpPr>
        <p:spPr>
          <a:xfrm>
            <a:off x="502920" y="4526280"/>
            <a:ext cx="7680960" cy="731520"/>
          </a:xfrm>
          <a:prstGeom prst="rect">
            <a:avLst/>
          </a:prstGeom>
          <a:noFill/>
        </p:spPr>
        <p:txBody>
          <a:bodyPr wrap="square">
            <a:spAutoFit/>
          </a:bodyPr>
          <a:lstStyle/>
          <a:p>
            <a:pPr algn="l"/>
            <a:r>
              <a:rPr sz="1100" b="0">
                <a:solidFill>
                  <a:srgbClr val="1A2238"/>
                </a:solidFill>
              </a:rPr>
              <a:t>matrix -&gt; tailed is +0.304 [+0.049, +0.659] nats, ALL of it in the Dirichlet term -- the two tiers share a presence branch, so that contrast is exactly 0.000. Fitted eps 0.052, k 0.507: about 5% of the mass moves to a component with half the concentration, same mean.</a:t>
            </a:r>
          </a:p>
        </p:txBody>
      </p:sp>
      <p:sp>
        <p:nvSpPr>
          <p:cNvPr id="18" name="Freeform 17"/>
          <p:cNvSpPr/>
          <p:nvPr/>
        </p:nvSpPr>
        <p:spPr>
          <a:xfrm>
            <a:off x="8503920" y="1965960"/>
            <a:ext cx="3108960" cy="1143000"/>
          </a:xfrm>
          <a:custGeom>
            <a:avLst/>
            <a:gdLst/>
            <a:ahLst/>
            <a:cxnLst/>
            <a:rect l="l" t="t" r="r" b="b"/>
            <a:pathLst>
              <a:path w="3108960" h="1143000">
                <a:moveTo>
                  <a:pt x="0" y="1143000"/>
                </a:moveTo>
                <a:lnTo>
                  <a:pt x="0" y="1142999"/>
                </a:lnTo>
                <a:lnTo>
                  <a:pt x="64770" y="1142999"/>
                </a:lnTo>
                <a:lnTo>
                  <a:pt x="129540" y="1142999"/>
                </a:lnTo>
                <a:lnTo>
                  <a:pt x="194310" y="1142998"/>
                </a:lnTo>
                <a:lnTo>
                  <a:pt x="259080" y="1142992"/>
                </a:lnTo>
                <a:lnTo>
                  <a:pt x="323850" y="1142972"/>
                </a:lnTo>
                <a:lnTo>
                  <a:pt x="388620" y="1142903"/>
                </a:lnTo>
                <a:lnTo>
                  <a:pt x="453390" y="1142691"/>
                </a:lnTo>
                <a:lnTo>
                  <a:pt x="518160" y="1142084"/>
                </a:lnTo>
                <a:lnTo>
                  <a:pt x="582930" y="1140484"/>
                </a:lnTo>
                <a:lnTo>
                  <a:pt x="647700" y="1136600"/>
                </a:lnTo>
                <a:lnTo>
                  <a:pt x="712470" y="1127929"/>
                </a:lnTo>
                <a:lnTo>
                  <a:pt x="777240" y="1110147"/>
                </a:lnTo>
                <a:lnTo>
                  <a:pt x="842010" y="1076700"/>
                </a:lnTo>
                <a:lnTo>
                  <a:pt x="906780" y="1019135"/>
                </a:lnTo>
                <a:lnTo>
                  <a:pt x="971550" y="928774"/>
                </a:lnTo>
                <a:lnTo>
                  <a:pt x="1036320" y="800007"/>
                </a:lnTo>
                <a:lnTo>
                  <a:pt x="1101090" y="634621"/>
                </a:lnTo>
                <a:lnTo>
                  <a:pt x="1165860" y="445442"/>
                </a:lnTo>
                <a:lnTo>
                  <a:pt x="1230630" y="256942"/>
                </a:lnTo>
                <a:lnTo>
                  <a:pt x="1295400" y="101081"/>
                </a:lnTo>
                <a:lnTo>
                  <a:pt x="1360170" y="8785"/>
                </a:lnTo>
                <a:lnTo>
                  <a:pt x="1424940" y="0"/>
                </a:lnTo>
                <a:lnTo>
                  <a:pt x="1489710" y="76681"/>
                </a:lnTo>
                <a:lnTo>
                  <a:pt x="1554480" y="222090"/>
                </a:lnTo>
                <a:lnTo>
                  <a:pt x="1619250" y="406730"/>
                </a:lnTo>
                <a:lnTo>
                  <a:pt x="1684020" y="598062"/>
                </a:lnTo>
                <a:lnTo>
                  <a:pt x="1748790" y="769624"/>
                </a:lnTo>
                <a:lnTo>
                  <a:pt x="1813560" y="906171"/>
                </a:lnTo>
                <a:lnTo>
                  <a:pt x="1878330" y="1003936"/>
                </a:lnTo>
                <a:lnTo>
                  <a:pt x="1943100" y="1067407"/>
                </a:lnTo>
                <a:lnTo>
                  <a:pt x="2007870" y="1104960"/>
                </a:lnTo>
                <a:lnTo>
                  <a:pt x="2072640" y="1125279"/>
                </a:lnTo>
                <a:lnTo>
                  <a:pt x="2137410" y="1135357"/>
                </a:lnTo>
                <a:lnTo>
                  <a:pt x="2202180" y="1139948"/>
                </a:lnTo>
                <a:lnTo>
                  <a:pt x="2266950" y="1141872"/>
                </a:lnTo>
                <a:lnTo>
                  <a:pt x="2331720" y="1142614"/>
                </a:lnTo>
                <a:lnTo>
                  <a:pt x="2396490" y="1142877"/>
                </a:lnTo>
                <a:lnTo>
                  <a:pt x="2461260" y="1142964"/>
                </a:lnTo>
                <a:lnTo>
                  <a:pt x="2526030" y="1142990"/>
                </a:lnTo>
                <a:lnTo>
                  <a:pt x="2590800" y="1142997"/>
                </a:lnTo>
                <a:lnTo>
                  <a:pt x="2655570" y="1142999"/>
                </a:lnTo>
                <a:lnTo>
                  <a:pt x="2720340" y="1142999"/>
                </a:lnTo>
                <a:lnTo>
                  <a:pt x="2785110" y="1142999"/>
                </a:lnTo>
                <a:lnTo>
                  <a:pt x="2849880" y="1142999"/>
                </a:lnTo>
                <a:lnTo>
                  <a:pt x="2914650" y="1142999"/>
                </a:lnTo>
                <a:lnTo>
                  <a:pt x="2979420" y="1142999"/>
                </a:lnTo>
                <a:lnTo>
                  <a:pt x="3044190" y="1142999"/>
                </a:lnTo>
                <a:lnTo>
                  <a:pt x="3108960" y="1142999"/>
                </a:lnTo>
                <a:lnTo>
                  <a:pt x="3108960" y="114300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503920" y="310896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21040" y="3154679"/>
            <a:ext cx="3474720" cy="365760"/>
          </a:xfrm>
          <a:prstGeom prst="rect">
            <a:avLst/>
          </a:prstGeom>
          <a:noFill/>
        </p:spPr>
        <p:txBody>
          <a:bodyPr wrap="square">
            <a:spAutoFit/>
          </a:bodyPr>
          <a:lstStyle/>
          <a:p>
            <a:pPr algn="ctr"/>
            <a:r>
              <a:rPr sz="1200" b="1">
                <a:solidFill>
                  <a:srgbClr val="1A2238"/>
                </a:solidFill>
              </a:rPr>
              <a:t>matrix: one Dirichlet, thin tails</a:t>
            </a:r>
          </a:p>
        </p:txBody>
      </p:sp>
      <p:sp>
        <p:nvSpPr>
          <p:cNvPr id="21" name="Freeform 20"/>
          <p:cNvSpPr/>
          <p:nvPr/>
        </p:nvSpPr>
        <p:spPr>
          <a:xfrm>
            <a:off x="8503920" y="3657600"/>
            <a:ext cx="3108960" cy="1143000"/>
          </a:xfrm>
          <a:custGeom>
            <a:avLst/>
            <a:gdLst/>
            <a:ahLst/>
            <a:cxnLst/>
            <a:rect l="l" t="t" r="r" b="b"/>
            <a:pathLst>
              <a:path w="3108960" h="1143000">
                <a:moveTo>
                  <a:pt x="0" y="1143000"/>
                </a:moveTo>
                <a:lnTo>
                  <a:pt x="0" y="1142335"/>
                </a:lnTo>
                <a:lnTo>
                  <a:pt x="64770" y="1142002"/>
                </a:lnTo>
                <a:lnTo>
                  <a:pt x="129540" y="1141529"/>
                </a:lnTo>
                <a:lnTo>
                  <a:pt x="194310" y="1140872"/>
                </a:lnTo>
                <a:lnTo>
                  <a:pt x="259080" y="1139979"/>
                </a:lnTo>
                <a:lnTo>
                  <a:pt x="323850" y="1138782"/>
                </a:lnTo>
                <a:lnTo>
                  <a:pt x="388620" y="1137190"/>
                </a:lnTo>
                <a:lnTo>
                  <a:pt x="453390" y="1135056"/>
                </a:lnTo>
                <a:lnTo>
                  <a:pt x="518160" y="1132089"/>
                </a:lnTo>
                <a:lnTo>
                  <a:pt x="582930" y="1127685"/>
                </a:lnTo>
                <a:lnTo>
                  <a:pt x="647700" y="1120604"/>
                </a:lnTo>
                <a:lnTo>
                  <a:pt x="712470" y="1108488"/>
                </a:lnTo>
                <a:lnTo>
                  <a:pt x="777240" y="1087283"/>
                </a:lnTo>
                <a:lnTo>
                  <a:pt x="842010" y="1050865"/>
                </a:lnTo>
                <a:lnTo>
                  <a:pt x="906780" y="991353"/>
                </a:lnTo>
                <a:lnTo>
                  <a:pt x="971550" y="900684"/>
                </a:lnTo>
                <a:lnTo>
                  <a:pt x="1036320" y="773737"/>
                </a:lnTo>
                <a:lnTo>
                  <a:pt x="1101090" y="612421"/>
                </a:lnTo>
                <a:lnTo>
                  <a:pt x="1165860" y="429111"/>
                </a:lnTo>
                <a:lnTo>
                  <a:pt x="1230630" y="247204"/>
                </a:lnTo>
                <a:lnTo>
                  <a:pt x="1295400" y="97168"/>
                </a:lnTo>
                <a:lnTo>
                  <a:pt x="1360170" y="8441"/>
                </a:lnTo>
                <a:lnTo>
                  <a:pt x="1424940" y="0"/>
                </a:lnTo>
                <a:lnTo>
                  <a:pt x="1489710" y="73704"/>
                </a:lnTo>
                <a:lnTo>
                  <a:pt x="1554480" y="213629"/>
                </a:lnTo>
                <a:lnTo>
                  <a:pt x="1619250" y="391703"/>
                </a:lnTo>
                <a:lnTo>
                  <a:pt x="1684020" y="576918"/>
                </a:lnTo>
                <a:lnTo>
                  <a:pt x="1748790" y="743993"/>
                </a:lnTo>
                <a:lnTo>
                  <a:pt x="1813560" y="878263"/>
                </a:lnTo>
                <a:lnTo>
                  <a:pt x="1878330" y="975942"/>
                </a:lnTo>
                <a:lnTo>
                  <a:pt x="1943100" y="1041081"/>
                </a:lnTo>
                <a:lnTo>
                  <a:pt x="2007870" y="1081449"/>
                </a:lnTo>
                <a:lnTo>
                  <a:pt x="2072640" y="1105139"/>
                </a:lnTo>
                <a:lnTo>
                  <a:pt x="2137410" y="1118686"/>
                </a:lnTo>
                <a:lnTo>
                  <a:pt x="2202180" y="1126539"/>
                </a:lnTo>
                <a:lnTo>
                  <a:pt x="2266950" y="1131351"/>
                </a:lnTo>
                <a:lnTo>
                  <a:pt x="2331720" y="1134542"/>
                </a:lnTo>
                <a:lnTo>
                  <a:pt x="2396490" y="1136813"/>
                </a:lnTo>
                <a:lnTo>
                  <a:pt x="2461260" y="1138499"/>
                </a:lnTo>
                <a:lnTo>
                  <a:pt x="2526030" y="1139766"/>
                </a:lnTo>
                <a:lnTo>
                  <a:pt x="2590800" y="1140714"/>
                </a:lnTo>
                <a:lnTo>
                  <a:pt x="2655570" y="1141414"/>
                </a:lnTo>
                <a:lnTo>
                  <a:pt x="2720340" y="1141919"/>
                </a:lnTo>
                <a:lnTo>
                  <a:pt x="2785110" y="1142278"/>
                </a:lnTo>
                <a:lnTo>
                  <a:pt x="2849880" y="1142527"/>
                </a:lnTo>
                <a:lnTo>
                  <a:pt x="2914650" y="1142695"/>
                </a:lnTo>
                <a:lnTo>
                  <a:pt x="2979420" y="1142808"/>
                </a:lnTo>
                <a:lnTo>
                  <a:pt x="3044190" y="1142881"/>
                </a:lnTo>
                <a:lnTo>
                  <a:pt x="3108960" y="1142928"/>
                </a:lnTo>
                <a:lnTo>
                  <a:pt x="3108960" y="114300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503920" y="480060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21040" y="4846320"/>
            <a:ext cx="3474720" cy="365760"/>
          </a:xfrm>
          <a:prstGeom prst="rect">
            <a:avLst/>
          </a:prstGeom>
          <a:noFill/>
        </p:spPr>
        <p:txBody>
          <a:bodyPr wrap="square">
            <a:spAutoFit/>
          </a:bodyPr>
          <a:lstStyle/>
          <a:p>
            <a:pPr algn="ctr"/>
            <a:r>
              <a:rPr sz="1200" b="1">
                <a:solidFill>
                  <a:srgbClr val="1A2238"/>
                </a:solidFill>
              </a:rPr>
              <a:t>tailed: same mean, 5% wide component</a:t>
            </a:r>
          </a:p>
        </p:txBody>
      </p:sp>
      <p:sp>
        <p:nvSpPr>
          <p:cNvPr id="24" name="TextBox 23"/>
          <p:cNvSpPr txBox="1"/>
          <p:nvPr/>
        </p:nvSpPr>
        <p:spPr>
          <a:xfrm>
            <a:off x="8321040" y="4892040"/>
            <a:ext cx="3474720" cy="731520"/>
          </a:xfrm>
          <a:prstGeom prst="rect">
            <a:avLst/>
          </a:prstGeom>
          <a:noFill/>
        </p:spPr>
        <p:txBody>
          <a:bodyPr wrap="square">
            <a:spAutoFit/>
          </a:bodyPr>
          <a:lstStyle/>
          <a:p>
            <a:pPr algn="ctr"/>
            <a:r>
              <a:rPr sz="1000" b="0">
                <a:solidFill>
                  <a:srgbClr val="8A93A3"/>
                </a:solidFill>
              </a:rPr>
              <a:t>the repair is to interval-MISS rocks (score), not to the stated intervals (width)</a:t>
            </a:r>
          </a:p>
        </p:txBody>
      </p:sp>
      <p:sp>
        <p:nvSpPr>
          <p:cNvPr id="25" name="Rounded Rectangle 24"/>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~26 rocks recover ~77% of the 9.55-nat magnitude gain, then it flattens hard. matrix and tailed are indistinguishable there (paired delta -0.001) -- 25 rocks carry too few interval misses to identify two contamination parameters -- and tailed then wins 10/10 paired draws at every budget from 50 up (-0.11 at 100, -0.29 at 200, -0.30 at full train). vector lags from 50 on and never goes negative.</a:t>
            </a:r>
          </a:p>
        </p:txBody>
      </p:sp>
      <p:sp>
        <p:nvSpPr>
          <p:cNvPr id="26" name="TextBox 25"/>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~2.5 nats, so WHICH eruptions you label dominates which tier you fit. The silica location hypothesis was tested and refuted at the joint-likelihood level. Rendered verdicts stay stamped to the tier that produced them. The 161-rock test slice is sealed.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KEPT AS A DIAL (K=1 STAYS CANONICAL)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proposed: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current head exactly (same parameters, same loss), so production checkpoints load untouched and the drop path is one deleted code branch.</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kept as the `mode_n_components` dial, K=1 default.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