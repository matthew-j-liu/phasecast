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the equilibrium corpus (MAGEMin cooling, phenocryst-regime endpoint -- generation pipeline on the next slide) carries the labels that train the heads; the real volcanic benchmark and mineralML grains are held out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left to right: stratified volcanic bulk tables; solubility-bounded Latin-Hypercube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strip for the corpus regen, now fully landed -- the slide is a record, not a plan. Candidate to retire or fold into the corpora slide at the next deck pass (owner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22 (element id, amount) pairs. Padding is src==0. The conditions (T,P,H2O) are CondHead targets, never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~167k rocks.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(checkpoints/mode_head_seed0): shared trunk Linear(256-&gt;128)+GELU+dropout, then two parallel linear branches -- presence logits (sigmoid -&gt; per-phase Bernoulli, BCE) and concentrations (softplus + eps -&gt; conditional Dirichlet, masked NLL on the true support). Param counts are exact for hidden=d_model//2.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1.0 currently) -- λ chosen over w to avoid clashing with layer weights and to match the coming λ_balance / λ_comp family. 'Trained jointly' is literal chain-rule math: L is one scalar, so one backward pass and one AdamW step update all params at once. Each branch's weights appear in only its own term (the other term's gradient is exactly zero there); the trunk appears in both, so its gradient is the sum -- λ_mag is the exchange rate between the two error signals shaping the shared features.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anatomy slides follow the eval-semantics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results/mode_head/&lt;tag&gt;/reliability.png.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sealed valtest tier's val roster (221 assigned rocks,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only its support to the slice (teacher-forced) and meets the prediction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pins amphibole's alpha0 low and its mean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checkpoints/joint_heads_seed0).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checkpoints/joint_heads_seed0). Interface: concat(h [256], presence [21]) in; (log_w, mu, sigma) each [3 axes, K] out; one training example is one (bulk, draw, rung) row with targets (T_end from the rung row; P_kbar, H2O from the draw). Param counts exact (d_model 256, hidden 128, K=3).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its real lever is the val-total early stop, where 0.01 down-weights condition improvements 100x vs mineralogy (the locked mineralogy-first priority).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(heads train in issue #10).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Open mechanism detail for #10/#13: coupling conditions to assemblage in a sampled scenario requires joint sampling across heads. Numbers illustrative.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CrabNet-Mineral v3</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~167k igneous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volcanic bulks x 48 (P, H2O) draws</a:t>
            </a:r>
          </a:p>
          <a:p>
            <a:pPr algn="ctr"/>
            <a:r>
              <a:rPr sz="1100" b="0">
                <a:solidFill>
                  <a:srgbClr val="8A93A3"/>
                </a:solidFill>
              </a:rPr>
              <a:t>phenocryst-regime labels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730 real volcanic modes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212080"/>
            <a:ext cx="11064240" cy="731520"/>
          </a:xfrm>
          <a:prstGeom prst="rect">
            <a:avLst/>
          </a:prstGeom>
          <a:noFill/>
        </p:spPr>
        <p:txBody>
          <a:bodyPr wrap="square">
            <a:spAutoFit/>
          </a:bodyPr>
          <a:lstStyle/>
          <a:p>
            <a:pPr algn="l"/>
            <a:r>
              <a:rPr sz="1300" b="0">
                <a:solidFill>
                  <a:srgbClr val="1A2238"/>
                </a:solidFill>
              </a:rPr>
              <a:t>inputs everywhere are the same 22-token cation+trace vector; the corpora differ in what supervision (if any) they attach.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(P, H2O) draws/bulk</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sampled (P, H2O) region</a:t>
            </a:r>
          </a:p>
        </p:txBody>
      </p:sp>
      <p:sp>
        <p:nvSpPr>
          <p:cNvPr id="23" name="TextBox 22"/>
          <p:cNvSpPr txBox="1"/>
          <p:nvPr/>
        </p:nvSpPr>
        <p:spPr>
          <a:xfrm>
            <a:off x="4937760" y="544068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 the old flat box (whole rectangle) sampled impossible wet-shallow corners. q is the sampling density; inference reweights scenarios by p/q, so the corpus itself stays prior-agnostic.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Corpus regen: where we are</a:t>
            </a:r>
          </a:p>
        </p:txBody>
      </p:sp>
      <p:sp>
        <p:nvSpPr>
          <p:cNvPr id="4" name="Rounded Rectangle 3"/>
          <p:cNvSpPr/>
          <p:nvPr/>
        </p:nvSpPr>
        <p:spPr>
          <a:xfrm>
            <a:off x="50292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1. bounded sampler</a:t>
            </a:r>
          </a:p>
          <a:p>
            <a:pPr algn="ctr"/>
            <a:r>
              <a:rPr sz="1200" b="1">
                <a:solidFill>
                  <a:srgbClr val="1A2238"/>
                </a:solidFill>
              </a:rPr>
              <a:t/>
            </a:r>
          </a:p>
          <a:p>
            <a:pPr algn="ctr"/>
            <a:r>
              <a:rPr sz="1200" b="1">
                <a:solidFill>
                  <a:srgbClr val="1A2238"/>
                </a:solidFill>
              </a:rPr>
              <a:t>landed + tested</a:t>
            </a:r>
          </a:p>
          <a:p>
            <a:pPr algn="ctr"/>
            <a:r>
              <a:rPr sz="900" b="0">
                <a:solidFill>
                  <a:srgbClr val="8A93A3"/>
                </a:solidFill>
              </a:rPr>
              <a:t>condition_proposal</a:t>
            </a:r>
          </a:p>
        </p:txBody>
      </p:sp>
      <p:sp>
        <p:nvSpPr>
          <p:cNvPr id="5" name="TextBox 4"/>
          <p:cNvSpPr txBox="1"/>
          <p:nvPr/>
        </p:nvSpPr>
        <p:spPr>
          <a:xfrm>
            <a:off x="502920" y="1719072"/>
            <a:ext cx="2148840" cy="731520"/>
          </a:xfrm>
          <a:prstGeom prst="rect">
            <a:avLst/>
          </a:prstGeom>
          <a:noFill/>
        </p:spPr>
        <p:txBody>
          <a:bodyPr wrap="square">
            <a:spAutoFit/>
          </a:bodyPr>
          <a:lstStyle/>
          <a:p>
            <a:pPr algn="ctr"/>
            <a:r>
              <a:rPr sz="1100" b="0">
                <a:solidFill>
                  <a:srgbClr val="2A9D8F"/>
                </a:solidFill>
              </a:rPr>
              <a:t>LANDED</a:t>
            </a:r>
          </a:p>
        </p:txBody>
      </p:sp>
      <p:sp>
        <p:nvSpPr>
          <p:cNvPr id="6" name="Rounded Rectangle 5"/>
          <p:cNvSpPr/>
          <p:nvPr/>
        </p:nvSpPr>
        <p:spPr>
          <a:xfrm>
            <a:off x="288036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 orchestrator</a:t>
            </a:r>
          </a:p>
          <a:p>
            <a:pPr algn="ctr"/>
            <a:r>
              <a:rPr sz="1200" b="1">
                <a:solidFill>
                  <a:srgbClr val="1A2238"/>
                </a:solidFill>
              </a:rPr>
              <a:t/>
            </a:r>
          </a:p>
          <a:p>
            <a:pPr algn="ctr"/>
            <a:r>
              <a:rPr sz="1200" b="1">
                <a:solidFill>
                  <a:srgbClr val="1A2238"/>
                </a:solidFill>
              </a:rPr>
              <a:t>landed + smoke-run</a:t>
            </a:r>
          </a:p>
          <a:p>
            <a:pPr algn="ctr"/>
            <a:r>
              <a:rPr sz="900" b="0">
                <a:solidFill>
                  <a:srgbClr val="8A93A3"/>
                </a:solidFill>
              </a:rPr>
              <a:t>generate_mineralogy_corpus</a:t>
            </a:r>
          </a:p>
        </p:txBody>
      </p:sp>
      <p:sp>
        <p:nvSpPr>
          <p:cNvPr id="7" name="TextBox 6"/>
          <p:cNvSpPr txBox="1"/>
          <p:nvPr/>
        </p:nvSpPr>
        <p:spPr>
          <a:xfrm>
            <a:off x="2880360" y="1719072"/>
            <a:ext cx="2148840" cy="731520"/>
          </a:xfrm>
          <a:prstGeom prst="rect">
            <a:avLst/>
          </a:prstGeom>
          <a:noFill/>
        </p:spPr>
        <p:txBody>
          <a:bodyPr wrap="square">
            <a:spAutoFit/>
          </a:bodyPr>
          <a:lstStyle/>
          <a:p>
            <a:pPr algn="ctr"/>
            <a:r>
              <a:rPr sz="1100" b="0">
                <a:solidFill>
                  <a:srgbClr val="2A9D8F"/>
                </a:solidFill>
              </a:rPr>
              <a:t>LANDED</a:t>
            </a:r>
          </a:p>
        </p:txBody>
      </p:sp>
      <p:sp>
        <p:nvSpPr>
          <p:cNvPr id="8" name="Right Arrow 7"/>
          <p:cNvSpPr/>
          <p:nvPr/>
        </p:nvSpPr>
        <p:spPr>
          <a:xfrm>
            <a:off x="2688336" y="2898647"/>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3. water A/B</a:t>
            </a:r>
          </a:p>
          <a:p>
            <a:pPr algn="ctr"/>
            <a:r>
              <a:rPr sz="1200" b="1">
                <a:solidFill>
                  <a:srgbClr val="1A2238"/>
                </a:solidFill>
              </a:rPr>
              <a:t/>
            </a:r>
          </a:p>
          <a:p>
            <a:pPr algn="ctr"/>
            <a:r>
              <a:rPr sz="1200" b="1">
                <a:solidFill>
                  <a:srgbClr val="1A2238"/>
                </a:solidFill>
              </a:rPr>
              <a:t>switch holds;</a:t>
            </a:r>
          </a:p>
          <a:p>
            <a:pPr algn="ctr"/>
            <a:r>
              <a:rPr sz="900" b="0">
                <a:solidFill>
                  <a:srgbClr val="8A93A3"/>
                </a:solidFill>
              </a:rPr>
              <a:t>biotite gap is</a:t>
            </a:r>
          </a:p>
          <a:p>
            <a:pPr algn="ctr"/>
            <a:r>
              <a:rPr sz="900" b="0">
                <a:solidFill>
                  <a:srgbClr val="8A93A3"/>
                </a:solidFill>
              </a:rPr>
              <a:t>prior-side, not coverage</a:t>
            </a:r>
          </a:p>
        </p:txBody>
      </p:sp>
      <p:sp>
        <p:nvSpPr>
          <p:cNvPr id="10" name="TextBox 9"/>
          <p:cNvSpPr txBox="1"/>
          <p:nvPr/>
        </p:nvSpPr>
        <p:spPr>
          <a:xfrm>
            <a:off x="5257800" y="1719072"/>
            <a:ext cx="2148840" cy="731520"/>
          </a:xfrm>
          <a:prstGeom prst="rect">
            <a:avLst/>
          </a:prstGeom>
          <a:noFill/>
        </p:spPr>
        <p:txBody>
          <a:bodyPr wrap="square">
            <a:spAutoFit/>
          </a:bodyPr>
          <a:lstStyle/>
          <a:p>
            <a:pPr algn="ctr"/>
            <a:r>
              <a:rPr sz="1100" b="0">
                <a:solidFill>
                  <a:srgbClr val="2A9D8F"/>
                </a:solidFill>
              </a:rPr>
              <a:t>LANDED</a:t>
            </a:r>
          </a:p>
        </p:txBody>
      </p:sp>
      <p:sp>
        <p:nvSpPr>
          <p:cNvPr id="11" name="Right Arrow 10"/>
          <p:cNvSpPr/>
          <p:nvPr/>
        </p:nvSpPr>
        <p:spPr>
          <a:xfrm>
            <a:off x="5065776"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4. pilot + rung pick</a:t>
            </a:r>
          </a:p>
          <a:p>
            <a:pPr algn="ctr"/>
            <a:r>
              <a:rPr sz="1200" b="1">
                <a:solidFill>
                  <a:srgbClr val="1A2238"/>
                </a:solidFill>
              </a:rPr>
              <a:t/>
            </a:r>
          </a:p>
          <a:p>
            <a:pPr algn="ctr"/>
            <a:r>
              <a:rPr sz="1200" b="1">
                <a:solidFill>
                  <a:srgbClr val="1A2238"/>
                </a:solidFill>
              </a:rPr>
              <a:t>passed; rungs locked</a:t>
            </a:r>
          </a:p>
          <a:p>
            <a:pPr algn="ctr"/>
            <a:r>
              <a:rPr sz="900" b="0">
                <a:solidFill>
                  <a:srgbClr val="8A93A3"/>
                </a:solidFill>
              </a:rPr>
              <a:t>50 + 30 (owner,</a:t>
            </a:r>
          </a:p>
          <a:p>
            <a:pPr algn="ctr"/>
            <a:r>
              <a:rPr sz="900" b="0">
                <a:solidFill>
                  <a:srgbClr val="8A93A3"/>
                </a:solidFill>
              </a:rPr>
              <a:t>rung_prescreen.py)</a:t>
            </a:r>
          </a:p>
        </p:txBody>
      </p:sp>
      <p:sp>
        <p:nvSpPr>
          <p:cNvPr id="13" name="TextBox 12"/>
          <p:cNvSpPr txBox="1"/>
          <p:nvPr/>
        </p:nvSpPr>
        <p:spPr>
          <a:xfrm>
            <a:off x="7635240" y="1719072"/>
            <a:ext cx="2148840" cy="731520"/>
          </a:xfrm>
          <a:prstGeom prst="rect">
            <a:avLst/>
          </a:prstGeom>
          <a:noFill/>
        </p:spPr>
        <p:txBody>
          <a:bodyPr wrap="square">
            <a:spAutoFit/>
          </a:bodyPr>
          <a:lstStyle/>
          <a:p>
            <a:pPr algn="ctr"/>
            <a:r>
              <a:rPr sz="1100" b="0">
                <a:solidFill>
                  <a:srgbClr val="2A9D8F"/>
                </a:solidFill>
              </a:rPr>
              <a:t>LANDED</a:t>
            </a:r>
          </a:p>
        </p:txBody>
      </p:sp>
      <p:sp>
        <p:nvSpPr>
          <p:cNvPr id="14" name="Right Arrow 13"/>
          <p:cNvSpPr/>
          <p:nvPr/>
        </p:nvSpPr>
        <p:spPr>
          <a:xfrm>
            <a:off x="744321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5. production</a:t>
            </a:r>
          </a:p>
          <a:p>
            <a:pPr algn="ctr"/>
            <a:r>
              <a:rPr sz="1200" b="1">
                <a:solidFill>
                  <a:srgbClr val="1A2238"/>
                </a:solidFill>
              </a:rPr>
              <a:t/>
            </a:r>
          </a:p>
          <a:p>
            <a:pPr algn="ctr"/>
            <a:r>
              <a:rPr sz="1200" b="1">
                <a:solidFill>
                  <a:srgbClr val="1A2238"/>
                </a:solidFill>
              </a:rPr>
              <a:t>both tiers complete</a:t>
            </a:r>
          </a:p>
          <a:p>
            <a:pPr algn="ctr"/>
            <a:r>
              <a:rPr sz="900" b="0">
                <a:solidFill>
                  <a:srgbClr val="8A93A3"/>
                </a:solidFill>
              </a:rPr>
              <a:t>948k train rows;</a:t>
            </a:r>
          </a:p>
          <a:p>
            <a:pPr algn="ctr"/>
            <a:r>
              <a:rPr sz="900" b="0">
                <a:solidFill>
                  <a:srgbClr val="8A93A3"/>
                </a:solidFill>
              </a:rPr>
              <a:t>valtest 125k, sealed</a:t>
            </a:r>
          </a:p>
          <a:p>
            <a:pPr algn="ctr"/>
            <a:r>
              <a:rPr sz="900" b="0">
                <a:solidFill>
                  <a:srgbClr val="8A93A3"/>
                </a:solidFill>
              </a:rPr>
              <a:t>221/278 val/test roster</a:t>
            </a:r>
          </a:p>
        </p:txBody>
      </p:sp>
      <p:sp>
        <p:nvSpPr>
          <p:cNvPr id="16" name="TextBox 15"/>
          <p:cNvSpPr txBox="1"/>
          <p:nvPr/>
        </p:nvSpPr>
        <p:spPr>
          <a:xfrm>
            <a:off x="10012680" y="1719072"/>
            <a:ext cx="2148840" cy="731520"/>
          </a:xfrm>
          <a:prstGeom prst="rect">
            <a:avLst/>
          </a:prstGeom>
          <a:noFill/>
        </p:spPr>
        <p:txBody>
          <a:bodyPr wrap="square">
            <a:spAutoFit/>
          </a:bodyPr>
          <a:lstStyle/>
          <a:p>
            <a:pPr algn="ctr"/>
            <a:r>
              <a:rPr sz="1100" b="0">
                <a:solidFill>
                  <a:srgbClr val="2A9D8F"/>
                </a:solidFill>
              </a:rPr>
              <a:t>LANDED</a:t>
            </a:r>
          </a:p>
        </p:txBody>
      </p:sp>
      <p:sp>
        <p:nvSpPr>
          <p:cNvPr id="17" name="Right Arrow 16"/>
          <p:cNvSpPr/>
          <p:nvPr/>
        </p:nvSpPr>
        <p:spPr>
          <a:xfrm>
            <a:off x="982065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300" b="0">
                <a:solidFill>
                  <a:srgbClr val="1A2238"/>
                </a:solidFill>
              </a:rPr>
              <a:t>all gates passed: the water A/B held under bounded sampling; the pilot pre-screen locked rungs 50 + 30; production completed 2026-07-17 (train 99.2% point convergence, valtest 97.7% usable rows after dropping one solver-poisoned bulk). The 499 valtest bulks divide 16:20 into a committed val/test roster (valtest_split.csv); test stays sealed.</a:t>
            </a:r>
          </a:p>
        </p:txBody>
      </p:sp>
      <p:sp>
        <p:nvSpPr>
          <p:cNvPr id="19" name="TextBox 18"/>
          <p:cNvSpPr txBox="1"/>
          <p:nvPr/>
        </p:nvSpPr>
        <p:spPr>
          <a:xfrm>
            <a:off x="502920" y="5806440"/>
            <a:ext cx="11155680" cy="731520"/>
          </a:xfrm>
          <a:prstGeom prst="rect">
            <a:avLst/>
          </a:prstGeom>
          <a:noFill/>
        </p:spPr>
        <p:txBody>
          <a:bodyPr wrap="square">
            <a:spAutoFit/>
          </a:bodyPr>
          <a:lstStyle/>
          <a:p>
            <a:pPr algn="l"/>
            <a:r>
              <a:rPr sz="1200" b="0">
                <a:solidFill>
                  <a:srgbClr val="8A93A3"/>
                </a:solidFill>
              </a:rPr>
              <a:t>spec: docs/corpus_regen_spec.md (all design decisions locked 2026-07-14; generation complete 2026-07-17).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147812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3050895"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462366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619643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7769199"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9341967"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TextBox 9"/>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22 token slots; absent = padding (src=0)</a:t>
            </a:r>
          </a:p>
        </p:txBody>
      </p:sp>
      <p:sp>
        <p:nvSpPr>
          <p:cNvPr id="11" name="TextBox 10"/>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22 contextualized vectors into one 256-d fingerprint 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 the held-out mineralML grains.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ClassHead</a:t>
            </a:r>
          </a:p>
          <a:p>
            <a:pPr algn="ctr"/>
            <a:r>
              <a:rPr sz="1000" b="0">
                <a:solidFill>
                  <a:srgbClr val="8A93A3"/>
                </a:solidFill>
              </a:rPr>
              <a:t>rock class (aux)</a:t>
            </a:r>
          </a:p>
        </p:txBody>
      </p:sp>
      <p:cxnSp>
        <p:nvCxnSpPr>
          <p:cNvPr id="18" name="Connector 17"/>
          <p:cNvCxnSpPr/>
          <p:nvPr/>
        </p:nvCxnSpPr>
        <p:spPr>
          <a:xfrm>
            <a:off x="8211312" y="3456432"/>
            <a:ext cx="658368" cy="97840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G_sys</a:t>
            </a:r>
          </a:p>
          <a:p>
            <a:pPr algn="ctr"/>
            <a:r>
              <a:rPr sz="1000" b="0">
                <a:solidFill>
                  <a:srgbClr val="8A93A3"/>
                </a:solidFill>
              </a:rPr>
              <a:t>free energy (aux)</a:t>
            </a:r>
          </a:p>
        </p:txBody>
      </p:sp>
      <p:cxnSp>
        <p:nvCxnSpPr>
          <p:cNvPr id="20" name="Connector 19"/>
          <p:cNvCxnSpPr/>
          <p:nvPr/>
        </p:nvCxnSpPr>
        <p:spPr>
          <a:xfrm>
            <a:off x="8211312" y="3456432"/>
            <a:ext cx="658368" cy="193852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(anatomy on the next slide, outputs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a small MLP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shared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128 -&gt; 21, sigmoid</a:t>
            </a:r>
          </a:p>
          <a:p>
            <a:pPr algn="ctr"/>
            <a:r>
              <a:rPr sz="1000" b="0">
                <a:solidFill>
                  <a:srgbClr val="8A93A3"/>
                </a:solidFill>
              </a:rPr>
              <a:t>p_i = P(phase i present)</a:t>
            </a:r>
          </a:p>
          <a:p>
            <a:pPr algn="ctr"/>
            <a:r>
              <a:rPr sz="1000" b="0">
                <a:solidFill>
                  <a:srgbClr val="8A93A3"/>
                </a:solidFill>
              </a:rPr>
              <a:t>2,709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128 -&gt; 21, softplus</a:t>
            </a:r>
          </a:p>
          <a:p>
            <a:pPr algn="ctr"/>
            <a:r>
              <a:rPr sz="1000" b="0">
                <a:solidFill>
                  <a:srgbClr val="8A93A3"/>
                </a:solidFill>
              </a:rPr>
              <a:t>alpha_i, Dirichlet concentration</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of each,</a:t>
            </a:r>
          </a:p>
          <a:p>
            <a:pPr algn="ctr"/>
            <a:r>
              <a:rPr sz="900" b="0">
                <a:solidFill>
                  <a:srgbClr val="8A93A3"/>
                </a:solidFill>
              </a:rPr>
              <a:t>on the present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38,314 trainable params (trunk 32,896 + 2 x 2,709) -- ~1.2% of the frozen encoder; retrains in under a minute, so the label proxy stays cheap to revise.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(configs/heads/mode_head.yaml): hidden 128 . dropout 0.0 . magnitude_weight 1.0 . alpha_eps 1e-6 . lr 1e-3 . weight_decay 0 . batch 1024 . epochs 40 / patience 5 --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trained jointly: one backward pass; each branch gets only its own term's gradient, the shared trunk gets the SUM of both -- ∇L(trunk) = ∇L_pres + λ_mag ∇L_mag</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22-token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~255x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intermediate-frequency presence is the miss mode (garnet recall 1.0 at f &gt; 0.9 but 0.0 below f = 0.5; opx 0.23 / ru 0.13 / ol 0.04 overall); spinel is the worst-calibrated panel (ECE 0.043); amphibole magnitude spread stays too narrow (next slide). full report: results/mode_head/&lt;tag&gt;/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 plays two roles, never as a model input: its support slices alpha (teacher-forced at train/eval, sampled from the presence branch at inference; a Dirichlet sub-composition is itself a Dirichlet, so the sliced score is a proper density), and its modes appear only at the scoring step.</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~240 for andalusite; single-phase rows are excluded (nothing to size). current limits: amphibole PIT U-shaped with a high-side tilt (tails 0.27 vs 0.10 expected: spread too narrow and conditionally under-sized; corpus bimodality measured), oxide accessories humped (spl/ilm/ru tails ~0.01: too wide); plag's earlier under-sizing flattened with the full-tier retrain (tails 0.12). full report: results/mode_head/&lt;tag&gt;/ (magnitude_parity, magnitude_pit).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the largest head, and still trivially retrainable.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hidden 128 . dropout 0.0 . alpha_eps 1e-6 . comp_eps 1e-4 (hard-zero clip on targets) . lambda_comp 1.0 . lambda_balance 1.0 --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277 -&gt; 128</a:t>
            </a:r>
          </a:p>
          <a:p>
            <a:pPr algn="ctr"/>
            <a:r>
              <a:rPr sz="1000" b="0">
                <a:solidFill>
                  <a:srgbClr val="8A93A3"/>
                </a:solidFill>
              </a:rPr>
              <a:t>GELU + dropout</a:t>
            </a:r>
          </a:p>
          <a:p>
            <a:pPr algn="ctr"/>
            <a:r>
              <a:rPr sz="1000" b="0">
                <a:solidFill>
                  <a:srgbClr val="8A93A3"/>
                </a:solidFill>
              </a:rPr>
              <a:t>35,584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128 -&gt; 9 (3 axes x K=3)</a:t>
            </a:r>
          </a:p>
          <a:p>
            <a:pPr algn="ctr"/>
            <a:r>
              <a:rPr sz="1000" b="0">
                <a:solidFill>
                  <a:srgbClr val="8A93A3"/>
                </a:solidFill>
              </a:rPr>
              <a:t>log-softmax over K per axis</a:t>
            </a:r>
          </a:p>
          <a:p>
            <a:pPr algn="ctr"/>
            <a:r>
              <a:rPr sz="1000" b="0">
                <a:solidFill>
                  <a:srgbClr val="8A93A3"/>
                </a:solidFill>
              </a:rPr>
              <a:t>1,161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9</a:t>
            </a:r>
          </a:p>
          <a:p>
            <a:pPr algn="ctr"/>
            <a:r>
              <a:rPr sz="1000" b="0">
                <a:solidFill>
                  <a:srgbClr val="8A93A3"/>
                </a:solidFill>
              </a:rPr>
              <a:t>mu_k in raw units (C, kbar, wt%)</a:t>
            </a:r>
          </a:p>
          <a:p>
            <a:pPr algn="ctr"/>
            <a:r>
              <a:rPr sz="1000" b="0">
                <a:solidFill>
                  <a:srgbClr val="8A93A3"/>
                </a:solidFill>
              </a:rPr>
              <a:t>1,161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128 -&gt; 9, softplus + eps</a:t>
            </a:r>
          </a:p>
          <a:p>
            <a:pPr algn="ctr"/>
            <a:r>
              <a:rPr sz="1000" b="0">
                <a:solidFill>
                  <a:srgbClr val="8A93A3"/>
                </a:solidFill>
              </a:rPr>
              <a:t>sigma_k, heteroscedastic</a:t>
            </a:r>
          </a:p>
          <a:p>
            <a:pPr algn="ctr"/>
            <a:r>
              <a:rPr sz="1000" b="0">
                <a:solidFill>
                  <a:srgbClr val="8A93A3"/>
                </a:solidFill>
              </a:rPr>
              <a:t>1,161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39,067 trainable params (trunk 35,584 + 3 x 1,161) -- ~1.2% of the frozen encoder; output biases seeded at the targets' mean/std (raw-unit cold-start fix: an unseeded head starts ~1,300 sigmas from typical T).</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(HPO sweeps {2,3,4}) . cond_sigma_eps 1e-3 . hidden 128 . dropout 0.0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so λ_cond mainly weights EARLY STOPPING (best-epoch pick), not gradients -- 0.01 = mineralogy-first</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