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Living deck: how the current canonical model and its training/inference pipeline work. Regenerated on every major architecture change.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corpora. Pretrain (Gard) is inputs-only and trains the encoder -- the all-rock 23-token generation, ~788k bulks, canonical since 2026-08-05. The equilibrium corpus (MAGEMin cooling, phenocryst-regime endpoint -- generation pipeline on the next slide) carries the labels that train the heads; the real volcanic benchmark and mineralML grains are held out for validation. Counts are the broad-draw corpus the PRODUCTION heads (joint_heads_allrock_tuned_seed0) were trained on: train tier 10,000 bulks listed / 9,946 with rows x 48 draws x 2 rungs (50, 30) = 949,228 rows; a separate sealed valtest tier runs 500 bulks listed / 493 with rows at 128 draws = 125,105 rows, committed roster 221 val / 278 test. Rungs 60 and 40 are stored but not trained on. The real benchmark is 724 rocks carrying both chemistry and modes, of which 640 least-altered form the headline cohort. This slide absorbed the retired corpus-regen status strip (2026-08-06): the traced regen (2026-07-27, 35k bulks x 24 trace-conditional draws, valtest roster grown by extension to 2,000 bulks / 887 val / 1112 test) landed end to end and both its head retrains lost to the old-corpus model on the real-rock benchmark after identical recalibration (sealed test joint NLL 0.478 / 0.769 / 1.371), so the 2026-07-29 adoption was reversed 2026-08-03. Its real wins -- quartz presence, assemblage ranking -- are the paper story, not a production upgrade. #60 later measured the corpus axis directly: real-rock transfer is flat across 16x of training bulks, so the larger broad-draw regen is dead and the sim-to-real gap is not a data-quantity problem. The roster change retired the old measuring instrument, so headline numbers across it are not comparable (results/ledger.yaml stamps each version with its instrument).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Track B label factory as it produced the PRODUCTION labels, left to right: stratified volcanic bulk tables; solubility-bounded (P, H2O) draws with the proposal density stored per row; chunked MAGEMin equilibrium cooling stopped below 30% residual melt (fresh Julia worker per chunk, atomic parquet + manifest, rerun-to-resume); three tables with full labels at the four candidate rungs; crystals-renormalized training labels rebuilt at train time (presence cutoff is a rebuild, not a regen). The sampler changed at the 2026-07-23 regen (#48), AFTER these labels were generated: the solubility-bounded LHS that generated this corpus is now the floor component of a per-bulk mixture -- an immobile-element discriminant cascade assigns each bulk a soft arc/ridge/intraplate posterior, and draws come from posterior-weighted per-(maficity, setting) literature boxes, falling back to per-class Wallace/Plank + Putirka ranges where traces are missing. The stored q carries the exact mixture density either way, so the p/q reweighting is unchanged.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one-to-many mapping that everything downstream leans on: one gard bulk -&gt; 48 solubility-bounded (P, H2O) draws -&gt; each read out at two melt-fraction rungs (50/30) -&gt; 96 label rows sharing one input vector. The sealed valtest tier runs 128 draws per bulk (256 rows) so per-bulk frequencies are measured precisely where they are scored. The training-side scaling curve flattens past ~24 draws (#27), which is why the later regen sampled 24 -- but the production labels shown here predate it at 48. Assemblage numbers illustrative; amp-vs-opx flips with wetness/depth (the flagship multimodality). This is the visual justification for fractional presence targets (within-bulk frequency), the bulk-level split rule, and the per-bulk latent cache in training. Same-bulk-at-both-rungs is intentional (rungs LOCKED 50+30).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map before the detailed walk-through: tokens -&gt; embed -&gt; encoder -&gt; h -&gt; {heads, encoder apps}. Following slides zoom into each block.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Input = up to 23 (token id, amount) pairs: 22 cation slots plus the Fe-redox ratio the all-rock encoder generation added. Padding is src==0. The conditions (T,P,H2O) are CondHead targets, never inputs. The redox slot is drawn gray and blank because that is the deployment regime and not by choice: the production heads train, validate and deploy at 22 tokens (configs/heads/joint_heads.yaml carries no data_kwargs), and the eruption-v2 benchmark reports only total iron, so 0 of its 640 rocks can fill it. Padding is exactly a no-op -- a padded 23-token input reproduces the 22-token latent to 0.0 absolute difference on the production weights, pinned by a unit test. What the padded slot does NOT do is marginalize over an unknown ratio: measured 2026-08-06 (explorations/redox_padding), it is a distinct learned 'no speciation reported' state that imitates a low fixed ratio (nearest grid value 0.15 raw / 0.25 offset-corrected, against a measured-tier true median of 0.33), barely tracks the individual rock (Pearson 0.23), and is itself predictable from the rest of the analysis at AUROC 0.91 -- the blank is a provenance signal, because measured-pair analyses are overwhelmingly pre-1970 and ran different trace panels.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Opens the embed step: element id -&gt; mat2vec vector, amount -&gt; projection, summed into the per-token vector. The embedding table has 121 rows: 118 elements plus two reserved sentinels -- the SSL [MASK] token (119) and the Fe-redox slot (120). Those two are learned from scratch rather than looked up in mat2vec, which only covers real elements.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Self-attention (4x4 heatmap, diagonal strongest) then masked-mean pool over non-padding tokens into h. The pool divides by the non-padding count, which is why a padded redox slot is exactly a no-op: it is masked out of attention by src == 0 and never enters the average. Nothing in the token path is position-aware, so a padded 23-token input and a 22-token input give the same h -- measured at 0.0 absolute difference on the production weights, and pinned by a unit test at 1e-6 (test_padded_redox_slot_reproduces_the_22_token_latent).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Masked-element modelling. Encoder is TRAINED here (frozen is the downstream state). Loss is per-element standardized log-space MSE so traces get supervised (fracs span ~8 decades; linear MSE leaves traces unsupervised). mu/sigma are per-element log10-frac stats from the train split (pretrain_objective.compute_loss_stats), stored as head buffers. Over ~788k rocks (the all-rock generation). A populated redox token is a full citizen of the masking (mask_for_ssl sees src &gt; 0), so the encoder learned that slot on the 24.1% of rows that carry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three-stage training pipeline. Stage 1 is the SSL loop from the prior slide; stage 2 freezes; stage 3 trains the heads on the labeled equilibrium corpus. The production stack is checkpoints/pretrain_allrock_redox_seed0 (stage 1-2, all-rock 23-token, canonical 2026-08-05) + checkpoints/joint_heads_allrock_tuned_seed0 (stage 3, old broad-draw corpus; the traced-corpus retrains were measured and not adopted). Stage 3 is cheap by design -- 1.83M head params against a 3.23M frozen encoder -- which is what makes re-supervising the heads against a different label source a retrain rather than a rebuild. A fourth stage exists downstream for real rocks: a 123-parameter recalibrator fit on measured modes, two slides on from here.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Structural view: which heads exist and that they all read the same frozen h. Three heads are in the joint trainer -- ModeHead, CompHead, CondHead. ClassHead and G_sys are drawn gray because they are application slots the architecture allows, not code that runs: nothing in src/cnmineral/models implements them and no checkpoint carries their weights. G_sys in particular is an encoder regularizer if it is ever built, never a polymorph disambiguator. Head internals on the next slide; outputs after.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Anatomy of the trained ModeHead (checkpoints/joint_heads_allrock_tuned_seed0, the production run): two parallel trunks of 3 stacked Linear(-&gt;256)+GELU+dropout blocks. The presence trunk reads h alone (it predicts the support, so it must not see it) -&gt; logits (sigmoid -&gt; per-phase Bernoulli, BCE). The magnitude trunk reads h concatenated with the 21-dim support vector -&gt; concentrations (softplus + eps -&gt; conditional Dirichlet, masked NLL on the same support) -- the chain rule CondHead already uses: teacher-forced true mask at train, sampled from the presence Bernoullis at inference. Support-conditioning (adopted 2026-07-22, #25) exists because the conditional truth is bimodal by support for path-sensitive phases (deep-wet-much-amp vs shallow-dry-little); a support-blind Dirichlet could only average the humps -- amp magnitude parity r went 0.715 -&gt; 0.876 when it landed, and the production model still reads 0.876 (the traced-corpus retrains read 0.886 on their own instrument). Param counts are pulled from the checkpoint (mode_hidden 512, mode_layers 3 per trunk, the cascade-2 sweep winner -- the trunk width doubled from the 256 the original joint HPO picked, which is where the head's param count roughly tripled). Loss boxes mirror the SSL slide: BCE is a proper scoring rule (per-rock minimum = within-bulk presence frequency, which is why intermediate p is signal); the Dirichlet NLL is masked to the label's present set (sub-composition property keeps it a proper density); λ_mag is the loss-weighting coefficient (config key magnitude_weight, 0.0281 in production) -- λ chosen over w to avoid clashing with layer weights and to match the λ_balance / λ_comp family. Note the reduction asymmetry: BCE means over the 21 phases while the Dirichlet NLL sums them, so 0.0281 in the config is an effective 0.59 against a per-phase-summed BCE -- inside the corrected lambda &lt;= 1 range the cascade-2 sweep criterion enforced (the reversed trial-22 dials ran 7.76 = 163). 'Trained jointly' is one scalar L, one backward pass, one AdamW step; with the trunks split, the two ModeHead terms touch disjoint params, coupled only second-order through the per-head gradient clip pooling both trunks' norms. NOT alternating epochs, NOT separate optimizers, NOT staged pretraining of one branch. The hurdle split exists because one full-simplex Dirichlet cannot be simultaneously confident about absences and honest about present-phase spread (shared concentration). CompHead/CondHead follow the same small-MLP-emitting-distribution-parameters pattern; their two-slide reports follow ModeHead's.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Worked example for the reliability diagram in runs/mode_head/&lt;tag&gt;/reliability.png. Numbers illustrative but to scale: three rocks predicted in [0.70, 0.80) -- a real bin edge of the 10 equal-width bins the code uses -- contribute 3 predictions x 256 labels = 768 (p, truth) pairs -- 3 predictions, not 768; each rock's single p is scored against its 256 labels. x = count-weighted mean p (0.740), y = pooled fraction of pairs with cpx present (547/768 = 0.712). ECE on the real panels is the count-weighted |x - y| over 10 such bins. The gray ghost dot shows the overconfident failure mode. Real population: the production instrument's val roster (221 assigned bulks, 218 contributing 55,576 rows at 128 draws x rungs 50/30, minus attrition). Fixed roster: panel numbers move only when the head retrains. Pair with figure 2 (p vs within-bulk frequency): reliability is aggregate honesty, the scatter is per-rock sharpness; a base-rate predictor passes the first and fails the second.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Eval-semantics slide for the magnitude branch, mirroring the presence branch's reliability worked example. Laid out as two tracks converging at a scoring node: the prediction track never sees the truth's modes; the truth contributes its support twice (conditioning input to the magnitude trunk + the score's slice, both teacher-forced) and its modes meet the prediction only at scoring. Numbers illustrative but to scale: alpha sliced to the true 4-phase support gives Dirichlet means alpha_i/alpha0 and Beta marginals Beta(alpha_i, alpha0 - alpha_i); plag Beta(12,13) has mean 0.48, sd ~0.10, and truth 0.44 lands at CDF 0.34. alpha0 is the single shared confidence knob per row -- the reason per-phase spreads can't be tuned independently (see alpha_concentration.png). PIT histograms are the magnitude analog of reliability diagrams; parity plots are the point-estimate view. Scored by masked Dirichlet NLL (anatomy slide's L_magnitude). Worked numbers for the expansion box: this row scores -4.34 nats (normalizer -28.37 + shape +24.03); scaling alpha x4 improves to -5.26 when truth is near the peak but explodes to +17.9 when truth swaps to the other hump (plag/amp values exchanged) -- the mechanism that pinned the support-blind head's amphibole alpha0 low and its mean in the middle. Support-conditioning resolves the between-support humps; the within-support ones still punish confidence the same way (the mixture candidate's target). The 0.715 -&gt; 0.876 amp parity jump that justified support-conditioning was measured when the support-conditioned trunk landed (#25); the production model reads 0.876 on the same axis, and 0.538 under sampled support. Retunes since have moved sharpness rather than conditioning, which is also why every sampled-support number is worse than its teacher-forced twin -- the head specialized to the true support.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Anatomy of CompHead (trains in the joint trainer, checkpoints/joint_heads_allrock_tuned_seed0, the production run). Interface: h [256] in, alpha [21, 11] out; one training example is one (bulk, draw, rung) row; targets are per-phase oxide mass fractions from the rungs table (same-token instances merged by mass-weighted mean, feldspar split into plag/afs BEFORE averaging so the solvus pair never mixes), eps-clipped at comp_eps and renormalized. Param counts are exact (instantiated at d_model 256, hidden 128). The shared-concentration factorization is the locked heads.md parameterization: one c_p per phase blurs per-oxide error bars toward each other -- accepted because composition spreads are 10-30x tighter than modal spreads (the reason CompHead is bulk-controlled and unconditioned). L_comp's minimum: the Dirichlet matching the per-bulk composition distribution of each phase. L_closure is the one loss term coupling two heads (mode x comp product); squared-L2 is a constraint penalty, not a head likelihood, so the no-MSE rule for heads doesn't apply. Known limits: hard-zero oxides are clipped (a q row is 'SiO2 + 10 eps-floors'); ~0.3% of corpus rows don't self-close (melt immiscibility, dropped-phase mass, worst 5.2 wt%) and set an unattainable closure floor there; endmember bonus heads deferred (heads.md).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Eval-semantics slide for CompHead, mirroring the ModeHead magnitude worked example: two tracks converge at a scoring node; the truth contributes its support to the slice and meets the prediction only at scoring. Box numbers illustrative but to scale (a plag Dirichlet with alpha0 ~780 has SiO2 sd ~0.018); headline numbers are real, from runs/comp_head/joint_heads_allrock_tuned_seed0/metrics.json (the production run). CompHead has been the head every sweep leaves alone: the traced-corpus weights-only sweep did not move it (NLL -56.30 -&gt; -56.29 on its own instrument, inside the tie band) -- which is why that sweep's adoption argument rested on ModeHead, before the adoption itself was reversed 2026-08-03 on the real-rock evidence -- and the cascade-2 sweep left its dials at comp_hidden null / comp_layers 1 as well. The alpha0 span is the durable story (comp_concentration.png): medians run ~170 for garnet to ~40,000 for quartz, ordered by how constrained each mineral's chemistry really is; the earlier untuned model compressed everything into 100-650, but that comparison was measured on the since-retired instrument. PIT here is per-oxide Beta marginals of the 11-simplex Dirichlet (same sub-composition property as the mode slice).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Anatomy of CondHead (trains in the joint trainer, checkpoints/joint_heads_allrock_tuned_seed0, the production run). Interface: concat(h [256], presence [21]) in; (log_w, mu, sigma) each [3 axes, K] out; one training example is one (bulk, draw, rung) row with targets (T_end from the rung row; P_kbar, H2O from the draw). Param counts pulled from the checkpoint (cond_hidden 512, cond_layers 2, K=3): cond was the one head that wanted capacity -- starved at 128x1 under the shared tuned lr, fixed by the mini-sweep adoption. Support-conditioning is the locked chain-rule decision: independent heads assume a conditional independence the corpus violates by design -- the within-bulk label variance is driven by the shared hidden (P, H2O) path, and marginals forget which condition mode went with which support. Raw linear units are deliberate (no log transforms; negative mass is a diagnostic, not a bug -- mass_below_zero in the cond eval). init_output_bias seeds component means at target mean +/- 1 std and sigmas at the target std; without it Adam needs ~mu/lr steps to walk mu from 0 to ~900 C. lambda_cond nuance: L_cond's gradient reaches only CondHead's own weights (frozen encoder, separate trunks, teacher-forced input), and per-head clipping + Adam's per-parameter scaling make the constant nearly inert for optimization; per-head best selection (each head keeps its own raw-val best epoch) removed its old early-stopping lever too, leaving it a raw-unit scale absorber (mineralogy-first). Known limits: axes are independent mixtures (no (T, P) correlation, deferred per ADR 006); exposure bias measured, not yet mitigated (#31); T is a derived cooling endpoint, not a sampled axis, in the scenario view.</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Eval-semantics slide for CondHead. The two-pass protocol is the point: teacher-forced scoring isolates the head's conditional skill p(T,P,H2O | h, true support); sampled-support scoring measures the deployed chain with ModeHead's Bernoulli draws standing in for the truth (exposure_seed pins reproducibility). Mixture drawing illustrative but to scale for a bimodal amp/opx bulk (deep-wet vs shallow-dry is the flagship condition multimodality). Real numbers from runs/cond_head/joint_heads_allrock_tuned_seed0/metrics.json (the production run): teacher-forced per-axis NLL T 4.95 / P 1.83 / H2O 1.52, coverage-68 0.698/0.680/0.655, exposure delta T 4.23 / P 2.92 / H2O 2.60 nats with sampled coverage falling to 0.25/0.34/0.33. (The traced-corpus sweep sharpened NLL slightly while coverage drifted down and the exposure delta widened -- one strand of the evidence behind the 2026-08-03 adoption reversal.) The sampled-support inf rows that used to appear here were a float32 underflow in the density guard, not a modelling failure; the per-axis NLL now goes through logsumexp, and those rows read 118-141 nats. Coverage is central-interval mass via the mixture CDF (PIT), same construction as the mode/comp calibration reads.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joint view the three anatomy slides decompose: every branch reads the same frozen 256-d h, and the four likelihood terms plus the closure penalty sum to one scalar. Two arrows are not plain feed-forward: the magnitude branch and CondHead take concat(h, support) -- the chain rule p(support | h) x p(rest | h, support), teacher-forced true mask at train, ModeHead-sampled at inference (exposure bias, #31). CompHead deliberately does NOT see the support: composition is bulk-controlled (heads.md). Closure is drawn as a joiner, not a fifth branch, because it has no parameters -- it multiplies ModeHead's support-masked Dirichlet mean by CompHead's Dirichlet mean and asks whether the reconstructed bulk matches the input; squared-L2 is a constraint penalty, not a head likelihood, so the no-MSE rule for heads does not apply. It is the one term coupling two heads. Weights and param counts are from the production run (checkpoints/joint_heads_allrock_tuned_seed0, promoted 2026-08-05 on the cascade-2 encoder verdict; the trial-22 adoption of 2026-07-29 was reversed 2026-08-03 -- the traced-corpus retrains lose on real rocks). ModeHead carries 74% of the head budget because the cascade-2 sweep doubled its trunk to 512 x 3 while CompHead and CondHead kept their dials. The reduction asymmetry in the last caption is a real footgun when transcribing the equation: BCE reduces over batch AND phases, the Dirichlet NLL over batch only, so magnitude_weight in the config is 1/21 of the coefficient you would write against a summed BCE. lambda_cond is small because L_cond is in raw units (T in the hundreds); it absorbs scale, it is not a statement about how much the conditions matter. Each head is snapshotted at its own best raw-val epoch and clipped separately, so the lambdas do not act as early-stopping levers. Not shown because they are not in the joint trainer: the auxiliary ClassHead and G_sys remain application slots, unimplemented.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Output FORM, not measured results -- the numbers on this slide are illustrative even though the heads are trained. ModeHead = hurdle Dirichlet over the crystals-renormalized solid assemblage (liq/fl dropped, solids sum to 1 -- matches real itemized-phenocrysts + lumped-groundmass granularity). EVERY phase gets a presence Bernoulli AND a conditional amount +/- CI; near-certain phases just have p~1. Amp 0.41 / opx 0.63 anti-correlated is the flagship multimodality (deep-wet-amp vs shallow-dry-opx), so their marginal amounts are conditional on presence, not rock-wide means. CondHead = per-axis GMM; P and H2O were sampled at generation, T is derived (cooling endpoint at the phenocryst window), hence the lower illustrative T. Second read-out view: top-K scenarios; weights labeled prior-weighted plausibility, reweightable p/q. Mass-balance closure teacher-forces the label melt fraction at training. Numbers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View 2 from heads.md, modernized to the locked corpus design: crystals-renormalized (no residual-melt row -- melt-fraction head dropped), composition shared across scenarios (CompHead reads h only), no inference-time mass-balance checkmark (closure is teacher-forced at training; the inference residual as OOD signal is an open rethink). Marginal view = projection of these scenarios; scenarios are the primary object. The joint-sampling mechanism exists (two-step ancestral sampling: presence Bernoullis -&gt; support, then the support-conditioned magnitude Dirichlet and CondHead both condition on it -- scripts/view/scenario_view.py); per-scenario mode shares and conditions are genuinely re-predicted per support. Numbers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Anatomy of the sim-to-real recalibrator (cnmineral.models.real_rock_recalibrator.RealRockRecalibrator). This is the one component that is NOT a head on h: it reads the frozen ModeHead's own outputs, which is why it does not use the head_anatomy_slide template. Interface: (p7 logits, alpha7, SiO2 wt%) in, corrected (logits, alpha, gate log-weights) out. It acts in coarsened 7-group space rather than the model's 21 phases because that is where real modal labels live, where the residuals were measured, and where the three tiers nest exactly. Presence is corrected in logit space (that is where Platt scaling lives); magnitude multiplicatively on the concentrations -- multiplicative matters, because coarsening leaves exact zeros wherever a group has no member phase on the support, alpha*exp(c) keeps those zeros, and an additive correction in log space would turn them into -inf. Param counts instantiated from the module, exact: vector 23, matrix 121, mlp 1095, tailed 123; the 5.07M denominator is the frozen encoder (3,234,699 trainable) plus heads (1,830,337). The SiO2 slopes shown are the PRESENCE-side ones on q and amp, which stay; a magnitude-side location slope was built alongside the tailed tier, measured +0.007 [-0.004, +0.016] nats, and excised as three dead parameters (journal 2026-08-06). The contamination is parameterized as an offset from a -3.0 prior logit so weight decay shrinks toward 'rare contamination' (eps ~0.05) rather than the eps = 0.5 a raw logit would decay to; k = 1 at init collapses the mixture, preserving identity-at-init. Splits are clustered by eruption unit, not by rock, because rocks from one unit are not independent samples.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Eval-semantics slide for the recalibrator. All levels are val-only (111 rocks, 39 eruption units) with the layer fit on the 368-rock train roster; the test slice is untouched. Levels from tailed_acceptance.json: zero-shot joint 13.444 (dirichlet 7.630 + bernoulli 5.813), vector 3.761, matrix 1.277, tailed 0.972. The matrix-minus-tailed contrast is +0.30445 [+0.04942, +0.65876] over 39 units; the bernoulli component of that contrast is exactly 0.0 because tailed forks from matrix and leaves the presence branch untouched -- worth saying out loud, since a reader may expect the usual both-terms-move pattern. Fitted contamination eps 0.05209, k 0.50665. Curve numbers from curve_val.json (10 whole-unit draws per budget, budgets 25-400, paired across tiers, weight decay re-selected on this checkpoint): per-budget median dirichlet for tailed runs 0.324 at 25, -0.753 at 50, -1.154 at 100, -1.814 at 200, -1.924 at full train, against a 7.630 zero-shot -- so the 9.55-nat gain is 7.630 minus -1.924. The distribution drawings are illustrative but to scale for k = 0.507: halving the concentration roughly doubles the variance, so the contaminating component is ~1.4x wider at the same mean. Note the 111-rock val zero-shot (13.444) is NOT the 640-rock headline zero-shot (11.638 in results/real_rock_ledger.yaml) -- different populations, and mixing them is the easiest mistake to make here. Internal reference, deliberately not on the slide: the climatology baseline reads val joint 2.175 against tailed's 0.965.</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for the ModeHead dirichlet layer (mixture), built and evaluated 2026-08-04 behind the K=1-identity `mode_n_components` dial. VERDICT (owner, same day): kept as a dial, K=1 stays the canonical output -- the trained K=2 posts the best corpus numbers on record on both axes (teacher-forced -3.0819 vs control -2.6713, sampled-support -2.1161 vs -1.9620) and collapses the targeted amp two-sided PIT residue, but the recalibrated real-rock val contrast leans against the same-dials control (1.642 vs 1.277, -0.365 [-0.864, +0.118], all in the magnitude term) and the gate hedges near 50/50 rather than switching. Attribution (journal 2026-08-04, second entry): the 7-group instrument passes 61% of the corpus advantage; the real amp population at matched chemistry has the same total spread but ONE hump (GMM BIC 39% vs 100% of matched corpus bulks); a single gate-offset recalibration parameter recovers ~60% of the penalty, to a tie, never a win. Drawn so the contrast with the two current-output slides is visual. Motivating measurements: 45% of sampled bulks bimodal in conditional amp proportion (2026-07-17 corpus exam), 34% of testable bimodal bulks still bimodal within their dominant support (the part support-conditioning cannot represent); amp two-sided PIT groups 0.026 -&gt; 0.114 when support-conditioning landed (truth escaping both tails = mean parked between humps); real-rock residual heavier-tailed than any Beta at the fitted mean. Design locked with the owner: K=2 fixed (not an HPO dial yet), assemblage-level components (one gate choosing whole alpha vectors -- on a simplex a per-phase mixture is not even coherent, and the humps co-vary through the shared hidden (P, H2O) path, cf. the 51% amp&lt;-&gt;opx switch), no gate regularizer in the first build (gate entropy is a read-after diagnostic; collapse = H~0 everywhere plus identical components), all-rock encoder with the allrock-tuned dials, control = joint_heads_allrock_tuned_seed0 as trained. Loss is logsumexp(log w_k + log Dir_k) on the present support -- CondHead's GMM pattern moved onto the Dirichlet. Build gate: K=1 under the new code must reproduce production metrics to float precision before any K=2 run. Old broad-draw corpus; verdict on the real-rock benchmark, val only, test untouched.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377440"/>
            <a:ext cx="12191695" cy="1737360"/>
          </a:xfrm>
          <a:prstGeom prst="rect">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606040"/>
            <a:ext cx="10698480" cy="822960"/>
          </a:xfrm>
          <a:prstGeom prst="rect">
            <a:avLst/>
          </a:prstGeom>
          <a:noFill/>
        </p:spPr>
        <p:txBody>
          <a:bodyPr wrap="square">
            <a:spAutoFit/>
          </a:bodyPr>
          <a:lstStyle/>
          <a:p>
            <a:pPr algn="l"/>
            <a:r>
              <a:rPr sz="4000" b="1">
                <a:solidFill>
                  <a:srgbClr val="FFFFFF"/>
                </a:solidFill>
              </a:rPr>
              <a:t>CrabNet-Mineral v3</a:t>
            </a:r>
          </a:p>
        </p:txBody>
      </p:sp>
      <p:sp>
        <p:nvSpPr>
          <p:cNvPr id="4" name="TextBox 3"/>
          <p:cNvSpPr txBox="1"/>
          <p:nvPr/>
        </p:nvSpPr>
        <p:spPr>
          <a:xfrm>
            <a:off x="758952" y="3474720"/>
            <a:ext cx="10698480" cy="548640"/>
          </a:xfrm>
          <a:prstGeom prst="rect">
            <a:avLst/>
          </a:prstGeom>
          <a:noFill/>
        </p:spPr>
        <p:txBody>
          <a:bodyPr wrap="square">
            <a:spAutoFit/>
          </a:bodyPr>
          <a:lstStyle/>
          <a:p>
            <a:pPr algn="l"/>
            <a:r>
              <a:rPr sz="2200" b="0">
                <a:solidFill>
                  <a:srgbClr val="E8883A"/>
                </a:solidFill>
              </a:rPr>
              <a:t>model &amp; pipeline overview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DATA</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Three corpora</a:t>
            </a:r>
          </a:p>
        </p:txBody>
      </p:sp>
      <p:sp>
        <p:nvSpPr>
          <p:cNvPr id="4" name="Rounded Rectangle 3"/>
          <p:cNvSpPr/>
          <p:nvPr/>
        </p:nvSpPr>
        <p:spPr>
          <a:xfrm>
            <a:off x="548640" y="1828800"/>
            <a:ext cx="3566160" cy="237744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SSL pretrain</a:t>
            </a:r>
          </a:p>
          <a:p>
            <a:pPr algn="ctr"/>
            <a:r>
              <a:rPr sz="1400" b="1">
                <a:solidFill>
                  <a:srgbClr val="1A2238"/>
                </a:solidFill>
              </a:rPr>
              <a:t/>
            </a:r>
          </a:p>
          <a:p>
            <a:pPr algn="ctr"/>
            <a:r>
              <a:rPr sz="1100" b="0">
                <a:solidFill>
                  <a:srgbClr val="8A93A3"/>
                </a:solidFill>
              </a:rPr>
              <a:t>data/bulks/gard2019.csv</a:t>
            </a:r>
          </a:p>
          <a:p>
            <a:pPr algn="ctr"/>
            <a:r>
              <a:rPr sz="1100" b="0">
                <a:solidFill>
                  <a:srgbClr val="8A93A3"/>
                </a:solidFill>
              </a:rPr>
              <a:t>~788k all-rock bulks</a:t>
            </a:r>
          </a:p>
          <a:p>
            <a:pPr algn="ctr"/>
            <a:r>
              <a:rPr sz="1100" b="0">
                <a:solidFill>
                  <a:srgbClr val="8A93A3"/>
                </a:solidFill>
              </a:rPr>
              <a:t>inputs only (no labels)</a:t>
            </a:r>
          </a:p>
        </p:txBody>
      </p:sp>
      <p:sp>
        <p:nvSpPr>
          <p:cNvPr id="5" name="Rounded Rectangle 4"/>
          <p:cNvSpPr/>
          <p:nvPr/>
        </p:nvSpPr>
        <p:spPr>
          <a:xfrm>
            <a:off x="4297680" y="1828800"/>
            <a:ext cx="3566160" cy="23774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supervised</a:t>
            </a:r>
          </a:p>
          <a:p>
            <a:pPr algn="ctr"/>
            <a:r>
              <a:rPr sz="1400" b="1">
                <a:solidFill>
                  <a:srgbClr val="1A2238"/>
                </a:solidFill>
              </a:rPr>
              <a:t/>
            </a:r>
          </a:p>
          <a:p>
            <a:pPr algn="ctr"/>
            <a:r>
              <a:rPr sz="1100" b="0">
                <a:solidFill>
                  <a:srgbClr val="8A93A3"/>
                </a:solidFill>
              </a:rPr>
              <a:t>equilibrium corpus (MAGEMin)</a:t>
            </a:r>
          </a:p>
          <a:p>
            <a:pPr algn="ctr"/>
            <a:r>
              <a:rPr sz="1100" b="0">
                <a:solidFill>
                  <a:srgbClr val="8A93A3"/>
                </a:solidFill>
              </a:rPr>
              <a:t>9,946 bulks x 48 (P, H2O) draws</a:t>
            </a:r>
          </a:p>
          <a:p>
            <a:pPr algn="ctr"/>
            <a:r>
              <a:rPr sz="1100" b="0">
                <a:solidFill>
                  <a:srgbClr val="8A93A3"/>
                </a:solidFill>
              </a:rPr>
              <a:t>949k phenocryst-regime rows</a:t>
            </a:r>
          </a:p>
        </p:txBody>
      </p:sp>
      <p:sp>
        <p:nvSpPr>
          <p:cNvPr id="6" name="Rounded Rectangle 5"/>
          <p:cNvSpPr/>
          <p:nvPr/>
        </p:nvSpPr>
        <p:spPr>
          <a:xfrm>
            <a:off x="8046720" y="1828800"/>
            <a:ext cx="3566160" cy="23774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held-out eval</a:t>
            </a:r>
          </a:p>
          <a:p>
            <a:pPr algn="ctr"/>
            <a:r>
              <a:rPr sz="1400" b="1">
                <a:solidFill>
                  <a:srgbClr val="1A2238"/>
                </a:solidFill>
              </a:rPr>
              <a:t/>
            </a:r>
          </a:p>
          <a:p>
            <a:pPr algn="ctr"/>
            <a:r>
              <a:rPr sz="1100" b="0">
                <a:solidFill>
                  <a:srgbClr val="8A93A3"/>
                </a:solidFill>
              </a:rPr>
              <a:t>724 real volcanic rocks</a:t>
            </a:r>
          </a:p>
          <a:p>
            <a:pPr algn="ctr"/>
            <a:r>
              <a:rPr sz="1100" b="0">
                <a:solidFill>
                  <a:srgbClr val="8A93A3"/>
                </a:solidFill>
              </a:rPr>
              <a:t>+ mineralML grains (~88k)</a:t>
            </a:r>
          </a:p>
          <a:p>
            <a:pPr algn="ctr"/>
            <a:r>
              <a:rPr sz="1100" b="0">
                <a:solidFill>
                  <a:srgbClr val="8A93A3"/>
                </a:solidFill>
              </a:rPr>
              <a:t>never trained on</a:t>
            </a:r>
          </a:p>
        </p:txBody>
      </p:sp>
      <p:sp>
        <p:nvSpPr>
          <p:cNvPr id="7" name="TextBox 6"/>
          <p:cNvSpPr txBox="1"/>
          <p:nvPr/>
        </p:nvSpPr>
        <p:spPr>
          <a:xfrm>
            <a:off x="548640" y="4480560"/>
            <a:ext cx="3566160" cy="731520"/>
          </a:xfrm>
          <a:prstGeom prst="rect">
            <a:avLst/>
          </a:prstGeom>
          <a:noFill/>
        </p:spPr>
        <p:txBody>
          <a:bodyPr wrap="square">
            <a:spAutoFit/>
          </a:bodyPr>
          <a:lstStyle/>
          <a:p>
            <a:pPr algn="ctr"/>
            <a:r>
              <a:rPr sz="1200" b="0">
                <a:solidFill>
                  <a:srgbClr val="12B5A5"/>
                </a:solidFill>
              </a:rPr>
              <a:t>trains the encoder</a:t>
            </a:r>
          </a:p>
        </p:txBody>
      </p:sp>
      <p:sp>
        <p:nvSpPr>
          <p:cNvPr id="8" name="TextBox 7"/>
          <p:cNvSpPr txBox="1"/>
          <p:nvPr/>
        </p:nvSpPr>
        <p:spPr>
          <a:xfrm>
            <a:off x="4297680" y="4480560"/>
            <a:ext cx="3566160" cy="731520"/>
          </a:xfrm>
          <a:prstGeom prst="rect">
            <a:avLst/>
          </a:prstGeom>
          <a:noFill/>
        </p:spPr>
        <p:txBody>
          <a:bodyPr wrap="square">
            <a:spAutoFit/>
          </a:bodyPr>
          <a:lstStyle/>
          <a:p>
            <a:pPr algn="ctr"/>
            <a:r>
              <a:rPr sz="1200" b="0">
                <a:solidFill>
                  <a:srgbClr val="2A9D8F"/>
                </a:solidFill>
              </a:rPr>
              <a:t>trains the heads (next two slides)</a:t>
            </a:r>
          </a:p>
        </p:txBody>
      </p:sp>
      <p:sp>
        <p:nvSpPr>
          <p:cNvPr id="9" name="TextBox 8"/>
          <p:cNvSpPr txBox="1"/>
          <p:nvPr/>
        </p:nvSpPr>
        <p:spPr>
          <a:xfrm>
            <a:off x="8046720" y="4480560"/>
            <a:ext cx="3566160" cy="731520"/>
          </a:xfrm>
          <a:prstGeom prst="rect">
            <a:avLst/>
          </a:prstGeom>
          <a:noFill/>
        </p:spPr>
        <p:txBody>
          <a:bodyPr wrap="square">
            <a:spAutoFit/>
          </a:bodyPr>
          <a:lstStyle/>
          <a:p>
            <a:pPr algn="ctr"/>
            <a:r>
              <a:rPr sz="1200" b="0">
                <a:solidFill>
                  <a:srgbClr val="6C5CE7"/>
                </a:solidFill>
              </a:rPr>
              <a:t>evaluation only</a:t>
            </a:r>
          </a:p>
        </p:txBody>
      </p:sp>
      <p:sp>
        <p:nvSpPr>
          <p:cNvPr id="10" name="TextBox 9"/>
          <p:cNvSpPr txBox="1"/>
          <p:nvPr/>
        </p:nvSpPr>
        <p:spPr>
          <a:xfrm>
            <a:off x="548640" y="5120640"/>
            <a:ext cx="11064240" cy="731520"/>
          </a:xfrm>
          <a:prstGeom prst="rect">
            <a:avLst/>
          </a:prstGeom>
          <a:noFill/>
        </p:spPr>
        <p:txBody>
          <a:bodyPr wrap="square">
            <a:spAutoFit/>
          </a:bodyPr>
          <a:lstStyle/>
          <a:p>
            <a:pPr algn="l"/>
            <a:r>
              <a:rPr sz="1300" b="0">
                <a:solidFill>
                  <a:srgbClr val="1A2238"/>
                </a:solidFill>
              </a:rPr>
              <a:t>inputs everywhere are the same 23-token cation+trace vector (22 elements + the Fe-redox slot, padded in deployment); the corpora differ in what supervision (if any) they attach.</a:t>
            </a:r>
          </a:p>
        </p:txBody>
      </p:sp>
      <p:sp>
        <p:nvSpPr>
          <p:cNvPr id="11" name="TextBox 10"/>
          <p:cNvSpPr txBox="1"/>
          <p:nvPr/>
        </p:nvSpPr>
        <p:spPr>
          <a:xfrm>
            <a:off x="548640" y="5760720"/>
            <a:ext cx="11064240" cy="731520"/>
          </a:xfrm>
          <a:prstGeom prst="rect">
            <a:avLst/>
          </a:prstGeom>
          <a:noFill/>
        </p:spPr>
        <p:txBody>
          <a:bodyPr wrap="square">
            <a:spAutoFit/>
          </a:bodyPr>
          <a:lstStyle/>
          <a:p>
            <a:pPr algn="l"/>
            <a:r>
              <a:rPr sz="1100" b="0">
                <a:solidFill>
                  <a:srgbClr val="8A93A3"/>
                </a:solidFill>
              </a:rPr>
              <a:t>two supervised generations exist. the production heads sit on the broad-draw corpus shown here; a 2026-07 regen (35k bulks x 24 trace-conditional draws) was built, trained on, and lost to it on real rocks under identical recalibration -- it is a measured non-production arm, not an upgrade.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DATA</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How the supervised labels are generated</a:t>
            </a:r>
          </a:p>
        </p:txBody>
      </p:sp>
      <p:sp>
        <p:nvSpPr>
          <p:cNvPr id="4" name="Rounded Rectangle 3"/>
          <p:cNvSpPr/>
          <p:nvPr/>
        </p:nvSpPr>
        <p:spPr>
          <a:xfrm>
            <a:off x="502920" y="1417320"/>
            <a:ext cx="2148840" cy="173736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volcanic core</a:t>
            </a:r>
          </a:p>
          <a:p>
            <a:pPr algn="ctr"/>
            <a:r>
              <a:rPr sz="900" b="0">
                <a:solidFill>
                  <a:srgbClr val="8A93A3"/>
                </a:solidFill>
              </a:rPr>
              <a:t>gard2019 -&gt; 324k bulks</a:t>
            </a:r>
          </a:p>
          <a:p>
            <a:pPr algn="ctr"/>
            <a:r>
              <a:rPr sz="900" b="0">
                <a:solidFill>
                  <a:srgbClr val="8A93A3"/>
                </a:solidFill>
              </a:rPr>
              <a:t>stratified: 10k train</a:t>
            </a:r>
          </a:p>
          <a:p>
            <a:pPr algn="ctr"/>
            <a:r>
              <a:rPr sz="900" b="0">
                <a:solidFill>
                  <a:srgbClr val="8A93A3"/>
                </a:solidFill>
              </a:rPr>
              <a:t>+ 500 sealed valtest</a:t>
            </a:r>
          </a:p>
        </p:txBody>
      </p:sp>
      <p:sp>
        <p:nvSpPr>
          <p:cNvPr id="5" name="TextBox 4"/>
          <p:cNvSpPr txBox="1"/>
          <p:nvPr/>
        </p:nvSpPr>
        <p:spPr>
          <a:xfrm>
            <a:off x="365760" y="3209544"/>
            <a:ext cx="2423160" cy="731520"/>
          </a:xfrm>
          <a:prstGeom prst="rect">
            <a:avLst/>
          </a:prstGeom>
          <a:noFill/>
        </p:spPr>
        <p:txBody>
          <a:bodyPr wrap="square">
            <a:spAutoFit/>
          </a:bodyPr>
          <a:lstStyle/>
          <a:p>
            <a:pPr algn="ctr"/>
            <a:r>
              <a:rPr sz="1000" b="0">
                <a:solidFill>
                  <a:srgbClr val="8A93A3"/>
                </a:solidFill>
              </a:rPr>
              <a:t>build_corpus_bulk_tables.py</a:t>
            </a:r>
          </a:p>
        </p:txBody>
      </p:sp>
      <p:sp>
        <p:nvSpPr>
          <p:cNvPr id="6" name="Rounded Rectangle 5"/>
          <p:cNvSpPr/>
          <p:nvPr/>
        </p:nvSpPr>
        <p:spPr>
          <a:xfrm>
            <a:off x="2880360" y="1417320"/>
            <a:ext cx="2148840" cy="173736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sample conditions</a:t>
            </a:r>
          </a:p>
          <a:p>
            <a:pPr algn="ctr"/>
            <a:r>
              <a:rPr sz="900" b="0">
                <a:solidFill>
                  <a:srgbClr val="8A93A3"/>
                </a:solidFill>
              </a:rPr>
              <a:t>48 draws/bulk (128 valtest)</a:t>
            </a:r>
          </a:p>
          <a:p>
            <a:pPr algn="ctr"/>
            <a:r>
              <a:rPr sz="900" b="0">
                <a:solidFill>
                  <a:srgbClr val="8A93A3"/>
                </a:solidFill>
              </a:rPr>
              <a:t>solubility-bounded LHS</a:t>
            </a:r>
          </a:p>
          <a:p>
            <a:pPr algn="ctr"/>
            <a:r>
              <a:rPr sz="900" b="0">
                <a:solidFill>
                  <a:srgbClr val="8A93A3"/>
                </a:solidFill>
              </a:rPr>
              <a:t>density q stored per row</a:t>
            </a:r>
          </a:p>
        </p:txBody>
      </p:sp>
      <p:sp>
        <p:nvSpPr>
          <p:cNvPr id="7" name="TextBox 6"/>
          <p:cNvSpPr txBox="1"/>
          <p:nvPr/>
        </p:nvSpPr>
        <p:spPr>
          <a:xfrm>
            <a:off x="2743200" y="3209544"/>
            <a:ext cx="2423160" cy="731520"/>
          </a:xfrm>
          <a:prstGeom prst="rect">
            <a:avLst/>
          </a:prstGeom>
          <a:noFill/>
        </p:spPr>
        <p:txBody>
          <a:bodyPr wrap="square">
            <a:spAutoFit/>
          </a:bodyPr>
          <a:lstStyle/>
          <a:p>
            <a:pPr algn="ctr"/>
            <a:r>
              <a:rPr sz="1000" b="0">
                <a:solidFill>
                  <a:srgbClr val="8A93A3"/>
                </a:solidFill>
              </a:rPr>
              <a:t>cnmineral.data.condition_proposal</a:t>
            </a:r>
          </a:p>
        </p:txBody>
      </p:sp>
      <p:sp>
        <p:nvSpPr>
          <p:cNvPr id="8" name="Right Arrow 7"/>
          <p:cNvSpPr/>
          <p:nvPr/>
        </p:nvSpPr>
        <p:spPr>
          <a:xfrm>
            <a:off x="2688336" y="2121408"/>
            <a:ext cx="155447"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257800" y="1417320"/>
            <a:ext cx="2148840" cy="173736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equilibrium cooling</a:t>
            </a:r>
          </a:p>
          <a:p>
            <a:pPr algn="ctr"/>
            <a:r>
              <a:rPr sz="900" b="0">
                <a:solidFill>
                  <a:srgbClr val="8A93A3"/>
                </a:solidFill>
              </a:rPr>
              <a:t>MAGEMin, 1200 -&gt; 600 C</a:t>
            </a:r>
          </a:p>
          <a:p>
            <a:pPr algn="ctr"/>
            <a:r>
              <a:rPr sz="900" b="0">
                <a:solidFill>
                  <a:srgbClr val="8A93A3"/>
                </a:solidFill>
              </a:rPr>
              <a:t>stop below 30% melt</a:t>
            </a:r>
          </a:p>
          <a:p>
            <a:pPr algn="ctr"/>
            <a:r>
              <a:rPr sz="900" b="0">
                <a:solidFill>
                  <a:srgbClr val="8A93A3"/>
                </a:solidFill>
              </a:rPr>
              <a:t>chunked + resumable</a:t>
            </a:r>
          </a:p>
        </p:txBody>
      </p:sp>
      <p:sp>
        <p:nvSpPr>
          <p:cNvPr id="10" name="TextBox 9"/>
          <p:cNvSpPr txBox="1"/>
          <p:nvPr/>
        </p:nvSpPr>
        <p:spPr>
          <a:xfrm>
            <a:off x="5120640" y="3209544"/>
            <a:ext cx="2423160" cy="731520"/>
          </a:xfrm>
          <a:prstGeom prst="rect">
            <a:avLst/>
          </a:prstGeom>
          <a:noFill/>
        </p:spPr>
        <p:txBody>
          <a:bodyPr wrap="square">
            <a:spAutoFit/>
          </a:bodyPr>
          <a:lstStyle/>
          <a:p>
            <a:pPr algn="ctr"/>
            <a:r>
              <a:rPr sz="1000" b="0">
                <a:solidFill>
                  <a:srgbClr val="8A93A3"/>
                </a:solidFill>
              </a:rPr>
              <a:t>generate_mineralogy_corpus.py</a:t>
            </a:r>
          </a:p>
        </p:txBody>
      </p:sp>
      <p:sp>
        <p:nvSpPr>
          <p:cNvPr id="11" name="Right Arrow 10"/>
          <p:cNvSpPr/>
          <p:nvPr/>
        </p:nvSpPr>
        <p:spPr>
          <a:xfrm>
            <a:off x="5065776" y="2121408"/>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635240" y="1417320"/>
            <a:ext cx="2148840" cy="173736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corpus tables</a:t>
            </a:r>
          </a:p>
          <a:p>
            <a:pPr algn="ctr"/>
            <a:r>
              <a:rPr sz="900" b="0">
                <a:solidFill>
                  <a:srgbClr val="8A93A3"/>
                </a:solidFill>
              </a:rPr>
              <a:t>draws / ladder / rungs</a:t>
            </a:r>
          </a:p>
          <a:p>
            <a:pPr algn="ctr"/>
            <a:r>
              <a:rPr sz="900" b="0">
                <a:solidFill>
                  <a:srgbClr val="8A93A3"/>
                </a:solidFill>
              </a:rPr>
              <a:t>full labels at</a:t>
            </a:r>
          </a:p>
          <a:p>
            <a:pPr algn="ctr"/>
            <a:r>
              <a:rPr sz="900" b="0">
                <a:solidFill>
                  <a:srgbClr val="8A93A3"/>
                </a:solidFill>
              </a:rPr>
              <a:t>60/50/40/30% melt</a:t>
            </a:r>
          </a:p>
        </p:txBody>
      </p:sp>
      <p:sp>
        <p:nvSpPr>
          <p:cNvPr id="13" name="TextBox 12"/>
          <p:cNvSpPr txBox="1"/>
          <p:nvPr/>
        </p:nvSpPr>
        <p:spPr>
          <a:xfrm>
            <a:off x="7498079" y="3209544"/>
            <a:ext cx="2423160" cy="731520"/>
          </a:xfrm>
          <a:prstGeom prst="rect">
            <a:avLst/>
          </a:prstGeom>
          <a:noFill/>
        </p:spPr>
        <p:txBody>
          <a:bodyPr wrap="square">
            <a:spAutoFit/>
          </a:bodyPr>
          <a:lstStyle/>
          <a:p>
            <a:pPr algn="ctr"/>
            <a:r>
              <a:rPr sz="1000" b="0">
                <a:solidFill>
                  <a:srgbClr val="8A93A3"/>
                </a:solidFill>
              </a:rPr>
              <a:t>parquet + manifest per chunk</a:t>
            </a:r>
          </a:p>
        </p:txBody>
      </p:sp>
      <p:sp>
        <p:nvSpPr>
          <p:cNvPr id="14" name="Right Arrow 13"/>
          <p:cNvSpPr/>
          <p:nvPr/>
        </p:nvSpPr>
        <p:spPr>
          <a:xfrm>
            <a:off x="7443215" y="2121408"/>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0012680" y="1417320"/>
            <a:ext cx="2148840" cy="17373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training labels</a:t>
            </a:r>
          </a:p>
          <a:p>
            <a:pPr algn="ctr"/>
            <a:r>
              <a:rPr sz="900" b="0">
                <a:solidFill>
                  <a:srgbClr val="8A93A3"/>
                </a:solidFill>
              </a:rPr>
              <a:t>crystals-renormalized</a:t>
            </a:r>
          </a:p>
          <a:p>
            <a:pPr algn="ctr"/>
            <a:r>
              <a:rPr sz="900" b="0">
                <a:solidFill>
                  <a:srgbClr val="8A93A3"/>
                </a:solidFill>
              </a:rPr>
              <a:t>solids; presence + modes</a:t>
            </a:r>
          </a:p>
          <a:p>
            <a:pPr algn="ctr"/>
            <a:r>
              <a:rPr sz="900" b="0">
                <a:solidFill>
                  <a:srgbClr val="8A93A3"/>
                </a:solidFill>
              </a:rPr>
              <a:t>rebuild, never a regen</a:t>
            </a:r>
          </a:p>
        </p:txBody>
      </p:sp>
      <p:sp>
        <p:nvSpPr>
          <p:cNvPr id="16" name="TextBox 15"/>
          <p:cNvSpPr txBox="1"/>
          <p:nvPr/>
        </p:nvSpPr>
        <p:spPr>
          <a:xfrm>
            <a:off x="9875519" y="3209544"/>
            <a:ext cx="2423160" cy="731520"/>
          </a:xfrm>
          <a:prstGeom prst="rect">
            <a:avLst/>
          </a:prstGeom>
          <a:noFill/>
        </p:spPr>
        <p:txBody>
          <a:bodyPr wrap="square">
            <a:spAutoFit/>
          </a:bodyPr>
          <a:lstStyle/>
          <a:p>
            <a:pPr algn="ctr"/>
            <a:r>
              <a:rPr sz="1000" b="0">
                <a:solidFill>
                  <a:srgbClr val="8A93A3"/>
                </a:solidFill>
              </a:rPr>
              <a:t>training-time transform</a:t>
            </a:r>
          </a:p>
        </p:txBody>
      </p:sp>
      <p:sp>
        <p:nvSpPr>
          <p:cNvPr id="17" name="Right Arrow 16"/>
          <p:cNvSpPr/>
          <p:nvPr/>
        </p:nvSpPr>
        <p:spPr>
          <a:xfrm>
            <a:off x="9820655" y="2121408"/>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97280" y="4526280"/>
            <a:ext cx="3291840" cy="1600200"/>
          </a:xfrm>
          <a:prstGeom prst="rect">
            <a:avLst/>
          </a:prstGeom>
          <a:no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Freeform 18"/>
          <p:cNvSpPr/>
          <p:nvPr/>
        </p:nvSpPr>
        <p:spPr>
          <a:xfrm>
            <a:off x="1097280" y="4526280"/>
            <a:ext cx="3291840" cy="1600200"/>
          </a:xfrm>
          <a:custGeom>
            <a:avLst/>
            <a:gdLst/>
            <a:ahLst/>
            <a:cxnLst/>
            <a:rect l="l" t="t" r="r" b="b"/>
            <a:pathLst>
              <a:path w="3291840" h="1600200">
                <a:moveTo>
                  <a:pt x="0" y="1600200"/>
                </a:moveTo>
                <a:lnTo>
                  <a:pt x="0" y="1080135"/>
                </a:lnTo>
                <a:lnTo>
                  <a:pt x="143123" y="824103"/>
                </a:lnTo>
                <a:lnTo>
                  <a:pt x="286246" y="614076"/>
                </a:lnTo>
                <a:lnTo>
                  <a:pt x="429370" y="416052"/>
                </a:lnTo>
                <a:lnTo>
                  <a:pt x="572493" y="220027"/>
                </a:lnTo>
                <a:lnTo>
                  <a:pt x="715617" y="22002"/>
                </a:lnTo>
                <a:lnTo>
                  <a:pt x="729929" y="0"/>
                </a:lnTo>
                <a:lnTo>
                  <a:pt x="3291840" y="0"/>
                </a:lnTo>
                <a:lnTo>
                  <a:pt x="3291840" y="1600200"/>
                </a:lnTo>
                <a:close/>
              </a:path>
            </a:pathLst>
          </a:custGeom>
          <a:solidFill>
            <a:srgbClr val="C4D1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6144768"/>
            <a:ext cx="3657600" cy="731520"/>
          </a:xfrm>
          <a:prstGeom prst="rect">
            <a:avLst/>
          </a:prstGeom>
          <a:noFill/>
        </p:spPr>
        <p:txBody>
          <a:bodyPr wrap="square">
            <a:spAutoFit/>
          </a:bodyPr>
          <a:lstStyle/>
          <a:p>
            <a:pPr algn="ctr"/>
            <a:r>
              <a:rPr sz="1000" b="0">
                <a:solidFill>
                  <a:srgbClr val="8A93A3"/>
                </a:solidFill>
              </a:rPr>
              <a:t>P  0.5 -&gt; 12 kbar</a:t>
            </a:r>
          </a:p>
        </p:txBody>
      </p:sp>
      <p:sp>
        <p:nvSpPr>
          <p:cNvPr id="21" name="TextBox 20"/>
          <p:cNvSpPr txBox="1"/>
          <p:nvPr/>
        </p:nvSpPr>
        <p:spPr>
          <a:xfrm>
            <a:off x="530352" y="4480560"/>
            <a:ext cx="548640" cy="365760"/>
          </a:xfrm>
          <a:prstGeom prst="rect">
            <a:avLst/>
          </a:prstGeom>
          <a:noFill/>
        </p:spPr>
        <p:txBody>
          <a:bodyPr wrap="square">
            <a:spAutoFit/>
          </a:bodyPr>
          <a:lstStyle/>
          <a:p>
            <a:pPr algn="ctr"/>
            <a:r>
              <a:rPr sz="1000" b="0">
                <a:solidFill>
                  <a:srgbClr val="8A93A3"/>
                </a:solidFill>
              </a:rPr>
              <a:t>H2O</a:t>
            </a:r>
          </a:p>
          <a:p>
            <a:pPr algn="ctr"/>
            <a:r>
              <a:rPr sz="700" b="0">
                <a:solidFill>
                  <a:srgbClr val="8A93A3"/>
                </a:solidFill>
              </a:rPr>
              <a:t>0-8</a:t>
            </a:r>
          </a:p>
        </p:txBody>
      </p:sp>
      <p:sp>
        <p:nvSpPr>
          <p:cNvPr id="22" name="TextBox 21"/>
          <p:cNvSpPr txBox="1"/>
          <p:nvPr/>
        </p:nvSpPr>
        <p:spPr>
          <a:xfrm>
            <a:off x="1280160" y="4160520"/>
            <a:ext cx="3291840" cy="731520"/>
          </a:xfrm>
          <a:prstGeom prst="rect">
            <a:avLst/>
          </a:prstGeom>
          <a:noFill/>
        </p:spPr>
        <p:txBody>
          <a:bodyPr wrap="square">
            <a:spAutoFit/>
          </a:bodyPr>
          <a:lstStyle/>
          <a:p>
            <a:pPr algn="ctr"/>
            <a:r>
              <a:rPr sz="1100" b="0">
                <a:solidFill>
                  <a:srgbClr val="2E5BFF"/>
                </a:solidFill>
              </a:rPr>
              <a:t>the floor: bounded (P, H2O) region</a:t>
            </a:r>
          </a:p>
        </p:txBody>
      </p:sp>
      <p:sp>
        <p:nvSpPr>
          <p:cNvPr id="23" name="TextBox 22"/>
          <p:cNvSpPr txBox="1"/>
          <p:nvPr/>
        </p:nvSpPr>
        <p:spPr>
          <a:xfrm>
            <a:off x="4937760" y="5303520"/>
            <a:ext cx="6766560" cy="731520"/>
          </a:xfrm>
          <a:prstGeom prst="rect">
            <a:avLst/>
          </a:prstGeom>
          <a:noFill/>
        </p:spPr>
        <p:txBody>
          <a:bodyPr wrap="square">
            <a:spAutoFit/>
          </a:bodyPr>
          <a:lstStyle/>
          <a:p>
            <a:pPr algn="l"/>
            <a:r>
              <a:rPr sz="1200" b="0">
                <a:solidFill>
                  <a:srgbClr val="1A2238"/>
                </a:solidFill>
              </a:rPr>
              <a:t>water is bounded by what melt can dissolve at each pressure (Newman &amp; Lowenstern 2002 rhyolite curve, capped at 8 wt%). The production labels draw uniformly over this bounded region (Latin-hypercube), and q -- the proposal density -- is stored per row, so inference reweights scenarios by p/q and the corpus itself stays prior-agnostic. A later trace-conditional sampler narrows the draw per bulk; it generated the non-production regen, not these labels.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DATA</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One rock, 96 labels: the one-to-many mapping</a:t>
            </a:r>
          </a:p>
        </p:txBody>
      </p:sp>
      <p:sp>
        <p:nvSpPr>
          <p:cNvPr id="4" name="TextBox 3"/>
          <p:cNvSpPr txBox="1"/>
          <p:nvPr/>
        </p:nvSpPr>
        <p:spPr>
          <a:xfrm>
            <a:off x="365760" y="1188720"/>
            <a:ext cx="2286000" cy="731520"/>
          </a:xfrm>
          <a:prstGeom prst="rect">
            <a:avLst/>
          </a:prstGeom>
          <a:noFill/>
        </p:spPr>
        <p:txBody>
          <a:bodyPr wrap="square">
            <a:spAutoFit/>
          </a:bodyPr>
          <a:lstStyle/>
          <a:p>
            <a:pPr algn="l"/>
            <a:r>
              <a:rPr sz="1100" b="0">
                <a:solidFill>
                  <a:srgbClr val="2E5BFF"/>
                </a:solidFill>
              </a:rPr>
              <a:t>ONE input rock</a:t>
            </a:r>
          </a:p>
        </p:txBody>
      </p:sp>
      <p:sp>
        <p:nvSpPr>
          <p:cNvPr id="5" name="TextBox 4"/>
          <p:cNvSpPr txBox="1"/>
          <p:nvPr/>
        </p:nvSpPr>
        <p:spPr>
          <a:xfrm>
            <a:off x="3200400" y="1188720"/>
            <a:ext cx="2194560" cy="731520"/>
          </a:xfrm>
          <a:prstGeom prst="rect">
            <a:avLst/>
          </a:prstGeom>
          <a:noFill/>
        </p:spPr>
        <p:txBody>
          <a:bodyPr wrap="square">
            <a:spAutoFit/>
          </a:bodyPr>
          <a:lstStyle/>
          <a:p>
            <a:pPr algn="l"/>
            <a:r>
              <a:rPr sz="1100" b="0">
                <a:solidFill>
                  <a:srgbClr val="6C5CE7"/>
                </a:solidFill>
              </a:rPr>
              <a:t>48 sampled (P, H2O) paths</a:t>
            </a:r>
          </a:p>
        </p:txBody>
      </p:sp>
      <p:sp>
        <p:nvSpPr>
          <p:cNvPr id="6" name="TextBox 5"/>
          <p:cNvSpPr txBox="1"/>
          <p:nvPr/>
        </p:nvSpPr>
        <p:spPr>
          <a:xfrm>
            <a:off x="5669280" y="1188720"/>
            <a:ext cx="1463040" cy="731520"/>
          </a:xfrm>
          <a:prstGeom prst="rect">
            <a:avLst/>
          </a:prstGeom>
          <a:noFill/>
        </p:spPr>
        <p:txBody>
          <a:bodyPr wrap="square">
            <a:spAutoFit/>
          </a:bodyPr>
          <a:lstStyle/>
          <a:p>
            <a:pPr algn="l"/>
            <a:r>
              <a:rPr sz="1100" b="0">
                <a:solidFill>
                  <a:srgbClr val="E8883A"/>
                </a:solidFill>
              </a:rPr>
              <a:t>x 2 rungs</a:t>
            </a:r>
          </a:p>
        </p:txBody>
      </p:sp>
      <p:sp>
        <p:nvSpPr>
          <p:cNvPr id="7" name="TextBox 6"/>
          <p:cNvSpPr txBox="1"/>
          <p:nvPr/>
        </p:nvSpPr>
        <p:spPr>
          <a:xfrm>
            <a:off x="7589520" y="1188720"/>
            <a:ext cx="4069080" cy="731520"/>
          </a:xfrm>
          <a:prstGeom prst="rect">
            <a:avLst/>
          </a:prstGeom>
          <a:noFill/>
        </p:spPr>
        <p:txBody>
          <a:bodyPr wrap="square">
            <a:spAutoFit/>
          </a:bodyPr>
          <a:lstStyle/>
          <a:p>
            <a:pPr algn="l"/>
            <a:r>
              <a:rPr sz="1100" b="0">
                <a:solidFill>
                  <a:srgbClr val="2A9D8F"/>
                </a:solidFill>
              </a:rPr>
              <a:t>96 training labels (solid wt%, crystals-renormalized)</a:t>
            </a:r>
          </a:p>
        </p:txBody>
      </p:sp>
      <p:sp>
        <p:nvSpPr>
          <p:cNvPr id="8" name="Rounded Rectangle 7"/>
          <p:cNvSpPr/>
          <p:nvPr/>
        </p:nvSpPr>
        <p:spPr>
          <a:xfrm>
            <a:off x="502920" y="3017520"/>
            <a:ext cx="1828800" cy="10058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one gard2019 rock</a:t>
            </a:r>
          </a:p>
          <a:p>
            <a:pPr algn="ctr"/>
            <a:r>
              <a:rPr sz="900" b="0">
                <a:solidFill>
                  <a:srgbClr val="8A93A3"/>
                </a:solidFill>
              </a:rPr>
              <a:t>SiO2 58 . Al2O3 17 . MgO 3.5 ...</a:t>
            </a:r>
          </a:p>
        </p:txBody>
      </p:sp>
      <p:cxnSp>
        <p:nvCxnSpPr>
          <p:cNvPr id="9" name="Connector 8"/>
          <p:cNvCxnSpPr/>
          <p:nvPr/>
        </p:nvCxnSpPr>
        <p:spPr>
          <a:xfrm flipV="1">
            <a:off x="2331720" y="1828800"/>
            <a:ext cx="960120" cy="169164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291840" y="1463040"/>
            <a:ext cx="1920240" cy="7315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(P₁, H₂O₁)</a:t>
            </a:r>
          </a:p>
          <a:p>
            <a:pPr algn="ctr"/>
            <a:r>
              <a:rPr sz="800" b="0">
                <a:solidFill>
                  <a:srgbClr val="8A93A3"/>
                </a:solidFill>
              </a:rPr>
              <a:t>9 kbar . 5.5 wt% -- deep, wet</a:t>
            </a:r>
          </a:p>
        </p:txBody>
      </p:sp>
      <p:cxnSp>
        <p:nvCxnSpPr>
          <p:cNvPr id="11" name="Connector 10"/>
          <p:cNvCxnSpPr/>
          <p:nvPr/>
        </p:nvCxnSpPr>
        <p:spPr>
          <a:xfrm flipV="1">
            <a:off x="5212080" y="146304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760720" y="123444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50% melt</a:t>
            </a:r>
          </a:p>
        </p:txBody>
      </p:sp>
      <p:cxnSp>
        <p:nvCxnSpPr>
          <p:cNvPr id="13" name="Connector 12"/>
          <p:cNvCxnSpPr/>
          <p:nvPr/>
        </p:nvCxnSpPr>
        <p:spPr>
          <a:xfrm>
            <a:off x="6995160" y="146304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589520" y="123444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44 . cpx 26 . amp 19 . ox 11</a:t>
            </a:r>
          </a:p>
        </p:txBody>
      </p:sp>
      <p:cxnSp>
        <p:nvCxnSpPr>
          <p:cNvPr id="15" name="Connector 14"/>
          <p:cNvCxnSpPr/>
          <p:nvPr/>
        </p:nvCxnSpPr>
        <p:spPr>
          <a:xfrm>
            <a:off x="5212080" y="182880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760720" y="196596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30% melt</a:t>
            </a:r>
          </a:p>
        </p:txBody>
      </p:sp>
      <p:cxnSp>
        <p:nvCxnSpPr>
          <p:cNvPr id="17" name="Connector 16"/>
          <p:cNvCxnSpPr/>
          <p:nvPr/>
        </p:nvCxnSpPr>
        <p:spPr>
          <a:xfrm>
            <a:off x="6995160" y="219456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589520" y="196596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40 . cpx 25 . amp 24 . ox 11</a:t>
            </a:r>
          </a:p>
        </p:txBody>
      </p:sp>
      <p:cxnSp>
        <p:nvCxnSpPr>
          <p:cNvPr id="19" name="Connector 18"/>
          <p:cNvCxnSpPr/>
          <p:nvPr/>
        </p:nvCxnSpPr>
        <p:spPr>
          <a:xfrm flipV="1">
            <a:off x="2331720" y="3291840"/>
            <a:ext cx="960120" cy="22860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291840" y="2926080"/>
            <a:ext cx="1920240" cy="7315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(P₂, H₂O₂)</a:t>
            </a:r>
          </a:p>
          <a:p>
            <a:pPr algn="ctr"/>
            <a:r>
              <a:rPr sz="800" b="0">
                <a:solidFill>
                  <a:srgbClr val="8A93A3"/>
                </a:solidFill>
              </a:rPr>
              <a:t>2 kbar . 1.5 wt% -- shallow, dry</a:t>
            </a:r>
          </a:p>
        </p:txBody>
      </p:sp>
      <p:cxnSp>
        <p:nvCxnSpPr>
          <p:cNvPr id="21" name="Connector 20"/>
          <p:cNvCxnSpPr/>
          <p:nvPr/>
        </p:nvCxnSpPr>
        <p:spPr>
          <a:xfrm flipV="1">
            <a:off x="5212080" y="292608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5760720" y="269748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50% melt</a:t>
            </a:r>
          </a:p>
        </p:txBody>
      </p:sp>
      <p:cxnSp>
        <p:nvCxnSpPr>
          <p:cNvPr id="23" name="Connector 22"/>
          <p:cNvCxnSpPr/>
          <p:nvPr/>
        </p:nvCxnSpPr>
        <p:spPr>
          <a:xfrm>
            <a:off x="6995160" y="292608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7589520" y="269748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49 . cpx 26 . opx 14 . ox 11   (no amp)</a:t>
            </a:r>
          </a:p>
        </p:txBody>
      </p:sp>
      <p:cxnSp>
        <p:nvCxnSpPr>
          <p:cNvPr id="25" name="Connector 24"/>
          <p:cNvCxnSpPr/>
          <p:nvPr/>
        </p:nvCxnSpPr>
        <p:spPr>
          <a:xfrm>
            <a:off x="5212080" y="329184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760720" y="342900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30% melt</a:t>
            </a:r>
          </a:p>
        </p:txBody>
      </p:sp>
      <p:cxnSp>
        <p:nvCxnSpPr>
          <p:cNvPr id="27" name="Connector 26"/>
          <p:cNvCxnSpPr/>
          <p:nvPr/>
        </p:nvCxnSpPr>
        <p:spPr>
          <a:xfrm>
            <a:off x="6995160" y="365760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589520" y="342900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46 . cpx 25 . opx 18 . ox 11   (no amp)</a:t>
            </a:r>
          </a:p>
        </p:txBody>
      </p:sp>
      <p:cxnSp>
        <p:nvCxnSpPr>
          <p:cNvPr id="29" name="Connector 28"/>
          <p:cNvCxnSpPr/>
          <p:nvPr/>
        </p:nvCxnSpPr>
        <p:spPr>
          <a:xfrm>
            <a:off x="2331720" y="3520440"/>
            <a:ext cx="960120" cy="169164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3291840" y="4846320"/>
            <a:ext cx="1920240" cy="7315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(P₄₈, H₂O₄₈)</a:t>
            </a:r>
          </a:p>
          <a:p>
            <a:pPr algn="ctr"/>
            <a:r>
              <a:rPr sz="800" b="0">
                <a:solidFill>
                  <a:srgbClr val="8A93A3"/>
                </a:solidFill>
              </a:rPr>
              <a:t>5 kbar . 3 wt% -- intermediate</a:t>
            </a:r>
          </a:p>
        </p:txBody>
      </p:sp>
      <p:cxnSp>
        <p:nvCxnSpPr>
          <p:cNvPr id="31" name="Connector 30"/>
          <p:cNvCxnSpPr/>
          <p:nvPr/>
        </p:nvCxnSpPr>
        <p:spPr>
          <a:xfrm flipV="1">
            <a:off x="5212080" y="484632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5760720" y="461772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50% melt</a:t>
            </a:r>
          </a:p>
        </p:txBody>
      </p:sp>
      <p:cxnSp>
        <p:nvCxnSpPr>
          <p:cNvPr id="33" name="Connector 32"/>
          <p:cNvCxnSpPr/>
          <p:nvPr/>
        </p:nvCxnSpPr>
        <p:spPr>
          <a:xfrm>
            <a:off x="6995160" y="484632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7589520" y="461772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45 . cpx 24 . amp 10 . opx 10 . ox 11</a:t>
            </a:r>
          </a:p>
        </p:txBody>
      </p:sp>
      <p:cxnSp>
        <p:nvCxnSpPr>
          <p:cNvPr id="35" name="Connector 34"/>
          <p:cNvCxnSpPr/>
          <p:nvPr/>
        </p:nvCxnSpPr>
        <p:spPr>
          <a:xfrm>
            <a:off x="5212080" y="521208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5760720" y="534924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30% melt</a:t>
            </a:r>
          </a:p>
        </p:txBody>
      </p:sp>
      <p:cxnSp>
        <p:nvCxnSpPr>
          <p:cNvPr id="37" name="Connector 36"/>
          <p:cNvCxnSpPr/>
          <p:nvPr/>
        </p:nvCxnSpPr>
        <p:spPr>
          <a:xfrm>
            <a:off x="6995160" y="557784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7589520" y="534924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43 . cpx 23 . amp 12 . opx 11 . ox 11</a:t>
            </a:r>
          </a:p>
        </p:txBody>
      </p:sp>
      <p:sp>
        <p:nvSpPr>
          <p:cNvPr id="39" name="TextBox 38"/>
          <p:cNvSpPr txBox="1"/>
          <p:nvPr/>
        </p:nvSpPr>
        <p:spPr>
          <a:xfrm>
            <a:off x="3291840" y="3931920"/>
            <a:ext cx="1920240" cy="731520"/>
          </a:xfrm>
          <a:prstGeom prst="rect">
            <a:avLst/>
          </a:prstGeom>
          <a:noFill/>
        </p:spPr>
        <p:txBody>
          <a:bodyPr wrap="square">
            <a:spAutoFit/>
          </a:bodyPr>
          <a:lstStyle/>
          <a:p>
            <a:pPr algn="ctr"/>
            <a:r>
              <a:rPr sz="1400" b="0">
                <a:solidFill>
                  <a:srgbClr val="8A93A3"/>
                </a:solidFill>
              </a:rPr>
              <a:t>. . .</a:t>
            </a:r>
          </a:p>
        </p:txBody>
      </p:sp>
      <p:sp>
        <p:nvSpPr>
          <p:cNvPr id="40" name="TextBox 39"/>
          <p:cNvSpPr txBox="1"/>
          <p:nvPr/>
        </p:nvSpPr>
        <p:spPr>
          <a:xfrm>
            <a:off x="5760720" y="3931920"/>
            <a:ext cx="1234440" cy="731520"/>
          </a:xfrm>
          <a:prstGeom prst="rect">
            <a:avLst/>
          </a:prstGeom>
          <a:noFill/>
        </p:spPr>
        <p:txBody>
          <a:bodyPr wrap="square">
            <a:spAutoFit/>
          </a:bodyPr>
          <a:lstStyle/>
          <a:p>
            <a:pPr algn="ctr"/>
            <a:r>
              <a:rPr sz="1400" b="0">
                <a:solidFill>
                  <a:srgbClr val="8A93A3"/>
                </a:solidFill>
              </a:rPr>
              <a:t>. . .</a:t>
            </a:r>
          </a:p>
        </p:txBody>
      </p:sp>
      <p:sp>
        <p:nvSpPr>
          <p:cNvPr id="41" name="TextBox 40"/>
          <p:cNvSpPr txBox="1"/>
          <p:nvPr/>
        </p:nvSpPr>
        <p:spPr>
          <a:xfrm>
            <a:off x="7589520" y="3931920"/>
            <a:ext cx="4069080" cy="731520"/>
          </a:xfrm>
          <a:prstGeom prst="rect">
            <a:avLst/>
          </a:prstGeom>
          <a:noFill/>
        </p:spPr>
        <p:txBody>
          <a:bodyPr wrap="square">
            <a:spAutoFit/>
          </a:bodyPr>
          <a:lstStyle/>
          <a:p>
            <a:pPr algn="ctr"/>
            <a:r>
              <a:rPr sz="1400" b="0">
                <a:solidFill>
                  <a:srgbClr val="8A93A3"/>
                </a:solidFill>
              </a:rPr>
              <a:t>. . .</a:t>
            </a:r>
          </a:p>
        </p:txBody>
      </p:sp>
      <p:sp>
        <p:nvSpPr>
          <p:cNvPr id="42" name="TextBox 41"/>
          <p:cNvSpPr txBox="1"/>
          <p:nvPr/>
        </p:nvSpPr>
        <p:spPr>
          <a:xfrm>
            <a:off x="502920" y="4617720"/>
            <a:ext cx="2926080" cy="731520"/>
          </a:xfrm>
          <a:prstGeom prst="rect">
            <a:avLst/>
          </a:prstGeom>
          <a:noFill/>
        </p:spPr>
        <p:txBody>
          <a:bodyPr wrap="square">
            <a:spAutoFit/>
          </a:bodyPr>
          <a:lstStyle/>
          <a:p>
            <a:pPr algn="l"/>
            <a:r>
              <a:rPr sz="1000" b="0">
                <a:solidFill>
                  <a:srgbClr val="8A93A3"/>
                </a:solidFill>
              </a:rPr>
              <a:t>each path drawn from the bounded (P, H2O) region:</a:t>
            </a:r>
          </a:p>
        </p:txBody>
      </p:sp>
      <p:sp>
        <p:nvSpPr>
          <p:cNvPr id="43" name="Rectangle 42"/>
          <p:cNvSpPr/>
          <p:nvPr/>
        </p:nvSpPr>
        <p:spPr>
          <a:xfrm>
            <a:off x="868680" y="5074920"/>
            <a:ext cx="2194560" cy="1188720"/>
          </a:xfrm>
          <a:prstGeom prst="rect">
            <a:avLst/>
          </a:prstGeom>
          <a:no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Freeform 43"/>
          <p:cNvSpPr/>
          <p:nvPr/>
        </p:nvSpPr>
        <p:spPr>
          <a:xfrm>
            <a:off x="868680" y="5074920"/>
            <a:ext cx="2194559" cy="1188720"/>
          </a:xfrm>
          <a:custGeom>
            <a:avLst/>
            <a:gdLst/>
            <a:ahLst/>
            <a:cxnLst/>
            <a:rect l="l" t="t" r="r" b="b"/>
            <a:pathLst>
              <a:path w="2194559" h="1188720">
                <a:moveTo>
                  <a:pt x="0" y="1188720"/>
                </a:moveTo>
                <a:lnTo>
                  <a:pt x="0" y="802385"/>
                </a:lnTo>
                <a:lnTo>
                  <a:pt x="95415" y="612190"/>
                </a:lnTo>
                <a:lnTo>
                  <a:pt x="190831" y="456171"/>
                </a:lnTo>
                <a:lnTo>
                  <a:pt x="286246" y="309067"/>
                </a:lnTo>
                <a:lnTo>
                  <a:pt x="381662" y="163449"/>
                </a:lnTo>
                <a:lnTo>
                  <a:pt x="477078" y="16344"/>
                </a:lnTo>
                <a:lnTo>
                  <a:pt x="486619" y="0"/>
                </a:lnTo>
                <a:lnTo>
                  <a:pt x="2194559" y="0"/>
                </a:lnTo>
                <a:lnTo>
                  <a:pt x="2194559" y="1188720"/>
                </a:lnTo>
                <a:close/>
              </a:path>
            </a:pathLst>
          </a:custGeom>
          <a:solidFill>
            <a:srgbClr val="C4D1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5800" y="6281927"/>
            <a:ext cx="2560320" cy="731520"/>
          </a:xfrm>
          <a:prstGeom prst="rect">
            <a:avLst/>
          </a:prstGeom>
          <a:noFill/>
        </p:spPr>
        <p:txBody>
          <a:bodyPr wrap="square">
            <a:spAutoFit/>
          </a:bodyPr>
          <a:lstStyle/>
          <a:p>
            <a:pPr algn="ctr"/>
            <a:r>
              <a:rPr sz="1000" b="0">
                <a:solidFill>
                  <a:srgbClr val="8A93A3"/>
                </a:solidFill>
              </a:rPr>
              <a:t>P  0.5 -&gt; 12 kbar</a:t>
            </a:r>
          </a:p>
        </p:txBody>
      </p:sp>
      <p:sp>
        <p:nvSpPr>
          <p:cNvPr id="46" name="TextBox 45"/>
          <p:cNvSpPr txBox="1"/>
          <p:nvPr/>
        </p:nvSpPr>
        <p:spPr>
          <a:xfrm>
            <a:off x="301751" y="5029200"/>
            <a:ext cx="548640" cy="365760"/>
          </a:xfrm>
          <a:prstGeom prst="rect">
            <a:avLst/>
          </a:prstGeom>
          <a:noFill/>
        </p:spPr>
        <p:txBody>
          <a:bodyPr wrap="square">
            <a:spAutoFit/>
          </a:bodyPr>
          <a:lstStyle/>
          <a:p>
            <a:pPr algn="ctr"/>
            <a:r>
              <a:rPr sz="1000" b="0">
                <a:solidFill>
                  <a:srgbClr val="8A93A3"/>
                </a:solidFill>
              </a:rPr>
              <a:t>H2O</a:t>
            </a:r>
          </a:p>
          <a:p>
            <a:pPr algn="ctr"/>
            <a:r>
              <a:rPr sz="700" b="0">
                <a:solidFill>
                  <a:srgbClr val="8A93A3"/>
                </a:solidFill>
              </a:rPr>
              <a:t>0-8</a:t>
            </a:r>
          </a:p>
        </p:txBody>
      </p:sp>
      <p:sp>
        <p:nvSpPr>
          <p:cNvPr id="47" name="TextBox 46"/>
          <p:cNvSpPr txBox="1"/>
          <p:nvPr/>
        </p:nvSpPr>
        <p:spPr>
          <a:xfrm>
            <a:off x="3383280" y="5806440"/>
            <a:ext cx="8321040" cy="731520"/>
          </a:xfrm>
          <a:prstGeom prst="rect">
            <a:avLst/>
          </a:prstGeom>
          <a:noFill/>
        </p:spPr>
        <p:txBody>
          <a:bodyPr wrap="square">
            <a:spAutoFit/>
          </a:bodyPr>
          <a:lstStyle/>
          <a:p>
            <a:pPr algn="l"/>
            <a:r>
              <a:rPr sz="1100" b="0">
                <a:solidFill>
                  <a:srgbClr val="1A2238"/>
                </a:solidFill>
              </a:rPr>
              <a:t>why this shape matters for the presence head: it only ever sees the left box, so all 96 rows share one input and it emits ONE p per mineral against 96 different truths -- amp grows on the wet-deep paths, opx on the dry-shallow. BCE's optimum is the fraction of paths growing the mineral, so an intermediate p is the multimodal signal, not indecision.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ARCHITECTURE</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At a glance</a:t>
            </a:r>
          </a:p>
        </p:txBody>
      </p:sp>
      <p:sp>
        <p:nvSpPr>
          <p:cNvPr id="4" name="Rounded Rectangle 3"/>
          <p:cNvSpPr/>
          <p:nvPr/>
        </p:nvSpPr>
        <p:spPr>
          <a:xfrm>
            <a:off x="502920" y="2743200"/>
            <a:ext cx="1828800" cy="141732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input tokens</a:t>
            </a:r>
          </a:p>
          <a:p>
            <a:pPr algn="ctr"/>
            <a:r>
              <a:rPr sz="900" b="0">
                <a:solidFill>
                  <a:srgbClr val="8A93A3"/>
                </a:solidFill>
              </a:rPr>
              <a:t>22 elements + redox</a:t>
            </a:r>
          </a:p>
        </p:txBody>
      </p:sp>
      <p:sp>
        <p:nvSpPr>
          <p:cNvPr id="5" name="Rounded Rectangle 4"/>
          <p:cNvSpPr/>
          <p:nvPr/>
        </p:nvSpPr>
        <p:spPr>
          <a:xfrm>
            <a:off x="2788920" y="2743200"/>
            <a:ext cx="1828800" cy="14173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embed</a:t>
            </a:r>
          </a:p>
          <a:p>
            <a:pPr algn="ctr"/>
            <a:r>
              <a:rPr sz="900" b="0">
                <a:solidFill>
                  <a:srgbClr val="8A93A3"/>
                </a:solidFill>
              </a:rPr>
              <a:t>mat2vec + amount</a:t>
            </a:r>
          </a:p>
        </p:txBody>
      </p:sp>
      <p:sp>
        <p:nvSpPr>
          <p:cNvPr id="6" name="Right Arrow 5"/>
          <p:cNvSpPr/>
          <p:nvPr/>
        </p:nvSpPr>
        <p:spPr>
          <a:xfrm>
            <a:off x="2377439" y="3268979"/>
            <a:ext cx="36576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120640" y="2743200"/>
            <a:ext cx="1828800" cy="14173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transformer</a:t>
            </a:r>
          </a:p>
          <a:p>
            <a:pPr algn="ctr"/>
            <a:r>
              <a:rPr sz="1200" b="1">
                <a:solidFill>
                  <a:srgbClr val="1A2238"/>
                </a:solidFill>
              </a:rPr>
              <a:t>encoder</a:t>
            </a:r>
          </a:p>
        </p:txBody>
      </p:sp>
      <p:sp>
        <p:nvSpPr>
          <p:cNvPr id="8" name="Right Arrow 7"/>
          <p:cNvSpPr/>
          <p:nvPr/>
        </p:nvSpPr>
        <p:spPr>
          <a:xfrm>
            <a:off x="4663440" y="3268979"/>
            <a:ext cx="41147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699248" y="2738628"/>
            <a:ext cx="1426464" cy="1426464"/>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10" name="Right Arrow 9"/>
          <p:cNvSpPr/>
          <p:nvPr/>
        </p:nvSpPr>
        <p:spPr>
          <a:xfrm>
            <a:off x="6995159" y="3268979"/>
            <a:ext cx="45719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829800" y="2743200"/>
            <a:ext cx="1828800" cy="141732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heads</a:t>
            </a:r>
          </a:p>
          <a:p>
            <a:pPr algn="ctr"/>
            <a:r>
              <a:rPr sz="900" b="0">
                <a:solidFill>
                  <a:srgbClr val="8A93A3"/>
                </a:solidFill>
              </a:rPr>
              <a:t>parallel</a:t>
            </a:r>
          </a:p>
        </p:txBody>
      </p:sp>
      <p:sp>
        <p:nvSpPr>
          <p:cNvPr id="12" name="Right Arrow 11"/>
          <p:cNvSpPr/>
          <p:nvPr/>
        </p:nvSpPr>
        <p:spPr>
          <a:xfrm>
            <a:off x="9372600" y="3268979"/>
            <a:ext cx="41148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955279" y="868680"/>
            <a:ext cx="2377440" cy="7315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imputation / retrieval</a:t>
            </a:r>
          </a:p>
        </p:txBody>
      </p:sp>
      <p:sp>
        <p:nvSpPr>
          <p:cNvPr id="14" name="Rounded Rectangle 13"/>
          <p:cNvSpPr/>
          <p:nvPr/>
        </p:nvSpPr>
        <p:spPr>
          <a:xfrm>
            <a:off x="7955279" y="5257800"/>
            <a:ext cx="2377440" cy="7315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OOD / similarity</a:t>
            </a:r>
          </a:p>
        </p:txBody>
      </p:sp>
      <p:cxnSp>
        <p:nvCxnSpPr>
          <p:cNvPr id="15" name="Connector 14"/>
          <p:cNvCxnSpPr/>
          <p:nvPr/>
        </p:nvCxnSpPr>
        <p:spPr>
          <a:xfrm flipV="1">
            <a:off x="8412480" y="1600200"/>
            <a:ext cx="640080" cy="1138428"/>
          </a:xfrm>
          <a:prstGeom prst="bentConnector3">
            <a:avLst/>
          </a:prstGeom>
          <a:ln w="17780">
            <a:solidFill>
              <a:srgbClr val="12B5A5"/>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412480" y="4165091"/>
            <a:ext cx="640080" cy="1092709"/>
          </a:xfrm>
          <a:prstGeom prst="bentConnector3">
            <a:avLst/>
          </a:prstGeom>
          <a:ln w="17780">
            <a:solidFill>
              <a:srgbClr val="12B5A5"/>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02920" y="4572000"/>
            <a:ext cx="7315200" cy="731520"/>
          </a:xfrm>
          <a:prstGeom prst="rect">
            <a:avLst/>
          </a:prstGeom>
          <a:noFill/>
        </p:spPr>
        <p:txBody>
          <a:bodyPr wrap="square">
            <a:spAutoFit/>
          </a:bodyPr>
          <a:lstStyle/>
          <a:p>
            <a:pPr algn="l"/>
            <a:r>
              <a:rPr sz="1300" b="0">
                <a:solidFill>
                  <a:srgbClr val="1A2238"/>
                </a:solidFill>
              </a:rPr>
              <a:t>one shared encoder -&gt; latent h -&gt; parallel heads (supervised) and training-free encoder apps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INPUTS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A rock is a bag of (element, amount) tokens</a:t>
            </a:r>
          </a:p>
        </p:txBody>
      </p:sp>
      <p:sp>
        <p:nvSpPr>
          <p:cNvPr id="4" name="Rounded Rectangle 3"/>
          <p:cNvSpPr/>
          <p:nvPr/>
        </p:nvSpPr>
        <p:spPr>
          <a:xfrm>
            <a:off x="691743"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Si</a:t>
            </a:r>
          </a:p>
          <a:p>
            <a:pPr algn="ctr"/>
            <a:r>
              <a:rPr sz="1500" b="0">
                <a:solidFill>
                  <a:srgbClr val="8A93A3"/>
                </a:solidFill>
              </a:rPr>
              <a:t>0.50</a:t>
            </a:r>
          </a:p>
        </p:txBody>
      </p:sp>
      <p:sp>
        <p:nvSpPr>
          <p:cNvPr id="5" name="Rounded Rectangle 4"/>
          <p:cNvSpPr/>
          <p:nvPr/>
        </p:nvSpPr>
        <p:spPr>
          <a:xfrm>
            <a:off x="2264511"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Al</a:t>
            </a:r>
          </a:p>
          <a:p>
            <a:pPr algn="ctr"/>
            <a:r>
              <a:rPr sz="1500" b="0">
                <a:solidFill>
                  <a:srgbClr val="8A93A3"/>
                </a:solidFill>
              </a:rPr>
              <a:t>0.16</a:t>
            </a:r>
          </a:p>
        </p:txBody>
      </p:sp>
      <p:sp>
        <p:nvSpPr>
          <p:cNvPr id="6" name="Rounded Rectangle 5"/>
          <p:cNvSpPr/>
          <p:nvPr/>
        </p:nvSpPr>
        <p:spPr>
          <a:xfrm>
            <a:off x="3837279"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Ca</a:t>
            </a:r>
          </a:p>
          <a:p>
            <a:pPr algn="ctr"/>
            <a:r>
              <a:rPr sz="1500" b="0">
                <a:solidFill>
                  <a:srgbClr val="8A93A3"/>
                </a:solidFill>
              </a:rPr>
              <a:t>0.10</a:t>
            </a:r>
          </a:p>
        </p:txBody>
      </p:sp>
      <p:sp>
        <p:nvSpPr>
          <p:cNvPr id="7" name="Rounded Rectangle 6"/>
          <p:cNvSpPr/>
          <p:nvPr/>
        </p:nvSpPr>
        <p:spPr>
          <a:xfrm>
            <a:off x="5410047"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Mg</a:t>
            </a:r>
          </a:p>
          <a:p>
            <a:pPr algn="ctr"/>
            <a:r>
              <a:rPr sz="1500" b="0">
                <a:solidFill>
                  <a:srgbClr val="8A93A3"/>
                </a:solidFill>
              </a:rPr>
              <a:t>0.075</a:t>
            </a:r>
          </a:p>
        </p:txBody>
      </p:sp>
      <p:sp>
        <p:nvSpPr>
          <p:cNvPr id="8" name="Rounded Rectangle 7"/>
          <p:cNvSpPr/>
          <p:nvPr/>
        </p:nvSpPr>
        <p:spPr>
          <a:xfrm>
            <a:off x="6982815" y="2926080"/>
            <a:ext cx="1371600" cy="1005840"/>
          </a:xfrm>
          <a:prstGeom prst="roundRect">
            <a:avLst/>
          </a:prstGeom>
          <a:solidFill>
            <a:srgbClr val="CAEEEB"/>
          </a:solidFill>
          <a:ln w="22225">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Sr</a:t>
            </a:r>
          </a:p>
          <a:p>
            <a:pPr algn="ctr"/>
            <a:r>
              <a:rPr sz="1500" b="0">
                <a:solidFill>
                  <a:srgbClr val="8A93A3"/>
                </a:solidFill>
              </a:rPr>
              <a:t>4e-4</a:t>
            </a:r>
          </a:p>
        </p:txBody>
      </p:sp>
      <p:sp>
        <p:nvSpPr>
          <p:cNvPr id="9" name="Rounded Rectangle 8"/>
          <p:cNvSpPr/>
          <p:nvPr/>
        </p:nvSpPr>
        <p:spPr>
          <a:xfrm>
            <a:off x="8555583" y="2926080"/>
            <a:ext cx="1371600" cy="1005840"/>
          </a:xfrm>
          <a:prstGeom prst="roundRect">
            <a:avLst/>
          </a:prstGeom>
          <a:solidFill>
            <a:srgbClr val="CAEEEB"/>
          </a:solidFill>
          <a:ln w="22225">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Yb</a:t>
            </a:r>
          </a:p>
          <a:p>
            <a:pPr algn="ctr"/>
            <a:r>
              <a:rPr sz="1500" b="0">
                <a:solidFill>
                  <a:srgbClr val="8A93A3"/>
                </a:solidFill>
              </a:rPr>
              <a:t>2e-6</a:t>
            </a:r>
          </a:p>
        </p:txBody>
      </p:sp>
      <p:sp>
        <p:nvSpPr>
          <p:cNvPr id="10" name="Rounded Rectangle 9"/>
          <p:cNvSpPr/>
          <p:nvPr/>
        </p:nvSpPr>
        <p:spPr>
          <a:xfrm>
            <a:off x="10128351" y="2926080"/>
            <a:ext cx="1371600" cy="1005840"/>
          </a:xfrm>
          <a:prstGeom prst="roundRect">
            <a:avLst/>
          </a:prstGeom>
          <a:solidFill>
            <a:srgbClr val="F2F4F5"/>
          </a:solidFill>
          <a:ln w="22225">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redox</a:t>
            </a:r>
          </a:p>
          <a:p>
            <a:pPr algn="ctr"/>
            <a:r>
              <a:rPr sz="1500" b="0">
                <a:solidFill>
                  <a:srgbClr val="8A93A3"/>
                </a:solidFill>
              </a:rPr>
              <a:t>padded</a:t>
            </a:r>
          </a:p>
        </p:txBody>
      </p:sp>
      <p:sp>
        <p:nvSpPr>
          <p:cNvPr id="11" name="TextBox 10"/>
          <p:cNvSpPr txBox="1"/>
          <p:nvPr/>
        </p:nvSpPr>
        <p:spPr>
          <a:xfrm>
            <a:off x="502920" y="4297680"/>
            <a:ext cx="11155680" cy="731520"/>
          </a:xfrm>
          <a:prstGeom prst="rect">
            <a:avLst/>
          </a:prstGeom>
          <a:noFill/>
        </p:spPr>
        <p:txBody>
          <a:bodyPr wrap="square">
            <a:spAutoFit/>
          </a:bodyPr>
          <a:lstStyle/>
          <a:p>
            <a:pPr algn="ctr"/>
            <a:r>
              <a:rPr sz="1300" b="0">
                <a:solidFill>
                  <a:srgbClr val="1A2238"/>
                </a:solidFill>
              </a:rPr>
              <a:t>9 majors (wt%/100, blue)  +  13 traces (ppm/1e6, teal)  +  1 Fe-redox slot (gray), 23 token slots; absent = padding (src=0)</a:t>
            </a:r>
          </a:p>
        </p:txBody>
      </p:sp>
      <p:sp>
        <p:nvSpPr>
          <p:cNvPr id="12" name="TextBox 11"/>
          <p:cNvSpPr txBox="1"/>
          <p:nvPr/>
        </p:nvSpPr>
        <p:spPr>
          <a:xfrm>
            <a:off x="502920" y="4937760"/>
            <a:ext cx="11155680" cy="731520"/>
          </a:xfrm>
          <a:prstGeom prst="rect">
            <a:avLst/>
          </a:prstGeom>
          <a:noFill/>
        </p:spPr>
        <p:txBody>
          <a:bodyPr wrap="square">
            <a:spAutoFit/>
          </a:bodyPr>
          <a:lstStyle/>
          <a:p>
            <a:pPr algn="ctr"/>
            <a:r>
              <a:rPr sz="1200" b="0">
                <a:solidFill>
                  <a:srgbClr val="8A93A3"/>
                </a:solidFill>
              </a:rPr>
              <a:t>no T, P, or H2O ever enters the forward graph</a:t>
            </a:r>
          </a:p>
        </p:txBody>
      </p:sp>
      <p:sp>
        <p:nvSpPr>
          <p:cNvPr id="13" name="TextBox 12"/>
          <p:cNvSpPr txBox="1"/>
          <p:nvPr/>
        </p:nvSpPr>
        <p:spPr>
          <a:xfrm>
            <a:off x="502920" y="5486400"/>
            <a:ext cx="11155680" cy="731520"/>
          </a:xfrm>
          <a:prstGeom prst="rect">
            <a:avLst/>
          </a:prstGeom>
          <a:noFill/>
        </p:spPr>
        <p:txBody>
          <a:bodyPr wrap="square">
            <a:spAutoFit/>
          </a:bodyPr>
          <a:lstStyle/>
          <a:p>
            <a:pPr algn="l"/>
            <a:r>
              <a:rPr sz="1100" b="0">
                <a:solidFill>
                  <a:srgbClr val="8A93A3"/>
                </a:solidFill>
              </a:rPr>
              <a:t>the redox slot is populated only where a source reported FeO and Fe2O3 separately (24.1% of the pretrain corpus). Every rock the heads have ever seen -- corpus and real benchmark alike -- leaves it padded, so the deployed model runs at 22 populated slots.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ENCODER</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Each token becomes a chemistry-aware vector</a:t>
            </a:r>
          </a:p>
        </p:txBody>
      </p:sp>
      <p:sp>
        <p:nvSpPr>
          <p:cNvPr id="4" name="Rounded Rectangle 3"/>
          <p:cNvSpPr/>
          <p:nvPr/>
        </p:nvSpPr>
        <p:spPr>
          <a:xfrm>
            <a:off x="640080" y="2880360"/>
            <a:ext cx="1463040" cy="109728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Si</a:t>
            </a:r>
          </a:p>
          <a:p>
            <a:pPr algn="ctr"/>
            <a:r>
              <a:rPr sz="1500" b="0">
                <a:solidFill>
                  <a:srgbClr val="8A93A3"/>
                </a:solidFill>
              </a:rPr>
              <a:t>0.50</a:t>
            </a:r>
          </a:p>
        </p:txBody>
      </p:sp>
      <p:cxnSp>
        <p:nvCxnSpPr>
          <p:cNvPr id="5" name="Connector 4"/>
          <p:cNvCxnSpPr/>
          <p:nvPr/>
        </p:nvCxnSpPr>
        <p:spPr>
          <a:xfrm flipV="1">
            <a:off x="2103120" y="2331720"/>
            <a:ext cx="822960" cy="82296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2103120" y="3703320"/>
            <a:ext cx="822960" cy="64008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926080" y="1965960"/>
            <a:ext cx="2286000" cy="7772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atomic number 14</a:t>
            </a:r>
          </a:p>
        </p:txBody>
      </p:sp>
      <p:sp>
        <p:nvSpPr>
          <p:cNvPr id="8" name="Right Arrow 7"/>
          <p:cNvSpPr/>
          <p:nvPr/>
        </p:nvSpPr>
        <p:spPr>
          <a:xfrm>
            <a:off x="5303520" y="2148840"/>
            <a:ext cx="41148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806440" y="1783080"/>
            <a:ext cx="4023360" cy="114300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mat2vec lookup</a:t>
            </a:r>
          </a:p>
          <a:p>
            <a:pPr algn="ctr"/>
            <a:r>
              <a:rPr sz="900" b="0">
                <a:solidFill>
                  <a:srgbClr val="8A93A3"/>
                </a:solidFill>
              </a:rPr>
              <a:t>200-d element vector,</a:t>
            </a:r>
          </a:p>
          <a:p>
            <a:pPr algn="ctr"/>
            <a:r>
              <a:rPr sz="900" b="0">
                <a:solidFill>
                  <a:srgbClr val="8A93A3"/>
                </a:solidFill>
              </a:rPr>
              <a:t>pretrained on materials-science text</a:t>
            </a:r>
          </a:p>
        </p:txBody>
      </p:sp>
      <p:sp>
        <p:nvSpPr>
          <p:cNvPr id="10" name="Rounded Rectangle 9"/>
          <p:cNvSpPr/>
          <p:nvPr/>
        </p:nvSpPr>
        <p:spPr>
          <a:xfrm>
            <a:off x="2926080" y="4023360"/>
            <a:ext cx="2286000" cy="77724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amount  0.50</a:t>
            </a:r>
          </a:p>
        </p:txBody>
      </p:sp>
      <p:sp>
        <p:nvSpPr>
          <p:cNvPr id="11" name="Right Arrow 10"/>
          <p:cNvSpPr/>
          <p:nvPr/>
        </p:nvSpPr>
        <p:spPr>
          <a:xfrm>
            <a:off x="5303520" y="4206240"/>
            <a:ext cx="41148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806440" y="3840480"/>
            <a:ext cx="4023360" cy="9601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linear projection</a:t>
            </a:r>
          </a:p>
          <a:p>
            <a:pPr algn="ctr"/>
            <a:r>
              <a:rPr sz="900" b="0">
                <a:solidFill>
                  <a:srgbClr val="8A93A3"/>
                </a:solidFill>
              </a:rPr>
              <a:t>amount -&gt; vector</a:t>
            </a:r>
          </a:p>
        </p:txBody>
      </p:sp>
      <p:sp>
        <p:nvSpPr>
          <p:cNvPr id="13" name="Rounded Rectangle 12"/>
          <p:cNvSpPr/>
          <p:nvPr/>
        </p:nvSpPr>
        <p:spPr>
          <a:xfrm>
            <a:off x="10058400" y="2743200"/>
            <a:ext cx="1737360" cy="13716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a:t>
            </a:r>
          </a:p>
          <a:p>
            <a:pPr algn="ctr"/>
            <a:r>
              <a:rPr sz="1500" b="0">
                <a:solidFill>
                  <a:srgbClr val="8A93A3"/>
                </a:solidFill>
              </a:rPr>
              <a:t>token</a:t>
            </a:r>
          </a:p>
          <a:p>
            <a:pPr algn="ctr"/>
            <a:r>
              <a:rPr sz="1500" b="0">
                <a:solidFill>
                  <a:srgbClr val="8A93A3"/>
                </a:solidFill>
              </a:rPr>
              <a:t>256-d</a:t>
            </a:r>
          </a:p>
        </p:txBody>
      </p:sp>
      <p:cxnSp>
        <p:nvCxnSpPr>
          <p:cNvPr id="14" name="Connector 13"/>
          <p:cNvCxnSpPr/>
          <p:nvPr/>
        </p:nvCxnSpPr>
        <p:spPr>
          <a:xfrm>
            <a:off x="9829800" y="2331720"/>
            <a:ext cx="228600" cy="77724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9829800" y="3749039"/>
            <a:ext cx="228600" cy="548641"/>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02920" y="5669280"/>
            <a:ext cx="11155680" cy="731520"/>
          </a:xfrm>
          <a:prstGeom prst="rect">
            <a:avLst/>
          </a:prstGeom>
          <a:noFill/>
        </p:spPr>
        <p:txBody>
          <a:bodyPr wrap="square">
            <a:spAutoFit/>
          </a:bodyPr>
          <a:lstStyle/>
          <a:p>
            <a:pPr algn="ctr"/>
            <a:r>
              <a:rPr sz="1200" b="0">
                <a:solidFill>
                  <a:srgbClr val="1A2238"/>
                </a:solidFill>
              </a:rPr>
              <a:t>mat2vec gives a learned chemistry vector per element (materials-informatics embedding); summed with the projected amount.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ENCODER</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Attention mixes elements, then pool to one h</a:t>
            </a:r>
          </a:p>
        </p:txBody>
      </p:sp>
      <p:sp>
        <p:nvSpPr>
          <p:cNvPr id="4" name="TextBox 3"/>
          <p:cNvSpPr txBox="1"/>
          <p:nvPr/>
        </p:nvSpPr>
        <p:spPr>
          <a:xfrm>
            <a:off x="1005840" y="1554480"/>
            <a:ext cx="4572000" cy="731520"/>
          </a:xfrm>
          <a:prstGeom prst="rect">
            <a:avLst/>
          </a:prstGeom>
          <a:noFill/>
        </p:spPr>
        <p:txBody>
          <a:bodyPr wrap="square">
            <a:spAutoFit/>
          </a:bodyPr>
          <a:lstStyle/>
          <a:p>
            <a:pPr algn="l"/>
            <a:r>
              <a:rPr sz="1200" b="0">
                <a:solidFill>
                  <a:srgbClr val="6C5CE7"/>
                </a:solidFill>
              </a:rPr>
              <a:t>self-attention: every token attends to every token</a:t>
            </a:r>
          </a:p>
        </p:txBody>
      </p:sp>
      <p:sp>
        <p:nvSpPr>
          <p:cNvPr id="5" name="TextBox 4"/>
          <p:cNvSpPr txBox="1"/>
          <p:nvPr/>
        </p:nvSpPr>
        <p:spPr>
          <a:xfrm>
            <a:off x="502920" y="2057400"/>
            <a:ext cx="457200" cy="365760"/>
          </a:xfrm>
          <a:prstGeom prst="rect">
            <a:avLst/>
          </a:prstGeom>
          <a:noFill/>
        </p:spPr>
        <p:txBody>
          <a:bodyPr wrap="square">
            <a:spAutoFit/>
          </a:bodyPr>
          <a:lstStyle/>
          <a:p>
            <a:pPr algn="ctr"/>
            <a:r>
              <a:rPr sz="1100" b="1">
                <a:solidFill>
                  <a:srgbClr val="1A2238"/>
                </a:solidFill>
              </a:rPr>
              <a:t>Si</a:t>
            </a:r>
          </a:p>
        </p:txBody>
      </p:sp>
      <p:sp>
        <p:nvSpPr>
          <p:cNvPr id="6" name="TextBox 5"/>
          <p:cNvSpPr txBox="1"/>
          <p:nvPr/>
        </p:nvSpPr>
        <p:spPr>
          <a:xfrm>
            <a:off x="1005840" y="1645920"/>
            <a:ext cx="548640" cy="274320"/>
          </a:xfrm>
          <a:prstGeom prst="rect">
            <a:avLst/>
          </a:prstGeom>
          <a:noFill/>
        </p:spPr>
        <p:txBody>
          <a:bodyPr wrap="square">
            <a:spAutoFit/>
          </a:bodyPr>
          <a:lstStyle/>
          <a:p>
            <a:pPr algn="ctr"/>
            <a:r>
              <a:rPr sz="1100" b="1">
                <a:solidFill>
                  <a:srgbClr val="1A2238"/>
                </a:solidFill>
              </a:rPr>
              <a:t>Si</a:t>
            </a:r>
          </a:p>
        </p:txBody>
      </p:sp>
      <p:sp>
        <p:nvSpPr>
          <p:cNvPr id="7" name="TextBox 6"/>
          <p:cNvSpPr txBox="1"/>
          <p:nvPr/>
        </p:nvSpPr>
        <p:spPr>
          <a:xfrm>
            <a:off x="502920" y="2624328"/>
            <a:ext cx="457200" cy="365760"/>
          </a:xfrm>
          <a:prstGeom prst="rect">
            <a:avLst/>
          </a:prstGeom>
          <a:noFill/>
        </p:spPr>
        <p:txBody>
          <a:bodyPr wrap="square">
            <a:spAutoFit/>
          </a:bodyPr>
          <a:lstStyle/>
          <a:p>
            <a:pPr algn="ctr"/>
            <a:r>
              <a:rPr sz="1100" b="1">
                <a:solidFill>
                  <a:srgbClr val="1A2238"/>
                </a:solidFill>
              </a:rPr>
              <a:t>Al</a:t>
            </a:r>
          </a:p>
        </p:txBody>
      </p:sp>
      <p:sp>
        <p:nvSpPr>
          <p:cNvPr id="8" name="TextBox 7"/>
          <p:cNvSpPr txBox="1"/>
          <p:nvPr/>
        </p:nvSpPr>
        <p:spPr>
          <a:xfrm>
            <a:off x="1572768" y="1645920"/>
            <a:ext cx="548640" cy="274320"/>
          </a:xfrm>
          <a:prstGeom prst="rect">
            <a:avLst/>
          </a:prstGeom>
          <a:noFill/>
        </p:spPr>
        <p:txBody>
          <a:bodyPr wrap="square">
            <a:spAutoFit/>
          </a:bodyPr>
          <a:lstStyle/>
          <a:p>
            <a:pPr algn="ctr"/>
            <a:r>
              <a:rPr sz="1100" b="1">
                <a:solidFill>
                  <a:srgbClr val="1A2238"/>
                </a:solidFill>
              </a:rPr>
              <a:t>Al</a:t>
            </a:r>
          </a:p>
        </p:txBody>
      </p:sp>
      <p:sp>
        <p:nvSpPr>
          <p:cNvPr id="9" name="TextBox 8"/>
          <p:cNvSpPr txBox="1"/>
          <p:nvPr/>
        </p:nvSpPr>
        <p:spPr>
          <a:xfrm>
            <a:off x="502920" y="3191256"/>
            <a:ext cx="457200" cy="365760"/>
          </a:xfrm>
          <a:prstGeom prst="rect">
            <a:avLst/>
          </a:prstGeom>
          <a:noFill/>
        </p:spPr>
        <p:txBody>
          <a:bodyPr wrap="square">
            <a:spAutoFit/>
          </a:bodyPr>
          <a:lstStyle/>
          <a:p>
            <a:pPr algn="ctr"/>
            <a:r>
              <a:rPr sz="1100" b="1">
                <a:solidFill>
                  <a:srgbClr val="1A2238"/>
                </a:solidFill>
              </a:rPr>
              <a:t>Mg</a:t>
            </a:r>
          </a:p>
        </p:txBody>
      </p:sp>
      <p:sp>
        <p:nvSpPr>
          <p:cNvPr id="10" name="TextBox 9"/>
          <p:cNvSpPr txBox="1"/>
          <p:nvPr/>
        </p:nvSpPr>
        <p:spPr>
          <a:xfrm>
            <a:off x="2139696" y="1645920"/>
            <a:ext cx="548640" cy="274320"/>
          </a:xfrm>
          <a:prstGeom prst="rect">
            <a:avLst/>
          </a:prstGeom>
          <a:noFill/>
        </p:spPr>
        <p:txBody>
          <a:bodyPr wrap="square">
            <a:spAutoFit/>
          </a:bodyPr>
          <a:lstStyle/>
          <a:p>
            <a:pPr algn="ctr"/>
            <a:r>
              <a:rPr sz="1100" b="1">
                <a:solidFill>
                  <a:srgbClr val="1A2238"/>
                </a:solidFill>
              </a:rPr>
              <a:t>Mg</a:t>
            </a:r>
          </a:p>
        </p:txBody>
      </p:sp>
      <p:sp>
        <p:nvSpPr>
          <p:cNvPr id="11" name="TextBox 10"/>
          <p:cNvSpPr txBox="1"/>
          <p:nvPr/>
        </p:nvSpPr>
        <p:spPr>
          <a:xfrm>
            <a:off x="502920" y="3758183"/>
            <a:ext cx="457200" cy="365760"/>
          </a:xfrm>
          <a:prstGeom prst="rect">
            <a:avLst/>
          </a:prstGeom>
          <a:noFill/>
        </p:spPr>
        <p:txBody>
          <a:bodyPr wrap="square">
            <a:spAutoFit/>
          </a:bodyPr>
          <a:lstStyle/>
          <a:p>
            <a:pPr algn="ctr"/>
            <a:r>
              <a:rPr sz="1100" b="1">
                <a:solidFill>
                  <a:srgbClr val="1A2238"/>
                </a:solidFill>
              </a:rPr>
              <a:t>Fe</a:t>
            </a:r>
          </a:p>
        </p:txBody>
      </p:sp>
      <p:sp>
        <p:nvSpPr>
          <p:cNvPr id="12" name="TextBox 11"/>
          <p:cNvSpPr txBox="1"/>
          <p:nvPr/>
        </p:nvSpPr>
        <p:spPr>
          <a:xfrm>
            <a:off x="2706624" y="1645920"/>
            <a:ext cx="548640" cy="274320"/>
          </a:xfrm>
          <a:prstGeom prst="rect">
            <a:avLst/>
          </a:prstGeom>
          <a:noFill/>
        </p:spPr>
        <p:txBody>
          <a:bodyPr wrap="square">
            <a:spAutoFit/>
          </a:bodyPr>
          <a:lstStyle/>
          <a:p>
            <a:pPr algn="ctr"/>
            <a:r>
              <a:rPr sz="1100" b="1">
                <a:solidFill>
                  <a:srgbClr val="1A2238"/>
                </a:solidFill>
              </a:rPr>
              <a:t>Fe</a:t>
            </a:r>
          </a:p>
        </p:txBody>
      </p:sp>
      <p:sp>
        <p:nvSpPr>
          <p:cNvPr id="13" name="Rectangle 12"/>
          <p:cNvSpPr/>
          <p:nvPr/>
        </p:nvSpPr>
        <p:spPr>
          <a:xfrm>
            <a:off x="1005840" y="2011680"/>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572768" y="2011680"/>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139696" y="2011680"/>
            <a:ext cx="512064" cy="512064"/>
          </a:xfrm>
          <a:prstGeom prst="rect">
            <a:avLst/>
          </a:prstGeom>
          <a:solidFill>
            <a:srgbClr val="AFA6F2"/>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706624" y="2011680"/>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5840" y="2578608"/>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572768" y="2578608"/>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139696" y="2578608"/>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706624" y="2578608"/>
            <a:ext cx="512064" cy="512064"/>
          </a:xfrm>
          <a:prstGeom prst="rect">
            <a:avLst/>
          </a:prstGeom>
          <a:solidFill>
            <a:srgbClr val="D2CE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05840" y="3145536"/>
            <a:ext cx="512064" cy="512064"/>
          </a:xfrm>
          <a:prstGeom prst="rect">
            <a:avLst/>
          </a:prstGeom>
          <a:solidFill>
            <a:srgbClr val="AFA6F2"/>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572768" y="3145536"/>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139696" y="3145536"/>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706624" y="3145536"/>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05840" y="3712464"/>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572768" y="3712464"/>
            <a:ext cx="512064" cy="512064"/>
          </a:xfrm>
          <a:prstGeom prst="rect">
            <a:avLst/>
          </a:prstGeom>
          <a:solidFill>
            <a:srgbClr val="D2CE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139696" y="3712464"/>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706624" y="3712464"/>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ight Arrow 28"/>
          <p:cNvSpPr/>
          <p:nvPr/>
        </p:nvSpPr>
        <p:spPr>
          <a:xfrm>
            <a:off x="4480560" y="32004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303520" y="2697480"/>
            <a:ext cx="3108960" cy="137160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masked-mean pool</a:t>
            </a:r>
          </a:p>
          <a:p>
            <a:pPr algn="ctr"/>
            <a:r>
              <a:rPr sz="1100" b="0">
                <a:solidFill>
                  <a:srgbClr val="8A93A3"/>
                </a:solidFill>
              </a:rPr>
              <a:t>average the real tokens</a:t>
            </a:r>
          </a:p>
          <a:p>
            <a:pPr algn="ctr"/>
            <a:r>
              <a:rPr sz="1100" b="0">
                <a:solidFill>
                  <a:srgbClr val="8A93A3"/>
                </a:solidFill>
              </a:rPr>
              <a:t>(skip padding)</a:t>
            </a:r>
          </a:p>
        </p:txBody>
      </p:sp>
      <p:sp>
        <p:nvSpPr>
          <p:cNvPr id="31" name="Right Arrow 30"/>
          <p:cNvSpPr/>
          <p:nvPr/>
        </p:nvSpPr>
        <p:spPr>
          <a:xfrm>
            <a:off x="8595360" y="32004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9555480" y="2606040"/>
            <a:ext cx="1554480" cy="155448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33" name="TextBox 32"/>
          <p:cNvSpPr txBox="1"/>
          <p:nvPr/>
        </p:nvSpPr>
        <p:spPr>
          <a:xfrm>
            <a:off x="502920" y="5669280"/>
            <a:ext cx="11155680" cy="731520"/>
          </a:xfrm>
          <a:prstGeom prst="rect">
            <a:avLst/>
          </a:prstGeom>
          <a:noFill/>
        </p:spPr>
        <p:txBody>
          <a:bodyPr wrap="square">
            <a:spAutoFit/>
          </a:bodyPr>
          <a:lstStyle/>
          <a:p>
            <a:pPr algn="ctr"/>
            <a:r>
              <a:rPr sz="1200" b="0">
                <a:solidFill>
                  <a:srgbClr val="1A2238"/>
                </a:solidFill>
              </a:rPr>
              <a:t>attention lets elements interact; pooling collapses the contextualized token vectors into one 256-d fingerprint 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TRAINING</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SSL pretraining: fill in the blank</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mask one element's amount, predict it from the rest -- the encoder learns which elements co-vary</a:t>
            </a:r>
          </a:p>
        </p:txBody>
      </p:sp>
      <p:sp>
        <p:nvSpPr>
          <p:cNvPr id="5" name="Rounded Rectangle 4"/>
          <p:cNvSpPr/>
          <p:nvPr/>
        </p:nvSpPr>
        <p:spPr>
          <a:xfrm>
            <a:off x="691743"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Si</a:t>
            </a:r>
          </a:p>
          <a:p>
            <a:pPr algn="ctr"/>
            <a:r>
              <a:rPr sz="1500" b="0">
                <a:solidFill>
                  <a:srgbClr val="8A93A3"/>
                </a:solidFill>
              </a:rPr>
              <a:t>0.50</a:t>
            </a:r>
          </a:p>
        </p:txBody>
      </p:sp>
      <p:sp>
        <p:nvSpPr>
          <p:cNvPr id="6" name="Rounded Rectangle 5"/>
          <p:cNvSpPr/>
          <p:nvPr/>
        </p:nvSpPr>
        <p:spPr>
          <a:xfrm>
            <a:off x="2264511"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Al</a:t>
            </a:r>
          </a:p>
          <a:p>
            <a:pPr algn="ctr"/>
            <a:r>
              <a:rPr sz="1500" b="0">
                <a:solidFill>
                  <a:srgbClr val="8A93A3"/>
                </a:solidFill>
              </a:rPr>
              <a:t>0.16</a:t>
            </a:r>
          </a:p>
        </p:txBody>
      </p:sp>
      <p:sp>
        <p:nvSpPr>
          <p:cNvPr id="7" name="Rounded Rectangle 6"/>
          <p:cNvSpPr/>
          <p:nvPr/>
        </p:nvSpPr>
        <p:spPr>
          <a:xfrm>
            <a:off x="3837279"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Ca</a:t>
            </a:r>
          </a:p>
          <a:p>
            <a:pPr algn="ctr"/>
            <a:r>
              <a:rPr sz="1500" b="0">
                <a:solidFill>
                  <a:srgbClr val="8A93A3"/>
                </a:solidFill>
              </a:rPr>
              <a:t>0.10</a:t>
            </a:r>
          </a:p>
        </p:txBody>
      </p:sp>
      <p:sp>
        <p:nvSpPr>
          <p:cNvPr id="8" name="Rounded Rectangle 7"/>
          <p:cNvSpPr/>
          <p:nvPr/>
        </p:nvSpPr>
        <p:spPr>
          <a:xfrm>
            <a:off x="5410047" y="1783080"/>
            <a:ext cx="1371600" cy="960120"/>
          </a:xfrm>
          <a:prstGeom prst="roundRect">
            <a:avLst/>
          </a:prstGeom>
          <a:solidFill>
            <a:srgbClr val="9AA3B2"/>
          </a:solidFill>
          <a:ln w="31750">
            <a:solidFill>
              <a:srgbClr val="9AA3B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FFFFFF"/>
                </a:solidFill>
              </a:rPr>
              <a:t>[MASK]</a:t>
            </a:r>
          </a:p>
          <a:p>
            <a:pPr algn="ctr"/>
            <a:r>
              <a:rPr sz="1400" b="0">
                <a:solidFill>
                  <a:srgbClr val="8A93A3"/>
                </a:solidFill>
              </a:rPr>
              <a:t>hide amount</a:t>
            </a:r>
          </a:p>
        </p:txBody>
      </p:sp>
      <p:sp>
        <p:nvSpPr>
          <p:cNvPr id="9" name="Rounded Rectangle 8"/>
          <p:cNvSpPr/>
          <p:nvPr/>
        </p:nvSpPr>
        <p:spPr>
          <a:xfrm>
            <a:off x="6982815"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Fe</a:t>
            </a:r>
          </a:p>
          <a:p>
            <a:pPr algn="ctr"/>
            <a:r>
              <a:rPr sz="1500" b="0">
                <a:solidFill>
                  <a:srgbClr val="8A93A3"/>
                </a:solidFill>
              </a:rPr>
              <a:t>0.11</a:t>
            </a:r>
          </a:p>
        </p:txBody>
      </p:sp>
      <p:sp>
        <p:nvSpPr>
          <p:cNvPr id="10" name="Rounded Rectangle 9"/>
          <p:cNvSpPr/>
          <p:nvPr/>
        </p:nvSpPr>
        <p:spPr>
          <a:xfrm>
            <a:off x="8555583"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Na</a:t>
            </a:r>
          </a:p>
          <a:p>
            <a:pPr algn="ctr"/>
            <a:r>
              <a:rPr sz="1500" b="0">
                <a:solidFill>
                  <a:srgbClr val="8A93A3"/>
                </a:solidFill>
              </a:rPr>
              <a:t>0.025</a:t>
            </a:r>
          </a:p>
        </p:txBody>
      </p:sp>
      <p:sp>
        <p:nvSpPr>
          <p:cNvPr id="11" name="Rounded Rectangle 10"/>
          <p:cNvSpPr/>
          <p:nvPr/>
        </p:nvSpPr>
        <p:spPr>
          <a:xfrm>
            <a:off x="10128351" y="1783080"/>
            <a:ext cx="1371600" cy="960120"/>
          </a:xfrm>
          <a:prstGeom prst="roundRect">
            <a:avLst/>
          </a:prstGeom>
          <a:solidFill>
            <a:srgbClr val="CAEEEB"/>
          </a:solidFill>
          <a:ln w="22225">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Sr</a:t>
            </a:r>
          </a:p>
          <a:p>
            <a:pPr algn="ctr"/>
            <a:r>
              <a:rPr sz="1500" b="0">
                <a:solidFill>
                  <a:srgbClr val="8A93A3"/>
                </a:solidFill>
              </a:rPr>
              <a:t>4e-4</a:t>
            </a:r>
          </a:p>
        </p:txBody>
      </p:sp>
      <p:cxnSp>
        <p:nvCxnSpPr>
          <p:cNvPr id="12" name="Connector 11"/>
          <p:cNvCxnSpPr/>
          <p:nvPr/>
        </p:nvCxnSpPr>
        <p:spPr>
          <a:xfrm>
            <a:off x="1377543"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950311"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523079"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5847" y="2743200"/>
            <a:ext cx="0" cy="685800"/>
          </a:xfrm>
          <a:prstGeom prst="bentConnector3">
            <a:avLst/>
          </a:prstGeom>
          <a:ln w="17780">
            <a:solidFill>
              <a:srgbClr val="9AA3B2"/>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668615"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241383"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814151"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91743" y="3429000"/>
            <a:ext cx="10808208" cy="86868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A2238"/>
                </a:solidFill>
              </a:rPr>
              <a:t>transformer encoder</a:t>
            </a:r>
          </a:p>
          <a:p>
            <a:pPr algn="ctr"/>
            <a:r>
              <a:rPr sz="1200" b="0">
                <a:solidFill>
                  <a:srgbClr val="8A93A3"/>
                </a:solidFill>
              </a:rPr>
              <a:t>being trained -- weights updated each step (not frozen)</a:t>
            </a:r>
          </a:p>
        </p:txBody>
      </p:sp>
      <p:sp>
        <p:nvSpPr>
          <p:cNvPr id="20" name="Down Arrow 19"/>
          <p:cNvSpPr/>
          <p:nvPr/>
        </p:nvSpPr>
        <p:spPr>
          <a:xfrm>
            <a:off x="5949543" y="4343400"/>
            <a:ext cx="292608" cy="347472"/>
          </a:xfrm>
          <a:prstGeom prst="down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103120" y="4892040"/>
            <a:ext cx="2743200" cy="9144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encoder predicts</a:t>
            </a:r>
          </a:p>
          <a:p>
            <a:pPr algn="ctr"/>
            <a:r>
              <a:rPr sz="1000" b="0">
                <a:solidFill>
                  <a:srgbClr val="8A93A3"/>
                </a:solidFill>
              </a:rPr>
              <a:t>Mg amount ~ 0.071</a:t>
            </a:r>
          </a:p>
        </p:txBody>
      </p:sp>
      <p:sp>
        <p:nvSpPr>
          <p:cNvPr id="22" name="Rounded Rectangle 21"/>
          <p:cNvSpPr/>
          <p:nvPr/>
        </p:nvSpPr>
        <p:spPr>
          <a:xfrm>
            <a:off x="5120640" y="4892040"/>
            <a:ext cx="1737360" cy="91440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8A93A3"/>
                </a:solidFill>
              </a:rPr>
              <a:t>truth</a:t>
            </a:r>
          </a:p>
          <a:p>
            <a:pPr algn="ctr"/>
            <a:r>
              <a:rPr sz="1000" b="0">
                <a:solidFill>
                  <a:srgbClr val="8A93A3"/>
                </a:solidFill>
              </a:rPr>
              <a:t>0.075</a:t>
            </a:r>
          </a:p>
        </p:txBody>
      </p:sp>
      <p:sp>
        <p:nvSpPr>
          <p:cNvPr id="23" name="Right Arrow 22"/>
          <p:cNvSpPr/>
          <p:nvPr/>
        </p:nvSpPr>
        <p:spPr>
          <a:xfrm>
            <a:off x="4892040" y="5166360"/>
            <a:ext cx="256032"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ight Arrow 23"/>
          <p:cNvSpPr/>
          <p:nvPr/>
        </p:nvSpPr>
        <p:spPr>
          <a:xfrm>
            <a:off x="6903720" y="5166360"/>
            <a:ext cx="256032"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223760" y="4892040"/>
            <a:ext cx="2651760" cy="914400"/>
          </a:xfrm>
          <a:prstGeom prst="roundRect">
            <a:avLst/>
          </a:prstGeom>
          <a:solidFill>
            <a:srgbClr val="F6E3E1"/>
          </a:solidFill>
          <a:ln w="254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log-space</a:t>
            </a:r>
          </a:p>
          <a:p>
            <a:pPr algn="ctr"/>
            <a:r>
              <a:rPr sz="1400" b="1">
                <a:solidFill>
                  <a:srgbClr val="1A2238"/>
                </a:solidFill>
              </a:rPr>
              <a:t>MSE loss</a:t>
            </a:r>
          </a:p>
        </p:txBody>
      </p:sp>
      <p:cxnSp>
        <p:nvCxnSpPr>
          <p:cNvPr id="26" name="Connector 25"/>
          <p:cNvCxnSpPr/>
          <p:nvPr/>
        </p:nvCxnSpPr>
        <p:spPr>
          <a:xfrm>
            <a:off x="9875520" y="5349240"/>
            <a:ext cx="1737360" cy="0"/>
          </a:xfrm>
          <a:prstGeom prst="bentConnector3">
            <a:avLst/>
          </a:prstGeom>
          <a:ln w="31750">
            <a:solidFill>
              <a:srgbClr val="C0392B"/>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11612880" y="3886200"/>
            <a:ext cx="0" cy="1463040"/>
          </a:xfrm>
          <a:prstGeom prst="bentConnector3">
            <a:avLst/>
          </a:prstGeom>
          <a:ln w="31750">
            <a:solidFill>
              <a:srgbClr val="C0392B"/>
            </a:solidFill>
          </a:ln>
          <a:effectLst/>
        </p:spPr>
        <p:style>
          <a:lnRef idx="2">
            <a:schemeClr val="accent1"/>
          </a:lnRef>
          <a:fillRef idx="0">
            <a:schemeClr val="accent1"/>
          </a:fillRef>
          <a:effectRef idx="1">
            <a:schemeClr val="accent1"/>
          </a:effectRef>
          <a:fontRef idx="minor">
            <a:schemeClr val="tx1"/>
          </a:fontRef>
        </p:style>
      </p:cxnSp>
      <p:sp>
        <p:nvSpPr>
          <p:cNvPr id="28" name="Left Arrow 27"/>
          <p:cNvSpPr/>
          <p:nvPr/>
        </p:nvSpPr>
        <p:spPr>
          <a:xfrm>
            <a:off x="11109960" y="3721608"/>
            <a:ext cx="502920" cy="310896"/>
          </a:xfrm>
          <a:prstGeom prst="leftArrow">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78240" y="4114800"/>
            <a:ext cx="3108960" cy="548640"/>
          </a:xfrm>
          <a:prstGeom prst="rect">
            <a:avLst/>
          </a:prstGeom>
          <a:noFill/>
        </p:spPr>
        <p:txBody>
          <a:bodyPr wrap="square">
            <a:spAutoFit/>
          </a:bodyPr>
          <a:lstStyle/>
          <a:p>
            <a:pPr algn="ctr"/>
            <a:r>
              <a:rPr sz="1200" b="1">
                <a:solidFill>
                  <a:srgbClr val="C0392B"/>
                </a:solidFill>
              </a:rPr>
              <a:t>backpropagation:</a:t>
            </a:r>
          </a:p>
          <a:p>
            <a:pPr algn="ctr"/>
            <a:r>
              <a:rPr sz="1200" b="1">
                <a:solidFill>
                  <a:srgbClr val="C0392B"/>
                </a:solidFill>
              </a:rPr>
              <a:t>updates encoder weights</a:t>
            </a:r>
          </a:p>
        </p:txBody>
      </p:sp>
      <p:sp>
        <p:nvSpPr>
          <p:cNvPr id="30" name="Rounded Rectangle 29"/>
          <p:cNvSpPr/>
          <p:nvPr/>
        </p:nvSpPr>
        <p:spPr>
          <a:xfrm>
            <a:off x="1463040" y="5943600"/>
            <a:ext cx="42062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8A93A3"/>
                </a:solidFill>
              </a:rPr>
              <a:t>zⱼ = (log₁₀ fⱼ − μⱼ) / σⱼ</a:t>
            </a:r>
          </a:p>
          <a:p>
            <a:pPr algn="ctr"/>
            <a:r>
              <a:rPr sz="1200" b="0">
                <a:solidFill>
                  <a:srgbClr val="8A93A3"/>
                </a:solidFill>
              </a:rPr>
              <a:t>target: per-element z-scored log fraction; μⱼ, σⱼ from the train split only</a:t>
            </a:r>
          </a:p>
        </p:txBody>
      </p:sp>
      <p:sp>
        <p:nvSpPr>
          <p:cNvPr id="31" name="Rounded Rectangle 30"/>
          <p:cNvSpPr/>
          <p:nvPr/>
        </p:nvSpPr>
        <p:spPr>
          <a:xfrm>
            <a:off x="6309360" y="5943600"/>
            <a:ext cx="42062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8A93A3"/>
                </a:solidFill>
              </a:rPr>
              <a:t>L = 1/|M| Σⱼ∈M (ŷⱼ − zⱼ)²</a:t>
            </a:r>
          </a:p>
          <a:p>
            <a:pPr algn="ctr"/>
            <a:r>
              <a:rPr sz="1200" b="0">
                <a:solidFill>
                  <a:srgbClr val="8A93A3"/>
                </a:solidFill>
              </a:rPr>
              <a:t>plain MSE between prediction ŷ and z, at the masked positions M only</a:t>
            </a:r>
          </a:p>
        </p:txBody>
      </p:sp>
      <p:sp>
        <p:nvSpPr>
          <p:cNvPr id="32" name="TextBox 31"/>
          <p:cNvSpPr txBox="1"/>
          <p:nvPr/>
        </p:nvSpPr>
        <p:spPr>
          <a:xfrm>
            <a:off x="502920" y="5989320"/>
            <a:ext cx="914400" cy="731520"/>
          </a:xfrm>
          <a:prstGeom prst="rect">
            <a:avLst/>
          </a:prstGeom>
          <a:noFill/>
        </p:spPr>
        <p:txBody>
          <a:bodyPr wrap="square">
            <a:spAutoFit/>
          </a:bodyPr>
          <a:lstStyle/>
          <a:p>
            <a:pPr algn="l"/>
            <a:r>
              <a:rPr sz="1100" b="0">
                <a:solidFill>
                  <a:srgbClr val="C0392B"/>
                </a:solidFill>
              </a:rPr>
              <a:t>the loss,
explicitly: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TRAINING</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Workflow: pretrain, freeze, train heads</a:t>
            </a:r>
          </a:p>
        </p:txBody>
      </p:sp>
      <p:sp>
        <p:nvSpPr>
          <p:cNvPr id="4" name="Rounded Rectangle 3"/>
          <p:cNvSpPr/>
          <p:nvPr/>
        </p:nvSpPr>
        <p:spPr>
          <a:xfrm>
            <a:off x="640080" y="2377440"/>
            <a:ext cx="3017520" cy="155448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1. SSL pretrain</a:t>
            </a:r>
          </a:p>
          <a:p>
            <a:pPr algn="ctr"/>
            <a:r>
              <a:rPr sz="1400" b="1">
                <a:solidFill>
                  <a:srgbClr val="1A2238"/>
                </a:solidFill>
              </a:rPr>
              <a:t/>
            </a:r>
          </a:p>
          <a:p>
            <a:pPr algn="ctr"/>
            <a:r>
              <a:rPr sz="1100" b="0">
                <a:solidFill>
                  <a:srgbClr val="8A93A3"/>
                </a:solidFill>
              </a:rPr>
              <a:t>Gard bulks, masked-element</a:t>
            </a:r>
          </a:p>
          <a:p>
            <a:pPr algn="ctr"/>
            <a:r>
              <a:rPr sz="1100" b="0">
                <a:solidFill>
                  <a:srgbClr val="8A93A3"/>
                </a:solidFill>
              </a:rPr>
              <a:t>-&gt; encoder</a:t>
            </a:r>
          </a:p>
        </p:txBody>
      </p:sp>
      <p:sp>
        <p:nvSpPr>
          <p:cNvPr id="5" name="Right Arrow 4"/>
          <p:cNvSpPr/>
          <p:nvPr/>
        </p:nvSpPr>
        <p:spPr>
          <a:xfrm>
            <a:off x="3749039" y="29718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572000" y="2377440"/>
            <a:ext cx="2743200" cy="155448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2. freeze</a:t>
            </a:r>
          </a:p>
          <a:p>
            <a:pPr algn="ctr"/>
            <a:r>
              <a:rPr sz="1400" b="1">
                <a:solidFill>
                  <a:srgbClr val="1A2238"/>
                </a:solidFill>
              </a:rPr>
              <a:t>encoder</a:t>
            </a:r>
          </a:p>
          <a:p>
            <a:pPr algn="ctr"/>
            <a:r>
              <a:rPr sz="1100" b="0">
                <a:solidFill>
                  <a:srgbClr val="8A93A3"/>
                </a:solidFill>
              </a:rPr>
              <a:t>weights fixed</a:t>
            </a:r>
          </a:p>
        </p:txBody>
      </p:sp>
      <p:sp>
        <p:nvSpPr>
          <p:cNvPr id="7" name="Right Arrow 6"/>
          <p:cNvSpPr/>
          <p:nvPr/>
        </p:nvSpPr>
        <p:spPr>
          <a:xfrm>
            <a:off x="7406640" y="29718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229600" y="2377440"/>
            <a:ext cx="3291840" cy="155448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3. train heads</a:t>
            </a:r>
          </a:p>
          <a:p>
            <a:pPr algn="ctr"/>
            <a:r>
              <a:rPr sz="1400" b="1">
                <a:solidFill>
                  <a:srgbClr val="1A2238"/>
                </a:solidFill>
              </a:rPr>
              <a:t/>
            </a:r>
          </a:p>
          <a:p>
            <a:pPr algn="ctr"/>
            <a:r>
              <a:rPr sz="1100" b="0">
                <a:solidFill>
                  <a:srgbClr val="8A93A3"/>
                </a:solidFill>
              </a:rPr>
              <a:t>equilibrium corpus labels</a:t>
            </a:r>
          </a:p>
          <a:p>
            <a:pPr algn="ctr"/>
            <a:r>
              <a:rPr sz="1100" b="0">
                <a:solidFill>
                  <a:srgbClr val="8A93A3"/>
                </a:solidFill>
              </a:rPr>
              <a:t>encoder untouched</a:t>
            </a:r>
          </a:p>
        </p:txBody>
      </p:sp>
      <p:sp>
        <p:nvSpPr>
          <p:cNvPr id="9" name="TextBox 8"/>
          <p:cNvSpPr txBox="1"/>
          <p:nvPr/>
        </p:nvSpPr>
        <p:spPr>
          <a:xfrm>
            <a:off x="640080" y="4206240"/>
            <a:ext cx="10881360" cy="731520"/>
          </a:xfrm>
          <a:prstGeom prst="rect">
            <a:avLst/>
          </a:prstGeom>
          <a:noFill/>
        </p:spPr>
        <p:txBody>
          <a:bodyPr wrap="square">
            <a:spAutoFit/>
          </a:bodyPr>
          <a:lstStyle/>
          <a:p>
            <a:pPr algn="l"/>
            <a:r>
              <a:rPr sz="1300" b="0">
                <a:solidFill>
                  <a:srgbClr val="1A2238"/>
                </a:solidFill>
              </a:rPr>
              <a:t>the encoder is the durable contribution: heads can be re-supervised against any label source without retraining it.</a:t>
            </a:r>
          </a:p>
        </p:txBody>
      </p:sp>
      <p:sp>
        <p:nvSpPr>
          <p:cNvPr id="10" name="TextBox 9"/>
          <p:cNvSpPr txBox="1"/>
          <p:nvPr/>
        </p:nvSpPr>
        <p:spPr>
          <a:xfrm>
            <a:off x="640080" y="4937760"/>
            <a:ext cx="10881360" cy="731520"/>
          </a:xfrm>
          <a:prstGeom prst="rect">
            <a:avLst/>
          </a:prstGeom>
          <a:noFill/>
        </p:spPr>
        <p:txBody>
          <a:bodyPr wrap="square">
            <a:spAutoFit/>
          </a:bodyPr>
          <a:lstStyle/>
          <a:p>
            <a:pPr algn="l"/>
            <a:r>
              <a:rPr sz="1200" b="0">
                <a:solidFill>
                  <a:srgbClr val="8A93A3"/>
                </a:solidFill>
              </a:rPr>
              <a:t>evaluation: frozen-latent probes, the held-out mineralML grains, and zero-shot scoring on the real-rock benchmark.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Parallel heads on the frozen h</a:t>
            </a:r>
          </a:p>
        </p:txBody>
      </p:sp>
      <p:sp>
        <p:nvSpPr>
          <p:cNvPr id="4" name="Rounded Rectangle 3"/>
          <p:cNvSpPr/>
          <p:nvPr/>
        </p:nvSpPr>
        <p:spPr>
          <a:xfrm>
            <a:off x="502920" y="2743200"/>
            <a:ext cx="1828800" cy="141732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input tokens</a:t>
            </a:r>
          </a:p>
          <a:p>
            <a:pPr algn="ctr"/>
            <a:r>
              <a:rPr sz="900" b="0">
                <a:solidFill>
                  <a:srgbClr val="8A93A3"/>
                </a:solidFill>
              </a:rPr>
              <a:t>22 elements + redox</a:t>
            </a:r>
          </a:p>
        </p:txBody>
      </p:sp>
      <p:sp>
        <p:nvSpPr>
          <p:cNvPr id="5" name="Rounded Rectangle 4"/>
          <p:cNvSpPr/>
          <p:nvPr/>
        </p:nvSpPr>
        <p:spPr>
          <a:xfrm>
            <a:off x="2788920" y="2743200"/>
            <a:ext cx="1828800" cy="14173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embed</a:t>
            </a:r>
          </a:p>
          <a:p>
            <a:pPr algn="ctr"/>
            <a:r>
              <a:rPr sz="900" b="0">
                <a:solidFill>
                  <a:srgbClr val="8A93A3"/>
                </a:solidFill>
              </a:rPr>
              <a:t>mat2vec + amount</a:t>
            </a:r>
          </a:p>
        </p:txBody>
      </p:sp>
      <p:sp>
        <p:nvSpPr>
          <p:cNvPr id="6" name="Right Arrow 5"/>
          <p:cNvSpPr/>
          <p:nvPr/>
        </p:nvSpPr>
        <p:spPr>
          <a:xfrm>
            <a:off x="2377439" y="3268979"/>
            <a:ext cx="36576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120640" y="2743200"/>
            <a:ext cx="1828800" cy="14173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transformer</a:t>
            </a:r>
          </a:p>
          <a:p>
            <a:pPr algn="ctr"/>
            <a:r>
              <a:rPr sz="1200" b="1">
                <a:solidFill>
                  <a:srgbClr val="1A2238"/>
                </a:solidFill>
              </a:rPr>
              <a:t>encoder</a:t>
            </a:r>
          </a:p>
        </p:txBody>
      </p:sp>
      <p:sp>
        <p:nvSpPr>
          <p:cNvPr id="8" name="Right Arrow 7"/>
          <p:cNvSpPr/>
          <p:nvPr/>
        </p:nvSpPr>
        <p:spPr>
          <a:xfrm>
            <a:off x="4663440" y="3268979"/>
            <a:ext cx="41147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699248" y="2738628"/>
            <a:ext cx="1426464" cy="1426464"/>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10" name="Right Arrow 9"/>
          <p:cNvSpPr/>
          <p:nvPr/>
        </p:nvSpPr>
        <p:spPr>
          <a:xfrm>
            <a:off x="6995159" y="3268979"/>
            <a:ext cx="45719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869680" y="114300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ModeHead</a:t>
            </a:r>
          </a:p>
          <a:p>
            <a:pPr algn="ctr"/>
            <a:r>
              <a:rPr sz="1000" b="0">
                <a:solidFill>
                  <a:srgbClr val="8A93A3"/>
                </a:solidFill>
              </a:rPr>
              <a:t>modal mineralogy</a:t>
            </a:r>
          </a:p>
        </p:txBody>
      </p:sp>
      <p:cxnSp>
        <p:nvCxnSpPr>
          <p:cNvPr id="12" name="Connector 11"/>
          <p:cNvCxnSpPr/>
          <p:nvPr/>
        </p:nvCxnSpPr>
        <p:spPr>
          <a:xfrm flipV="1">
            <a:off x="8211312" y="1554480"/>
            <a:ext cx="658368" cy="1901952"/>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869680" y="210312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CompHead</a:t>
            </a:r>
          </a:p>
          <a:p>
            <a:pPr algn="ctr"/>
            <a:r>
              <a:rPr sz="1000" b="0">
                <a:solidFill>
                  <a:srgbClr val="8A93A3"/>
                </a:solidFill>
              </a:rPr>
              <a:t>per-mineral composition</a:t>
            </a:r>
          </a:p>
        </p:txBody>
      </p:sp>
      <p:cxnSp>
        <p:nvCxnSpPr>
          <p:cNvPr id="14" name="Connector 13"/>
          <p:cNvCxnSpPr/>
          <p:nvPr/>
        </p:nvCxnSpPr>
        <p:spPr>
          <a:xfrm flipV="1">
            <a:off x="8211312" y="2514600"/>
            <a:ext cx="658368" cy="941832"/>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869680" y="306324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CondHead</a:t>
            </a:r>
          </a:p>
          <a:p>
            <a:pPr algn="ctr"/>
            <a:r>
              <a:rPr sz="1000" b="0">
                <a:solidFill>
                  <a:srgbClr val="8A93A3"/>
                </a:solidFill>
              </a:rPr>
              <a:t>T, P, H2O</a:t>
            </a:r>
          </a:p>
        </p:txBody>
      </p:sp>
      <p:cxnSp>
        <p:nvCxnSpPr>
          <p:cNvPr id="16" name="Connector 15"/>
          <p:cNvCxnSpPr/>
          <p:nvPr/>
        </p:nvCxnSpPr>
        <p:spPr>
          <a:xfrm>
            <a:off x="8211312" y="3456432"/>
            <a:ext cx="658368" cy="18288"/>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869680" y="4023360"/>
            <a:ext cx="2834640" cy="82296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8A93A3"/>
                </a:solidFill>
              </a:rPr>
              <a:t>ClassHead</a:t>
            </a:r>
          </a:p>
          <a:p>
            <a:pPr algn="ctr"/>
            <a:r>
              <a:rPr sz="1000" b="0">
                <a:solidFill>
                  <a:srgbClr val="8A93A3"/>
                </a:solidFill>
              </a:rPr>
              <a:t>rock class -- slot, not built</a:t>
            </a:r>
          </a:p>
        </p:txBody>
      </p:sp>
      <p:cxnSp>
        <p:nvCxnSpPr>
          <p:cNvPr id="18" name="Connector 17"/>
          <p:cNvCxnSpPr/>
          <p:nvPr/>
        </p:nvCxnSpPr>
        <p:spPr>
          <a:xfrm>
            <a:off x="8211312" y="3456432"/>
            <a:ext cx="658368" cy="978408"/>
          </a:xfrm>
          <a:prstGeom prst="bentConnector3">
            <a:avLst/>
          </a:prstGeom>
          <a:ln w="19050">
            <a:solidFill>
              <a:srgbClr val="C8CDD6"/>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869680" y="4983480"/>
            <a:ext cx="2834640" cy="82296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8A93A3"/>
                </a:solidFill>
              </a:rPr>
              <a:t>G_sys</a:t>
            </a:r>
          </a:p>
          <a:p>
            <a:pPr algn="ctr"/>
            <a:r>
              <a:rPr sz="1000" b="0">
                <a:solidFill>
                  <a:srgbClr val="8A93A3"/>
                </a:solidFill>
              </a:rPr>
              <a:t>free energy -- slot, not built</a:t>
            </a:r>
          </a:p>
        </p:txBody>
      </p:sp>
      <p:cxnSp>
        <p:nvCxnSpPr>
          <p:cNvPr id="20" name="Connector 19"/>
          <p:cNvCxnSpPr/>
          <p:nvPr/>
        </p:nvCxnSpPr>
        <p:spPr>
          <a:xfrm>
            <a:off x="8211312" y="3456432"/>
            <a:ext cx="658368" cy="1938528"/>
          </a:xfrm>
          <a:prstGeom prst="bentConnector3">
            <a:avLst/>
          </a:prstGeom>
          <a:ln w="19050">
            <a:solidFill>
              <a:srgbClr val="C8CDD6"/>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02920" y="5120640"/>
            <a:ext cx="7772400" cy="731520"/>
          </a:xfrm>
          <a:prstGeom prst="rect">
            <a:avLst/>
          </a:prstGeom>
          <a:noFill/>
        </p:spPr>
        <p:txBody>
          <a:bodyPr wrap="square">
            <a:spAutoFit/>
          </a:bodyPr>
          <a:lstStyle/>
          <a:p>
            <a:pPr algn="ctr"/>
            <a:r>
              <a:rPr sz="1200" b="0">
                <a:solidFill>
                  <a:srgbClr val="1A2238"/>
                </a:solidFill>
              </a:rPr>
              <a:t>encoder now frozen; each head is a small network reading the same h. three are trained (anatomy on the next slide, outputs after); the two auxiliary ones stay open slots.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Inside ModeHead: two small MLPs on the frozen h</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ModeHead, the first head trained end-to-end -- two clean factors of the hurdle likelihood P(modal) = P(present) x P(modal | present), each with its own trunk: presence reads h alone; magnitude reads h + the mineral set it is sizing</a:t>
            </a:r>
          </a:p>
        </p:txBody>
      </p:sp>
      <p:sp>
        <p:nvSpPr>
          <p:cNvPr id="5" name="Oval 4"/>
          <p:cNvSpPr/>
          <p:nvPr/>
        </p:nvSpPr>
        <p:spPr>
          <a:xfrm>
            <a:off x="777240" y="2834640"/>
            <a:ext cx="1371600" cy="137160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6" name="TextBox 5"/>
          <p:cNvSpPr txBox="1"/>
          <p:nvPr/>
        </p:nvSpPr>
        <p:spPr>
          <a:xfrm>
            <a:off x="457200" y="4434840"/>
            <a:ext cx="2011680" cy="731520"/>
          </a:xfrm>
          <a:prstGeom prst="rect">
            <a:avLst/>
          </a:prstGeom>
          <a:noFill/>
        </p:spPr>
        <p:txBody>
          <a:bodyPr wrap="square">
            <a:spAutoFit/>
          </a:bodyPr>
          <a:lstStyle/>
          <a:p>
            <a:pPr algn="ctr"/>
            <a:r>
              <a:rPr sz="1000" b="0">
                <a:solidFill>
                  <a:srgbClr val="8A93A3"/>
                </a:solidFill>
              </a:rPr>
              <a:t>from the frozen encoder (3.23M params, not trained here)</a:t>
            </a:r>
          </a:p>
        </p:txBody>
      </p:sp>
      <p:sp>
        <p:nvSpPr>
          <p:cNvPr id="7" name="Right Arrow 6"/>
          <p:cNvSpPr/>
          <p:nvPr/>
        </p:nvSpPr>
        <p:spPr>
          <a:xfrm>
            <a:off x="2286000" y="333756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834640" y="2788920"/>
            <a:ext cx="2651760" cy="14630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two parallel trunks</a:t>
            </a:r>
          </a:p>
          <a:p>
            <a:pPr algn="ctr"/>
            <a:r>
              <a:rPr sz="1000" b="0">
                <a:solidFill>
                  <a:srgbClr val="8A93A3"/>
                </a:solidFill>
              </a:rPr>
              <a:t>presence: 3 x [Linear -&gt; 512] on h</a:t>
            </a:r>
          </a:p>
          <a:p>
            <a:pPr algn="ctr"/>
            <a:r>
              <a:rPr sz="1000" b="0">
                <a:solidFill>
                  <a:srgbClr val="8A93A3"/>
                </a:solidFill>
              </a:rPr>
              <a:t>magnitude: 3 x [Linear -&gt; 512]</a:t>
            </a:r>
          </a:p>
          <a:p>
            <a:pPr algn="ctr"/>
            <a:r>
              <a:rPr sz="1000" b="0">
                <a:solidFill>
                  <a:srgbClr val="8A93A3"/>
                </a:solidFill>
              </a:rPr>
              <a:t>on [h, support(21)] -- chain rule</a:t>
            </a:r>
          </a:p>
          <a:p>
            <a:pPr algn="ctr"/>
            <a:r>
              <a:rPr sz="1000" b="0">
                <a:solidFill>
                  <a:srgbClr val="8A93A3"/>
                </a:solidFill>
              </a:rPr>
              <a:t>656,896 + 667,648 params</a:t>
            </a:r>
          </a:p>
        </p:txBody>
      </p:sp>
      <p:cxnSp>
        <p:nvCxnSpPr>
          <p:cNvPr id="9" name="Connector 8"/>
          <p:cNvCxnSpPr/>
          <p:nvPr/>
        </p:nvCxnSpPr>
        <p:spPr>
          <a:xfrm flipV="1">
            <a:off x="5486400" y="2537460"/>
            <a:ext cx="685800" cy="98298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172200" y="1828800"/>
            <a:ext cx="3017520" cy="141732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presence branch</a:t>
            </a:r>
          </a:p>
          <a:p>
            <a:pPr algn="ctr"/>
            <a:r>
              <a:rPr sz="1000" b="0">
                <a:solidFill>
                  <a:srgbClr val="8A93A3"/>
                </a:solidFill>
              </a:rPr>
              <a:t>Linear 512 -&gt; 21, sigmoid</a:t>
            </a:r>
          </a:p>
          <a:p>
            <a:pPr algn="ctr"/>
            <a:r>
              <a:rPr sz="1000" b="0">
                <a:solidFill>
                  <a:srgbClr val="8A93A3"/>
                </a:solidFill>
              </a:rPr>
              <a:t>p_i = P(phase i present)</a:t>
            </a:r>
          </a:p>
          <a:p>
            <a:pPr algn="ctr"/>
            <a:r>
              <a:rPr sz="1000" b="0">
                <a:solidFill>
                  <a:srgbClr val="8A93A3"/>
                </a:solidFill>
              </a:rPr>
              <a:t>10,773 params</a:t>
            </a:r>
          </a:p>
        </p:txBody>
      </p:sp>
      <p:sp>
        <p:nvSpPr>
          <p:cNvPr id="11" name="Right Arrow 10"/>
          <p:cNvSpPr/>
          <p:nvPr/>
        </p:nvSpPr>
        <p:spPr>
          <a:xfrm>
            <a:off x="9281160" y="237286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738360" y="1874519"/>
            <a:ext cx="2057400" cy="13258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21 Bernoullis</a:t>
            </a:r>
          </a:p>
          <a:p>
            <a:pPr algn="ctr"/>
            <a:r>
              <a:rPr sz="900" b="0">
                <a:solidFill>
                  <a:srgbClr val="8A93A3"/>
                </a:solidFill>
              </a:rPr>
              <a:t>which minerals</a:t>
            </a:r>
          </a:p>
          <a:p>
            <a:pPr algn="ctr"/>
            <a:r>
              <a:rPr sz="900" b="0">
                <a:solidFill>
                  <a:srgbClr val="8A93A3"/>
                </a:solidFill>
              </a:rPr>
              <a:t>BCE loss</a:t>
            </a:r>
          </a:p>
        </p:txBody>
      </p:sp>
      <p:cxnSp>
        <p:nvCxnSpPr>
          <p:cNvPr id="13" name="Connector 12"/>
          <p:cNvCxnSpPr/>
          <p:nvPr/>
        </p:nvCxnSpPr>
        <p:spPr>
          <a:xfrm>
            <a:off x="5486400" y="3520440"/>
            <a:ext cx="685800" cy="102870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172200" y="3840480"/>
            <a:ext cx="3017520" cy="141732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magnitude branch</a:t>
            </a:r>
          </a:p>
          <a:p>
            <a:pPr algn="ctr"/>
            <a:r>
              <a:rPr sz="1000" b="0">
                <a:solidFill>
                  <a:srgbClr val="8A93A3"/>
                </a:solidFill>
              </a:rPr>
              <a:t>Linear 512 -&gt; 21, softplus</a:t>
            </a:r>
          </a:p>
          <a:p>
            <a:pPr algn="ctr"/>
            <a:r>
              <a:rPr sz="1000" b="0">
                <a:solidFill>
                  <a:srgbClr val="8A93A3"/>
                </a:solidFill>
              </a:rPr>
              <a:t>alpha_i, support-conditioned</a:t>
            </a:r>
          </a:p>
          <a:p>
            <a:pPr algn="ctr"/>
            <a:r>
              <a:rPr sz="1000" b="0">
                <a:solidFill>
                  <a:srgbClr val="8A93A3"/>
                </a:solidFill>
              </a:rPr>
              <a:t>10,773 params</a:t>
            </a:r>
          </a:p>
        </p:txBody>
      </p:sp>
      <p:sp>
        <p:nvSpPr>
          <p:cNvPr id="15" name="Right Arrow 14"/>
          <p:cNvSpPr/>
          <p:nvPr/>
        </p:nvSpPr>
        <p:spPr>
          <a:xfrm>
            <a:off x="9281160" y="438454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738360" y="3886200"/>
            <a:ext cx="2057400" cy="13258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cond. Dirichlet</a:t>
            </a:r>
          </a:p>
          <a:p>
            <a:pPr algn="ctr"/>
            <a:r>
              <a:rPr sz="900" b="0">
                <a:solidFill>
                  <a:srgbClr val="8A93A3"/>
                </a:solidFill>
              </a:rPr>
              <a:t>how much, GIVEN</a:t>
            </a:r>
          </a:p>
          <a:p>
            <a:pPr algn="ctr"/>
            <a:r>
              <a:rPr sz="900" b="0">
                <a:solidFill>
                  <a:srgbClr val="8A93A3"/>
                </a:solidFill>
              </a:rPr>
              <a:t>this mineral set (NLL)</a:t>
            </a:r>
          </a:p>
        </p:txBody>
      </p:sp>
      <p:sp>
        <p:nvSpPr>
          <p:cNvPr id="17" name="TextBox 16"/>
          <p:cNvSpPr txBox="1"/>
          <p:nvPr/>
        </p:nvSpPr>
        <p:spPr>
          <a:xfrm>
            <a:off x="502920" y="5349240"/>
            <a:ext cx="11155680" cy="731520"/>
          </a:xfrm>
          <a:prstGeom prst="rect">
            <a:avLst/>
          </a:prstGeom>
          <a:noFill/>
        </p:spPr>
        <p:txBody>
          <a:bodyPr wrap="square">
            <a:spAutoFit/>
          </a:bodyPr>
          <a:lstStyle/>
          <a:p>
            <a:pPr algn="l"/>
            <a:r>
              <a:rPr sz="1100" b="0">
                <a:solidFill>
                  <a:srgbClr val="1A2238"/>
                </a:solidFill>
              </a:rPr>
              <a:t>1,346,090 trainable params (trunks 656,896 + 667,648, outputs 2 x 10,773) -- ~42% of the frozen encoder; 512 x 3 per trunk is the cascade-2 sweep winner, which took the largest trunk searched (#54).</a:t>
            </a:r>
          </a:p>
        </p:txBody>
      </p:sp>
      <p:sp>
        <p:nvSpPr>
          <p:cNvPr id="18" name="TextBox 17"/>
          <p:cNvSpPr txBox="1"/>
          <p:nvPr/>
        </p:nvSpPr>
        <p:spPr>
          <a:xfrm>
            <a:off x="502920" y="5669280"/>
            <a:ext cx="11155680" cy="731520"/>
          </a:xfrm>
          <a:prstGeom prst="rect">
            <a:avLst/>
          </a:prstGeom>
          <a:noFill/>
        </p:spPr>
        <p:txBody>
          <a:bodyPr wrap="square">
            <a:spAutoFit/>
          </a:bodyPr>
          <a:lstStyle/>
          <a:p>
            <a:pPr algn="l"/>
            <a:r>
              <a:rPr sz="1000" b="0">
                <a:solidFill>
                  <a:srgbClr val="8A93A3"/>
                </a:solidFill>
              </a:rPr>
              <a:t>dials (stamped in the production checkpoint): mode_hidden 512 . mode_layers 3 . dropout 0.260 . magnitude_weight 0.0281 (effective lambda 0.59) . alpha_eps 1e-6 . lr 4.70e-4 . weight_decay 2.46e-5 . batch 1024 . epochs 120 / per-head patience 10 -- fixed in code: GELU, AdamW, grad-clip 1.0</a:t>
            </a:r>
          </a:p>
        </p:txBody>
      </p:sp>
      <p:sp>
        <p:nvSpPr>
          <p:cNvPr id="19" name="Rounded Rectangle 18"/>
          <p:cNvSpPr/>
          <p:nvPr/>
        </p:nvSpPr>
        <p:spPr>
          <a:xfrm>
            <a:off x="146304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L_presence = −Σᵢ [ yᵢ ln pᵢ + (1−yᵢ) ln(1−pᵢ) ]</a:t>
            </a:r>
          </a:p>
          <a:p>
            <a:pPr algn="ctr"/>
            <a:r>
              <a:rPr sz="900" b="0">
                <a:solidFill>
                  <a:srgbClr val="8A93A3"/>
                </a:solidFill>
              </a:rPr>
              <a:t>BCE, all 21 phases x every row; minimized when p = the rock's true presence frequency</a:t>
            </a:r>
          </a:p>
        </p:txBody>
      </p:sp>
      <p:sp>
        <p:nvSpPr>
          <p:cNvPr id="20" name="Rounded Rectangle 19"/>
          <p:cNvSpPr/>
          <p:nvPr/>
        </p:nvSpPr>
        <p:spPr>
          <a:xfrm>
            <a:off x="487680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L_magnitude = −log Dir(mₛ | αₛ)</a:t>
            </a:r>
          </a:p>
          <a:p>
            <a:pPr algn="ctr"/>
            <a:r>
              <a:rPr sz="900" b="0">
                <a:solidFill>
                  <a:srgbClr val="8A93A3"/>
                </a:solidFill>
              </a:rPr>
              <a:t>Dirichlet NLL scored only on the present set S -- absent phases belong to the Bernoullis</a:t>
            </a:r>
          </a:p>
        </p:txBody>
      </p:sp>
      <p:sp>
        <p:nvSpPr>
          <p:cNvPr id="21" name="Rounded Rectangle 20"/>
          <p:cNvSpPr/>
          <p:nvPr/>
        </p:nvSpPr>
        <p:spPr>
          <a:xfrm>
            <a:off x="829056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 = L_presence + λ_mag · L_magnitude</a:t>
            </a:r>
          </a:p>
          <a:p>
            <a:pPr algn="ctr"/>
            <a:r>
              <a:rPr sz="900" b="0">
                <a:solidFill>
                  <a:srgbClr val="8A93A3"/>
                </a:solidFill>
              </a:rPr>
              <a:t>one backward pass; the trunks are param-disjoint, so λ_mag no longer arbitrates a shared trunk -- it sets how hard the Dirichlet term pulls relative to the presence term; production runs 0.0281</a:t>
            </a:r>
          </a:p>
        </p:txBody>
      </p:sp>
      <p:sp>
        <p:nvSpPr>
          <p:cNvPr id="22" name="TextBox 21"/>
          <p:cNvSpPr txBox="1"/>
          <p:nvPr/>
        </p:nvSpPr>
        <p:spPr>
          <a:xfrm>
            <a:off x="457200" y="6080760"/>
            <a:ext cx="960120" cy="731520"/>
          </a:xfrm>
          <a:prstGeom prst="rect">
            <a:avLst/>
          </a:prstGeom>
          <a:noFill/>
        </p:spPr>
        <p:txBody>
          <a:bodyPr wrap="square">
            <a:spAutoFit/>
          </a:bodyPr>
          <a:lstStyle/>
          <a:p>
            <a:pPr algn="l"/>
            <a:r>
              <a:rPr sz="1100" b="0">
                <a:solidFill>
                  <a:srgbClr val="C0392B"/>
                </a:solidFill>
              </a:rPr>
              <a:t>the loss,
explicitly: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Is 70% honest? One bin of the reliability check</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presence head's headline eval: pool every prediction near a probability, then ask how often the mineral was really there</a:t>
            </a:r>
          </a:p>
        </p:txBody>
      </p:sp>
      <p:sp>
        <p:nvSpPr>
          <p:cNvPr id="5" name="TextBox 4"/>
          <p:cNvSpPr txBox="1"/>
          <p:nvPr/>
        </p:nvSpPr>
        <p:spPr>
          <a:xfrm>
            <a:off x="502920" y="1600200"/>
            <a:ext cx="2651760" cy="731520"/>
          </a:xfrm>
          <a:prstGeom prst="rect">
            <a:avLst/>
          </a:prstGeom>
          <a:noFill/>
        </p:spPr>
        <p:txBody>
          <a:bodyPr wrap="square">
            <a:spAutoFit/>
          </a:bodyPr>
          <a:lstStyle/>
          <a:p>
            <a:pPr algn="ctr"/>
            <a:r>
              <a:rPr sz="1100" b="0">
                <a:solidFill>
                  <a:srgbClr val="2E5BFF"/>
                </a:solidFill>
              </a:rPr>
              <a:t>23-token chemistry -&gt; one p per rock</a:t>
            </a:r>
          </a:p>
        </p:txBody>
      </p:sp>
      <p:sp>
        <p:nvSpPr>
          <p:cNvPr id="6" name="TextBox 5"/>
          <p:cNvSpPr txBox="1"/>
          <p:nvPr/>
        </p:nvSpPr>
        <p:spPr>
          <a:xfrm>
            <a:off x="3703320" y="1600200"/>
            <a:ext cx="2926080" cy="731520"/>
          </a:xfrm>
          <a:prstGeom prst="rect">
            <a:avLst/>
          </a:prstGeom>
          <a:noFill/>
        </p:spPr>
        <p:txBody>
          <a:bodyPr wrap="square">
            <a:spAutoFit/>
          </a:bodyPr>
          <a:lstStyle/>
          <a:p>
            <a:pPr algn="ctr"/>
            <a:r>
              <a:rPr sz="1100" b="0">
                <a:solidFill>
                  <a:srgbClr val="2A9D8F"/>
                </a:solidFill>
              </a:rPr>
              <a:t>truth: rows where cpx &gt; 0.1 wt% of the solids</a:t>
            </a:r>
          </a:p>
        </p:txBody>
      </p:sp>
      <p:sp>
        <p:nvSpPr>
          <p:cNvPr id="7" name="Rounded Rectangle 6"/>
          <p:cNvSpPr/>
          <p:nvPr/>
        </p:nvSpPr>
        <p:spPr>
          <a:xfrm>
            <a:off x="502920" y="1920240"/>
            <a:ext cx="2651760" cy="7772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rock A (andesite)</a:t>
            </a:r>
          </a:p>
          <a:p>
            <a:pPr algn="ctr"/>
            <a:r>
              <a:rPr sz="900" b="0">
                <a:solidFill>
                  <a:srgbClr val="8A93A3"/>
                </a:solidFill>
              </a:rPr>
              <a:t>p_cpx = 0.71</a:t>
            </a:r>
          </a:p>
        </p:txBody>
      </p:sp>
      <p:sp>
        <p:nvSpPr>
          <p:cNvPr id="8" name="Right Arrow 7"/>
          <p:cNvSpPr/>
          <p:nvPr/>
        </p:nvSpPr>
        <p:spPr>
          <a:xfrm>
            <a:off x="3246120" y="2148840"/>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703320" y="1920240"/>
            <a:ext cx="2926080" cy="777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256 rows: cpx in 187</a:t>
            </a:r>
          </a:p>
        </p:txBody>
      </p:sp>
      <p:cxnSp>
        <p:nvCxnSpPr>
          <p:cNvPr id="10" name="Connector 9"/>
          <p:cNvCxnSpPr/>
          <p:nvPr/>
        </p:nvCxnSpPr>
        <p:spPr>
          <a:xfrm>
            <a:off x="6629400" y="2304288"/>
            <a:ext cx="548640" cy="1078992"/>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2920" y="2880360"/>
            <a:ext cx="2651760" cy="7772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rock B (bas. andesite)</a:t>
            </a:r>
          </a:p>
          <a:p>
            <a:pPr algn="ctr"/>
            <a:r>
              <a:rPr sz="900" b="0">
                <a:solidFill>
                  <a:srgbClr val="8A93A3"/>
                </a:solidFill>
              </a:rPr>
              <a:t>p_cpx = 0.74</a:t>
            </a:r>
          </a:p>
        </p:txBody>
      </p:sp>
      <p:sp>
        <p:nvSpPr>
          <p:cNvPr id="12" name="Right Arrow 11"/>
          <p:cNvSpPr/>
          <p:nvPr/>
        </p:nvSpPr>
        <p:spPr>
          <a:xfrm>
            <a:off x="3246120" y="3108960"/>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703320" y="2880360"/>
            <a:ext cx="2926080" cy="777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256 rows: cpx in 163</a:t>
            </a:r>
          </a:p>
        </p:txBody>
      </p:sp>
      <p:cxnSp>
        <p:nvCxnSpPr>
          <p:cNvPr id="14" name="Connector 13"/>
          <p:cNvCxnSpPr/>
          <p:nvPr/>
        </p:nvCxnSpPr>
        <p:spPr>
          <a:xfrm>
            <a:off x="6629400" y="3264408"/>
            <a:ext cx="548640" cy="118872"/>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02920" y="3840480"/>
            <a:ext cx="2651760" cy="7772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rock C (andesite)</a:t>
            </a:r>
          </a:p>
          <a:p>
            <a:pPr algn="ctr"/>
            <a:r>
              <a:rPr sz="900" b="0">
                <a:solidFill>
                  <a:srgbClr val="8A93A3"/>
                </a:solidFill>
              </a:rPr>
              <a:t>p_cpx = 0.77</a:t>
            </a:r>
          </a:p>
        </p:txBody>
      </p:sp>
      <p:sp>
        <p:nvSpPr>
          <p:cNvPr id="16" name="Right Arrow 15"/>
          <p:cNvSpPr/>
          <p:nvPr/>
        </p:nvSpPr>
        <p:spPr>
          <a:xfrm>
            <a:off x="3246120" y="4069080"/>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703320" y="3840480"/>
            <a:ext cx="2926080" cy="777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256 rows: cpx in 197</a:t>
            </a:r>
          </a:p>
        </p:txBody>
      </p:sp>
      <p:cxnSp>
        <p:nvCxnSpPr>
          <p:cNvPr id="18" name="Connector 17"/>
          <p:cNvCxnSpPr/>
          <p:nvPr/>
        </p:nvCxnSpPr>
        <p:spPr>
          <a:xfrm flipV="1">
            <a:off x="6629400" y="3383280"/>
            <a:ext cx="548640" cy="841248"/>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178040" y="2514600"/>
            <a:ext cx="2377440" cy="173736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predictions binned:</a:t>
            </a:r>
          </a:p>
          <a:p>
            <a:pPr algn="ctr"/>
            <a:r>
              <a:rPr sz="1000" b="0">
                <a:solidFill>
                  <a:srgbClr val="8A93A3"/>
                </a:solidFill>
              </a:rPr>
              <a:t>p in [0.70, 0.80): 3 predictions,</a:t>
            </a:r>
          </a:p>
          <a:p>
            <a:pPr algn="ctr"/>
            <a:r>
              <a:rPr sz="1000" b="0">
                <a:solidFill>
                  <a:srgbClr val="8A93A3"/>
                </a:solidFill>
              </a:rPr>
              <a:t>x 256 labels each = 768 pairs</a:t>
            </a:r>
          </a:p>
          <a:p>
            <a:pPr algn="ctr"/>
            <a:r>
              <a:rPr sz="1000" b="0">
                <a:solidFill>
                  <a:srgbClr val="8A93A3"/>
                </a:solidFill>
              </a:rPr>
              <a:t>mean p = 0.740  .  actually</a:t>
            </a:r>
          </a:p>
          <a:p>
            <a:pPr algn="ctr"/>
            <a:r>
              <a:rPr sz="1000" b="0">
                <a:solidFill>
                  <a:srgbClr val="8A93A3"/>
                </a:solidFill>
              </a:rPr>
              <a:t>present: 547 / 768 = 0.712</a:t>
            </a:r>
          </a:p>
        </p:txBody>
      </p:sp>
      <p:sp>
        <p:nvSpPr>
          <p:cNvPr id="20" name="Rectangle 19"/>
          <p:cNvSpPr/>
          <p:nvPr/>
        </p:nvSpPr>
        <p:spPr>
          <a:xfrm>
            <a:off x="9875520" y="1783080"/>
            <a:ext cx="2103120" cy="2103120"/>
          </a:xfrm>
          <a:prstGeom prst="rect">
            <a:avLst/>
          </a:prstGeom>
          <a:no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flipV="1">
            <a:off x="9875520" y="1783080"/>
            <a:ext cx="2103120" cy="210312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11349532" y="2306482"/>
            <a:ext cx="164592" cy="164592"/>
          </a:xfrm>
          <a:prstGeom prst="ellipse">
            <a:avLst/>
          </a:prstGeom>
          <a:solidFill>
            <a:srgbClr val="E888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1358676" y="2826684"/>
            <a:ext cx="146304" cy="146304"/>
          </a:xfrm>
          <a:prstGeom prst="ellipse">
            <a:avLst/>
          </a:prstGeom>
          <a:solidFill>
            <a:srgbClr val="C8CD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flipV="1">
            <a:off x="8183879" y="2498506"/>
            <a:ext cx="3247949" cy="1753454"/>
          </a:xfrm>
          <a:prstGeom prst="bentConnector3">
            <a:avLst/>
          </a:prstGeom>
          <a:ln w="19050">
            <a:solidFill>
              <a:srgbClr val="E8883A"/>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9601200" y="3931920"/>
            <a:ext cx="2651760" cy="731520"/>
          </a:xfrm>
          <a:prstGeom prst="rect">
            <a:avLst/>
          </a:prstGeom>
          <a:noFill/>
        </p:spPr>
        <p:txBody>
          <a:bodyPr wrap="square">
            <a:spAutoFit/>
          </a:bodyPr>
          <a:lstStyle/>
          <a:p>
            <a:pPr algn="ctr"/>
            <a:r>
              <a:rPr sz="1000" b="0">
                <a:solidFill>
                  <a:srgbClr val="8A93A3"/>
                </a:solidFill>
              </a:rPr>
              <a:t>predicted p -&gt;</a:t>
            </a:r>
          </a:p>
        </p:txBody>
      </p:sp>
      <p:sp>
        <p:nvSpPr>
          <p:cNvPr id="26" name="TextBox 25"/>
          <p:cNvSpPr txBox="1"/>
          <p:nvPr/>
        </p:nvSpPr>
        <p:spPr>
          <a:xfrm>
            <a:off x="9601200" y="1371600"/>
            <a:ext cx="2651760" cy="731520"/>
          </a:xfrm>
          <a:prstGeom prst="rect">
            <a:avLst/>
          </a:prstGeom>
          <a:noFill/>
        </p:spPr>
        <p:txBody>
          <a:bodyPr wrap="square">
            <a:spAutoFit/>
          </a:bodyPr>
          <a:lstStyle/>
          <a:p>
            <a:pPr algn="ctr"/>
            <a:r>
              <a:rPr sz="1100" b="0">
                <a:solidFill>
                  <a:srgbClr val="E8883A"/>
                </a:solidFill>
              </a:rPr>
              <a:t>on the diagonal = calibrated</a:t>
            </a:r>
          </a:p>
        </p:txBody>
      </p:sp>
      <p:sp>
        <p:nvSpPr>
          <p:cNvPr id="27" name="TextBox 26"/>
          <p:cNvSpPr txBox="1"/>
          <p:nvPr/>
        </p:nvSpPr>
        <p:spPr>
          <a:xfrm>
            <a:off x="9601200" y="4270248"/>
            <a:ext cx="2651760" cy="731520"/>
          </a:xfrm>
          <a:prstGeom prst="rect">
            <a:avLst/>
          </a:prstGeom>
          <a:noFill/>
        </p:spPr>
        <p:txBody>
          <a:bodyPr wrap="square">
            <a:spAutoFit/>
          </a:bodyPr>
          <a:lstStyle/>
          <a:p>
            <a:pPr algn="ctr"/>
            <a:r>
              <a:rPr sz="900" b="0">
                <a:solidFill>
                  <a:srgbClr val="8A93A3"/>
                </a:solidFill>
              </a:rPr>
              <a:t>gray dot: overconfident (if truth were 360/768)</a:t>
            </a:r>
          </a:p>
        </p:txBody>
      </p:sp>
      <p:sp>
        <p:nvSpPr>
          <p:cNvPr id="28" name="TextBox 27"/>
          <p:cNvSpPr txBox="1"/>
          <p:nvPr/>
        </p:nvSpPr>
        <p:spPr>
          <a:xfrm>
            <a:off x="502920" y="4709160"/>
            <a:ext cx="11155680" cy="731520"/>
          </a:xfrm>
          <a:prstGeom prst="rect">
            <a:avLst/>
          </a:prstGeom>
          <a:noFill/>
        </p:spPr>
        <p:txBody>
          <a:bodyPr wrap="square">
            <a:spAutoFit/>
          </a:bodyPr>
          <a:lstStyle/>
          <a:p>
            <a:pPr algn="l"/>
            <a:r>
              <a:rPr sz="1100" b="0">
                <a:solidFill>
                  <a:srgbClr val="1A2238"/>
                </a:solidFill>
              </a:rPr>
              <a:t>"actually present" is the pooled hit rate over the rows whose prediction landed in the bin -- never a corpus-wide rate, never one rock alone. Per-rock misses can cancel inside a bin (B deserved 0.64); the p-vs-frequency scatter is the stricter per-rock test, and the head is scored on both.</a:t>
            </a:r>
          </a:p>
        </p:txBody>
      </p:sp>
      <p:sp>
        <p:nvSpPr>
          <p:cNvPr id="29" name="TextBox 28"/>
          <p:cNvSpPr txBox="1"/>
          <p:nvPr/>
        </p:nvSpPr>
        <p:spPr>
          <a:xfrm>
            <a:off x="502920" y="5394960"/>
            <a:ext cx="11155680" cy="731520"/>
          </a:xfrm>
          <a:prstGeom prst="rect">
            <a:avLst/>
          </a:prstGeom>
          <a:noFill/>
        </p:spPr>
        <p:txBody>
          <a:bodyPr wrap="square">
            <a:spAutoFit/>
          </a:bodyPr>
          <a:lstStyle/>
          <a:p>
            <a:pPr algn="l"/>
            <a:r>
              <a:rPr sz="1100" b="0">
                <a:solidFill>
                  <a:srgbClr val="1A2238"/>
                </a:solidFill>
              </a:rPr>
              <a:t>3 rocks shown; the real figure pools the val-roster rocks only -- 218 rocks x ~255 rows = 55,576 (p, truth) pairs per mineral panel, partitioned across the 10 bins (the gray bars). Training rocks are excluded because a head that memorized them would grade itself calibrated. And since all ~255 rows of a rock share one prediction, a panel holds only 218 distinct p values, each stamped ~256x -- the effective sample size is rocks, not rows. The population is the fixed val roster of the sealed valtest tier (128 draws/rock at rungs 50+30), so panels are comparable across retrains.</a:t>
            </a:r>
          </a:p>
        </p:txBody>
      </p:sp>
      <p:sp>
        <p:nvSpPr>
          <p:cNvPr id="30" name="TextBox 29"/>
          <p:cNvSpPr txBox="1"/>
          <p:nvPr/>
        </p:nvSpPr>
        <p:spPr>
          <a:xfrm>
            <a:off x="502920" y="6355080"/>
            <a:ext cx="11155680" cy="731520"/>
          </a:xfrm>
          <a:prstGeom prst="rect">
            <a:avLst/>
          </a:prstGeom>
          <a:noFill/>
        </p:spPr>
        <p:txBody>
          <a:bodyPr wrap="square">
            <a:spAutoFit/>
          </a:bodyPr>
          <a:lstStyle/>
          <a:p>
            <a:pPr algn="l"/>
            <a:r>
              <a:rPr sz="1000" b="0">
                <a:solidFill>
                  <a:srgbClr val="8A93A3"/>
                </a:solidFill>
              </a:rPr>
              <a:t>BCE's per-rock minimum is the true fraction, so an honest head lands on the diagonal by construction. current limits (production model): intermediate-frequency presence is the miss mode -- where a mineral grows on 10-50% of a rock's paths, recall runs 0.00-0.38, against 0.89-1.00 where it grows on &gt;90%; the rarest phases are essentially never called; spinel is the worst-calibrated panel (ECE 0.057). full report: runs/mode_head/&lt;tag&gt;/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If it's there, how much? One row through the Dirichlet</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magnitude branch's eval: slice the predicted concentrations to the row's true support, then meet the truth at the scoring step -- are the means right, and is the claimed spread honest (PIT)?</a:t>
            </a:r>
          </a:p>
        </p:txBody>
      </p:sp>
      <p:sp>
        <p:nvSpPr>
          <p:cNvPr id="5" name="Rounded Rectangle 4"/>
          <p:cNvSpPr/>
          <p:nvPr/>
        </p:nvSpPr>
        <p:spPr>
          <a:xfrm>
            <a:off x="502920" y="1783080"/>
            <a:ext cx="2560320" cy="13716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head output for bulk X</a:t>
            </a:r>
          </a:p>
          <a:p>
            <a:pPr algn="ctr"/>
            <a:r>
              <a:rPr sz="800" b="0">
                <a:solidFill>
                  <a:srgbClr val="8A93A3"/>
                </a:solidFill>
              </a:rPr>
              <a:t>alpha for all 21 phases, from</a:t>
            </a:r>
          </a:p>
          <a:p>
            <a:pPr algn="ctr"/>
            <a:r>
              <a:rPr sz="800" b="0">
                <a:solidFill>
                  <a:srgbClr val="8A93A3"/>
                </a:solidFill>
              </a:rPr>
              <a:t>the latent + the row's support --</a:t>
            </a:r>
          </a:p>
          <a:p>
            <a:pPr algn="ctr"/>
            <a:r>
              <a:rPr sz="800" b="0">
                <a:solidFill>
                  <a:srgbClr val="8A93A3"/>
                </a:solidFill>
              </a:rPr>
              <a:t>the true MODES are not an input</a:t>
            </a:r>
          </a:p>
        </p:txBody>
      </p:sp>
      <p:sp>
        <p:nvSpPr>
          <p:cNvPr id="6" name="Right Arrow 5"/>
          <p:cNvSpPr/>
          <p:nvPr/>
        </p:nvSpPr>
        <p:spPr>
          <a:xfrm>
            <a:off x="3154680" y="233172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520440" y="1783080"/>
            <a:ext cx="2560320" cy="13716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alpha sliced to the support</a:t>
            </a:r>
          </a:p>
          <a:p>
            <a:pPr algn="ctr"/>
            <a:r>
              <a:rPr sz="800" b="0">
                <a:solidFill>
                  <a:srgbClr val="8A93A3"/>
                </a:solidFill>
              </a:rPr>
              <a:t>plag 12.0    cpx 7.0</a:t>
            </a:r>
          </a:p>
          <a:p>
            <a:pPr algn="ctr"/>
            <a:r>
              <a:rPr sz="800" b="0">
                <a:solidFill>
                  <a:srgbClr val="8A93A3"/>
                </a:solidFill>
              </a:rPr>
              <a:t>amp 4.5      ilm 1.5</a:t>
            </a:r>
          </a:p>
          <a:p>
            <a:pPr algn="ctr"/>
            <a:r>
              <a:rPr sz="800" b="0">
                <a:solidFill>
                  <a:srgbClr val="8A93A3"/>
                </a:solidFill>
              </a:rPr>
              <a:t>alpha0 = sum = 25 (confidence)</a:t>
            </a:r>
          </a:p>
        </p:txBody>
      </p:sp>
      <p:sp>
        <p:nvSpPr>
          <p:cNvPr id="8" name="Right Arrow 7"/>
          <p:cNvSpPr/>
          <p:nvPr/>
        </p:nvSpPr>
        <p:spPr>
          <a:xfrm>
            <a:off x="6172200" y="233172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537960" y="1783080"/>
            <a:ext cx="2560320" cy="137160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predicted mean +/- spread</a:t>
            </a:r>
          </a:p>
          <a:p>
            <a:pPr algn="ctr"/>
            <a:r>
              <a:rPr sz="800" b="0">
                <a:solidFill>
                  <a:srgbClr val="8A93A3"/>
                </a:solidFill>
              </a:rPr>
              <a:t>plag 0.48 +/- 0.10</a:t>
            </a:r>
          </a:p>
          <a:p>
            <a:pPr algn="ctr"/>
            <a:r>
              <a:rPr sz="800" b="0">
                <a:solidFill>
                  <a:srgbClr val="8A93A3"/>
                </a:solidFill>
              </a:rPr>
              <a:t>cpx 0.28 +/- 0.09</a:t>
            </a:r>
          </a:p>
          <a:p>
            <a:pPr algn="ctr"/>
            <a:r>
              <a:rPr sz="800" b="0">
                <a:solidFill>
                  <a:srgbClr val="8A93A3"/>
                </a:solidFill>
              </a:rPr>
              <a:t>amp 0.18 +/- 0.08</a:t>
            </a:r>
          </a:p>
          <a:p>
            <a:pPr algn="ctr"/>
            <a:r>
              <a:rPr sz="800" b="0">
                <a:solidFill>
                  <a:srgbClr val="8A93A3"/>
                </a:solidFill>
              </a:rPr>
              <a:t>ilm 0.06 +/- 0.05</a:t>
            </a:r>
          </a:p>
        </p:txBody>
      </p:sp>
      <p:sp>
        <p:nvSpPr>
          <p:cNvPr id="10" name="Rounded Rectangle 9"/>
          <p:cNvSpPr/>
          <p:nvPr/>
        </p:nvSpPr>
        <p:spPr>
          <a:xfrm>
            <a:off x="502920" y="3429000"/>
            <a:ext cx="2560320" cy="118872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one row's truth</a:t>
            </a:r>
          </a:p>
          <a:p>
            <a:pPr algn="ctr"/>
            <a:r>
              <a:rPr sz="800" b="0">
                <a:solidFill>
                  <a:srgbClr val="8A93A3"/>
                </a:solidFill>
              </a:rPr>
              <a:t>bulk X . draw 17 . rung 50</a:t>
            </a:r>
          </a:p>
          <a:p>
            <a:pPr algn="ctr"/>
            <a:r>
              <a:rPr sz="800" b="0">
                <a:solidFill>
                  <a:srgbClr val="8A93A3"/>
                </a:solidFill>
              </a:rPr>
              <a:t>present: plag cpx amp ilm</a:t>
            </a:r>
          </a:p>
          <a:p>
            <a:pPr algn="ctr"/>
            <a:r>
              <a:rPr sz="800" b="0">
                <a:solidFill>
                  <a:srgbClr val="8A93A3"/>
                </a:solidFill>
              </a:rPr>
              <a:t>modes: .44  .26  .19  .11</a:t>
            </a:r>
          </a:p>
        </p:txBody>
      </p:sp>
      <p:sp>
        <p:nvSpPr>
          <p:cNvPr id="11" name="Right Arrow 10"/>
          <p:cNvSpPr/>
          <p:nvPr/>
        </p:nvSpPr>
        <p:spPr>
          <a:xfrm>
            <a:off x="3154680" y="388620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20440" y="3429000"/>
            <a:ext cx="2560320" cy="118872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scoring -- truth meets prediction</a:t>
            </a:r>
          </a:p>
          <a:p>
            <a:pPr algn="ctr"/>
            <a:r>
              <a:rPr sz="800" b="0">
                <a:solidFill>
                  <a:srgbClr val="8A93A3"/>
                </a:solidFill>
              </a:rPr>
              <a:t>eval: PIT of each true mode</a:t>
            </a:r>
          </a:p>
          <a:p>
            <a:pPr algn="ctr"/>
            <a:r>
              <a:rPr sz="800" b="0">
                <a:solidFill>
                  <a:srgbClr val="8A93A3"/>
                </a:solidFill>
              </a:rPr>
              <a:t>train: masked Dirichlet NLL</a:t>
            </a:r>
          </a:p>
        </p:txBody>
      </p:sp>
      <p:cxnSp>
        <p:nvCxnSpPr>
          <p:cNvPr id="13" name="Connector 12"/>
          <p:cNvCxnSpPr/>
          <p:nvPr/>
        </p:nvCxnSpPr>
        <p:spPr>
          <a:xfrm flipV="1">
            <a:off x="2651760" y="3154680"/>
            <a:ext cx="1280160" cy="274320"/>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48640" y="3172968"/>
            <a:ext cx="2377440" cy="731520"/>
          </a:xfrm>
          <a:prstGeom prst="rect">
            <a:avLst/>
          </a:prstGeom>
          <a:noFill/>
        </p:spPr>
        <p:txBody>
          <a:bodyPr wrap="square">
            <a:spAutoFit/>
          </a:bodyPr>
          <a:lstStyle/>
          <a:p>
            <a:pPr algn="l"/>
            <a:r>
              <a:rPr sz="900" b="0">
                <a:solidFill>
                  <a:srgbClr val="2A9D8F"/>
                </a:solidFill>
              </a:rPr>
              <a:t>support only (which phases)</a:t>
            </a:r>
          </a:p>
        </p:txBody>
      </p:sp>
      <p:cxnSp>
        <p:nvCxnSpPr>
          <p:cNvPr id="15" name="Connector 14"/>
          <p:cNvCxnSpPr/>
          <p:nvPr/>
        </p:nvCxnSpPr>
        <p:spPr>
          <a:xfrm flipH="1">
            <a:off x="6080760" y="3154680"/>
            <a:ext cx="1737360" cy="777240"/>
          </a:xfrm>
          <a:prstGeom prst="bentConnector3">
            <a:avLst/>
          </a:prstGeom>
          <a:ln w="19050">
            <a:solidFill>
              <a:srgbClr val="6C5CE7"/>
            </a:solidFill>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315200" y="3429000"/>
            <a:ext cx="4297680" cy="11887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L_magnitude = −log Dir(mₛ | αₛ), expanded:</a:t>
            </a:r>
          </a:p>
          <a:p>
            <a:pPr algn="ctr"/>
            <a:r>
              <a:rPr sz="1100" b="1">
                <a:solidFill>
                  <a:srgbClr val="8A93A3"/>
                </a:solidFill>
              </a:rPr>
              <a:t>= Σ lnΓ(αᵢ) − lnΓ(α₀) − Σ (αᵢ−1) ln mᵢ   (sums over S)</a:t>
            </a:r>
          </a:p>
          <a:p>
            <a:pPr algn="ctr"/>
            <a:r>
              <a:rPr sz="800" b="0">
                <a:solidFill>
                  <a:srgbClr val="8A93A3"/>
                </a:solidFill>
              </a:rPr>
              <a:t>mᵢ true mode . αᵢ predicted concentration . α₀ = Σ αᵢ . Γ extends factorial</a:t>
            </a:r>
          </a:p>
          <a:p>
            <a:pPr algn="ctr"/>
            <a:r>
              <a:rPr sz="800" b="0">
                <a:solidFill>
                  <a:srgbClr val="8A93A3"/>
                </a:solidFill>
              </a:rPr>
              <a:t>Γ terms: normalizer -- the cost of confidence, grows with α₀</a:t>
            </a:r>
          </a:p>
          <a:p>
            <a:pPr algn="ctr"/>
            <a:r>
              <a:rPr sz="800" b="0">
                <a:solidFill>
                  <a:srgbClr val="8A93A3"/>
                </a:solidFill>
              </a:rPr>
              <a:t>(αᵢ−1) ln mᵢ: shape term -- the only place truth meets prediction</a:t>
            </a:r>
          </a:p>
          <a:p>
            <a:pPr algn="ctr"/>
            <a:r>
              <a:rPr sz="800" b="0">
                <a:solidFill>
                  <a:srgbClr val="8A93A3"/>
                </a:solidFill>
              </a:rPr>
              <a:t>a density, not a probability -- well-scored rows go negative</a:t>
            </a:r>
          </a:p>
        </p:txBody>
      </p:sp>
      <p:sp>
        <p:nvSpPr>
          <p:cNvPr id="17" name="Freeform 16"/>
          <p:cNvSpPr/>
          <p:nvPr/>
        </p:nvSpPr>
        <p:spPr>
          <a:xfrm>
            <a:off x="10104120" y="2240280"/>
            <a:ext cx="1828800" cy="1051560"/>
          </a:xfrm>
          <a:custGeom>
            <a:avLst/>
            <a:gdLst/>
            <a:ahLst/>
            <a:cxnLst/>
            <a:rect l="l" t="t" r="r" b="b"/>
            <a:pathLst>
              <a:path w="1828800" h="1051560">
                <a:moveTo>
                  <a:pt x="0" y="1051560"/>
                </a:moveTo>
                <a:lnTo>
                  <a:pt x="0" y="1051549"/>
                </a:lnTo>
                <a:lnTo>
                  <a:pt x="38100" y="1051532"/>
                </a:lnTo>
                <a:lnTo>
                  <a:pt x="76200" y="1051489"/>
                </a:lnTo>
                <a:lnTo>
                  <a:pt x="114300" y="1051387"/>
                </a:lnTo>
                <a:lnTo>
                  <a:pt x="152400" y="1051157"/>
                </a:lnTo>
                <a:lnTo>
                  <a:pt x="190500" y="1050659"/>
                </a:lnTo>
                <a:lnTo>
                  <a:pt x="228600" y="1049631"/>
                </a:lnTo>
                <a:lnTo>
                  <a:pt x="266700" y="1047606"/>
                </a:lnTo>
                <a:lnTo>
                  <a:pt x="304800" y="1043798"/>
                </a:lnTo>
                <a:lnTo>
                  <a:pt x="342900" y="1036971"/>
                </a:lnTo>
                <a:lnTo>
                  <a:pt x="381000" y="1025303"/>
                </a:lnTo>
                <a:lnTo>
                  <a:pt x="419100" y="1006310"/>
                </a:lnTo>
                <a:lnTo>
                  <a:pt x="457200" y="976891"/>
                </a:lnTo>
                <a:lnTo>
                  <a:pt x="495300" y="933578"/>
                </a:lnTo>
                <a:lnTo>
                  <a:pt x="533400" y="873059"/>
                </a:lnTo>
                <a:lnTo>
                  <a:pt x="571500" y="792967"/>
                </a:lnTo>
                <a:lnTo>
                  <a:pt x="609600" y="692851"/>
                </a:lnTo>
                <a:lnTo>
                  <a:pt x="647700" y="575109"/>
                </a:lnTo>
                <a:lnTo>
                  <a:pt x="685800" y="445599"/>
                </a:lnTo>
                <a:lnTo>
                  <a:pt x="723900" y="313619"/>
                </a:lnTo>
                <a:lnTo>
                  <a:pt x="762000" y="191063"/>
                </a:lnTo>
                <a:lnTo>
                  <a:pt x="800100" y="90773"/>
                </a:lnTo>
                <a:lnTo>
                  <a:pt x="838200" y="24359"/>
                </a:lnTo>
                <a:lnTo>
                  <a:pt x="876300" y="0"/>
                </a:lnTo>
                <a:lnTo>
                  <a:pt x="914400" y="20786"/>
                </a:lnTo>
                <a:lnTo>
                  <a:pt x="952500" y="84078"/>
                </a:lnTo>
                <a:lnTo>
                  <a:pt x="990600" y="182053"/>
                </a:lnTo>
                <a:lnTo>
                  <a:pt x="1028700" y="303298"/>
                </a:lnTo>
                <a:lnTo>
                  <a:pt x="1066800" y="434987"/>
                </a:lnTo>
                <a:lnTo>
                  <a:pt x="1104900" y="565079"/>
                </a:lnTo>
                <a:lnTo>
                  <a:pt x="1143000" y="684026"/>
                </a:lnTo>
                <a:lnTo>
                  <a:pt x="1181100" y="785683"/>
                </a:lnTo>
                <a:lnTo>
                  <a:pt x="1219200" y="867393"/>
                </a:lnTo>
                <a:lnTo>
                  <a:pt x="1257300" y="929409"/>
                </a:lnTo>
                <a:lnTo>
                  <a:pt x="1295400" y="973983"/>
                </a:lnTo>
                <a:lnTo>
                  <a:pt x="1333500" y="1004385"/>
                </a:lnTo>
                <a:lnTo>
                  <a:pt x="1371600" y="1024090"/>
                </a:lnTo>
                <a:lnTo>
                  <a:pt x="1409700" y="1036244"/>
                </a:lnTo>
                <a:lnTo>
                  <a:pt x="1447800" y="1043383"/>
                </a:lnTo>
                <a:lnTo>
                  <a:pt x="1485900" y="1047380"/>
                </a:lnTo>
                <a:lnTo>
                  <a:pt x="1524000" y="1049514"/>
                </a:lnTo>
                <a:lnTo>
                  <a:pt x="1562100" y="1050601"/>
                </a:lnTo>
                <a:lnTo>
                  <a:pt x="1600200" y="1051129"/>
                </a:lnTo>
                <a:lnTo>
                  <a:pt x="1638300" y="1051375"/>
                </a:lnTo>
                <a:lnTo>
                  <a:pt x="1676400" y="1051483"/>
                </a:lnTo>
                <a:lnTo>
                  <a:pt x="1714500" y="1051530"/>
                </a:lnTo>
                <a:lnTo>
                  <a:pt x="1752600" y="1051548"/>
                </a:lnTo>
                <a:lnTo>
                  <a:pt x="1790700" y="1051555"/>
                </a:lnTo>
                <a:lnTo>
                  <a:pt x="1828800" y="1051558"/>
                </a:lnTo>
                <a:lnTo>
                  <a:pt x="1828800" y="1051560"/>
                </a:lnTo>
                <a:close/>
              </a:path>
            </a:pathLst>
          </a:custGeom>
          <a:solidFill>
            <a:srgbClr val="D5D1F8"/>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10104120" y="3291840"/>
            <a:ext cx="182880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921240" y="3337560"/>
            <a:ext cx="2194560" cy="365760"/>
          </a:xfrm>
          <a:prstGeom prst="rect">
            <a:avLst/>
          </a:prstGeom>
          <a:noFill/>
        </p:spPr>
        <p:txBody>
          <a:bodyPr wrap="square">
            <a:spAutoFit/>
          </a:bodyPr>
          <a:lstStyle/>
          <a:p>
            <a:pPr algn="ctr"/>
            <a:r>
              <a:rPr sz="1200" b="1">
                <a:solidFill>
                  <a:srgbClr val="1A2238"/>
                </a:solidFill>
              </a:rPr>
              <a:t>plag marginal: Beta(12, 13)</a:t>
            </a:r>
          </a:p>
        </p:txBody>
      </p:sp>
      <p:cxnSp>
        <p:nvCxnSpPr>
          <p:cNvPr id="20" name="Connector 19"/>
          <p:cNvCxnSpPr/>
          <p:nvPr/>
        </p:nvCxnSpPr>
        <p:spPr>
          <a:xfrm flipV="1">
            <a:off x="10908792" y="2103120"/>
            <a:ext cx="0" cy="1188720"/>
          </a:xfrm>
          <a:prstGeom prst="bentConnector3">
            <a:avLst/>
          </a:prstGeom>
          <a:ln w="2540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9875520" y="1737360"/>
            <a:ext cx="2286000" cy="731520"/>
          </a:xfrm>
          <a:prstGeom prst="rect">
            <a:avLst/>
          </a:prstGeom>
          <a:noFill/>
        </p:spPr>
        <p:txBody>
          <a:bodyPr wrap="square">
            <a:spAutoFit/>
          </a:bodyPr>
          <a:lstStyle/>
          <a:p>
            <a:pPr algn="ctr"/>
            <a:r>
              <a:rPr sz="1000" b="0">
                <a:solidFill>
                  <a:srgbClr val="2A9D8F"/>
                </a:solidFill>
              </a:rPr>
              <a:t>truth 0.44 -&gt; PIT 0.34</a:t>
            </a:r>
          </a:p>
        </p:txBody>
      </p:sp>
      <p:sp>
        <p:nvSpPr>
          <p:cNvPr id="22" name="TextBox 21"/>
          <p:cNvSpPr txBox="1"/>
          <p:nvPr/>
        </p:nvSpPr>
        <p:spPr>
          <a:xfrm>
            <a:off x="502920" y="4754880"/>
            <a:ext cx="11155680" cy="731520"/>
          </a:xfrm>
          <a:prstGeom prst="rect">
            <a:avLst/>
          </a:prstGeom>
          <a:noFill/>
        </p:spPr>
        <p:txBody>
          <a:bodyPr wrap="square">
            <a:spAutoFit/>
          </a:bodyPr>
          <a:lstStyle/>
          <a:p>
            <a:pPr algn="l"/>
            <a:r>
              <a:rPr sz="1100" b="0">
                <a:solidFill>
                  <a:srgbClr val="1A2238"/>
                </a:solidFill>
              </a:rPr>
              <a:t>each present phase's marginal is a Beta distribution; PIT = where the truth lands inside it (its CDF value). Over many rows a flat PIT histogram means the spread is honest; a U means overconfident (truth keeps escaping the claimed range), a hump means underconfident.</a:t>
            </a:r>
          </a:p>
        </p:txBody>
      </p:sp>
      <p:sp>
        <p:nvSpPr>
          <p:cNvPr id="23" name="TextBox 22"/>
          <p:cNvSpPr txBox="1"/>
          <p:nvPr/>
        </p:nvSpPr>
        <p:spPr>
          <a:xfrm>
            <a:off x="502920" y="5486400"/>
            <a:ext cx="11155680" cy="731520"/>
          </a:xfrm>
          <a:prstGeom prst="rect">
            <a:avLst/>
          </a:prstGeom>
          <a:noFill/>
        </p:spPr>
        <p:txBody>
          <a:bodyPr wrap="square">
            <a:spAutoFit/>
          </a:bodyPr>
          <a:lstStyle/>
          <a:p>
            <a:pPr algn="l"/>
            <a:r>
              <a:rPr sz="1100" b="0">
                <a:solidFill>
                  <a:srgbClr val="1A2238"/>
                </a:solidFill>
              </a:rPr>
              <a:t>the truth's modes never enter the model; its support enters twice -- it CONDITIONS alpha (the magnitude trunk reads [h, support]; teacher-forced at train/eval, sampled from the presence branch at inference) and it slices the score to the present set (a Dirichlet sub-composition is itself a Dirichlet, so the sliced score is a proper density).</a:t>
            </a:r>
          </a:p>
        </p:txBody>
      </p:sp>
      <p:sp>
        <p:nvSpPr>
          <p:cNvPr id="24" name="TextBox 23"/>
          <p:cNvSpPr txBox="1"/>
          <p:nvPr/>
        </p:nvSpPr>
        <p:spPr>
          <a:xfrm>
            <a:off x="502920" y="6263640"/>
            <a:ext cx="11155680" cy="731520"/>
          </a:xfrm>
          <a:prstGeom prst="rect">
            <a:avLst/>
          </a:prstGeom>
          <a:noFill/>
        </p:spPr>
        <p:txBody>
          <a:bodyPr wrap="square">
            <a:spAutoFit/>
          </a:bodyPr>
          <a:lstStyle/>
          <a:p>
            <a:pPr algn="l"/>
            <a:r>
              <a:rPr sz="1000" b="0">
                <a:solidFill>
                  <a:srgbClr val="8A93A3"/>
                </a:solidFill>
              </a:rPr>
              <a:t>population: only truly-present (row, phase) pairs are scored -- ~41k pairs for plag down to a few hundred for the rarest phases; single-phase rows are excluded (nothing to size). current limits (production model): amp parity r 0.876 teacher-forced but 0.539 on self-sampled supports; the interrogation also measured amp bimodal WITHIN one support (mixture parameterization is the staged candidate, #25). full report: runs/mode_head/&lt;tag&gt;/ (magnitude_parity, magnitude_pit).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Inside CompHead: one oxide Dirichlet per mineral</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CompHead emits a Dirichlet over the 11 MAGEMin oxides for each of the 21 phases -- composition is bulk-controlled, so it reads h only (never the support or conditions)</a:t>
            </a:r>
          </a:p>
        </p:txBody>
      </p:sp>
      <p:sp>
        <p:nvSpPr>
          <p:cNvPr id="5" name="Oval 4"/>
          <p:cNvSpPr/>
          <p:nvPr/>
        </p:nvSpPr>
        <p:spPr>
          <a:xfrm>
            <a:off x="777240" y="2834640"/>
            <a:ext cx="1371600" cy="137160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6" name="TextBox 5"/>
          <p:cNvSpPr txBox="1"/>
          <p:nvPr/>
        </p:nvSpPr>
        <p:spPr>
          <a:xfrm>
            <a:off x="457200" y="4434840"/>
            <a:ext cx="2011680" cy="731520"/>
          </a:xfrm>
          <a:prstGeom prst="rect">
            <a:avLst/>
          </a:prstGeom>
          <a:noFill/>
        </p:spPr>
        <p:txBody>
          <a:bodyPr wrap="square">
            <a:spAutoFit/>
          </a:bodyPr>
          <a:lstStyle/>
          <a:p>
            <a:pPr algn="ctr"/>
            <a:r>
              <a:rPr sz="1000" b="0">
                <a:solidFill>
                  <a:srgbClr val="8A93A3"/>
                </a:solidFill>
              </a:rPr>
              <a:t>from the frozen encoder (3.23M params, not trained here)</a:t>
            </a:r>
          </a:p>
        </p:txBody>
      </p:sp>
      <p:sp>
        <p:nvSpPr>
          <p:cNvPr id="7" name="Right Arrow 6"/>
          <p:cNvSpPr/>
          <p:nvPr/>
        </p:nvSpPr>
        <p:spPr>
          <a:xfrm>
            <a:off x="2286000" y="333756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834640" y="2788920"/>
            <a:ext cx="2651760" cy="14630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own trunk</a:t>
            </a:r>
          </a:p>
          <a:p>
            <a:pPr algn="ctr"/>
            <a:r>
              <a:rPr sz="1000" b="0">
                <a:solidFill>
                  <a:srgbClr val="8A93A3"/>
                </a:solidFill>
              </a:rPr>
              <a:t>Linear 256 -&gt; 128</a:t>
            </a:r>
          </a:p>
          <a:p>
            <a:pPr algn="ctr"/>
            <a:r>
              <a:rPr sz="1000" b="0">
                <a:solidFill>
                  <a:srgbClr val="8A93A3"/>
                </a:solidFill>
              </a:rPr>
              <a:t>GELU + dropout</a:t>
            </a:r>
          </a:p>
          <a:p>
            <a:pPr algn="ctr"/>
            <a:r>
              <a:rPr sz="1000" b="0">
                <a:solidFill>
                  <a:srgbClr val="8A93A3"/>
                </a:solidFill>
              </a:rPr>
              <a:t>32,896 params</a:t>
            </a:r>
          </a:p>
        </p:txBody>
      </p:sp>
      <p:cxnSp>
        <p:nvCxnSpPr>
          <p:cNvPr id="9" name="Connector 8"/>
          <p:cNvCxnSpPr/>
          <p:nvPr/>
        </p:nvCxnSpPr>
        <p:spPr>
          <a:xfrm flipV="1">
            <a:off x="5486400" y="2537460"/>
            <a:ext cx="685800" cy="98298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172200" y="1828800"/>
            <a:ext cx="3017520" cy="14173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mean branch</a:t>
            </a:r>
          </a:p>
          <a:p>
            <a:pPr algn="ctr"/>
            <a:r>
              <a:rPr sz="1000" b="0">
                <a:solidFill>
                  <a:srgbClr val="8A93A3"/>
                </a:solidFill>
              </a:rPr>
              <a:t>Linear 128 -&gt; 231 (21x11)</a:t>
            </a:r>
          </a:p>
          <a:p>
            <a:pPr algn="ctr"/>
            <a:r>
              <a:rPr sz="1000" b="0">
                <a:solidFill>
                  <a:srgbClr val="8A93A3"/>
                </a:solidFill>
              </a:rPr>
              <a:t>softmax per phase: m_p, the oxide mix</a:t>
            </a:r>
          </a:p>
          <a:p>
            <a:pPr algn="ctr"/>
            <a:r>
              <a:rPr sz="1000" b="0">
                <a:solidFill>
                  <a:srgbClr val="8A93A3"/>
                </a:solidFill>
              </a:rPr>
              <a:t>29,799 params</a:t>
            </a:r>
          </a:p>
        </p:txBody>
      </p:sp>
      <p:sp>
        <p:nvSpPr>
          <p:cNvPr id="11" name="Right Arrow 10"/>
          <p:cNvSpPr/>
          <p:nvPr/>
        </p:nvSpPr>
        <p:spPr>
          <a:xfrm>
            <a:off x="9281160" y="237286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738360" y="1874519"/>
            <a:ext cx="2057400" cy="13258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21 simplex means</a:t>
            </a:r>
          </a:p>
          <a:p>
            <a:pPr algn="ctr"/>
            <a:r>
              <a:rPr sz="900" b="0">
                <a:solidFill>
                  <a:srgbClr val="8A93A3"/>
                </a:solidFill>
              </a:rPr>
              <a:t>what each mineral</a:t>
            </a:r>
          </a:p>
          <a:p>
            <a:pPr algn="ctr"/>
            <a:r>
              <a:rPr sz="900" b="0">
                <a:solidFill>
                  <a:srgbClr val="8A93A3"/>
                </a:solidFill>
              </a:rPr>
              <a:t>is made of</a:t>
            </a:r>
          </a:p>
        </p:txBody>
      </p:sp>
      <p:cxnSp>
        <p:nvCxnSpPr>
          <p:cNvPr id="13" name="Connector 12"/>
          <p:cNvCxnSpPr/>
          <p:nvPr/>
        </p:nvCxnSpPr>
        <p:spPr>
          <a:xfrm>
            <a:off x="5486400" y="3520440"/>
            <a:ext cx="685800" cy="102870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172200" y="3840480"/>
            <a:ext cx="3017520" cy="141732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concentration branch</a:t>
            </a:r>
          </a:p>
          <a:p>
            <a:pPr algn="ctr"/>
            <a:r>
              <a:rPr sz="1000" b="0">
                <a:solidFill>
                  <a:srgbClr val="8A93A3"/>
                </a:solidFill>
              </a:rPr>
              <a:t>Linear 128 -&gt; 21, softplus + eps</a:t>
            </a:r>
          </a:p>
          <a:p>
            <a:pPr algn="ctr"/>
            <a:r>
              <a:rPr sz="1000" b="0">
                <a:solidFill>
                  <a:srgbClr val="8A93A3"/>
                </a:solidFill>
              </a:rPr>
              <a:t>c_p = one certainty scalar per phase</a:t>
            </a:r>
          </a:p>
          <a:p>
            <a:pPr algn="ctr"/>
            <a:r>
              <a:rPr sz="1000" b="0">
                <a:solidFill>
                  <a:srgbClr val="8A93A3"/>
                </a:solidFill>
              </a:rPr>
              <a:t>2,709 params</a:t>
            </a:r>
          </a:p>
        </p:txBody>
      </p:sp>
      <p:sp>
        <p:nvSpPr>
          <p:cNvPr id="15" name="Right Arrow 14"/>
          <p:cNvSpPr/>
          <p:nvPr/>
        </p:nvSpPr>
        <p:spPr>
          <a:xfrm>
            <a:off x="9281160" y="438454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738360" y="3886200"/>
            <a:ext cx="2057400" cy="13258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21 certainties</a:t>
            </a:r>
          </a:p>
          <a:p>
            <a:pPr algn="ctr"/>
            <a:r>
              <a:rPr sz="900" b="0">
                <a:solidFill>
                  <a:srgbClr val="8A93A3"/>
                </a:solidFill>
              </a:rPr>
              <a:t>alpha_p = c_p · m_p</a:t>
            </a:r>
          </a:p>
          <a:p>
            <a:pPr algn="ctr"/>
            <a:r>
              <a:rPr sz="900" b="0">
                <a:solidFill>
                  <a:srgbClr val="8A93A3"/>
                </a:solidFill>
              </a:rPr>
              <a:t>(mean invariant to c_p)</a:t>
            </a:r>
          </a:p>
        </p:txBody>
      </p:sp>
      <p:sp>
        <p:nvSpPr>
          <p:cNvPr id="17" name="TextBox 16"/>
          <p:cNvSpPr txBox="1"/>
          <p:nvPr/>
        </p:nvSpPr>
        <p:spPr>
          <a:xfrm>
            <a:off x="502920" y="5349240"/>
            <a:ext cx="11155680" cy="731520"/>
          </a:xfrm>
          <a:prstGeom prst="rect">
            <a:avLst/>
          </a:prstGeom>
          <a:noFill/>
        </p:spPr>
        <p:txBody>
          <a:bodyPr wrap="square">
            <a:spAutoFit/>
          </a:bodyPr>
          <a:lstStyle/>
          <a:p>
            <a:pPr algn="l"/>
            <a:r>
              <a:rPr sz="1100" b="0">
                <a:solidFill>
                  <a:srgbClr val="1A2238"/>
                </a:solidFill>
              </a:rPr>
              <a:t>65,404 trainable params (trunk 32,896 + mean 29,799 + concentration 2,709) -- ~2.0% of the frozen encoder, and the smallest of the three heads despite emitting the most numbers (21 x 11).</a:t>
            </a:r>
          </a:p>
        </p:txBody>
      </p:sp>
      <p:sp>
        <p:nvSpPr>
          <p:cNvPr id="18" name="TextBox 17"/>
          <p:cNvSpPr txBox="1"/>
          <p:nvPr/>
        </p:nvSpPr>
        <p:spPr>
          <a:xfrm>
            <a:off x="502920" y="5669280"/>
            <a:ext cx="11155680" cy="731520"/>
          </a:xfrm>
          <a:prstGeom prst="rect">
            <a:avLst/>
          </a:prstGeom>
          <a:noFill/>
        </p:spPr>
        <p:txBody>
          <a:bodyPr wrap="square">
            <a:spAutoFit/>
          </a:bodyPr>
          <a:lstStyle/>
          <a:p>
            <a:pPr algn="l"/>
            <a:r>
              <a:rPr sz="1000" b="0">
                <a:solidFill>
                  <a:srgbClr val="8A93A3"/>
                </a:solidFill>
              </a:rPr>
              <a:t>dials (configs/heads/joint_heads.yaml): comp_hidden null -&gt; 128 . comp_layers 1 (mini-sweep verdict: capacity above 128 x 1 hurts comp) . dropout 0.260 . alpha_eps 1e-6 . comp_eps 1e-4 (hard-zero clip on targets) . lambda_comp 1.0 . lambda_balance 0.00308 -- fixed in code: GELU, AdamW, per-head grad-clip 1.0</a:t>
            </a:r>
          </a:p>
        </p:txBody>
      </p:sp>
      <p:sp>
        <p:nvSpPr>
          <p:cNvPr id="19" name="Rounded Rectangle 18"/>
          <p:cNvSpPr/>
          <p:nvPr/>
        </p:nvSpPr>
        <p:spPr>
          <a:xfrm>
            <a:off x="146304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alpha_p = c_p · softmax(u_p)</a:t>
            </a:r>
          </a:p>
          <a:p>
            <a:pPr algn="ctr"/>
            <a:r>
              <a:rPr sz="900" b="0">
                <a:solidFill>
                  <a:srgbClr val="8A93A3"/>
                </a:solidFill>
              </a:rPr>
              <a:t>mean x shared-concentration factorization: c_p scales certainty, never the predicted composition</a:t>
            </a:r>
          </a:p>
        </p:txBody>
      </p:sp>
      <p:sp>
        <p:nvSpPr>
          <p:cNvPr id="20" name="Rounded Rectangle 19"/>
          <p:cNvSpPr/>
          <p:nvPr/>
        </p:nvSpPr>
        <p:spPr>
          <a:xfrm>
            <a:off x="487680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L_comp = −mean_{p ∈ S} log Dir(x_p | alpha_p)</a:t>
            </a:r>
          </a:p>
          <a:p>
            <a:pPr algn="ctr"/>
            <a:r>
              <a:rPr sz="900" b="0">
                <a:solidFill>
                  <a:srgbClr val="8A93A3"/>
                </a:solidFill>
              </a:rPr>
              <a:t>Dirichlet NLL only where the label marks phase p present; targets eps-clipped to full support, renormalized</a:t>
            </a:r>
          </a:p>
        </p:txBody>
      </p:sp>
      <p:sp>
        <p:nvSpPr>
          <p:cNvPr id="21" name="Rounded Rectangle 20"/>
          <p:cNvSpPr/>
          <p:nvPr/>
        </p:nvSpPr>
        <p:spPr>
          <a:xfrm>
            <a:off x="829056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L_closure = ‖(1−F_liq−F_fl)·Σᵢ mᵢCᵢ + F_liq·C_liq + F_fl·C_fl − B‖²</a:t>
            </a:r>
          </a:p>
          <a:p>
            <a:pPr algn="ctr"/>
            <a:r>
              <a:rPr sz="900" b="0">
                <a:solidFill>
                  <a:srgbClr val="8A93A3"/>
                </a:solidFill>
              </a:rPr>
              <a:t>mass balance: ModeHead's modes m x CompHead's comps C must rebuild the input bulk B; melt/fluid side teacher-forced from the corpus</a:t>
            </a:r>
          </a:p>
        </p:txBody>
      </p:sp>
      <p:sp>
        <p:nvSpPr>
          <p:cNvPr id="22" name="TextBox 21"/>
          <p:cNvSpPr txBox="1"/>
          <p:nvPr/>
        </p:nvSpPr>
        <p:spPr>
          <a:xfrm>
            <a:off x="457200" y="6080760"/>
            <a:ext cx="960120" cy="731520"/>
          </a:xfrm>
          <a:prstGeom prst="rect">
            <a:avLst/>
          </a:prstGeom>
          <a:noFill/>
        </p:spPr>
        <p:txBody>
          <a:bodyPr wrap="square">
            <a:spAutoFit/>
          </a:bodyPr>
          <a:lstStyle/>
          <a:p>
            <a:pPr algn="l"/>
            <a:r>
              <a:rPr sz="1100" b="0">
                <a:solidFill>
                  <a:srgbClr val="C0392B"/>
                </a:solidFill>
              </a:rPr>
              <a:t>the loss,
explicitly: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Is the recipe right? One phase through the oxide Dirichlet</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CompHead's eval: slice the per-phase Dirichlets to the row's true support, then score each present phase's 11-oxide simplex -- right mix (parity), honest error bars (PIT), and mass balance as the physics self-check</a:t>
            </a:r>
          </a:p>
        </p:txBody>
      </p:sp>
      <p:sp>
        <p:nvSpPr>
          <p:cNvPr id="5" name="Rounded Rectangle 4"/>
          <p:cNvSpPr/>
          <p:nvPr/>
        </p:nvSpPr>
        <p:spPr>
          <a:xfrm>
            <a:off x="502920" y="1783080"/>
            <a:ext cx="2560320" cy="13716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head output for bulk X</a:t>
            </a:r>
          </a:p>
          <a:p>
            <a:pPr algn="ctr"/>
            <a:r>
              <a:rPr sz="800" b="0">
                <a:solidFill>
                  <a:srgbClr val="8A93A3"/>
                </a:solidFill>
              </a:rPr>
              <a:t>alpha [21 phases x 11 oxides],</a:t>
            </a:r>
          </a:p>
          <a:p>
            <a:pPr algn="ctr"/>
            <a:r>
              <a:rPr sz="800" b="0">
                <a:solidFill>
                  <a:srgbClr val="8A93A3"/>
                </a:solidFill>
              </a:rPr>
              <a:t>computed from the latent --</a:t>
            </a:r>
          </a:p>
          <a:p>
            <a:pPr algn="ctr"/>
            <a:r>
              <a:rPr sz="800" b="0">
                <a:solidFill>
                  <a:srgbClr val="8A93A3"/>
                </a:solidFill>
              </a:rPr>
              <a:t>truth is not an input</a:t>
            </a:r>
          </a:p>
        </p:txBody>
      </p:sp>
      <p:sp>
        <p:nvSpPr>
          <p:cNvPr id="6" name="Right Arrow 5"/>
          <p:cNvSpPr/>
          <p:nvPr/>
        </p:nvSpPr>
        <p:spPr>
          <a:xfrm>
            <a:off x="3154680" y="233172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520440" y="1783080"/>
            <a:ext cx="2560320" cy="13716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one present phase: plag</a:t>
            </a:r>
          </a:p>
          <a:p>
            <a:pPr algn="ctr"/>
            <a:r>
              <a:rPr sz="800" b="0">
                <a:solidFill>
                  <a:srgbClr val="8A93A3"/>
                </a:solidFill>
              </a:rPr>
              <a:t>alpha0 = 780 (confidence)</a:t>
            </a:r>
          </a:p>
          <a:p>
            <a:pPr algn="ctr"/>
            <a:r>
              <a:rPr sz="800" b="0">
                <a:solidFill>
                  <a:srgbClr val="8A93A3"/>
                </a:solidFill>
              </a:rPr>
              <a:t>mean = alpha / alpha0:</a:t>
            </a:r>
          </a:p>
          <a:p>
            <a:pPr algn="ctr"/>
            <a:r>
              <a:rPr sz="800" b="0">
                <a:solidFill>
                  <a:srgbClr val="8A93A3"/>
                </a:solidFill>
              </a:rPr>
              <a:t>SiO2 .55  Al2O3 .28  CaO .12 ...</a:t>
            </a:r>
          </a:p>
        </p:txBody>
      </p:sp>
      <p:sp>
        <p:nvSpPr>
          <p:cNvPr id="8" name="Right Arrow 7"/>
          <p:cNvSpPr/>
          <p:nvPr/>
        </p:nvSpPr>
        <p:spPr>
          <a:xfrm>
            <a:off x="6172200" y="233172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537960" y="1783080"/>
            <a:ext cx="2560320" cy="137160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predicted mix +/- spread</a:t>
            </a:r>
          </a:p>
          <a:p>
            <a:pPr algn="ctr"/>
            <a:r>
              <a:rPr sz="800" b="0">
                <a:solidFill>
                  <a:srgbClr val="8A93A3"/>
                </a:solidFill>
              </a:rPr>
              <a:t>SiO2 0.55 +/- 0.018</a:t>
            </a:r>
          </a:p>
          <a:p>
            <a:pPr algn="ctr"/>
            <a:r>
              <a:rPr sz="800" b="0">
                <a:solidFill>
                  <a:srgbClr val="8A93A3"/>
                </a:solidFill>
              </a:rPr>
              <a:t>Al2O3 0.28 +/- 0.016</a:t>
            </a:r>
          </a:p>
          <a:p>
            <a:pPr algn="ctr"/>
            <a:r>
              <a:rPr sz="800" b="0">
                <a:solidFill>
                  <a:srgbClr val="8A93A3"/>
                </a:solidFill>
              </a:rPr>
              <a:t>CaO 0.12 +/- 0.012</a:t>
            </a:r>
          </a:p>
        </p:txBody>
      </p:sp>
      <p:sp>
        <p:nvSpPr>
          <p:cNvPr id="10" name="Rounded Rectangle 9"/>
          <p:cNvSpPr/>
          <p:nvPr/>
        </p:nvSpPr>
        <p:spPr>
          <a:xfrm>
            <a:off x="502920" y="3429000"/>
            <a:ext cx="2560320" cy="118872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one row's truth</a:t>
            </a:r>
          </a:p>
          <a:p>
            <a:pPr algn="ctr"/>
            <a:r>
              <a:rPr sz="800" b="0">
                <a:solidFill>
                  <a:srgbClr val="8A93A3"/>
                </a:solidFill>
              </a:rPr>
              <a:t>bulk X . draw 17 . rung 50</a:t>
            </a:r>
          </a:p>
          <a:p>
            <a:pPr algn="ctr"/>
            <a:r>
              <a:rPr sz="800" b="0">
                <a:solidFill>
                  <a:srgbClr val="8A93A3"/>
                </a:solidFill>
              </a:rPr>
              <a:t>plag measured (mass-frac):</a:t>
            </a:r>
          </a:p>
          <a:p>
            <a:pPr algn="ctr"/>
            <a:r>
              <a:rPr sz="800" b="0">
                <a:solidFill>
                  <a:srgbClr val="8A93A3"/>
                </a:solidFill>
              </a:rPr>
              <a:t>.553  .285  .118  .041 ...</a:t>
            </a:r>
          </a:p>
        </p:txBody>
      </p:sp>
      <p:sp>
        <p:nvSpPr>
          <p:cNvPr id="11" name="Right Arrow 10"/>
          <p:cNvSpPr/>
          <p:nvPr/>
        </p:nvSpPr>
        <p:spPr>
          <a:xfrm>
            <a:off x="3154680" y="388620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20440" y="3429000"/>
            <a:ext cx="2560320" cy="118872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scoring -- truth meets prediction</a:t>
            </a:r>
          </a:p>
          <a:p>
            <a:pPr algn="ctr"/>
            <a:r>
              <a:rPr sz="800" b="0">
                <a:solidFill>
                  <a:srgbClr val="8A93A3"/>
                </a:solidFill>
              </a:rPr>
              <a:t>eval: per-oxide Beta PIT</a:t>
            </a:r>
          </a:p>
          <a:p>
            <a:pPr algn="ctr"/>
            <a:r>
              <a:rPr sz="800" b="0">
                <a:solidFill>
                  <a:srgbClr val="8A93A3"/>
                </a:solidFill>
              </a:rPr>
              <a:t>train: masked comp Dirichlet NLL</a:t>
            </a:r>
          </a:p>
        </p:txBody>
      </p:sp>
      <p:sp>
        <p:nvSpPr>
          <p:cNvPr id="13" name="Freeform 12"/>
          <p:cNvSpPr/>
          <p:nvPr/>
        </p:nvSpPr>
        <p:spPr>
          <a:xfrm>
            <a:off x="10104120" y="2240280"/>
            <a:ext cx="1828800" cy="1051560"/>
          </a:xfrm>
          <a:custGeom>
            <a:avLst/>
            <a:gdLst/>
            <a:ahLst/>
            <a:cxnLst/>
            <a:rect l="l" t="t" r="r" b="b"/>
            <a:pathLst>
              <a:path w="1828800" h="1051560">
                <a:moveTo>
                  <a:pt x="0" y="1051560"/>
                </a:moveTo>
                <a:lnTo>
                  <a:pt x="0" y="1050844"/>
                </a:lnTo>
                <a:lnTo>
                  <a:pt x="38100" y="1050329"/>
                </a:lnTo>
                <a:lnTo>
                  <a:pt x="76200" y="1049487"/>
                </a:lnTo>
                <a:lnTo>
                  <a:pt x="114300" y="1048141"/>
                </a:lnTo>
                <a:lnTo>
                  <a:pt x="152400" y="1046039"/>
                </a:lnTo>
                <a:lnTo>
                  <a:pt x="190500" y="1042828"/>
                </a:lnTo>
                <a:lnTo>
                  <a:pt x="228600" y="1038037"/>
                </a:lnTo>
                <a:lnTo>
                  <a:pt x="266700" y="1031050"/>
                </a:lnTo>
                <a:lnTo>
                  <a:pt x="304800" y="1021097"/>
                </a:lnTo>
                <a:lnTo>
                  <a:pt x="342900" y="1007252"/>
                </a:lnTo>
                <a:lnTo>
                  <a:pt x="381000" y="988449"/>
                </a:lnTo>
                <a:lnTo>
                  <a:pt x="419100" y="963528"/>
                </a:lnTo>
                <a:lnTo>
                  <a:pt x="457200" y="931310"/>
                </a:lnTo>
                <a:lnTo>
                  <a:pt x="495300" y="890704"/>
                </a:lnTo>
                <a:lnTo>
                  <a:pt x="533400" y="840842"/>
                </a:lnTo>
                <a:lnTo>
                  <a:pt x="571500" y="781241"/>
                </a:lnTo>
                <a:lnTo>
                  <a:pt x="609600" y="711966"/>
                </a:lnTo>
                <a:lnTo>
                  <a:pt x="647700" y="633774"/>
                </a:lnTo>
                <a:lnTo>
                  <a:pt x="685800" y="548225"/>
                </a:lnTo>
                <a:lnTo>
                  <a:pt x="723900" y="457719"/>
                </a:lnTo>
                <a:lnTo>
                  <a:pt x="762000" y="365451"/>
                </a:lnTo>
                <a:lnTo>
                  <a:pt x="800100" y="275267"/>
                </a:lnTo>
                <a:lnTo>
                  <a:pt x="838200" y="191423"/>
                </a:lnTo>
                <a:lnTo>
                  <a:pt x="876300" y="118263"/>
                </a:lnTo>
                <a:lnTo>
                  <a:pt x="914400" y="59857"/>
                </a:lnTo>
                <a:lnTo>
                  <a:pt x="952500" y="19623"/>
                </a:lnTo>
                <a:lnTo>
                  <a:pt x="990600" y="0"/>
                </a:lnTo>
                <a:lnTo>
                  <a:pt x="1028700" y="2198"/>
                </a:lnTo>
                <a:lnTo>
                  <a:pt x="1066800" y="26083"/>
                </a:lnTo>
                <a:lnTo>
                  <a:pt x="1104900" y="70182"/>
                </a:lnTo>
                <a:lnTo>
                  <a:pt x="1143000" y="131838"/>
                </a:lnTo>
                <a:lnTo>
                  <a:pt x="1181100" y="207474"/>
                </a:lnTo>
                <a:lnTo>
                  <a:pt x="1219200" y="292937"/>
                </a:lnTo>
                <a:lnTo>
                  <a:pt x="1257300" y="383869"/>
                </a:lnTo>
                <a:lnTo>
                  <a:pt x="1295400" y="476074"/>
                </a:lnTo>
                <a:lnTo>
                  <a:pt x="1333500" y="565820"/>
                </a:lnTo>
                <a:lnTo>
                  <a:pt x="1371600" y="650063"/>
                </a:lnTo>
                <a:lnTo>
                  <a:pt x="1409700" y="726570"/>
                </a:lnTo>
                <a:lnTo>
                  <a:pt x="1447800" y="793946"/>
                </a:lnTo>
                <a:lnTo>
                  <a:pt x="1485900" y="851585"/>
                </a:lnTo>
                <a:lnTo>
                  <a:pt x="1524000" y="899542"/>
                </a:lnTo>
                <a:lnTo>
                  <a:pt x="1562100" y="938392"/>
                </a:lnTo>
                <a:lnTo>
                  <a:pt x="1600200" y="969059"/>
                </a:lnTo>
                <a:lnTo>
                  <a:pt x="1638300" y="992661"/>
                </a:lnTo>
                <a:lnTo>
                  <a:pt x="1676400" y="1010382"/>
                </a:lnTo>
                <a:lnTo>
                  <a:pt x="1714500" y="1023367"/>
                </a:lnTo>
                <a:lnTo>
                  <a:pt x="1752600" y="1032658"/>
                </a:lnTo>
                <a:lnTo>
                  <a:pt x="1790700" y="1039149"/>
                </a:lnTo>
                <a:lnTo>
                  <a:pt x="1828800" y="1043580"/>
                </a:lnTo>
                <a:lnTo>
                  <a:pt x="1828800" y="1051560"/>
                </a:lnTo>
                <a:close/>
              </a:path>
            </a:pathLst>
          </a:custGeom>
          <a:solidFill>
            <a:srgbClr val="D5D1F8"/>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10104120" y="3291840"/>
            <a:ext cx="182880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9921240" y="3337560"/>
            <a:ext cx="2194560" cy="365760"/>
          </a:xfrm>
          <a:prstGeom prst="rect">
            <a:avLst/>
          </a:prstGeom>
          <a:noFill/>
        </p:spPr>
        <p:txBody>
          <a:bodyPr wrap="square">
            <a:spAutoFit/>
          </a:bodyPr>
          <a:lstStyle/>
          <a:p>
            <a:pPr algn="ctr"/>
            <a:r>
              <a:rPr sz="1200" b="1">
                <a:solidFill>
                  <a:srgbClr val="1A2238"/>
                </a:solidFill>
              </a:rPr>
              <a:t>SiO2 marginal (Beta)</a:t>
            </a:r>
          </a:p>
        </p:txBody>
      </p:sp>
      <p:cxnSp>
        <p:nvCxnSpPr>
          <p:cNvPr id="16" name="Connector 15"/>
          <p:cNvCxnSpPr/>
          <p:nvPr/>
        </p:nvCxnSpPr>
        <p:spPr>
          <a:xfrm flipV="1">
            <a:off x="11073384" y="2103120"/>
            <a:ext cx="0" cy="1188720"/>
          </a:xfrm>
          <a:prstGeom prst="bentConnector3">
            <a:avLst/>
          </a:prstGeom>
          <a:ln w="2540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9875520" y="1737360"/>
            <a:ext cx="2286000" cy="731520"/>
          </a:xfrm>
          <a:prstGeom prst="rect">
            <a:avLst/>
          </a:prstGeom>
          <a:noFill/>
        </p:spPr>
        <p:txBody>
          <a:bodyPr wrap="square">
            <a:spAutoFit/>
          </a:bodyPr>
          <a:lstStyle/>
          <a:p>
            <a:pPr algn="ctr"/>
            <a:r>
              <a:rPr sz="1000" b="0">
                <a:solidFill>
                  <a:srgbClr val="2A9D8F"/>
                </a:solidFill>
              </a:rPr>
              <a:t>truth 0.553 -&gt; PIT 0.43</a:t>
            </a:r>
          </a:p>
        </p:txBody>
      </p:sp>
      <p:sp>
        <p:nvSpPr>
          <p:cNvPr id="18" name="TextBox 17"/>
          <p:cNvSpPr txBox="1"/>
          <p:nvPr/>
        </p:nvSpPr>
        <p:spPr>
          <a:xfrm>
            <a:off x="502920" y="4754880"/>
            <a:ext cx="11155680" cy="731520"/>
          </a:xfrm>
          <a:prstGeom prst="rect">
            <a:avLst/>
          </a:prstGeom>
          <a:noFill/>
        </p:spPr>
        <p:txBody>
          <a:bodyPr wrap="square">
            <a:spAutoFit/>
          </a:bodyPr>
          <a:lstStyle/>
          <a:p>
            <a:pPr algn="l"/>
            <a:r>
              <a:rPr sz="1100" b="0">
                <a:solidFill>
                  <a:srgbClr val="1A2238"/>
                </a:solidFill>
              </a:rPr>
              <a:t>population: only truly-present (row, phase) pairs -- 42k for cpx down to ~240 for andalusite. headline (val roster, production): comp NLL -53.45 nats per present (row, phase); majors' PIT tails sit near the nominal 10% (cpx 0.055/0.053).</a:t>
            </a:r>
          </a:p>
        </p:txBody>
      </p:sp>
      <p:sp>
        <p:nvSpPr>
          <p:cNvPr id="19" name="TextBox 18"/>
          <p:cNvSpPr txBox="1"/>
          <p:nvPr/>
        </p:nvSpPr>
        <p:spPr>
          <a:xfrm>
            <a:off x="502920" y="5440680"/>
            <a:ext cx="11155680" cy="731520"/>
          </a:xfrm>
          <a:prstGeom prst="rect">
            <a:avLst/>
          </a:prstGeom>
          <a:noFill/>
        </p:spPr>
        <p:txBody>
          <a:bodyPr wrap="square">
            <a:spAutoFit/>
          </a:bodyPr>
          <a:lstStyle/>
          <a:p>
            <a:pPr algn="l"/>
            <a:r>
              <a:rPr sz="1100" b="0">
                <a:solidFill>
                  <a:srgbClr val="1A2238"/>
                </a:solidFill>
              </a:rPr>
              <a:t>confidence spans decades and tracks real mineralogy: near-stoichiometric phases (q, ru, sph) earn far higher median alpha0 than wide solid solutions (garnet, spinel, ilmenite) -- per-phase NLL runs -85.9 for quartz against -44.9 for garnet. mass balance closes to 1.3% mean L2 with signed per-oxide residuals centered on zero; plag An# parity r = 0.93.</a:t>
            </a:r>
          </a:p>
        </p:txBody>
      </p:sp>
      <p:sp>
        <p:nvSpPr>
          <p:cNvPr id="20" name="TextBox 19"/>
          <p:cNvSpPr txBox="1"/>
          <p:nvPr/>
        </p:nvSpPr>
        <p:spPr>
          <a:xfrm>
            <a:off x="502920" y="6263640"/>
            <a:ext cx="11155680" cy="731520"/>
          </a:xfrm>
          <a:prstGeom prst="rect">
            <a:avLst/>
          </a:prstGeom>
          <a:noFill/>
        </p:spPr>
        <p:txBody>
          <a:bodyPr wrap="square">
            <a:spAutoFit/>
          </a:bodyPr>
          <a:lstStyle/>
          <a:p>
            <a:pPr algn="l"/>
            <a:r>
              <a:rPr sz="1000" b="0">
                <a:solidFill>
                  <a:srgbClr val="8A93A3"/>
                </a:solidFill>
              </a:rPr>
              <a:t>current limits: hard-zero oxides ride the eps floor (a quartz row is 'SiO2 + 10 floors'); ilmenite FeO/TiO2 stays the accuracy outlier; ~0.3% of corpus rows cannot self-close and set an unattainable closure floor there. full report: runs/comp_head/&lt;tag&gt;/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Inside CondHead: a support-conditioned mixture over (T, P, H2O)</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inverse-inference head, chain rule p(support | h) x p(T, P, H2O | h, support): the presence vector joins h at the input -- teacher-forced true set at train, ModeHead-sampled at inference</a:t>
            </a:r>
          </a:p>
        </p:txBody>
      </p:sp>
      <p:sp>
        <p:nvSpPr>
          <p:cNvPr id="5" name="Oval 4"/>
          <p:cNvSpPr/>
          <p:nvPr/>
        </p:nvSpPr>
        <p:spPr>
          <a:xfrm>
            <a:off x="777240" y="2834640"/>
            <a:ext cx="1371600" cy="137160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6" name="TextBox 5"/>
          <p:cNvSpPr txBox="1"/>
          <p:nvPr/>
        </p:nvSpPr>
        <p:spPr>
          <a:xfrm>
            <a:off x="457200" y="4434840"/>
            <a:ext cx="2011680" cy="731520"/>
          </a:xfrm>
          <a:prstGeom prst="rect">
            <a:avLst/>
          </a:prstGeom>
          <a:noFill/>
        </p:spPr>
        <p:txBody>
          <a:bodyPr wrap="square">
            <a:spAutoFit/>
          </a:bodyPr>
          <a:lstStyle/>
          <a:p>
            <a:pPr algn="ctr"/>
            <a:r>
              <a:rPr sz="1000" b="0">
                <a:solidFill>
                  <a:srgbClr val="8A93A3"/>
                </a:solidFill>
              </a:rPr>
              <a:t>frozen h [256] ++ presence vector [21] = 277-dim input</a:t>
            </a:r>
          </a:p>
        </p:txBody>
      </p:sp>
      <p:sp>
        <p:nvSpPr>
          <p:cNvPr id="7" name="Right Arrow 6"/>
          <p:cNvSpPr/>
          <p:nvPr/>
        </p:nvSpPr>
        <p:spPr>
          <a:xfrm>
            <a:off x="2286000" y="333756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834640" y="2788920"/>
            <a:ext cx="2651760" cy="14630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own trunk</a:t>
            </a:r>
          </a:p>
          <a:p>
            <a:pPr algn="ctr"/>
            <a:r>
              <a:rPr sz="1000" b="0">
                <a:solidFill>
                  <a:srgbClr val="8A93A3"/>
                </a:solidFill>
              </a:rPr>
              <a:t>2 x [Linear -&gt; 512]</a:t>
            </a:r>
          </a:p>
          <a:p>
            <a:pPr algn="ctr"/>
            <a:r>
              <a:rPr sz="1000" b="0">
                <a:solidFill>
                  <a:srgbClr val="8A93A3"/>
                </a:solidFill>
              </a:rPr>
              <a:t>GELU + dropout each</a:t>
            </a:r>
          </a:p>
          <a:p>
            <a:pPr algn="ctr"/>
            <a:r>
              <a:rPr sz="1000" b="0">
                <a:solidFill>
                  <a:srgbClr val="8A93A3"/>
                </a:solidFill>
              </a:rPr>
              <a:t>404,992 params</a:t>
            </a:r>
          </a:p>
        </p:txBody>
      </p:sp>
      <p:cxnSp>
        <p:nvCxnSpPr>
          <p:cNvPr id="9" name="Connector 8"/>
          <p:cNvCxnSpPr/>
          <p:nvPr/>
        </p:nvCxnSpPr>
        <p:spPr>
          <a:xfrm flipV="1">
            <a:off x="5486400" y="2354580"/>
            <a:ext cx="685800" cy="116586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172200" y="1828800"/>
            <a:ext cx="3017520" cy="105156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weight branch</a:t>
            </a:r>
          </a:p>
          <a:p>
            <a:pPr algn="ctr"/>
            <a:r>
              <a:rPr sz="1000" b="0">
                <a:solidFill>
                  <a:srgbClr val="8A93A3"/>
                </a:solidFill>
              </a:rPr>
              <a:t>Linear 512 -&gt; 9 (3 axes x K=3)</a:t>
            </a:r>
          </a:p>
          <a:p>
            <a:pPr algn="ctr"/>
            <a:r>
              <a:rPr sz="1000" b="0">
                <a:solidFill>
                  <a:srgbClr val="8A93A3"/>
                </a:solidFill>
              </a:rPr>
              <a:t>log-softmax over K per axis</a:t>
            </a:r>
          </a:p>
          <a:p>
            <a:pPr algn="ctr"/>
            <a:r>
              <a:rPr sz="1000" b="0">
                <a:solidFill>
                  <a:srgbClr val="8A93A3"/>
                </a:solidFill>
              </a:rPr>
              <a:t>4,617 params</a:t>
            </a:r>
          </a:p>
        </p:txBody>
      </p:sp>
      <p:sp>
        <p:nvSpPr>
          <p:cNvPr id="11" name="Right Arrow 10"/>
          <p:cNvSpPr/>
          <p:nvPr/>
        </p:nvSpPr>
        <p:spPr>
          <a:xfrm>
            <a:off x="9281160" y="218998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738360" y="1874519"/>
            <a:ext cx="2057400" cy="960119"/>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mixture weights</a:t>
            </a:r>
          </a:p>
          <a:p>
            <a:pPr algn="ctr"/>
            <a:r>
              <a:rPr sz="900" b="0">
                <a:solidFill>
                  <a:srgbClr val="8A93A3"/>
                </a:solidFill>
              </a:rPr>
              <a:t>which condition mode,</a:t>
            </a:r>
          </a:p>
          <a:p>
            <a:pPr algn="ctr"/>
            <a:r>
              <a:rPr sz="900" b="0">
                <a:solidFill>
                  <a:srgbClr val="8A93A3"/>
                </a:solidFill>
              </a:rPr>
              <a:t>how likely</a:t>
            </a:r>
          </a:p>
        </p:txBody>
      </p:sp>
      <p:cxnSp>
        <p:nvCxnSpPr>
          <p:cNvPr id="13" name="Connector 12"/>
          <p:cNvCxnSpPr/>
          <p:nvPr/>
        </p:nvCxnSpPr>
        <p:spPr>
          <a:xfrm>
            <a:off x="5486400" y="3520440"/>
            <a:ext cx="685800" cy="2286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172200" y="3017520"/>
            <a:ext cx="3017520" cy="10515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mean branch</a:t>
            </a:r>
          </a:p>
          <a:p>
            <a:pPr algn="ctr"/>
            <a:r>
              <a:rPr sz="1000" b="0">
                <a:solidFill>
                  <a:srgbClr val="8A93A3"/>
                </a:solidFill>
              </a:rPr>
              <a:t>Linear 512 -&gt; 9</a:t>
            </a:r>
          </a:p>
          <a:p>
            <a:pPr algn="ctr"/>
            <a:r>
              <a:rPr sz="1000" b="0">
                <a:solidFill>
                  <a:srgbClr val="8A93A3"/>
                </a:solidFill>
              </a:rPr>
              <a:t>mu_k in raw units (C, kbar, wt%)</a:t>
            </a:r>
          </a:p>
          <a:p>
            <a:pPr algn="ctr"/>
            <a:r>
              <a:rPr sz="1000" b="0">
                <a:solidFill>
                  <a:srgbClr val="8A93A3"/>
                </a:solidFill>
              </a:rPr>
              <a:t>4,617 params</a:t>
            </a:r>
          </a:p>
        </p:txBody>
      </p:sp>
      <p:sp>
        <p:nvSpPr>
          <p:cNvPr id="15" name="Right Arrow 14"/>
          <p:cNvSpPr/>
          <p:nvPr/>
        </p:nvSpPr>
        <p:spPr>
          <a:xfrm>
            <a:off x="9281160" y="337870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738360" y="3063239"/>
            <a:ext cx="2057400" cy="960119"/>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component centers</a:t>
            </a:r>
          </a:p>
          <a:p>
            <a:pPr algn="ctr"/>
            <a:r>
              <a:rPr sz="900" b="0">
                <a:solidFill>
                  <a:srgbClr val="8A93A3"/>
                </a:solidFill>
              </a:rPr>
              <a:t>e.g. deep-wet vs</a:t>
            </a:r>
          </a:p>
          <a:p>
            <a:pPr algn="ctr"/>
            <a:r>
              <a:rPr sz="900" b="0">
                <a:solidFill>
                  <a:srgbClr val="8A93A3"/>
                </a:solidFill>
              </a:rPr>
              <a:t>shallow-dry</a:t>
            </a:r>
          </a:p>
        </p:txBody>
      </p:sp>
      <p:cxnSp>
        <p:nvCxnSpPr>
          <p:cNvPr id="17" name="Connector 16"/>
          <p:cNvCxnSpPr/>
          <p:nvPr/>
        </p:nvCxnSpPr>
        <p:spPr>
          <a:xfrm>
            <a:off x="5486400" y="3520440"/>
            <a:ext cx="685800" cy="121158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172200" y="4206240"/>
            <a:ext cx="3017520" cy="105156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spread branch</a:t>
            </a:r>
          </a:p>
          <a:p>
            <a:pPr algn="ctr"/>
            <a:r>
              <a:rPr sz="1000" b="0">
                <a:solidFill>
                  <a:srgbClr val="8A93A3"/>
                </a:solidFill>
              </a:rPr>
              <a:t>Linear 512 -&gt; 9, softplus + eps</a:t>
            </a:r>
          </a:p>
          <a:p>
            <a:pPr algn="ctr"/>
            <a:r>
              <a:rPr sz="1000" b="0">
                <a:solidFill>
                  <a:srgbClr val="8A93A3"/>
                </a:solidFill>
              </a:rPr>
              <a:t>sigma_k, heteroscedastic</a:t>
            </a:r>
          </a:p>
          <a:p>
            <a:pPr algn="ctr"/>
            <a:r>
              <a:rPr sz="1000" b="0">
                <a:solidFill>
                  <a:srgbClr val="8A93A3"/>
                </a:solidFill>
              </a:rPr>
              <a:t>4,617 params</a:t>
            </a:r>
          </a:p>
        </p:txBody>
      </p:sp>
      <p:sp>
        <p:nvSpPr>
          <p:cNvPr id="19" name="Right Arrow 18"/>
          <p:cNvSpPr/>
          <p:nvPr/>
        </p:nvSpPr>
        <p:spPr>
          <a:xfrm>
            <a:off x="9281160" y="456742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738360" y="4251959"/>
            <a:ext cx="2057400" cy="960119"/>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per-mode spreads</a:t>
            </a:r>
          </a:p>
          <a:p>
            <a:pPr algn="ctr"/>
            <a:r>
              <a:rPr sz="900" b="0">
                <a:solidFill>
                  <a:srgbClr val="8A93A3"/>
                </a:solidFill>
              </a:rPr>
              <a:t>row-dependent</a:t>
            </a:r>
          </a:p>
          <a:p>
            <a:pPr algn="ctr"/>
            <a:r>
              <a:rPr sz="900" b="0">
                <a:solidFill>
                  <a:srgbClr val="8A93A3"/>
                </a:solidFill>
              </a:rPr>
              <a:t>error bars</a:t>
            </a:r>
          </a:p>
        </p:txBody>
      </p:sp>
      <p:sp>
        <p:nvSpPr>
          <p:cNvPr id="21" name="TextBox 20"/>
          <p:cNvSpPr txBox="1"/>
          <p:nvPr/>
        </p:nvSpPr>
        <p:spPr>
          <a:xfrm>
            <a:off x="502920" y="5349240"/>
            <a:ext cx="11155680" cy="731520"/>
          </a:xfrm>
          <a:prstGeom prst="rect">
            <a:avLst/>
          </a:prstGeom>
          <a:noFill/>
        </p:spPr>
        <p:txBody>
          <a:bodyPr wrap="square">
            <a:spAutoFit/>
          </a:bodyPr>
          <a:lstStyle/>
          <a:p>
            <a:pPr algn="l"/>
            <a:r>
              <a:rPr sz="1100" b="0">
                <a:solidFill>
                  <a:srgbClr val="1A2238"/>
                </a:solidFill>
              </a:rPr>
              <a:t>418,843 trainable params (trunk 404,992 + 3 x 4,617) -- ~13% of the frozen encoder; the 512 x 2 trunk is the mini-sweep winner (0.29 nats over the starved 128 x 1) and survived the cascade-2 sweep unchanged. Output biases seeded at the targets' mean/std (raw-unit cold-start fix).</a:t>
            </a:r>
          </a:p>
        </p:txBody>
      </p:sp>
      <p:sp>
        <p:nvSpPr>
          <p:cNvPr id="22" name="TextBox 21"/>
          <p:cNvSpPr txBox="1"/>
          <p:nvPr/>
        </p:nvSpPr>
        <p:spPr>
          <a:xfrm>
            <a:off x="502920" y="5669280"/>
            <a:ext cx="11155680" cy="731520"/>
          </a:xfrm>
          <a:prstGeom prst="rect">
            <a:avLst/>
          </a:prstGeom>
          <a:noFill/>
        </p:spPr>
        <p:txBody>
          <a:bodyPr wrap="square">
            <a:spAutoFit/>
          </a:bodyPr>
          <a:lstStyle/>
          <a:p>
            <a:pPr algn="l"/>
            <a:r>
              <a:rPr sz="1000" b="0">
                <a:solidFill>
                  <a:srgbClr val="8A93A3"/>
                </a:solidFill>
              </a:rPr>
              <a:t>dials (configs/heads/joint_heads.yaml): cond_n_components 3 . cond_sigma_eps 1e-3 . cond_hidden 512 . cond_layers 2 (adopted from the architecture mini-sweep) . dropout 0.260 . lambda_cond 0.01 -- fixed in code: GELU, AdamW, per-head grad-clip 1.0, linear units (no log transform of T/P/H2O)</a:t>
            </a:r>
          </a:p>
        </p:txBody>
      </p:sp>
      <p:sp>
        <p:nvSpPr>
          <p:cNvPr id="23" name="Rounded Rectangle 22"/>
          <p:cNvSpPr/>
          <p:nvPr/>
        </p:nvSpPr>
        <p:spPr>
          <a:xfrm>
            <a:off x="146304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L_cond = Σ_axis −log Σ_k w_k · N(t | mu_k, sigma_k²)</a:t>
            </a:r>
          </a:p>
          <a:p>
            <a:pPr algn="ctr"/>
            <a:r>
              <a:rPr sz="900" b="0">
                <a:solidFill>
                  <a:srgbClr val="8A93A3"/>
                </a:solidFill>
              </a:rPr>
              <a:t>per-axis GMM NLL in raw units; minimized when the mixture matches each rock's condition distribution per support</a:t>
            </a:r>
          </a:p>
        </p:txBody>
      </p:sp>
      <p:sp>
        <p:nvSpPr>
          <p:cNvPr id="24" name="Rounded Rectangle 23"/>
          <p:cNvSpPr/>
          <p:nvPr/>
        </p:nvSpPr>
        <p:spPr>
          <a:xfrm>
            <a:off x="487680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support in, never through the encoder</a:t>
            </a:r>
          </a:p>
          <a:p>
            <a:pPr algn="ctr"/>
            <a:r>
              <a:rPr sz="900" b="0">
                <a:solidFill>
                  <a:srgbClr val="8A93A3"/>
                </a:solidFill>
              </a:rPr>
              <a:t>teacher-forced true set at train -&gt; no gradient coupling to ModeHead; sampled sets at inference (exposure bias, #31)</a:t>
            </a:r>
          </a:p>
        </p:txBody>
      </p:sp>
      <p:sp>
        <p:nvSpPr>
          <p:cNvPr id="25" name="Rounded Rectangle 24"/>
          <p:cNvSpPr/>
          <p:nvPr/>
        </p:nvSpPr>
        <p:spPr>
          <a:xfrm>
            <a:off x="829056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 = L_mode + λ_comp·L_comp + λ_cond·L_cond + λ_bal·L_closure</a:t>
            </a:r>
          </a:p>
          <a:p>
            <a:pPr algn="ctr"/>
            <a:r>
              <a:rPr sz="900" b="0">
                <a:solidFill>
                  <a:srgbClr val="8A93A3"/>
                </a:solidFill>
              </a:rPr>
              <a:t>heads share no weights and each is snapshotted at its own raw-val best, so λ_cond only absorbs the raw-unit scale in the total</a:t>
            </a:r>
          </a:p>
        </p:txBody>
      </p:sp>
      <p:sp>
        <p:nvSpPr>
          <p:cNvPr id="26" name="TextBox 25"/>
          <p:cNvSpPr txBox="1"/>
          <p:nvPr/>
        </p:nvSpPr>
        <p:spPr>
          <a:xfrm>
            <a:off x="457200" y="6080760"/>
            <a:ext cx="960120" cy="731520"/>
          </a:xfrm>
          <a:prstGeom prst="rect">
            <a:avLst/>
          </a:prstGeom>
          <a:noFill/>
        </p:spPr>
        <p:txBody>
          <a:bodyPr wrap="square">
            <a:spAutoFit/>
          </a:bodyPr>
          <a:lstStyle/>
          <a:p>
            <a:pPr algn="l"/>
            <a:r>
              <a:rPr sz="1100" b="0">
                <a:solidFill>
                  <a:srgbClr val="C0392B"/>
                </a:solidFill>
              </a:rPr>
              <a:t>the loss,
explicitly: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Is the 68% band honest? Coverage, and the exposure gap</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CondHead's eval scores every row twice: told the TRUE mineral list (teacher-forced -- the head's own skill) and told ModeHead's SAMPLED list (the deployed pipeline). The first is calibrated; the gap to the second is the exposure bias.</a:t>
            </a:r>
          </a:p>
        </p:txBody>
      </p:sp>
      <p:sp>
        <p:nvSpPr>
          <p:cNvPr id="5" name="Rounded Rectangle 4"/>
          <p:cNvSpPr/>
          <p:nvPr/>
        </p:nvSpPr>
        <p:spPr>
          <a:xfrm>
            <a:off x="502920" y="1828800"/>
            <a:ext cx="2651760" cy="128016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one row's input</a:t>
            </a:r>
          </a:p>
          <a:p>
            <a:pPr algn="ctr"/>
            <a:r>
              <a:rPr sz="800" b="0">
                <a:solidFill>
                  <a:srgbClr val="8A93A3"/>
                </a:solidFill>
              </a:rPr>
              <a:t>h [256] ++ true presence [21]</a:t>
            </a:r>
          </a:p>
          <a:p>
            <a:pPr algn="ctr"/>
            <a:r>
              <a:rPr sz="800" b="0">
                <a:solidFill>
                  <a:srgbClr val="8A93A3"/>
                </a:solidFill>
              </a:rPr>
              <a:t>bulk X: plag cpx amp ilm</a:t>
            </a:r>
          </a:p>
        </p:txBody>
      </p:sp>
      <p:sp>
        <p:nvSpPr>
          <p:cNvPr id="6" name="Right Arrow 5"/>
          <p:cNvSpPr/>
          <p:nvPr/>
        </p:nvSpPr>
        <p:spPr>
          <a:xfrm>
            <a:off x="3246120" y="233172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611880" y="1828800"/>
            <a:ext cx="2834640" cy="128016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T-axis mixture (K=3)</a:t>
            </a:r>
          </a:p>
          <a:p>
            <a:pPr algn="ctr"/>
            <a:r>
              <a:rPr sz="800" b="0">
                <a:solidFill>
                  <a:srgbClr val="8A93A3"/>
                </a:solidFill>
              </a:rPr>
              <a:t>deep-wet:  mu 780 C, w 0.58</a:t>
            </a:r>
          </a:p>
          <a:p>
            <a:pPr algn="ctr"/>
            <a:r>
              <a:rPr sz="800" b="0">
                <a:solidFill>
                  <a:srgbClr val="8A93A3"/>
                </a:solidFill>
              </a:rPr>
              <a:t>shallow-dry: mu 940 C, w 0.39</a:t>
            </a:r>
          </a:p>
          <a:p>
            <a:pPr algn="ctr"/>
            <a:r>
              <a:rPr sz="800" b="0">
                <a:solidFill>
                  <a:srgbClr val="8A93A3"/>
                </a:solidFill>
              </a:rPr>
              <a:t>(third component ~unused)</a:t>
            </a:r>
          </a:p>
        </p:txBody>
      </p:sp>
      <p:sp>
        <p:nvSpPr>
          <p:cNvPr id="8" name="Freeform 7"/>
          <p:cNvSpPr/>
          <p:nvPr/>
        </p:nvSpPr>
        <p:spPr>
          <a:xfrm>
            <a:off x="6903720" y="1874519"/>
            <a:ext cx="2377440" cy="1143001"/>
          </a:xfrm>
          <a:custGeom>
            <a:avLst/>
            <a:gdLst/>
            <a:ahLst/>
            <a:cxnLst/>
            <a:rect l="l" t="t" r="r" b="b"/>
            <a:pathLst>
              <a:path w="2377440" h="1143001">
                <a:moveTo>
                  <a:pt x="0" y="1143001"/>
                </a:moveTo>
                <a:lnTo>
                  <a:pt x="0" y="1140938"/>
                </a:lnTo>
                <a:lnTo>
                  <a:pt x="49529" y="1138428"/>
                </a:lnTo>
                <a:lnTo>
                  <a:pt x="99060" y="1133390"/>
                </a:lnTo>
                <a:lnTo>
                  <a:pt x="148589" y="1123858"/>
                </a:lnTo>
                <a:lnTo>
                  <a:pt x="198120" y="1106860"/>
                </a:lnTo>
                <a:lnTo>
                  <a:pt x="247650" y="1078329"/>
                </a:lnTo>
                <a:lnTo>
                  <a:pt x="297180" y="1033310"/>
                </a:lnTo>
                <a:lnTo>
                  <a:pt x="346710" y="966661"/>
                </a:lnTo>
                <a:lnTo>
                  <a:pt x="396240" y="874305"/>
                </a:lnTo>
                <a:lnTo>
                  <a:pt x="445770" y="754939"/>
                </a:lnTo>
                <a:lnTo>
                  <a:pt x="495300" y="611787"/>
                </a:lnTo>
                <a:lnTo>
                  <a:pt x="544830" y="453767"/>
                </a:lnTo>
                <a:lnTo>
                  <a:pt x="594359" y="295397"/>
                </a:lnTo>
                <a:lnTo>
                  <a:pt x="643890" y="155020"/>
                </a:lnTo>
                <a:lnTo>
                  <a:pt x="693420" y="51478"/>
                </a:lnTo>
                <a:lnTo>
                  <a:pt x="742950" y="0"/>
                </a:lnTo>
                <a:lnTo>
                  <a:pt x="792479" y="8538"/>
                </a:lnTo>
                <a:lnTo>
                  <a:pt x="842010" y="75747"/>
                </a:lnTo>
                <a:lnTo>
                  <a:pt x="891540" y="191322"/>
                </a:lnTo>
                <a:lnTo>
                  <a:pt x="941069" y="338550"/>
                </a:lnTo>
                <a:lnTo>
                  <a:pt x="990600" y="498187"/>
                </a:lnTo>
                <a:lnTo>
                  <a:pt x="1040130" y="652364"/>
                </a:lnTo>
                <a:lnTo>
                  <a:pt x="1089660" y="787363"/>
                </a:lnTo>
                <a:lnTo>
                  <a:pt x="1139189" y="894668"/>
                </a:lnTo>
                <a:lnTo>
                  <a:pt x="1188720" y="970345"/>
                </a:lnTo>
                <a:lnTo>
                  <a:pt x="1238250" y="1013401"/>
                </a:lnTo>
                <a:lnTo>
                  <a:pt x="1287779" y="1024014"/>
                </a:lnTo>
                <a:lnTo>
                  <a:pt x="1337309" y="1002483"/>
                </a:lnTo>
                <a:lnTo>
                  <a:pt x="1386840" y="949410"/>
                </a:lnTo>
                <a:lnTo>
                  <a:pt x="1436370" y="867099"/>
                </a:lnTo>
                <a:lnTo>
                  <a:pt x="1485900" y="761531"/>
                </a:lnTo>
                <a:lnTo>
                  <a:pt x="1535430" y="643826"/>
                </a:lnTo>
                <a:lnTo>
                  <a:pt x="1584960" y="530029"/>
                </a:lnTo>
                <a:lnTo>
                  <a:pt x="1634490" y="438642"/>
                </a:lnTo>
                <a:lnTo>
                  <a:pt x="1684020" y="386335"/>
                </a:lnTo>
                <a:lnTo>
                  <a:pt x="1733550" y="383317"/>
                </a:lnTo>
                <a:lnTo>
                  <a:pt x="1783080" y="430256"/>
                </a:lnTo>
                <a:lnTo>
                  <a:pt x="1832610" y="518129"/>
                </a:lnTo>
                <a:lnTo>
                  <a:pt x="1882140" y="631084"/>
                </a:lnTo>
                <a:lnTo>
                  <a:pt x="1931670" y="751118"/>
                </a:lnTo>
                <a:lnTo>
                  <a:pt x="1981200" y="862677"/>
                </a:lnTo>
                <a:lnTo>
                  <a:pt x="2030729" y="955625"/>
                </a:lnTo>
                <a:lnTo>
                  <a:pt x="2080260" y="1025967"/>
                </a:lnTo>
                <a:lnTo>
                  <a:pt x="2129790" y="1074694"/>
                </a:lnTo>
                <a:lnTo>
                  <a:pt x="2179320" y="1105748"/>
                </a:lnTo>
                <a:lnTo>
                  <a:pt x="2228850" y="1124016"/>
                </a:lnTo>
                <a:lnTo>
                  <a:pt x="2278380" y="1133960"/>
                </a:lnTo>
                <a:lnTo>
                  <a:pt x="2327910" y="1138978"/>
                </a:lnTo>
                <a:lnTo>
                  <a:pt x="2377440" y="1141328"/>
                </a:lnTo>
                <a:lnTo>
                  <a:pt x="2377440" y="1143001"/>
                </a:lnTo>
                <a:close/>
              </a:path>
            </a:pathLst>
          </a:custGeom>
          <a:solidFill>
            <a:srgbClr val="BCEAE5"/>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a:off x="6903720" y="3017520"/>
            <a:ext cx="237744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720840" y="3063239"/>
            <a:ext cx="2743200" cy="365760"/>
          </a:xfrm>
          <a:prstGeom prst="rect">
            <a:avLst/>
          </a:prstGeom>
          <a:noFill/>
        </p:spPr>
        <p:txBody>
          <a:bodyPr wrap="square">
            <a:spAutoFit/>
          </a:bodyPr>
          <a:lstStyle/>
          <a:p>
            <a:pPr algn="ctr"/>
            <a:r>
              <a:rPr sz="1200" b="1">
                <a:solidFill>
                  <a:srgbClr val="1A2238"/>
                </a:solidFill>
              </a:rPr>
              <a:t>p(T | h, support): two condition modes</a:t>
            </a:r>
          </a:p>
        </p:txBody>
      </p:sp>
      <p:cxnSp>
        <p:nvCxnSpPr>
          <p:cNvPr id="11" name="Connector 10"/>
          <p:cNvCxnSpPr/>
          <p:nvPr/>
        </p:nvCxnSpPr>
        <p:spPr>
          <a:xfrm flipV="1">
            <a:off x="7807147" y="1737360"/>
            <a:ext cx="0" cy="1280160"/>
          </a:xfrm>
          <a:prstGeom prst="bentConnector3">
            <a:avLst/>
          </a:prstGeom>
          <a:ln w="2540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1371599"/>
            <a:ext cx="2743200" cy="731520"/>
          </a:xfrm>
          <a:prstGeom prst="rect">
            <a:avLst/>
          </a:prstGeom>
          <a:noFill/>
        </p:spPr>
        <p:txBody>
          <a:bodyPr wrap="square">
            <a:spAutoFit/>
          </a:bodyPr>
          <a:lstStyle/>
          <a:p>
            <a:pPr algn="ctr"/>
            <a:r>
              <a:rPr sz="1000" b="0">
                <a:solidFill>
                  <a:srgbClr val="2A9D8F"/>
                </a:solidFill>
              </a:rPr>
              <a:t>truth T = 815 C, inside the 68% band</a:t>
            </a:r>
          </a:p>
        </p:txBody>
      </p:sp>
      <p:sp>
        <p:nvSpPr>
          <p:cNvPr id="13" name="Rounded Rectangle 12"/>
          <p:cNvSpPr/>
          <p:nvPr/>
        </p:nvSpPr>
        <p:spPr>
          <a:xfrm>
            <a:off x="9646920" y="1828800"/>
            <a:ext cx="2148840" cy="12801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coverage question</a:t>
            </a:r>
          </a:p>
          <a:p>
            <a:pPr algn="ctr"/>
            <a:r>
              <a:rPr sz="800" b="0">
                <a:solidFill>
                  <a:srgbClr val="8A93A3"/>
                </a:solidFill>
              </a:rPr>
              <a:t>does the central 68% of</a:t>
            </a:r>
          </a:p>
          <a:p>
            <a:pPr algn="ctr"/>
            <a:r>
              <a:rPr sz="800" b="0">
                <a:solidFill>
                  <a:srgbClr val="8A93A3"/>
                </a:solidFill>
              </a:rPr>
              <a:t>the mixture catch the</a:t>
            </a:r>
          </a:p>
          <a:p>
            <a:pPr algn="ctr"/>
            <a:r>
              <a:rPr sz="800" b="0">
                <a:solidFill>
                  <a:srgbClr val="8A93A3"/>
                </a:solidFill>
              </a:rPr>
              <a:t>truth ~68% of rows?</a:t>
            </a:r>
          </a:p>
        </p:txBody>
      </p:sp>
      <p:sp>
        <p:nvSpPr>
          <p:cNvPr id="14" name="Rounded Rectangle 13"/>
          <p:cNvSpPr/>
          <p:nvPr/>
        </p:nvSpPr>
        <p:spPr>
          <a:xfrm>
            <a:off x="502920" y="3657600"/>
            <a:ext cx="5394960" cy="10515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teacher-forced (true list): honest</a:t>
            </a:r>
          </a:p>
          <a:p>
            <a:pPr algn="ctr"/>
            <a:r>
              <a:rPr sz="900" b="0">
                <a:solidFill>
                  <a:srgbClr val="8A93A3"/>
                </a:solidFill>
              </a:rPr>
              <a:t>68% band catches truth on 69.8% of rows (T),</a:t>
            </a:r>
          </a:p>
          <a:p>
            <a:pPr algn="ctr"/>
            <a:r>
              <a:rPr sz="900" b="0">
                <a:solidFill>
                  <a:srgbClr val="8A93A3"/>
                </a:solidFill>
              </a:rPr>
              <a:t>68.0% (P), 65.5% (H2O) . NLL 8.29 nats/row</a:t>
            </a:r>
          </a:p>
        </p:txBody>
      </p:sp>
      <p:sp>
        <p:nvSpPr>
          <p:cNvPr id="15" name="Rounded Rectangle 14"/>
          <p:cNvSpPr/>
          <p:nvPr/>
        </p:nvSpPr>
        <p:spPr>
          <a:xfrm>
            <a:off x="6263640" y="3657600"/>
            <a:ext cx="5532120" cy="1051560"/>
          </a:xfrm>
          <a:prstGeom prst="roundRect">
            <a:avLst/>
          </a:prstGeom>
          <a:solidFill>
            <a:srgbClr val="F6E3E1"/>
          </a:solidFill>
          <a:ln w="254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ModeHead-sampled list: the exposure gap</a:t>
            </a:r>
          </a:p>
          <a:p>
            <a:pPr algn="ctr"/>
            <a:r>
              <a:rPr sz="900" b="0">
                <a:solidFill>
                  <a:srgbClr val="8A93A3"/>
                </a:solidFill>
              </a:rPr>
              <a:t>coverage falls to 25% (T), 34% (P), 33% (H2O) . NLL +2.6 to +4.2</a:t>
            </a:r>
          </a:p>
          <a:p>
            <a:pPr algn="ctr"/>
            <a:r>
              <a:rPr sz="900" b="0">
                <a:solidFill>
                  <a:srgbClr val="8A93A3"/>
                </a:solidFill>
              </a:rPr>
              <a:t>nats/axis -- sharp under truth = more wrong under mismatch</a:t>
            </a:r>
          </a:p>
        </p:txBody>
      </p:sp>
      <p:sp>
        <p:nvSpPr>
          <p:cNvPr id="16" name="TextBox 15"/>
          <p:cNvSpPr txBox="1"/>
          <p:nvPr/>
        </p:nvSpPr>
        <p:spPr>
          <a:xfrm>
            <a:off x="502920" y="4937760"/>
            <a:ext cx="11155680" cy="731520"/>
          </a:xfrm>
          <a:prstGeom prst="rect">
            <a:avLst/>
          </a:prstGeom>
          <a:noFill/>
        </p:spPr>
        <p:txBody>
          <a:bodyPr wrap="square">
            <a:spAutoFit/>
          </a:bodyPr>
          <a:lstStyle/>
          <a:p>
            <a:pPr algn="l"/>
            <a:r>
              <a:rPr sz="1100" b="0">
                <a:solidFill>
                  <a:srgbClr val="1A2238"/>
                </a:solidFill>
              </a:rPr>
              <a:t>the gap is a deliberate debt: the head trains and is graded teacher-forced (mineralogy-first -- conditions are the bonus product). It is measured, tracked (#31, P3), and untouched by design until the mineralogy heads are done.</a:t>
            </a:r>
          </a:p>
        </p:txBody>
      </p:sp>
      <p:sp>
        <p:nvSpPr>
          <p:cNvPr id="17" name="TextBox 16"/>
          <p:cNvSpPr txBox="1"/>
          <p:nvPr/>
        </p:nvSpPr>
        <p:spPr>
          <a:xfrm>
            <a:off x="502920" y="5623560"/>
            <a:ext cx="11155680" cy="731520"/>
          </a:xfrm>
          <a:prstGeom prst="rect">
            <a:avLst/>
          </a:prstGeom>
          <a:noFill/>
        </p:spPr>
        <p:txBody>
          <a:bodyPr wrap="square">
            <a:spAutoFit/>
          </a:bodyPr>
          <a:lstStyle/>
          <a:p>
            <a:pPr algn="l"/>
            <a:r>
              <a:rPr sz="1100" b="0">
                <a:solidFill>
                  <a:srgbClr val="1A2238"/>
                </a:solidFill>
              </a:rPr>
              <a:t>population: all 55,576 val-roster rows, both scoring passes on the same rows with a fixed sampling seed. per-axis NLL (production, teacher-forced): T 4.95, P 1.83, H2O 1.52 -- summed 8.29.</a:t>
            </a:r>
          </a:p>
        </p:txBody>
      </p:sp>
      <p:sp>
        <p:nvSpPr>
          <p:cNvPr id="18" name="TextBox 17"/>
          <p:cNvSpPr txBox="1"/>
          <p:nvPr/>
        </p:nvSpPr>
        <p:spPr>
          <a:xfrm>
            <a:off x="502920" y="6309360"/>
            <a:ext cx="11155680" cy="731520"/>
          </a:xfrm>
          <a:prstGeom prst="rect">
            <a:avLst/>
          </a:prstGeom>
          <a:noFill/>
        </p:spPr>
        <p:txBody>
          <a:bodyPr wrap="square">
            <a:spAutoFit/>
          </a:bodyPr>
          <a:lstStyle/>
          <a:p>
            <a:pPr algn="l"/>
            <a:r>
              <a:rPr sz="1000" b="0">
                <a:solidFill>
                  <a:srgbClr val="8A93A3"/>
                </a:solidFill>
              </a:rPr>
              <a:t>current limits: axes are independent mixtures (no (T, P) correlation, deferred per ADR 006); T is a derived cooling endpoint, not a sampled axis; badly mismatched supports drive individual rows past 100 nats (#31). full report: runs/cond_head/&lt;tag&gt;/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One latent, four branches, one scalar to minimize</a:t>
            </a:r>
          </a:p>
        </p:txBody>
      </p:sp>
      <p:sp>
        <p:nvSpPr>
          <p:cNvPr id="4" name="TextBox 3"/>
          <p:cNvSpPr txBox="1"/>
          <p:nvPr/>
        </p:nvSpPr>
        <p:spPr>
          <a:xfrm>
            <a:off x="502920" y="1024128"/>
            <a:ext cx="11155680" cy="731520"/>
          </a:xfrm>
          <a:prstGeom prst="rect">
            <a:avLst/>
          </a:prstGeom>
          <a:noFill/>
        </p:spPr>
        <p:txBody>
          <a:bodyPr wrap="square">
            <a:spAutoFit/>
          </a:bodyPr>
          <a:lstStyle/>
          <a:p>
            <a:pPr algn="l"/>
            <a:r>
              <a:rPr sz="1200" b="0">
                <a:solidFill>
                  <a:srgbClr val="8A93A3"/>
                </a:solidFill>
              </a:rPr>
              <a:t>the same frozen h feeds every branch; the two support-conditioned ones also take the assemblage set s (true set at train, ModeHead-sampled at inference). closure is the only term with no parameters of its own -- it is where two heads meet.</a:t>
            </a:r>
          </a:p>
        </p:txBody>
      </p:sp>
      <p:sp>
        <p:nvSpPr>
          <p:cNvPr id="5" name="Oval 4"/>
          <p:cNvSpPr/>
          <p:nvPr/>
        </p:nvSpPr>
        <p:spPr>
          <a:xfrm>
            <a:off x="548640" y="2423160"/>
            <a:ext cx="1280160" cy="128016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6" name="Rounded Rectangle 5"/>
          <p:cNvSpPr/>
          <p:nvPr/>
        </p:nvSpPr>
        <p:spPr>
          <a:xfrm>
            <a:off x="384048" y="3986784"/>
            <a:ext cx="1627632" cy="54864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s (21)</a:t>
            </a:r>
          </a:p>
          <a:p>
            <a:pPr algn="ctr"/>
            <a:r>
              <a:rPr sz="800" b="0">
                <a:solidFill>
                  <a:srgbClr val="8A93A3"/>
                </a:solidFill>
              </a:rPr>
              <a:t>true set / sampled</a:t>
            </a:r>
          </a:p>
        </p:txBody>
      </p:sp>
      <p:cxnSp>
        <p:nvCxnSpPr>
          <p:cNvPr id="7" name="Connector 6"/>
          <p:cNvCxnSpPr/>
          <p:nvPr/>
        </p:nvCxnSpPr>
        <p:spPr>
          <a:xfrm flipV="1">
            <a:off x="1828800" y="1783080"/>
            <a:ext cx="1051560" cy="128016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880360" y="1417320"/>
            <a:ext cx="3108960" cy="73152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ModeHead . presence</a:t>
            </a:r>
          </a:p>
          <a:p>
            <a:pPr algn="ctr"/>
            <a:r>
              <a:rPr sz="900" b="0">
                <a:solidFill>
                  <a:srgbClr val="8A93A3"/>
                </a:solidFill>
              </a:rPr>
              <a:t>3 x [Linear -&gt; 256] on h</a:t>
            </a:r>
          </a:p>
          <a:p>
            <a:pPr algn="ctr"/>
            <a:r>
              <a:rPr sz="900" b="0">
                <a:solidFill>
                  <a:srgbClr val="8A93A3"/>
                </a:solidFill>
              </a:rPr>
              <a:t>Linear -&gt; 21, sigmoid</a:t>
            </a:r>
          </a:p>
        </p:txBody>
      </p:sp>
      <p:sp>
        <p:nvSpPr>
          <p:cNvPr id="9" name="Right Arrow 8"/>
          <p:cNvSpPr/>
          <p:nvPr/>
        </p:nvSpPr>
        <p:spPr>
          <a:xfrm>
            <a:off x="6446520" y="1636776"/>
            <a:ext cx="274320" cy="292608"/>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812280" y="1417320"/>
            <a:ext cx="2194560" cy="7315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21 Bernoullis</a:t>
            </a:r>
          </a:p>
          <a:p>
            <a:pPr algn="ctr"/>
            <a:r>
              <a:rPr sz="800" b="0">
                <a:solidFill>
                  <a:srgbClr val="8A93A3"/>
                </a:solidFill>
              </a:rPr>
              <a:t>which minerals are there</a:t>
            </a:r>
          </a:p>
        </p:txBody>
      </p:sp>
      <p:sp>
        <p:nvSpPr>
          <p:cNvPr id="11" name="Rounded Rectangle 10"/>
          <p:cNvSpPr/>
          <p:nvPr/>
        </p:nvSpPr>
        <p:spPr>
          <a:xfrm>
            <a:off x="9144000" y="1417320"/>
            <a:ext cx="2560320" cy="7315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L_presence</a:t>
            </a:r>
          </a:p>
          <a:p>
            <a:pPr algn="ctr"/>
            <a:r>
              <a:rPr sz="800" b="0">
                <a:solidFill>
                  <a:srgbClr val="8A93A3"/>
                </a:solidFill>
              </a:rPr>
              <a:t>−Σᵢ [ yᵢ ln pᵢ + (1−yᵢ) ln(1−pᵢ) ]</a:t>
            </a:r>
          </a:p>
        </p:txBody>
      </p:sp>
      <p:cxnSp>
        <p:nvCxnSpPr>
          <p:cNvPr id="12" name="Connector 11"/>
          <p:cNvCxnSpPr/>
          <p:nvPr/>
        </p:nvCxnSpPr>
        <p:spPr>
          <a:xfrm flipV="1">
            <a:off x="1828800" y="2633472"/>
            <a:ext cx="1051560" cy="429768"/>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880360" y="2267712"/>
            <a:ext cx="3108960" cy="73152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ModeHead . magnitude</a:t>
            </a:r>
          </a:p>
          <a:p>
            <a:pPr algn="ctr"/>
            <a:r>
              <a:rPr sz="900" b="0">
                <a:solidFill>
                  <a:srgbClr val="8A93A3"/>
                </a:solidFill>
              </a:rPr>
              <a:t>3 x [Linear -&gt; 256] on [h ; s]</a:t>
            </a:r>
          </a:p>
          <a:p>
            <a:pPr algn="ctr"/>
            <a:r>
              <a:rPr sz="900" b="0">
                <a:solidFill>
                  <a:srgbClr val="8A93A3"/>
                </a:solidFill>
              </a:rPr>
              <a:t>Linear -&gt; 21, softplus</a:t>
            </a:r>
          </a:p>
        </p:txBody>
      </p:sp>
      <p:sp>
        <p:nvSpPr>
          <p:cNvPr id="14" name="Right Arrow 13"/>
          <p:cNvSpPr/>
          <p:nvPr/>
        </p:nvSpPr>
        <p:spPr>
          <a:xfrm>
            <a:off x="6446520" y="2487168"/>
            <a:ext cx="274320" cy="292608"/>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812280" y="2267712"/>
            <a:ext cx="2194560" cy="7315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Dirichlet on the support</a:t>
            </a:r>
          </a:p>
          <a:p>
            <a:pPr algn="ctr"/>
            <a:r>
              <a:rPr sz="800" b="0">
                <a:solidFill>
                  <a:srgbClr val="8A93A3"/>
                </a:solidFill>
              </a:rPr>
              <a:t>how much, given that set</a:t>
            </a:r>
          </a:p>
        </p:txBody>
      </p:sp>
      <p:sp>
        <p:nvSpPr>
          <p:cNvPr id="16" name="Rounded Rectangle 15"/>
          <p:cNvSpPr/>
          <p:nvPr/>
        </p:nvSpPr>
        <p:spPr>
          <a:xfrm>
            <a:off x="9144000" y="2267712"/>
            <a:ext cx="2560320" cy="7315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λ_mag · L_magnitude</a:t>
            </a:r>
          </a:p>
          <a:p>
            <a:pPr algn="ctr"/>
            <a:r>
              <a:rPr sz="800" b="0">
                <a:solidFill>
                  <a:srgbClr val="8A93A3"/>
                </a:solidFill>
              </a:rPr>
              <a:t>−log Dir(mₛ | αₛ), present set only</a:t>
            </a:r>
          </a:p>
        </p:txBody>
      </p:sp>
      <p:cxnSp>
        <p:nvCxnSpPr>
          <p:cNvPr id="17" name="Connector 16"/>
          <p:cNvCxnSpPr/>
          <p:nvPr/>
        </p:nvCxnSpPr>
        <p:spPr>
          <a:xfrm>
            <a:off x="1828800" y="3063240"/>
            <a:ext cx="1051560" cy="420624"/>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2880360" y="3118104"/>
            <a:ext cx="3108960" cy="7315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CompHead</a:t>
            </a:r>
          </a:p>
          <a:p>
            <a:pPr algn="ctr"/>
            <a:r>
              <a:rPr sz="900" b="0">
                <a:solidFill>
                  <a:srgbClr val="8A93A3"/>
                </a:solidFill>
              </a:rPr>
              <a:t>1 x [Linear -&gt; 128] on h</a:t>
            </a:r>
          </a:p>
          <a:p>
            <a:pPr algn="ctr"/>
            <a:r>
              <a:rPr sz="900" b="0">
                <a:solidFill>
                  <a:srgbClr val="8A93A3"/>
                </a:solidFill>
              </a:rPr>
              <a:t>softmax mean x softplus concentration</a:t>
            </a:r>
          </a:p>
        </p:txBody>
      </p:sp>
      <p:sp>
        <p:nvSpPr>
          <p:cNvPr id="19" name="Right Arrow 18"/>
          <p:cNvSpPr/>
          <p:nvPr/>
        </p:nvSpPr>
        <p:spPr>
          <a:xfrm>
            <a:off x="6446520" y="3337560"/>
            <a:ext cx="274320" cy="292608"/>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812280" y="3118104"/>
            <a:ext cx="2194560" cy="7315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21 Dirichlets x 11 oxides</a:t>
            </a:r>
          </a:p>
          <a:p>
            <a:pPr algn="ctr"/>
            <a:r>
              <a:rPr sz="800" b="0">
                <a:solidFill>
                  <a:srgbClr val="8A93A3"/>
                </a:solidFill>
              </a:rPr>
              <a:t>what each mineral is made of</a:t>
            </a:r>
          </a:p>
        </p:txBody>
      </p:sp>
      <p:sp>
        <p:nvSpPr>
          <p:cNvPr id="21" name="Rounded Rectangle 20"/>
          <p:cNvSpPr/>
          <p:nvPr/>
        </p:nvSpPr>
        <p:spPr>
          <a:xfrm>
            <a:off x="9144000" y="3118104"/>
            <a:ext cx="2560320" cy="7315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λ_comp · L_comp</a:t>
            </a:r>
          </a:p>
          <a:p>
            <a:pPr algn="ctr"/>
            <a:r>
              <a:rPr sz="800" b="0">
                <a:solidFill>
                  <a:srgbClr val="8A93A3"/>
                </a:solidFill>
              </a:rPr>
              <a:t>−mean_{p ∈ S} log Dir(xₚ | αₚ)</a:t>
            </a:r>
          </a:p>
        </p:txBody>
      </p:sp>
      <p:cxnSp>
        <p:nvCxnSpPr>
          <p:cNvPr id="22" name="Connector 21"/>
          <p:cNvCxnSpPr/>
          <p:nvPr/>
        </p:nvCxnSpPr>
        <p:spPr>
          <a:xfrm>
            <a:off x="1828800" y="3063240"/>
            <a:ext cx="1051560" cy="1271016"/>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2880360" y="3968496"/>
            <a:ext cx="3108960" cy="7315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CondHead</a:t>
            </a:r>
          </a:p>
          <a:p>
            <a:pPr algn="ctr"/>
            <a:r>
              <a:rPr sz="900" b="0">
                <a:solidFill>
                  <a:srgbClr val="8A93A3"/>
                </a:solidFill>
              </a:rPr>
              <a:t>2 x [Linear -&gt; 512] on [h ; s]</a:t>
            </a:r>
          </a:p>
          <a:p>
            <a:pPr algn="ctr"/>
            <a:r>
              <a:rPr sz="900" b="0">
                <a:solidFill>
                  <a:srgbClr val="8A93A3"/>
                </a:solidFill>
              </a:rPr>
              <a:t>log-softmax w, μ, softplus σ</a:t>
            </a:r>
          </a:p>
        </p:txBody>
      </p:sp>
      <p:sp>
        <p:nvSpPr>
          <p:cNvPr id="24" name="Right Arrow 23"/>
          <p:cNvSpPr/>
          <p:nvPr/>
        </p:nvSpPr>
        <p:spPr>
          <a:xfrm>
            <a:off x="6446520" y="4187952"/>
            <a:ext cx="274320" cy="292608"/>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812280" y="3968496"/>
            <a:ext cx="2194560" cy="7315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3 axes x K=3 mixture</a:t>
            </a:r>
          </a:p>
          <a:p>
            <a:pPr algn="ctr"/>
            <a:r>
              <a:rPr sz="800" b="0">
                <a:solidFill>
                  <a:srgbClr val="8A93A3"/>
                </a:solidFill>
              </a:rPr>
              <a:t>T, P, H2O in raw units</a:t>
            </a:r>
          </a:p>
        </p:txBody>
      </p:sp>
      <p:sp>
        <p:nvSpPr>
          <p:cNvPr id="26" name="Rounded Rectangle 25"/>
          <p:cNvSpPr/>
          <p:nvPr/>
        </p:nvSpPr>
        <p:spPr>
          <a:xfrm>
            <a:off x="9144000" y="3968496"/>
            <a:ext cx="2560320" cy="7315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λ_cond · L_cond</a:t>
            </a:r>
          </a:p>
          <a:p>
            <a:pPr algn="ctr"/>
            <a:r>
              <a:rPr sz="800" b="0">
                <a:solidFill>
                  <a:srgbClr val="8A93A3"/>
                </a:solidFill>
              </a:rPr>
              <a:t>Σ_axis −log Σₖ wₖ N(t | μₖ, σₖ²)</a:t>
            </a:r>
          </a:p>
        </p:txBody>
      </p:sp>
      <p:cxnSp>
        <p:nvCxnSpPr>
          <p:cNvPr id="27" name="Connector 26"/>
          <p:cNvCxnSpPr/>
          <p:nvPr/>
        </p:nvCxnSpPr>
        <p:spPr>
          <a:xfrm flipV="1">
            <a:off x="2011680" y="2770632"/>
            <a:ext cx="868680" cy="1490472"/>
          </a:xfrm>
          <a:prstGeom prst="bentConnector3">
            <a:avLst/>
          </a:prstGeom>
          <a:ln w="25400">
            <a:solidFill>
              <a:srgbClr val="E8883A"/>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011680" y="4261104"/>
            <a:ext cx="868680" cy="210312"/>
          </a:xfrm>
          <a:prstGeom prst="bentConnector3">
            <a:avLst/>
          </a:prstGeom>
          <a:ln w="25400">
            <a:solidFill>
              <a:srgbClr val="E8883A"/>
            </a:solidFill>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989320" y="2633472"/>
            <a:ext cx="228600" cy="0"/>
          </a:xfrm>
          <a:prstGeom prst="bentConnector3">
            <a:avLst/>
          </a:prstGeom>
          <a:ln w="19050">
            <a:solidFill>
              <a:srgbClr val="C0392B"/>
            </a:solidFill>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989320" y="3483864"/>
            <a:ext cx="228600" cy="0"/>
          </a:xfrm>
          <a:prstGeom prst="bentConnector3">
            <a:avLst/>
          </a:prstGeom>
          <a:ln w="19050">
            <a:solidFill>
              <a:srgbClr val="C0392B"/>
            </a:solidFill>
          </a:ln>
          <a:effectLst/>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6217920" y="2633472"/>
            <a:ext cx="0" cy="2212848"/>
          </a:xfrm>
          <a:prstGeom prst="bentConnector3">
            <a:avLst/>
          </a:prstGeom>
          <a:ln w="19050">
            <a:solidFill>
              <a:srgbClr val="C0392B"/>
            </a:solidFill>
          </a:ln>
          <a:effectLst/>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2880360" y="4846320"/>
            <a:ext cx="8823960" cy="5486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λ_bal · L_closure = ‖(1−F_liq−F_fl)·Σₚ mₚCₚ + F_liq·C_liq + F_fl·C_fl − B‖²</a:t>
            </a:r>
          </a:p>
          <a:p>
            <a:pPr algn="ctr"/>
            <a:r>
              <a:rPr sz="900" b="0">
                <a:solidFill>
                  <a:srgbClr val="8A93A3"/>
                </a:solidFill>
              </a:rPr>
              <a:t>no weights of its own: ModeHead's masked mean m x CompHead's mean C must rebuild the input bulk B, melt/fluid side teacher-forced from the corpus row</a:t>
            </a:r>
          </a:p>
        </p:txBody>
      </p:sp>
      <p:sp>
        <p:nvSpPr>
          <p:cNvPr id="33" name="Rounded Rectangle 32"/>
          <p:cNvSpPr/>
          <p:nvPr/>
        </p:nvSpPr>
        <p:spPr>
          <a:xfrm>
            <a:off x="502920" y="5468112"/>
            <a:ext cx="11201400" cy="566928"/>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L = L_presence + λ_mag·L_magnitude + λ_comp·L_comp + λ_cond·L_cond + λ_bal·L_closure</a:t>
            </a:r>
          </a:p>
          <a:p>
            <a:pPr algn="ctr"/>
            <a:r>
              <a:rPr sz="1100" b="0">
                <a:solidFill>
                  <a:srgbClr val="8A93A3"/>
                </a:solidFill>
              </a:rPr>
              <a:t>λ_mag 0.0281 . λ_comp 1.0 . λ_cond 0.01 . λ_bal 0.00308 (joint HPO, ADR 006) -- one scalar, one backward pass, one AdamW step; the branches share no weights, so each λ balances terms rather than arbitrating a trunk</a:t>
            </a:r>
          </a:p>
        </p:txBody>
      </p:sp>
      <p:sp>
        <p:nvSpPr>
          <p:cNvPr id="34" name="TextBox 33"/>
          <p:cNvSpPr txBox="1"/>
          <p:nvPr/>
        </p:nvSpPr>
        <p:spPr>
          <a:xfrm>
            <a:off x="502920" y="6071616"/>
            <a:ext cx="11201400" cy="731520"/>
          </a:xfrm>
          <a:prstGeom prst="rect">
            <a:avLst/>
          </a:prstGeom>
          <a:noFill/>
        </p:spPr>
        <p:txBody>
          <a:bodyPr wrap="square">
            <a:spAutoFit/>
          </a:bodyPr>
          <a:lstStyle/>
          <a:p>
            <a:pPr algn="l"/>
            <a:r>
              <a:rPr sz="1050" b="0">
                <a:solidFill>
                  <a:srgbClr val="1A2238"/>
                </a:solidFill>
              </a:rPr>
              <a:t>1,830,337 params on the frozen 3.23M encoder (~57%): mode 1,346,090 . comp 65,404 . cond 418,843 -- from checkpoints/joint_heads_allrock_tuned_seed0/heads_best.pt</a:t>
            </a:r>
          </a:p>
        </p:txBody>
      </p:sp>
      <p:sp>
        <p:nvSpPr>
          <p:cNvPr id="35" name="TextBox 34"/>
          <p:cNvSpPr txBox="1"/>
          <p:nvPr/>
        </p:nvSpPr>
        <p:spPr>
          <a:xfrm>
            <a:off x="502920" y="6327648"/>
            <a:ext cx="11201400" cy="731520"/>
          </a:xfrm>
          <a:prstGeom prst="rect">
            <a:avLst/>
          </a:prstGeom>
          <a:noFill/>
        </p:spPr>
        <p:txBody>
          <a:bodyPr wrap="square">
            <a:spAutoFit/>
          </a:bodyPr>
          <a:lstStyle/>
          <a:p>
            <a:pPr algn="l"/>
            <a:r>
              <a:rPr sz="950" b="0">
                <a:solidFill>
                  <a:srgbClr val="8A93A3"/>
                </a:solidFill>
              </a:rPr>
              <a:t>dials (stamped in the production checkpoint): dropout 0.260 . lr 4.70e-4 . weight_decay 2.46e-5 . batch 1024 . epochs 120 / patience 10 -- in code: GELU, AdamW, grad-clip 1.0 per head</a:t>
            </a:r>
          </a:p>
        </p:txBody>
      </p:sp>
      <p:sp>
        <p:nvSpPr>
          <p:cNvPr id="36" name="TextBox 35"/>
          <p:cNvSpPr txBox="1"/>
          <p:nvPr/>
        </p:nvSpPr>
        <p:spPr>
          <a:xfrm>
            <a:off x="502920" y="6528816"/>
            <a:ext cx="11201400" cy="731520"/>
          </a:xfrm>
          <a:prstGeom prst="rect">
            <a:avLst/>
          </a:prstGeom>
          <a:noFill/>
        </p:spPr>
        <p:txBody>
          <a:bodyPr wrap="square">
            <a:spAutoFit/>
          </a:bodyPr>
          <a:lstStyle/>
          <a:p>
            <a:pPr algn="l"/>
            <a:r>
              <a:rPr sz="950" b="0">
                <a:solidFill>
                  <a:srgbClr val="C0392B"/>
                </a:solidFill>
              </a:rPr>
              <a:t>L_presence is meaned over the 21 phases while L_magnitude sums them, so against a per-phase-SUM BCE the same weight reads 21 x 0.0281 = 0.59 (the reversed trial-22 dials ran 21 x 7.76 = 163)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 -- CURRENT CANONICAL OUTPUT</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What the heads emit (distributions, not point estimates)</a:t>
            </a:r>
          </a:p>
        </p:txBody>
      </p:sp>
      <p:sp>
        <p:nvSpPr>
          <p:cNvPr id="4" name="Rounded Rectangle 3"/>
          <p:cNvSpPr/>
          <p:nvPr/>
        </p:nvSpPr>
        <p:spPr>
          <a:xfrm>
            <a:off x="502920" y="2651760"/>
            <a:ext cx="2286000" cy="155448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example bulk</a:t>
            </a:r>
          </a:p>
          <a:p>
            <a:pPr algn="ctr"/>
            <a:r>
              <a:rPr sz="1200" b="1">
                <a:solidFill>
                  <a:srgbClr val="1A2238"/>
                </a:solidFill>
              </a:rPr>
              <a:t/>
            </a:r>
          </a:p>
          <a:p>
            <a:pPr algn="ctr"/>
            <a:r>
              <a:rPr sz="900" b="0">
                <a:solidFill>
                  <a:srgbClr val="8A93A3"/>
                </a:solidFill>
              </a:rPr>
              <a:t>SiO2 50  Al2O3 16</a:t>
            </a:r>
          </a:p>
          <a:p>
            <a:pPr algn="ctr"/>
            <a:r>
              <a:rPr sz="900" b="0">
                <a:solidFill>
                  <a:srgbClr val="8A93A3"/>
                </a:solidFill>
              </a:rPr>
              <a:t>MgO 7.5  FeO 11</a:t>
            </a:r>
          </a:p>
          <a:p>
            <a:pPr algn="ctr"/>
            <a:r>
              <a:rPr sz="900" b="0">
                <a:solidFill>
                  <a:srgbClr val="8A93A3"/>
                </a:solidFill>
              </a:rPr>
              <a:t>Sr 400 ppm ...</a:t>
            </a:r>
          </a:p>
        </p:txBody>
      </p:sp>
      <p:sp>
        <p:nvSpPr>
          <p:cNvPr id="5" name="Right Arrow 4"/>
          <p:cNvSpPr/>
          <p:nvPr/>
        </p:nvSpPr>
        <p:spPr>
          <a:xfrm>
            <a:off x="2880360" y="324612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3456432" y="2770632"/>
            <a:ext cx="1316736" cy="1316736"/>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7" name="Right Arrow 6"/>
          <p:cNvSpPr/>
          <p:nvPr/>
        </p:nvSpPr>
        <p:spPr>
          <a:xfrm>
            <a:off x="4892040" y="324612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486400" y="1417320"/>
            <a:ext cx="6309360" cy="20574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
            </a:r>
          </a:p>
        </p:txBody>
      </p:sp>
      <p:sp>
        <p:nvSpPr>
          <p:cNvPr id="9" name="TextBox 8"/>
          <p:cNvSpPr txBox="1"/>
          <p:nvPr/>
        </p:nvSpPr>
        <p:spPr>
          <a:xfrm>
            <a:off x="5669280" y="1463040"/>
            <a:ext cx="5943600" cy="731520"/>
          </a:xfrm>
          <a:prstGeom prst="rect">
            <a:avLst/>
          </a:prstGeom>
          <a:noFill/>
        </p:spPr>
        <p:txBody>
          <a:bodyPr wrap="square">
            <a:spAutoFit/>
          </a:bodyPr>
          <a:lstStyle/>
          <a:p>
            <a:pPr algn="l"/>
            <a:r>
              <a:rPr sz="1200" b="0">
                <a:solidFill>
                  <a:srgbClr val="2A9D8F"/>
                </a:solidFill>
              </a:rPr>
              <a:t>ModeHead -&gt; per phase: p(present) x amount-when-present (hurdle Dirichlet; crystals renormalized to 1, groundmass/melt excluded)</a:t>
            </a:r>
          </a:p>
        </p:txBody>
      </p:sp>
      <p:sp>
        <p:nvSpPr>
          <p:cNvPr id="10" name="Rounded Rectangle 9"/>
          <p:cNvSpPr/>
          <p:nvPr/>
        </p:nvSpPr>
        <p:spPr>
          <a:xfrm>
            <a:off x="5715000" y="1874519"/>
            <a:ext cx="1892807" cy="292608"/>
          </a:xfrm>
          <a:prstGeom prst="round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7397496" y="2020824"/>
            <a:ext cx="420624"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397496" y="1956816"/>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818120" y="1956816"/>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909560" y="1828799"/>
            <a:ext cx="4206240" cy="365760"/>
          </a:xfrm>
          <a:prstGeom prst="rect">
            <a:avLst/>
          </a:prstGeom>
          <a:noFill/>
        </p:spPr>
        <p:txBody>
          <a:bodyPr wrap="square">
            <a:spAutoFit/>
          </a:bodyPr>
          <a:lstStyle/>
          <a:p>
            <a:pPr algn="l"/>
            <a:r>
              <a:rPr sz="1200" b="0">
                <a:solidFill>
                  <a:srgbClr val="1A2238"/>
                </a:solidFill>
              </a:rPr>
              <a:t>plagioclase  0.45  |  p 1.00</a:t>
            </a:r>
          </a:p>
        </p:txBody>
      </p:sp>
      <p:sp>
        <p:nvSpPr>
          <p:cNvPr id="15" name="Rounded Rectangle 14"/>
          <p:cNvSpPr/>
          <p:nvPr/>
        </p:nvSpPr>
        <p:spPr>
          <a:xfrm>
            <a:off x="5715000" y="2185415"/>
            <a:ext cx="1135684" cy="292608"/>
          </a:xfrm>
          <a:prstGeom prst="round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6682435" y="2331720"/>
            <a:ext cx="336499"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682435" y="2267712"/>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018934" y="2267712"/>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110374" y="2139696"/>
            <a:ext cx="4206240" cy="365760"/>
          </a:xfrm>
          <a:prstGeom prst="rect">
            <a:avLst/>
          </a:prstGeom>
          <a:noFill/>
        </p:spPr>
        <p:txBody>
          <a:bodyPr wrap="square">
            <a:spAutoFit/>
          </a:bodyPr>
          <a:lstStyle/>
          <a:p>
            <a:pPr algn="l"/>
            <a:r>
              <a:rPr sz="1200" b="0">
                <a:solidFill>
                  <a:srgbClr val="1A2238"/>
                </a:solidFill>
              </a:rPr>
              <a:t>clinopyroxene  0.27  |  p 0.97</a:t>
            </a:r>
          </a:p>
        </p:txBody>
      </p:sp>
      <p:sp>
        <p:nvSpPr>
          <p:cNvPr id="20" name="Rounded Rectangle 19"/>
          <p:cNvSpPr/>
          <p:nvPr/>
        </p:nvSpPr>
        <p:spPr>
          <a:xfrm>
            <a:off x="5715000" y="2496312"/>
            <a:ext cx="757123" cy="292608"/>
          </a:xfrm>
          <a:prstGeom prst="roundRect">
            <a:avLst/>
          </a:prstGeom>
          <a:solidFill>
            <a:srgbClr val="A9D7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6219748" y="2642616"/>
            <a:ext cx="504749"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219748" y="2578608"/>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724497" y="2578608"/>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815937" y="2450592"/>
            <a:ext cx="4206240" cy="365760"/>
          </a:xfrm>
          <a:prstGeom prst="rect">
            <a:avLst/>
          </a:prstGeom>
          <a:noFill/>
        </p:spPr>
        <p:txBody>
          <a:bodyPr wrap="square">
            <a:spAutoFit/>
          </a:bodyPr>
          <a:lstStyle/>
          <a:p>
            <a:pPr algn="l"/>
            <a:r>
              <a:rPr sz="1200" b="0">
                <a:solidFill>
                  <a:srgbClr val="1A2238"/>
                </a:solidFill>
              </a:rPr>
              <a:t>amphibole  0.18  |  p 0.41</a:t>
            </a:r>
          </a:p>
        </p:txBody>
      </p:sp>
      <p:sp>
        <p:nvSpPr>
          <p:cNvPr id="25" name="Rounded Rectangle 24"/>
          <p:cNvSpPr/>
          <p:nvPr/>
        </p:nvSpPr>
        <p:spPr>
          <a:xfrm>
            <a:off x="5715000" y="2807208"/>
            <a:ext cx="420623" cy="292608"/>
          </a:xfrm>
          <a:prstGeom prst="roundRect">
            <a:avLst/>
          </a:prstGeom>
          <a:solidFill>
            <a:srgbClr val="A9D7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5967374" y="2953512"/>
            <a:ext cx="336499"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967374" y="2889504"/>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303873" y="2889504"/>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395313" y="2761488"/>
            <a:ext cx="4206240" cy="365760"/>
          </a:xfrm>
          <a:prstGeom prst="rect">
            <a:avLst/>
          </a:prstGeom>
          <a:noFill/>
        </p:spPr>
        <p:txBody>
          <a:bodyPr wrap="square">
            <a:spAutoFit/>
          </a:bodyPr>
          <a:lstStyle/>
          <a:p>
            <a:pPr algn="l"/>
            <a:r>
              <a:rPr sz="1200" b="0">
                <a:solidFill>
                  <a:srgbClr val="1A2238"/>
                </a:solidFill>
              </a:rPr>
              <a:t>orthopyroxene  0.10  |  p 0.63</a:t>
            </a:r>
          </a:p>
        </p:txBody>
      </p:sp>
      <p:sp>
        <p:nvSpPr>
          <p:cNvPr id="30" name="Rounded Rectangle 29"/>
          <p:cNvSpPr/>
          <p:nvPr/>
        </p:nvSpPr>
        <p:spPr>
          <a:xfrm>
            <a:off x="5715000" y="3118104"/>
            <a:ext cx="168249" cy="292608"/>
          </a:xfrm>
          <a:prstGeom prst="round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5799124" y="3264408"/>
            <a:ext cx="168250"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799124" y="3200400"/>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67374" y="3200400"/>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058814" y="3072384"/>
            <a:ext cx="4206240" cy="365760"/>
          </a:xfrm>
          <a:prstGeom prst="rect">
            <a:avLst/>
          </a:prstGeom>
          <a:noFill/>
        </p:spPr>
        <p:txBody>
          <a:bodyPr wrap="square">
            <a:spAutoFit/>
          </a:bodyPr>
          <a:lstStyle/>
          <a:p>
            <a:pPr algn="l"/>
            <a:r>
              <a:rPr sz="1200" b="0">
                <a:solidFill>
                  <a:srgbClr val="1A2238"/>
                </a:solidFill>
              </a:rPr>
              <a:t>magnetite  0.04  |  p 0.95</a:t>
            </a:r>
          </a:p>
        </p:txBody>
      </p:sp>
      <p:sp>
        <p:nvSpPr>
          <p:cNvPr id="35" name="Rounded Rectangle 34"/>
          <p:cNvSpPr/>
          <p:nvPr/>
        </p:nvSpPr>
        <p:spPr>
          <a:xfrm>
            <a:off x="5486400" y="3657600"/>
            <a:ext cx="6309360" cy="23317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
            </a:r>
          </a:p>
        </p:txBody>
      </p:sp>
      <p:sp>
        <p:nvSpPr>
          <p:cNvPr id="36" name="TextBox 35"/>
          <p:cNvSpPr txBox="1"/>
          <p:nvPr/>
        </p:nvSpPr>
        <p:spPr>
          <a:xfrm>
            <a:off x="5669280" y="3703320"/>
            <a:ext cx="5943600" cy="731520"/>
          </a:xfrm>
          <a:prstGeom prst="rect">
            <a:avLst/>
          </a:prstGeom>
          <a:noFill/>
        </p:spPr>
        <p:txBody>
          <a:bodyPr wrap="square">
            <a:spAutoFit/>
          </a:bodyPr>
          <a:lstStyle/>
          <a:p>
            <a:pPr algn="l"/>
            <a:r>
              <a:rPr sz="1200" b="0">
                <a:solidFill>
                  <a:srgbClr val="6C5CE7"/>
                </a:solidFill>
              </a:rPr>
              <a:t>CondHead -&gt; storage conditions (per-axis GMM; P and H2O are sampled axes, T is the derived phenocryst-window endpoint temperature)</a:t>
            </a:r>
          </a:p>
        </p:txBody>
      </p:sp>
      <p:sp>
        <p:nvSpPr>
          <p:cNvPr id="37" name="Freeform 36"/>
          <p:cNvSpPr/>
          <p:nvPr/>
        </p:nvSpPr>
        <p:spPr>
          <a:xfrm>
            <a:off x="5806440" y="4434840"/>
            <a:ext cx="1737360" cy="960119"/>
          </a:xfrm>
          <a:custGeom>
            <a:avLst/>
            <a:gdLst/>
            <a:ahLst/>
            <a:cxnLst/>
            <a:rect l="l" t="t" r="r" b="b"/>
            <a:pathLst>
              <a:path w="1737360" h="960119">
                <a:moveTo>
                  <a:pt x="0" y="960119"/>
                </a:moveTo>
                <a:lnTo>
                  <a:pt x="0" y="952846"/>
                </a:lnTo>
                <a:lnTo>
                  <a:pt x="36195" y="949286"/>
                </a:lnTo>
                <a:lnTo>
                  <a:pt x="72390" y="944254"/>
                </a:lnTo>
                <a:lnTo>
                  <a:pt x="108585" y="937276"/>
                </a:lnTo>
                <a:lnTo>
                  <a:pt x="144780" y="927782"/>
                </a:lnTo>
                <a:lnTo>
                  <a:pt x="180975" y="915112"/>
                </a:lnTo>
                <a:lnTo>
                  <a:pt x="217169" y="898531"/>
                </a:lnTo>
                <a:lnTo>
                  <a:pt x="253365" y="877258"/>
                </a:lnTo>
                <a:lnTo>
                  <a:pt x="289559" y="850511"/>
                </a:lnTo>
                <a:lnTo>
                  <a:pt x="325755" y="817567"/>
                </a:lnTo>
                <a:lnTo>
                  <a:pt x="361949" y="777839"/>
                </a:lnTo>
                <a:lnTo>
                  <a:pt x="398145" y="730958"/>
                </a:lnTo>
                <a:lnTo>
                  <a:pt x="434339" y="676862"/>
                </a:lnTo>
                <a:lnTo>
                  <a:pt x="470535" y="615883"/>
                </a:lnTo>
                <a:lnTo>
                  <a:pt x="506730" y="548809"/>
                </a:lnTo>
                <a:lnTo>
                  <a:pt x="542925" y="476928"/>
                </a:lnTo>
                <a:lnTo>
                  <a:pt x="579119" y="402028"/>
                </a:lnTo>
                <a:lnTo>
                  <a:pt x="615315" y="326353"/>
                </a:lnTo>
                <a:lnTo>
                  <a:pt x="651510" y="252517"/>
                </a:lnTo>
                <a:lnTo>
                  <a:pt x="687705" y="183360"/>
                </a:lnTo>
                <a:lnTo>
                  <a:pt x="723900" y="121779"/>
                </a:lnTo>
                <a:lnTo>
                  <a:pt x="760094" y="70526"/>
                </a:lnTo>
                <a:lnTo>
                  <a:pt x="796290" y="32010"/>
                </a:lnTo>
                <a:lnTo>
                  <a:pt x="832484" y="8104"/>
                </a:lnTo>
                <a:lnTo>
                  <a:pt x="868680" y="0"/>
                </a:lnTo>
                <a:lnTo>
                  <a:pt x="904874" y="8104"/>
                </a:lnTo>
                <a:lnTo>
                  <a:pt x="941070" y="32010"/>
                </a:lnTo>
                <a:lnTo>
                  <a:pt x="977264" y="70526"/>
                </a:lnTo>
                <a:lnTo>
                  <a:pt x="1013460" y="121779"/>
                </a:lnTo>
                <a:lnTo>
                  <a:pt x="1049654" y="183360"/>
                </a:lnTo>
                <a:lnTo>
                  <a:pt x="1085850" y="252517"/>
                </a:lnTo>
                <a:lnTo>
                  <a:pt x="1122044" y="326353"/>
                </a:lnTo>
                <a:lnTo>
                  <a:pt x="1158240" y="402028"/>
                </a:lnTo>
                <a:lnTo>
                  <a:pt x="1194435" y="476928"/>
                </a:lnTo>
                <a:lnTo>
                  <a:pt x="1230630" y="548809"/>
                </a:lnTo>
                <a:lnTo>
                  <a:pt x="1266824" y="615883"/>
                </a:lnTo>
                <a:lnTo>
                  <a:pt x="1303019" y="676862"/>
                </a:lnTo>
                <a:lnTo>
                  <a:pt x="1339215" y="730958"/>
                </a:lnTo>
                <a:lnTo>
                  <a:pt x="1375409" y="777839"/>
                </a:lnTo>
                <a:lnTo>
                  <a:pt x="1411605" y="817567"/>
                </a:lnTo>
                <a:lnTo>
                  <a:pt x="1447799" y="850511"/>
                </a:lnTo>
                <a:lnTo>
                  <a:pt x="1483995" y="877258"/>
                </a:lnTo>
                <a:lnTo>
                  <a:pt x="1520189" y="898531"/>
                </a:lnTo>
                <a:lnTo>
                  <a:pt x="1556384" y="915112"/>
                </a:lnTo>
                <a:lnTo>
                  <a:pt x="1592580" y="927782"/>
                </a:lnTo>
                <a:lnTo>
                  <a:pt x="1628775" y="937276"/>
                </a:lnTo>
                <a:lnTo>
                  <a:pt x="1664969" y="944254"/>
                </a:lnTo>
                <a:lnTo>
                  <a:pt x="1701165" y="949286"/>
                </a:lnTo>
                <a:lnTo>
                  <a:pt x="1737360" y="952846"/>
                </a:lnTo>
                <a:lnTo>
                  <a:pt x="1737360" y="960119"/>
                </a:lnTo>
                <a:close/>
              </a:path>
            </a:pathLst>
          </a:custGeom>
          <a:solidFill>
            <a:srgbClr val="C4D1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5806440" y="5394959"/>
            <a:ext cx="173736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23559" y="5440679"/>
            <a:ext cx="2103120" cy="365760"/>
          </a:xfrm>
          <a:prstGeom prst="rect">
            <a:avLst/>
          </a:prstGeom>
          <a:noFill/>
        </p:spPr>
        <p:txBody>
          <a:bodyPr wrap="square">
            <a:spAutoFit/>
          </a:bodyPr>
          <a:lstStyle/>
          <a:p>
            <a:pPr algn="ctr"/>
            <a:r>
              <a:rPr sz="1200" b="1">
                <a:solidFill>
                  <a:srgbClr val="1A2238"/>
                </a:solidFill>
              </a:rPr>
              <a:t>T  1010 +/- 40 C</a:t>
            </a:r>
          </a:p>
        </p:txBody>
      </p:sp>
      <p:sp>
        <p:nvSpPr>
          <p:cNvPr id="40" name="Freeform 39"/>
          <p:cNvSpPr/>
          <p:nvPr/>
        </p:nvSpPr>
        <p:spPr>
          <a:xfrm>
            <a:off x="7772400" y="4434840"/>
            <a:ext cx="1737360" cy="960119"/>
          </a:xfrm>
          <a:custGeom>
            <a:avLst/>
            <a:gdLst/>
            <a:ahLst/>
            <a:cxnLst/>
            <a:rect l="l" t="t" r="r" b="b"/>
            <a:pathLst>
              <a:path w="1737360" h="960119">
                <a:moveTo>
                  <a:pt x="0" y="960119"/>
                </a:moveTo>
                <a:lnTo>
                  <a:pt x="0" y="939852"/>
                </a:lnTo>
                <a:lnTo>
                  <a:pt x="36195" y="932353"/>
                </a:lnTo>
                <a:lnTo>
                  <a:pt x="72390" y="922586"/>
                </a:lnTo>
                <a:lnTo>
                  <a:pt x="108585" y="910058"/>
                </a:lnTo>
                <a:lnTo>
                  <a:pt x="144780" y="894237"/>
                </a:lnTo>
                <a:lnTo>
                  <a:pt x="180974" y="874570"/>
                </a:lnTo>
                <a:lnTo>
                  <a:pt x="217170" y="850511"/>
                </a:lnTo>
                <a:lnTo>
                  <a:pt x="253365" y="821553"/>
                </a:lnTo>
                <a:lnTo>
                  <a:pt x="289560" y="787277"/>
                </a:lnTo>
                <a:lnTo>
                  <a:pt x="325754" y="747391"/>
                </a:lnTo>
                <a:lnTo>
                  <a:pt x="361950" y="701784"/>
                </a:lnTo>
                <a:lnTo>
                  <a:pt x="398145" y="650575"/>
                </a:lnTo>
                <a:lnTo>
                  <a:pt x="434340" y="594149"/>
                </a:lnTo>
                <a:lnTo>
                  <a:pt x="470534" y="533196"/>
                </a:lnTo>
                <a:lnTo>
                  <a:pt x="506730" y="468718"/>
                </a:lnTo>
                <a:lnTo>
                  <a:pt x="542925" y="402028"/>
                </a:lnTo>
                <a:lnTo>
                  <a:pt x="579120" y="334721"/>
                </a:lnTo>
                <a:lnTo>
                  <a:pt x="615315" y="268623"/>
                </a:lnTo>
                <a:lnTo>
                  <a:pt x="651510" y="205713"/>
                </a:lnTo>
                <a:lnTo>
                  <a:pt x="687705" y="148031"/>
                </a:lnTo>
                <a:lnTo>
                  <a:pt x="723900" y="97571"/>
                </a:lnTo>
                <a:lnTo>
                  <a:pt x="760095" y="56167"/>
                </a:lnTo>
                <a:lnTo>
                  <a:pt x="796290" y="25381"/>
                </a:lnTo>
                <a:lnTo>
                  <a:pt x="832485" y="6409"/>
                </a:lnTo>
                <a:lnTo>
                  <a:pt x="868680" y="0"/>
                </a:lnTo>
                <a:lnTo>
                  <a:pt x="904875" y="6409"/>
                </a:lnTo>
                <a:lnTo>
                  <a:pt x="941070" y="25381"/>
                </a:lnTo>
                <a:lnTo>
                  <a:pt x="977265" y="56167"/>
                </a:lnTo>
                <a:lnTo>
                  <a:pt x="1013460" y="97571"/>
                </a:lnTo>
                <a:lnTo>
                  <a:pt x="1049655" y="148031"/>
                </a:lnTo>
                <a:lnTo>
                  <a:pt x="1085850" y="205713"/>
                </a:lnTo>
                <a:lnTo>
                  <a:pt x="1122045" y="268623"/>
                </a:lnTo>
                <a:lnTo>
                  <a:pt x="1158240" y="334721"/>
                </a:lnTo>
                <a:lnTo>
                  <a:pt x="1194435" y="402028"/>
                </a:lnTo>
                <a:lnTo>
                  <a:pt x="1230630" y="468718"/>
                </a:lnTo>
                <a:lnTo>
                  <a:pt x="1266825" y="533196"/>
                </a:lnTo>
                <a:lnTo>
                  <a:pt x="1303020" y="594149"/>
                </a:lnTo>
                <a:lnTo>
                  <a:pt x="1339215" y="650575"/>
                </a:lnTo>
                <a:lnTo>
                  <a:pt x="1375410" y="701784"/>
                </a:lnTo>
                <a:lnTo>
                  <a:pt x="1411605" y="747391"/>
                </a:lnTo>
                <a:lnTo>
                  <a:pt x="1447800" y="787277"/>
                </a:lnTo>
                <a:lnTo>
                  <a:pt x="1483995" y="821553"/>
                </a:lnTo>
                <a:lnTo>
                  <a:pt x="1520190" y="850511"/>
                </a:lnTo>
                <a:lnTo>
                  <a:pt x="1556385" y="874570"/>
                </a:lnTo>
                <a:lnTo>
                  <a:pt x="1592580" y="894237"/>
                </a:lnTo>
                <a:lnTo>
                  <a:pt x="1628775" y="910058"/>
                </a:lnTo>
                <a:lnTo>
                  <a:pt x="1664970" y="922586"/>
                </a:lnTo>
                <a:lnTo>
                  <a:pt x="1701165" y="932353"/>
                </a:lnTo>
                <a:lnTo>
                  <a:pt x="1737360" y="939852"/>
                </a:lnTo>
                <a:lnTo>
                  <a:pt x="1737360" y="960119"/>
                </a:lnTo>
                <a:close/>
              </a:path>
            </a:pathLst>
          </a:custGeom>
          <a:solidFill>
            <a:srgbClr val="BCEAE5"/>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7772400" y="5394959"/>
            <a:ext cx="173736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589520" y="5440679"/>
            <a:ext cx="2103120" cy="365760"/>
          </a:xfrm>
          <a:prstGeom prst="rect">
            <a:avLst/>
          </a:prstGeom>
          <a:noFill/>
        </p:spPr>
        <p:txBody>
          <a:bodyPr wrap="square">
            <a:spAutoFit/>
          </a:bodyPr>
          <a:lstStyle/>
          <a:p>
            <a:pPr algn="ctr"/>
            <a:r>
              <a:rPr sz="1200" b="1">
                <a:solidFill>
                  <a:srgbClr val="1A2238"/>
                </a:solidFill>
              </a:rPr>
              <a:t>P  4.8 +/- 1.9 kbar</a:t>
            </a:r>
          </a:p>
        </p:txBody>
      </p:sp>
      <p:sp>
        <p:nvSpPr>
          <p:cNvPr id="43" name="Freeform 42"/>
          <p:cNvSpPr/>
          <p:nvPr/>
        </p:nvSpPr>
        <p:spPr>
          <a:xfrm>
            <a:off x="9738360" y="4434840"/>
            <a:ext cx="1783080" cy="960119"/>
          </a:xfrm>
          <a:custGeom>
            <a:avLst/>
            <a:gdLst/>
            <a:ahLst/>
            <a:cxnLst/>
            <a:rect l="l" t="t" r="r" b="b"/>
            <a:pathLst>
              <a:path w="1783080" h="960119">
                <a:moveTo>
                  <a:pt x="0" y="960119"/>
                </a:moveTo>
                <a:lnTo>
                  <a:pt x="0" y="954380"/>
                </a:lnTo>
                <a:lnTo>
                  <a:pt x="37147" y="949181"/>
                </a:lnTo>
                <a:lnTo>
                  <a:pt x="74295" y="940156"/>
                </a:lnTo>
                <a:lnTo>
                  <a:pt x="111442" y="925235"/>
                </a:lnTo>
                <a:lnTo>
                  <a:pt x="148590" y="901749"/>
                </a:lnTo>
                <a:lnTo>
                  <a:pt x="185737" y="866600"/>
                </a:lnTo>
                <a:lnTo>
                  <a:pt x="222885" y="816648"/>
                </a:lnTo>
                <a:lnTo>
                  <a:pt x="260032" y="749364"/>
                </a:lnTo>
                <a:lnTo>
                  <a:pt x="297180" y="663673"/>
                </a:lnTo>
                <a:lnTo>
                  <a:pt x="334327" y="560845"/>
                </a:lnTo>
                <a:lnTo>
                  <a:pt x="371475" y="445176"/>
                </a:lnTo>
                <a:lnTo>
                  <a:pt x="408622" y="324178"/>
                </a:lnTo>
                <a:lnTo>
                  <a:pt x="445770" y="208043"/>
                </a:lnTo>
                <a:lnTo>
                  <a:pt x="482917" y="108354"/>
                </a:lnTo>
                <a:lnTo>
                  <a:pt x="520065" y="36181"/>
                </a:lnTo>
                <a:lnTo>
                  <a:pt x="557212" y="0"/>
                </a:lnTo>
                <a:lnTo>
                  <a:pt x="594360" y="3933"/>
                </a:lnTo>
                <a:lnTo>
                  <a:pt x="631507" y="46793"/>
                </a:lnTo>
                <a:lnTo>
                  <a:pt x="668655" y="122197"/>
                </a:lnTo>
                <a:lnTo>
                  <a:pt x="705802" y="219711"/>
                </a:lnTo>
                <a:lnTo>
                  <a:pt x="742950" y="326710"/>
                </a:lnTo>
                <a:lnTo>
                  <a:pt x="780097" y="430457"/>
                </a:lnTo>
                <a:lnTo>
                  <a:pt x="817245" y="519915"/>
                </a:lnTo>
                <a:lnTo>
                  <a:pt x="854392" y="586970"/>
                </a:lnTo>
                <a:lnTo>
                  <a:pt x="891540" y="626939"/>
                </a:lnTo>
                <a:lnTo>
                  <a:pt x="928687" y="638485"/>
                </a:lnTo>
                <a:lnTo>
                  <a:pt x="965835" y="623138"/>
                </a:lnTo>
                <a:lnTo>
                  <a:pt x="1002982" y="584667"/>
                </a:lnTo>
                <a:lnTo>
                  <a:pt x="1040130" y="528460"/>
                </a:lnTo>
                <a:lnTo>
                  <a:pt x="1077277" y="460988"/>
                </a:lnTo>
                <a:lnTo>
                  <a:pt x="1114425" y="389315"/>
                </a:lnTo>
                <a:lnTo>
                  <a:pt x="1151572" y="320622"/>
                </a:lnTo>
                <a:lnTo>
                  <a:pt x="1188720" y="261689"/>
                </a:lnTo>
                <a:lnTo>
                  <a:pt x="1225867" y="218338"/>
                </a:lnTo>
                <a:lnTo>
                  <a:pt x="1263015" y="194904"/>
                </a:lnTo>
                <a:lnTo>
                  <a:pt x="1300162" y="193807"/>
                </a:lnTo>
                <a:lnTo>
                  <a:pt x="1337310" y="215337"/>
                </a:lnTo>
                <a:lnTo>
                  <a:pt x="1374457" y="257689"/>
                </a:lnTo>
                <a:lnTo>
                  <a:pt x="1411605" y="317276"/>
                </a:lnTo>
                <a:lnTo>
                  <a:pt x="1448752" y="389265"/>
                </a:lnTo>
                <a:lnTo>
                  <a:pt x="1485900" y="468240"/>
                </a:lnTo>
                <a:lnTo>
                  <a:pt x="1523047" y="548872"/>
                </a:lnTo>
                <a:lnTo>
                  <a:pt x="1560195" y="626495"/>
                </a:lnTo>
                <a:lnTo>
                  <a:pt x="1597342" y="697502"/>
                </a:lnTo>
                <a:lnTo>
                  <a:pt x="1634490" y="759534"/>
                </a:lnTo>
                <a:lnTo>
                  <a:pt x="1671637" y="811463"/>
                </a:lnTo>
                <a:lnTo>
                  <a:pt x="1708785" y="853219"/>
                </a:lnTo>
                <a:lnTo>
                  <a:pt x="1745932" y="885529"/>
                </a:lnTo>
                <a:lnTo>
                  <a:pt x="1783080" y="909618"/>
                </a:lnTo>
                <a:lnTo>
                  <a:pt x="1783080" y="960119"/>
                </a:lnTo>
                <a:close/>
              </a:path>
            </a:pathLst>
          </a:custGeom>
          <a:solidFill>
            <a:srgbClr val="F8DDC7"/>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4" name="Connector 43"/>
          <p:cNvCxnSpPr/>
          <p:nvPr/>
        </p:nvCxnSpPr>
        <p:spPr>
          <a:xfrm>
            <a:off x="9738360" y="5394959"/>
            <a:ext cx="178308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9555480" y="5440679"/>
            <a:ext cx="2148840" cy="365760"/>
          </a:xfrm>
          <a:prstGeom prst="rect">
            <a:avLst/>
          </a:prstGeom>
          <a:noFill/>
        </p:spPr>
        <p:txBody>
          <a:bodyPr wrap="square">
            <a:spAutoFit/>
          </a:bodyPr>
          <a:lstStyle/>
          <a:p>
            <a:pPr algn="ctr"/>
            <a:r>
              <a:rPr sz="1200" b="1">
                <a:solidFill>
                  <a:srgbClr val="1A2238"/>
                </a:solidFill>
              </a:rPr>
              <a:t>H2O  multimodal</a:t>
            </a:r>
          </a:p>
        </p:txBody>
      </p:sp>
      <p:sp>
        <p:nvSpPr>
          <p:cNvPr id="46" name="TextBox 45"/>
          <p:cNvSpPr txBox="1"/>
          <p:nvPr/>
        </p:nvSpPr>
        <p:spPr>
          <a:xfrm>
            <a:off x="502920" y="6172200"/>
            <a:ext cx="11247120" cy="731520"/>
          </a:xfrm>
          <a:prstGeom prst="rect">
            <a:avLst/>
          </a:prstGeom>
          <a:noFill/>
        </p:spPr>
        <p:txBody>
          <a:bodyPr wrap="square">
            <a:spAutoFit/>
          </a:bodyPr>
          <a:lstStyle/>
          <a:p>
            <a:pPr algn="l"/>
            <a:r>
              <a:rPr sz="1200" b="0">
                <a:solidFill>
                  <a:srgbClr val="8A93A3"/>
                </a:solidFill>
              </a:rPr>
              <a:t>values illustrative -- every phase carries both numbers; faded bars = presence genuinely uncertain (here the amphibole/orthopyroxene either-or: wet-deep grows amp, dry-shallow grows opx). This marginal view is a projection; the primary output is the ranked-scenario view on the next slide.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 -- CURRENT CANONICAL OUTPUT</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The coherent answer: ranked scenarios</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marginal table can't show WHICH minerals trade off; scenarios can -- sample the posterior, cluster by assemblage, rank by weight</a:t>
            </a:r>
          </a:p>
        </p:txBody>
      </p:sp>
      <p:sp>
        <p:nvSpPr>
          <p:cNvPr id="5" name="Rounded Rectangle 4"/>
          <p:cNvSpPr/>
          <p:nvPr/>
        </p:nvSpPr>
        <p:spPr>
          <a:xfrm>
            <a:off x="640080" y="1783080"/>
            <a:ext cx="5394960" cy="32918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Scenario A -- deep &amp; wet . weight ~45%</a:t>
            </a:r>
          </a:p>
          <a:p>
            <a:pPr algn="ctr"/>
            <a:r>
              <a:rPr sz="1100" b="0">
                <a:solidFill>
                  <a:srgbClr val="8A93A3"/>
                </a:solidFill>
              </a:rPr>
              <a:t>P 6-9 kbar   H2O 4-6 wt%   T ~950-990 C</a:t>
            </a:r>
          </a:p>
          <a:p>
            <a:pPr algn="ctr"/>
            <a:r>
              <a:rPr sz="1400" b="1">
                <a:solidFill>
                  <a:srgbClr val="1A2238"/>
                </a:solidFill>
              </a:rPr>
              <a:t/>
            </a:r>
          </a:p>
          <a:p>
            <a:pPr algn="ctr"/>
            <a:r>
              <a:rPr sz="1100" b="0">
                <a:solidFill>
                  <a:srgbClr val="8A93A3"/>
                </a:solidFill>
              </a:rPr>
              <a:t>phenocrysts (wt% of cargo, sums to 100):</a:t>
            </a:r>
          </a:p>
          <a:p>
            <a:pPr algn="ctr"/>
            <a:r>
              <a:rPr sz="1100" b="0">
                <a:solidFill>
                  <a:srgbClr val="8A93A3"/>
                </a:solidFill>
              </a:rPr>
              <a:t>plagioclase 44 +/- 4    clinopyroxene 26 +/- 3</a:t>
            </a:r>
          </a:p>
          <a:p>
            <a:pPr algn="ctr"/>
            <a:r>
              <a:rPr sz="1100" b="0">
                <a:solidFill>
                  <a:srgbClr val="8A93A3"/>
                </a:solidFill>
              </a:rPr>
              <a:t>amphibole 18 +/- 4      Fe-Ti oxides 12 +/- 2</a:t>
            </a:r>
          </a:p>
        </p:txBody>
      </p:sp>
      <p:sp>
        <p:nvSpPr>
          <p:cNvPr id="6" name="Rounded Rectangle 5"/>
          <p:cNvSpPr/>
          <p:nvPr/>
        </p:nvSpPr>
        <p:spPr>
          <a:xfrm>
            <a:off x="6309360" y="1783080"/>
            <a:ext cx="5394960" cy="329184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Scenario B -- shallow &amp; dry . weight ~35%</a:t>
            </a:r>
          </a:p>
          <a:p>
            <a:pPr algn="ctr"/>
            <a:r>
              <a:rPr sz="1100" b="0">
                <a:solidFill>
                  <a:srgbClr val="8A93A3"/>
                </a:solidFill>
              </a:rPr>
              <a:t>P 1-3 kbar   H2O 1-2.5 wt%   T ~1000-1040 C</a:t>
            </a:r>
          </a:p>
          <a:p>
            <a:pPr algn="ctr"/>
            <a:r>
              <a:rPr sz="1400" b="1">
                <a:solidFill>
                  <a:srgbClr val="1A2238"/>
                </a:solidFill>
              </a:rPr>
              <a:t/>
            </a:r>
          </a:p>
          <a:p>
            <a:pPr algn="ctr"/>
            <a:r>
              <a:rPr sz="1100" b="0">
                <a:solidFill>
                  <a:srgbClr val="8A93A3"/>
                </a:solidFill>
              </a:rPr>
              <a:t>phenocrysts (wt% of cargo, sums to 100):</a:t>
            </a:r>
          </a:p>
          <a:p>
            <a:pPr algn="ctr"/>
            <a:r>
              <a:rPr sz="1100" b="0">
                <a:solidFill>
                  <a:srgbClr val="8A93A3"/>
                </a:solidFill>
              </a:rPr>
              <a:t>plagioclase 48 +/- 4    clinopyroxene 24 +/- 3</a:t>
            </a:r>
          </a:p>
          <a:p>
            <a:pPr algn="ctr"/>
            <a:r>
              <a:rPr sz="1100" b="0">
                <a:solidFill>
                  <a:srgbClr val="8A93A3"/>
                </a:solidFill>
              </a:rPr>
              <a:t>orthopyroxene 16 +/- 3  Fe-Ti oxides 12 +/- 2</a:t>
            </a:r>
          </a:p>
        </p:txBody>
      </p:sp>
      <p:sp>
        <p:nvSpPr>
          <p:cNvPr id="7" name="TextBox 6"/>
          <p:cNvSpPr txBox="1"/>
          <p:nvPr/>
        </p:nvSpPr>
        <p:spPr>
          <a:xfrm>
            <a:off x="640080" y="5212080"/>
            <a:ext cx="11064240" cy="731520"/>
          </a:xfrm>
          <a:prstGeom prst="rect">
            <a:avLst/>
          </a:prstGeom>
          <a:noFill/>
        </p:spPr>
        <p:txBody>
          <a:bodyPr wrap="square">
            <a:spAutoFit/>
          </a:bodyPr>
          <a:lstStyle/>
          <a:p>
            <a:pPr algn="l"/>
            <a:r>
              <a:rPr sz="1200" b="0">
                <a:solidFill>
                  <a:srgbClr val="1A2238"/>
                </a:solidFill>
              </a:rPr>
              <a:t>+ intermediate scenario (amp + opx coexist, ~12%) + tail (~8%) -- nothing silently dropped; weights are prior-weighted plausibility, reweightable</a:t>
            </a:r>
          </a:p>
        </p:txBody>
      </p:sp>
      <p:sp>
        <p:nvSpPr>
          <p:cNvPr id="8" name="TextBox 7"/>
          <p:cNvSpPr txBox="1"/>
          <p:nvPr/>
        </p:nvSpPr>
        <p:spPr>
          <a:xfrm>
            <a:off x="640080" y="5806440"/>
            <a:ext cx="11064240" cy="731520"/>
          </a:xfrm>
          <a:prstGeom prst="rect">
            <a:avLst/>
          </a:prstGeom>
          <a:noFill/>
        </p:spPr>
        <p:txBody>
          <a:bodyPr wrap="square">
            <a:spAutoFit/>
          </a:bodyPr>
          <a:lstStyle/>
          <a:p>
            <a:pPr algn="l"/>
            <a:r>
              <a:rPr sz="1200" b="0">
                <a:solidFill>
                  <a:srgbClr val="8A93A3"/>
                </a:solidFill>
              </a:rPr>
              <a:t>per-phase composition (An#, Mg#) is bulk-controlled -- one shared band across scenarios, not re-predicted per scenario. Each scenario is a falsifiable hypothesis: amphibole in thin section selects A, and with it A's conditions.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SIM-TO-REAL</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Inside the recalibrator: 123 numbers between corpus and real rock</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heads learn from MAGEMin labels, so on real rocks the ranking transfers but the scale does not (Pearson r 0.5-0.76 against negative R2 on four of seven groups). This is the correction fit on measured modes -- encoder and heads stay frozen.</a:t>
            </a:r>
          </a:p>
        </p:txBody>
      </p:sp>
      <p:sp>
        <p:nvSpPr>
          <p:cNvPr id="5" name="Rounded Rectangle 4"/>
          <p:cNvSpPr/>
          <p:nvPr/>
        </p:nvSpPr>
        <p:spPr>
          <a:xfrm>
            <a:off x="502920" y="2377440"/>
            <a:ext cx="2286000" cy="13716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frozen ModeHead out</a:t>
            </a:r>
          </a:p>
          <a:p>
            <a:pPr algn="ctr"/>
            <a:r>
              <a:rPr sz="900" b="0">
                <a:solidFill>
                  <a:srgbClr val="8A93A3"/>
                </a:solidFill>
              </a:rPr>
              <a:t>21 presence logits</a:t>
            </a:r>
          </a:p>
          <a:p>
            <a:pPr algn="ctr"/>
            <a:r>
              <a:rPr sz="900" b="0">
                <a:solidFill>
                  <a:srgbClr val="8A93A3"/>
                </a:solidFill>
              </a:rPr>
              <a:t>21 Dirichlet alphas</a:t>
            </a:r>
          </a:p>
        </p:txBody>
      </p:sp>
      <p:sp>
        <p:nvSpPr>
          <p:cNvPr id="6" name="Right Arrow 5"/>
          <p:cNvSpPr/>
          <p:nvPr/>
        </p:nvSpPr>
        <p:spPr>
          <a:xfrm>
            <a:off x="2880360" y="2880360"/>
            <a:ext cx="41148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383280" y="2377440"/>
            <a:ext cx="2194560" cy="137160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coarsen to 7 groups</a:t>
            </a:r>
          </a:p>
          <a:p>
            <a:pPr algn="ctr"/>
            <a:r>
              <a:rPr sz="900" b="0">
                <a:solidFill>
                  <a:srgbClr val="8A93A3"/>
                </a:solidFill>
              </a:rPr>
              <a:t>fsp px amp bi ol</a:t>
            </a:r>
          </a:p>
          <a:p>
            <a:pPr algn="ctr"/>
            <a:r>
              <a:rPr sz="900" b="0">
                <a:solidFill>
                  <a:srgbClr val="8A93A3"/>
                </a:solidFill>
              </a:rPr>
              <a:t>opq q -- where real</a:t>
            </a:r>
          </a:p>
          <a:p>
            <a:pPr algn="ctr"/>
            <a:r>
              <a:rPr sz="900" b="0">
                <a:solidFill>
                  <a:srgbClr val="8A93A3"/>
                </a:solidFill>
              </a:rPr>
              <a:t>modal data lives</a:t>
            </a:r>
          </a:p>
        </p:txBody>
      </p:sp>
      <p:cxnSp>
        <p:nvCxnSpPr>
          <p:cNvPr id="8" name="Connector 7"/>
          <p:cNvCxnSpPr/>
          <p:nvPr/>
        </p:nvCxnSpPr>
        <p:spPr>
          <a:xfrm flipV="1">
            <a:off x="5577840" y="2263140"/>
            <a:ext cx="365760" cy="80010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943600" y="1783080"/>
            <a:ext cx="3657600" cy="9601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presence: logit space</a:t>
            </a:r>
          </a:p>
          <a:p>
            <a:pPr algn="ctr"/>
            <a:r>
              <a:rPr sz="900" b="0">
                <a:solidFill>
                  <a:srgbClr val="8A93A3"/>
                </a:solidFill>
              </a:rPr>
              <a:t>scale, offset, 7x7 mix</a:t>
            </a:r>
          </a:p>
          <a:p>
            <a:pPr algn="ctr"/>
            <a:r>
              <a:rPr sz="900" b="0">
                <a:solidFill>
                  <a:srgbClr val="8A93A3"/>
                </a:solidFill>
              </a:rPr>
              <a:t>+ SiO2 slope on q, amp</a:t>
            </a:r>
          </a:p>
        </p:txBody>
      </p:sp>
      <p:sp>
        <p:nvSpPr>
          <p:cNvPr id="10" name="Right Arrow 9"/>
          <p:cNvSpPr/>
          <p:nvPr/>
        </p:nvSpPr>
        <p:spPr>
          <a:xfrm>
            <a:off x="9692640" y="2107692"/>
            <a:ext cx="320040" cy="310896"/>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0104120" y="1828800"/>
            <a:ext cx="1691640" cy="8686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corrected p</a:t>
            </a:r>
          </a:p>
          <a:p>
            <a:pPr algn="ctr"/>
            <a:r>
              <a:rPr sz="800" b="0">
                <a:solidFill>
                  <a:srgbClr val="8A93A3"/>
                </a:solidFill>
              </a:rPr>
              <a:t>per group</a:t>
            </a:r>
          </a:p>
        </p:txBody>
      </p:sp>
      <p:cxnSp>
        <p:nvCxnSpPr>
          <p:cNvPr id="12" name="Connector 11"/>
          <p:cNvCxnSpPr/>
          <p:nvPr/>
        </p:nvCxnSpPr>
        <p:spPr>
          <a:xfrm>
            <a:off x="5577840" y="3063240"/>
            <a:ext cx="365760" cy="38862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943600" y="2971800"/>
            <a:ext cx="3657600" cy="96012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magnitude: multiplicative</a:t>
            </a:r>
          </a:p>
          <a:p>
            <a:pPr algn="ctr"/>
            <a:r>
              <a:rPr sz="900" b="0">
                <a:solidFill>
                  <a:srgbClr val="8A93A3"/>
                </a:solidFill>
              </a:rPr>
              <a:t>alpha x exp(offset + 7x7 mix</a:t>
            </a:r>
          </a:p>
          <a:p>
            <a:pPr algn="ctr"/>
            <a:r>
              <a:rPr sz="900" b="0">
                <a:solidFill>
                  <a:srgbClr val="8A93A3"/>
                </a:solidFill>
              </a:rPr>
              <a:t>on log alpha) -- keeps exact zeros</a:t>
            </a:r>
          </a:p>
        </p:txBody>
      </p:sp>
      <p:sp>
        <p:nvSpPr>
          <p:cNvPr id="14" name="Right Arrow 13"/>
          <p:cNvSpPr/>
          <p:nvPr/>
        </p:nvSpPr>
        <p:spPr>
          <a:xfrm>
            <a:off x="9692640" y="3296412"/>
            <a:ext cx="320040" cy="310896"/>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0104120" y="3017520"/>
            <a:ext cx="1691640" cy="8686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corrected alpha</a:t>
            </a:r>
          </a:p>
          <a:p>
            <a:pPr algn="ctr"/>
            <a:r>
              <a:rPr sz="800" b="0">
                <a:solidFill>
                  <a:srgbClr val="8A93A3"/>
                </a:solidFill>
              </a:rPr>
              <a:t>per group</a:t>
            </a:r>
          </a:p>
        </p:txBody>
      </p:sp>
      <p:cxnSp>
        <p:nvCxnSpPr>
          <p:cNvPr id="16" name="Connector 15"/>
          <p:cNvCxnSpPr/>
          <p:nvPr/>
        </p:nvCxnSpPr>
        <p:spPr>
          <a:xfrm>
            <a:off x="5577840" y="3063240"/>
            <a:ext cx="365760" cy="157734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943600" y="4160520"/>
            <a:ext cx="3657600" cy="9601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tail: precision contamination</a:t>
            </a:r>
          </a:p>
          <a:p>
            <a:pPr algn="ctr"/>
            <a:r>
              <a:rPr sz="900" b="0">
                <a:solidFill>
                  <a:srgbClr val="8A93A3"/>
                </a:solidFill>
              </a:rPr>
              <a:t>weight eps on a second alpha x k</a:t>
            </a:r>
          </a:p>
          <a:p>
            <a:pPr algn="ctr"/>
            <a:r>
              <a:rPr sz="900" b="0">
                <a:solidFill>
                  <a:srgbClr val="8A93A3"/>
                </a:solidFill>
              </a:rPr>
              <a:t>component -- same mean, fatter tail</a:t>
            </a:r>
          </a:p>
        </p:txBody>
      </p:sp>
      <p:sp>
        <p:nvSpPr>
          <p:cNvPr id="18" name="Right Arrow 17"/>
          <p:cNvSpPr/>
          <p:nvPr/>
        </p:nvSpPr>
        <p:spPr>
          <a:xfrm>
            <a:off x="9692640" y="4485132"/>
            <a:ext cx="320040" cy="310896"/>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4206240"/>
            <a:ext cx="1691640" cy="8686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2-component</a:t>
            </a:r>
          </a:p>
          <a:p>
            <a:pPr algn="ctr"/>
            <a:r>
              <a:rPr sz="800" b="0">
                <a:solidFill>
                  <a:srgbClr val="8A93A3"/>
                </a:solidFill>
              </a:rPr>
              <a:t>mixture out</a:t>
            </a:r>
          </a:p>
        </p:txBody>
      </p:sp>
      <p:sp>
        <p:nvSpPr>
          <p:cNvPr id="20" name="TextBox 19"/>
          <p:cNvSpPr txBox="1"/>
          <p:nvPr/>
        </p:nvSpPr>
        <p:spPr>
          <a:xfrm>
            <a:off x="502920" y="5303520"/>
            <a:ext cx="11155680" cy="731520"/>
          </a:xfrm>
          <a:prstGeom prst="rect">
            <a:avLst/>
          </a:prstGeom>
          <a:noFill/>
        </p:spPr>
        <p:txBody>
          <a:bodyPr wrap="square">
            <a:spAutoFit/>
          </a:bodyPr>
          <a:lstStyle/>
          <a:p>
            <a:pPr algn="l"/>
            <a:r>
              <a:rPr sz="1100" b="0">
                <a:solidFill>
                  <a:srgbClr val="1A2238"/>
                </a:solidFill>
              </a:rPr>
              <a:t>123 trainable params on a frozen 5.07M stack (0.002%): 7 presence scales + 7 offsets + 7 magnitude offsets + 2 SiO2 slopes + two 7x7 mixes + 2 contamination params. The tiers nest -- vector (23) in matrix (121), and tailed = matrix + 2. Identity at initialization, so an unfit recalibrator reproduces the zero-shot number exactly and every gain reads as nats recovered.</a:t>
            </a:r>
          </a:p>
        </p:txBody>
      </p:sp>
      <p:sp>
        <p:nvSpPr>
          <p:cNvPr id="21" name="TextBox 20"/>
          <p:cNvSpPr txBox="1"/>
          <p:nvPr/>
        </p:nvSpPr>
        <p:spPr>
          <a:xfrm>
            <a:off x="502920" y="5897880"/>
            <a:ext cx="11155680" cy="731520"/>
          </a:xfrm>
          <a:prstGeom prst="rect">
            <a:avLst/>
          </a:prstGeom>
          <a:noFill/>
        </p:spPr>
        <p:txBody>
          <a:bodyPr wrap="square">
            <a:spAutoFit/>
          </a:bodyPr>
          <a:lstStyle/>
          <a:p>
            <a:pPr algn="l"/>
            <a:r>
              <a:rPr sz="1000" b="0">
                <a:solidFill>
                  <a:srgbClr val="8A93A3"/>
                </a:solidFill>
              </a:rPr>
              <a:t>dials: Adam, lr 0.05, 400 epochs, no per-draw early stopping by design . weight decay picked on val per tier (vector 0.1, matrix 1.0, tailed 1.0) . amphibole's magnitude correction is PINNED at zero -- the mapping audit's band straddles zero there, so a fitted value reads the mapping's uncertainty, not the model's error.</a:t>
            </a:r>
          </a:p>
        </p:txBody>
      </p:sp>
      <p:sp>
        <p:nvSpPr>
          <p:cNvPr id="22" name="TextBox 21"/>
          <p:cNvSpPr txBox="1"/>
          <p:nvPr/>
        </p:nvSpPr>
        <p:spPr>
          <a:xfrm>
            <a:off x="502920" y="6355080"/>
            <a:ext cx="11155680" cy="731520"/>
          </a:xfrm>
          <a:prstGeom prst="rect">
            <a:avLst/>
          </a:prstGeom>
          <a:noFill/>
        </p:spPr>
        <p:txBody>
          <a:bodyPr wrap="square">
            <a:spAutoFit/>
          </a:bodyPr>
          <a:lstStyle/>
          <a:p>
            <a:pPr algn="l"/>
            <a:r>
              <a:rPr sz="1000" b="0">
                <a:solidFill>
                  <a:srgbClr val="8A93A3"/>
                </a:solidFill>
              </a:rPr>
              <a:t>ground truth: measured modal data, eruption-v2 benchmark. 640 least-altered rocks split by eruption unit -- 368 train (the fit) / 111 val (every number on the next slide) / 161 test, sealed.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SIM-TO-REAL</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What 123 parameters buy, and how many labelled rocks it takes</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every level below is joint NLL on the same 111 val rocks, lower better; contrasts are paired and clustered on the 39 eruption units, because rocks from one eruption are not independent.</a:t>
            </a:r>
          </a:p>
        </p:txBody>
      </p:sp>
      <p:sp>
        <p:nvSpPr>
          <p:cNvPr id="5" name="Rounded Rectangle 4"/>
          <p:cNvSpPr/>
          <p:nvPr/>
        </p:nvSpPr>
        <p:spPr>
          <a:xfrm>
            <a:off x="502920" y="1828800"/>
            <a:ext cx="2377440" cy="5486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8A93A3"/>
                </a:solidFill>
              </a:rPr>
              <a:t>zero-shot</a:t>
            </a:r>
          </a:p>
        </p:txBody>
      </p:sp>
      <p:sp>
        <p:nvSpPr>
          <p:cNvPr id="6" name="Rectangle 5"/>
          <p:cNvSpPr/>
          <p:nvPr/>
        </p:nvSpPr>
        <p:spPr>
          <a:xfrm>
            <a:off x="3017520" y="1920240"/>
            <a:ext cx="4937760" cy="365760"/>
          </a:xfrm>
          <a:prstGeom prst="rect">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19" y="1938528"/>
            <a:ext cx="1371600" cy="731520"/>
          </a:xfrm>
          <a:prstGeom prst="rect">
            <a:avLst/>
          </a:prstGeom>
          <a:noFill/>
        </p:spPr>
        <p:txBody>
          <a:bodyPr wrap="square">
            <a:spAutoFit/>
          </a:bodyPr>
          <a:lstStyle/>
          <a:p>
            <a:pPr algn="l"/>
            <a:r>
              <a:rPr sz="1200" b="0">
                <a:solidFill>
                  <a:srgbClr val="8A93A3"/>
                </a:solidFill>
              </a:rPr>
              <a:t>13.44</a:t>
            </a:r>
          </a:p>
        </p:txBody>
      </p:sp>
      <p:sp>
        <p:nvSpPr>
          <p:cNvPr id="8" name="Rounded Rectangle 7"/>
          <p:cNvSpPr/>
          <p:nvPr/>
        </p:nvSpPr>
        <p:spPr>
          <a:xfrm>
            <a:off x="502920" y="2487168"/>
            <a:ext cx="2377440" cy="54864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vector (23)</a:t>
            </a:r>
          </a:p>
        </p:txBody>
      </p:sp>
      <p:sp>
        <p:nvSpPr>
          <p:cNvPr id="9" name="Rectangle 8"/>
          <p:cNvSpPr/>
          <p:nvPr/>
        </p:nvSpPr>
        <p:spPr>
          <a:xfrm>
            <a:off x="3017520" y="2578608"/>
            <a:ext cx="1381397" cy="365760"/>
          </a:xfrm>
          <a:prstGeom prst="rect">
            <a:avLst/>
          </a:prstGeom>
          <a:solidFill>
            <a:srgbClr val="12B5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357" y="2596896"/>
            <a:ext cx="1371600" cy="731520"/>
          </a:xfrm>
          <a:prstGeom prst="rect">
            <a:avLst/>
          </a:prstGeom>
          <a:noFill/>
        </p:spPr>
        <p:txBody>
          <a:bodyPr wrap="square">
            <a:spAutoFit/>
          </a:bodyPr>
          <a:lstStyle/>
          <a:p>
            <a:pPr algn="l"/>
            <a:r>
              <a:rPr sz="1200" b="0">
                <a:solidFill>
                  <a:srgbClr val="12B5A5"/>
                </a:solidFill>
              </a:rPr>
              <a:t>3.76</a:t>
            </a:r>
          </a:p>
        </p:txBody>
      </p:sp>
      <p:sp>
        <p:nvSpPr>
          <p:cNvPr id="11" name="Rounded Rectangle 10"/>
          <p:cNvSpPr/>
          <p:nvPr/>
        </p:nvSpPr>
        <p:spPr>
          <a:xfrm>
            <a:off x="502920" y="3145536"/>
            <a:ext cx="2377440" cy="54864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matrix (121)</a:t>
            </a:r>
          </a:p>
        </p:txBody>
      </p:sp>
      <p:sp>
        <p:nvSpPr>
          <p:cNvPr id="12" name="Rectangle 11"/>
          <p:cNvSpPr/>
          <p:nvPr/>
        </p:nvSpPr>
        <p:spPr>
          <a:xfrm>
            <a:off x="3017520" y="3236976"/>
            <a:ext cx="470262" cy="365760"/>
          </a:xfrm>
          <a:prstGeom prst="rect">
            <a:avLst/>
          </a:prstGeom>
          <a:solidFill>
            <a:srgbClr val="E888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79222" y="3255264"/>
            <a:ext cx="1371600" cy="731520"/>
          </a:xfrm>
          <a:prstGeom prst="rect">
            <a:avLst/>
          </a:prstGeom>
          <a:noFill/>
        </p:spPr>
        <p:txBody>
          <a:bodyPr wrap="square">
            <a:spAutoFit/>
          </a:bodyPr>
          <a:lstStyle/>
          <a:p>
            <a:pPr algn="l"/>
            <a:r>
              <a:rPr sz="1200" b="0">
                <a:solidFill>
                  <a:srgbClr val="E8883A"/>
                </a:solidFill>
              </a:rPr>
              <a:t>1.28</a:t>
            </a:r>
          </a:p>
        </p:txBody>
      </p:sp>
      <p:sp>
        <p:nvSpPr>
          <p:cNvPr id="14" name="Rounded Rectangle 13"/>
          <p:cNvSpPr/>
          <p:nvPr/>
        </p:nvSpPr>
        <p:spPr>
          <a:xfrm>
            <a:off x="502920" y="3803904"/>
            <a:ext cx="2377440" cy="5486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tailed (123)</a:t>
            </a:r>
          </a:p>
        </p:txBody>
      </p:sp>
      <p:sp>
        <p:nvSpPr>
          <p:cNvPr id="15" name="Rectangle 14"/>
          <p:cNvSpPr/>
          <p:nvPr/>
        </p:nvSpPr>
        <p:spPr>
          <a:xfrm>
            <a:off x="3017520" y="3895344"/>
            <a:ext cx="356371" cy="36576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65331" y="3913632"/>
            <a:ext cx="1371600" cy="731520"/>
          </a:xfrm>
          <a:prstGeom prst="rect">
            <a:avLst/>
          </a:prstGeom>
          <a:noFill/>
        </p:spPr>
        <p:txBody>
          <a:bodyPr wrap="square">
            <a:spAutoFit/>
          </a:bodyPr>
          <a:lstStyle/>
          <a:p>
            <a:pPr algn="l"/>
            <a:r>
              <a:rPr sz="1200" b="0">
                <a:solidFill>
                  <a:srgbClr val="2A9D8F"/>
                </a:solidFill>
              </a:rPr>
              <a:t>0.97</a:t>
            </a:r>
          </a:p>
        </p:txBody>
      </p:sp>
      <p:sp>
        <p:nvSpPr>
          <p:cNvPr id="17" name="TextBox 16"/>
          <p:cNvSpPr txBox="1"/>
          <p:nvPr/>
        </p:nvSpPr>
        <p:spPr>
          <a:xfrm>
            <a:off x="502920" y="4526280"/>
            <a:ext cx="7680960" cy="731520"/>
          </a:xfrm>
          <a:prstGeom prst="rect">
            <a:avLst/>
          </a:prstGeom>
          <a:noFill/>
        </p:spPr>
        <p:txBody>
          <a:bodyPr wrap="square">
            <a:spAutoFit/>
          </a:bodyPr>
          <a:lstStyle/>
          <a:p>
            <a:pPr algn="l"/>
            <a:r>
              <a:rPr sz="1100" b="0">
                <a:solidFill>
                  <a:srgbClr val="1A2238"/>
                </a:solidFill>
              </a:rPr>
              <a:t>matrix -&gt; tailed is +0.304 [+0.049, +0.659] nats, ALL of it in the Dirichlet term -- the two tiers share a presence branch, so that contrast is exactly 0.000. Fitted eps 0.052, k 0.507: about 5% of the mass moves to a component with half the concentration, same mean.</a:t>
            </a:r>
          </a:p>
        </p:txBody>
      </p:sp>
      <p:sp>
        <p:nvSpPr>
          <p:cNvPr id="18" name="Freeform 17"/>
          <p:cNvSpPr/>
          <p:nvPr/>
        </p:nvSpPr>
        <p:spPr>
          <a:xfrm>
            <a:off x="8503920" y="1965960"/>
            <a:ext cx="3108960" cy="1143000"/>
          </a:xfrm>
          <a:custGeom>
            <a:avLst/>
            <a:gdLst/>
            <a:ahLst/>
            <a:cxnLst/>
            <a:rect l="l" t="t" r="r" b="b"/>
            <a:pathLst>
              <a:path w="3108960" h="1143000">
                <a:moveTo>
                  <a:pt x="0" y="1143000"/>
                </a:moveTo>
                <a:lnTo>
                  <a:pt x="0" y="1142999"/>
                </a:lnTo>
                <a:lnTo>
                  <a:pt x="64770" y="1142999"/>
                </a:lnTo>
                <a:lnTo>
                  <a:pt x="129540" y="1142999"/>
                </a:lnTo>
                <a:lnTo>
                  <a:pt x="194310" y="1142998"/>
                </a:lnTo>
                <a:lnTo>
                  <a:pt x="259080" y="1142992"/>
                </a:lnTo>
                <a:lnTo>
                  <a:pt x="323850" y="1142972"/>
                </a:lnTo>
                <a:lnTo>
                  <a:pt x="388620" y="1142903"/>
                </a:lnTo>
                <a:lnTo>
                  <a:pt x="453390" y="1142691"/>
                </a:lnTo>
                <a:lnTo>
                  <a:pt x="518160" y="1142084"/>
                </a:lnTo>
                <a:lnTo>
                  <a:pt x="582930" y="1140484"/>
                </a:lnTo>
                <a:lnTo>
                  <a:pt x="647700" y="1136600"/>
                </a:lnTo>
                <a:lnTo>
                  <a:pt x="712470" y="1127929"/>
                </a:lnTo>
                <a:lnTo>
                  <a:pt x="777240" y="1110147"/>
                </a:lnTo>
                <a:lnTo>
                  <a:pt x="842010" y="1076700"/>
                </a:lnTo>
                <a:lnTo>
                  <a:pt x="906780" y="1019135"/>
                </a:lnTo>
                <a:lnTo>
                  <a:pt x="971550" y="928774"/>
                </a:lnTo>
                <a:lnTo>
                  <a:pt x="1036320" y="800007"/>
                </a:lnTo>
                <a:lnTo>
                  <a:pt x="1101090" y="634621"/>
                </a:lnTo>
                <a:lnTo>
                  <a:pt x="1165860" y="445442"/>
                </a:lnTo>
                <a:lnTo>
                  <a:pt x="1230630" y="256942"/>
                </a:lnTo>
                <a:lnTo>
                  <a:pt x="1295400" y="101081"/>
                </a:lnTo>
                <a:lnTo>
                  <a:pt x="1360170" y="8785"/>
                </a:lnTo>
                <a:lnTo>
                  <a:pt x="1424940" y="0"/>
                </a:lnTo>
                <a:lnTo>
                  <a:pt x="1489710" y="76681"/>
                </a:lnTo>
                <a:lnTo>
                  <a:pt x="1554480" y="222090"/>
                </a:lnTo>
                <a:lnTo>
                  <a:pt x="1619250" y="406730"/>
                </a:lnTo>
                <a:lnTo>
                  <a:pt x="1684020" y="598062"/>
                </a:lnTo>
                <a:lnTo>
                  <a:pt x="1748790" y="769624"/>
                </a:lnTo>
                <a:lnTo>
                  <a:pt x="1813560" y="906171"/>
                </a:lnTo>
                <a:lnTo>
                  <a:pt x="1878330" y="1003936"/>
                </a:lnTo>
                <a:lnTo>
                  <a:pt x="1943100" y="1067407"/>
                </a:lnTo>
                <a:lnTo>
                  <a:pt x="2007870" y="1104960"/>
                </a:lnTo>
                <a:lnTo>
                  <a:pt x="2072640" y="1125279"/>
                </a:lnTo>
                <a:lnTo>
                  <a:pt x="2137410" y="1135357"/>
                </a:lnTo>
                <a:lnTo>
                  <a:pt x="2202180" y="1139948"/>
                </a:lnTo>
                <a:lnTo>
                  <a:pt x="2266950" y="1141872"/>
                </a:lnTo>
                <a:lnTo>
                  <a:pt x="2331720" y="1142614"/>
                </a:lnTo>
                <a:lnTo>
                  <a:pt x="2396490" y="1142877"/>
                </a:lnTo>
                <a:lnTo>
                  <a:pt x="2461260" y="1142964"/>
                </a:lnTo>
                <a:lnTo>
                  <a:pt x="2526030" y="1142990"/>
                </a:lnTo>
                <a:lnTo>
                  <a:pt x="2590800" y="1142997"/>
                </a:lnTo>
                <a:lnTo>
                  <a:pt x="2655570" y="1142999"/>
                </a:lnTo>
                <a:lnTo>
                  <a:pt x="2720340" y="1142999"/>
                </a:lnTo>
                <a:lnTo>
                  <a:pt x="2785110" y="1142999"/>
                </a:lnTo>
                <a:lnTo>
                  <a:pt x="2849880" y="1142999"/>
                </a:lnTo>
                <a:lnTo>
                  <a:pt x="2914650" y="1142999"/>
                </a:lnTo>
                <a:lnTo>
                  <a:pt x="2979420" y="1142999"/>
                </a:lnTo>
                <a:lnTo>
                  <a:pt x="3044190" y="1142999"/>
                </a:lnTo>
                <a:lnTo>
                  <a:pt x="3108960" y="1142999"/>
                </a:lnTo>
                <a:lnTo>
                  <a:pt x="3108960" y="1143000"/>
                </a:lnTo>
                <a:close/>
              </a:path>
            </a:pathLst>
          </a:custGeom>
          <a:solidFill>
            <a:srgbClr val="F8DDC7"/>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a:off x="8503920" y="3108960"/>
            <a:ext cx="310896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321040" y="3154679"/>
            <a:ext cx="3474720" cy="365760"/>
          </a:xfrm>
          <a:prstGeom prst="rect">
            <a:avLst/>
          </a:prstGeom>
          <a:noFill/>
        </p:spPr>
        <p:txBody>
          <a:bodyPr wrap="square">
            <a:spAutoFit/>
          </a:bodyPr>
          <a:lstStyle/>
          <a:p>
            <a:pPr algn="ctr"/>
            <a:r>
              <a:rPr sz="1200" b="1">
                <a:solidFill>
                  <a:srgbClr val="1A2238"/>
                </a:solidFill>
              </a:rPr>
              <a:t>matrix: one Dirichlet, thin tails</a:t>
            </a:r>
          </a:p>
        </p:txBody>
      </p:sp>
      <p:sp>
        <p:nvSpPr>
          <p:cNvPr id="21" name="Freeform 20"/>
          <p:cNvSpPr/>
          <p:nvPr/>
        </p:nvSpPr>
        <p:spPr>
          <a:xfrm>
            <a:off x="8503920" y="3657600"/>
            <a:ext cx="3108960" cy="1143000"/>
          </a:xfrm>
          <a:custGeom>
            <a:avLst/>
            <a:gdLst/>
            <a:ahLst/>
            <a:cxnLst/>
            <a:rect l="l" t="t" r="r" b="b"/>
            <a:pathLst>
              <a:path w="3108960" h="1143000">
                <a:moveTo>
                  <a:pt x="0" y="1143000"/>
                </a:moveTo>
                <a:lnTo>
                  <a:pt x="0" y="1142335"/>
                </a:lnTo>
                <a:lnTo>
                  <a:pt x="64770" y="1142002"/>
                </a:lnTo>
                <a:lnTo>
                  <a:pt x="129540" y="1141529"/>
                </a:lnTo>
                <a:lnTo>
                  <a:pt x="194310" y="1140872"/>
                </a:lnTo>
                <a:lnTo>
                  <a:pt x="259080" y="1139979"/>
                </a:lnTo>
                <a:lnTo>
                  <a:pt x="323850" y="1138782"/>
                </a:lnTo>
                <a:lnTo>
                  <a:pt x="388620" y="1137190"/>
                </a:lnTo>
                <a:lnTo>
                  <a:pt x="453390" y="1135056"/>
                </a:lnTo>
                <a:lnTo>
                  <a:pt x="518160" y="1132089"/>
                </a:lnTo>
                <a:lnTo>
                  <a:pt x="582930" y="1127685"/>
                </a:lnTo>
                <a:lnTo>
                  <a:pt x="647700" y="1120604"/>
                </a:lnTo>
                <a:lnTo>
                  <a:pt x="712470" y="1108488"/>
                </a:lnTo>
                <a:lnTo>
                  <a:pt x="777240" y="1087283"/>
                </a:lnTo>
                <a:lnTo>
                  <a:pt x="842010" y="1050865"/>
                </a:lnTo>
                <a:lnTo>
                  <a:pt x="906780" y="991353"/>
                </a:lnTo>
                <a:lnTo>
                  <a:pt x="971550" y="900684"/>
                </a:lnTo>
                <a:lnTo>
                  <a:pt x="1036320" y="773737"/>
                </a:lnTo>
                <a:lnTo>
                  <a:pt x="1101090" y="612421"/>
                </a:lnTo>
                <a:lnTo>
                  <a:pt x="1165860" y="429111"/>
                </a:lnTo>
                <a:lnTo>
                  <a:pt x="1230630" y="247204"/>
                </a:lnTo>
                <a:lnTo>
                  <a:pt x="1295400" y="97168"/>
                </a:lnTo>
                <a:lnTo>
                  <a:pt x="1360170" y="8441"/>
                </a:lnTo>
                <a:lnTo>
                  <a:pt x="1424940" y="0"/>
                </a:lnTo>
                <a:lnTo>
                  <a:pt x="1489710" y="73704"/>
                </a:lnTo>
                <a:lnTo>
                  <a:pt x="1554480" y="213629"/>
                </a:lnTo>
                <a:lnTo>
                  <a:pt x="1619250" y="391703"/>
                </a:lnTo>
                <a:lnTo>
                  <a:pt x="1684020" y="576918"/>
                </a:lnTo>
                <a:lnTo>
                  <a:pt x="1748790" y="743993"/>
                </a:lnTo>
                <a:lnTo>
                  <a:pt x="1813560" y="878263"/>
                </a:lnTo>
                <a:lnTo>
                  <a:pt x="1878330" y="975942"/>
                </a:lnTo>
                <a:lnTo>
                  <a:pt x="1943100" y="1041081"/>
                </a:lnTo>
                <a:lnTo>
                  <a:pt x="2007870" y="1081449"/>
                </a:lnTo>
                <a:lnTo>
                  <a:pt x="2072640" y="1105139"/>
                </a:lnTo>
                <a:lnTo>
                  <a:pt x="2137410" y="1118686"/>
                </a:lnTo>
                <a:lnTo>
                  <a:pt x="2202180" y="1126539"/>
                </a:lnTo>
                <a:lnTo>
                  <a:pt x="2266950" y="1131351"/>
                </a:lnTo>
                <a:lnTo>
                  <a:pt x="2331720" y="1134542"/>
                </a:lnTo>
                <a:lnTo>
                  <a:pt x="2396490" y="1136813"/>
                </a:lnTo>
                <a:lnTo>
                  <a:pt x="2461260" y="1138499"/>
                </a:lnTo>
                <a:lnTo>
                  <a:pt x="2526030" y="1139766"/>
                </a:lnTo>
                <a:lnTo>
                  <a:pt x="2590800" y="1140714"/>
                </a:lnTo>
                <a:lnTo>
                  <a:pt x="2655570" y="1141414"/>
                </a:lnTo>
                <a:lnTo>
                  <a:pt x="2720340" y="1141919"/>
                </a:lnTo>
                <a:lnTo>
                  <a:pt x="2785110" y="1142278"/>
                </a:lnTo>
                <a:lnTo>
                  <a:pt x="2849880" y="1142527"/>
                </a:lnTo>
                <a:lnTo>
                  <a:pt x="2914650" y="1142695"/>
                </a:lnTo>
                <a:lnTo>
                  <a:pt x="2979420" y="1142808"/>
                </a:lnTo>
                <a:lnTo>
                  <a:pt x="3044190" y="1142881"/>
                </a:lnTo>
                <a:lnTo>
                  <a:pt x="3108960" y="1142928"/>
                </a:lnTo>
                <a:lnTo>
                  <a:pt x="3108960" y="1143000"/>
                </a:lnTo>
                <a:close/>
              </a:path>
            </a:pathLst>
          </a:custGeom>
          <a:solidFill>
            <a:srgbClr val="C3E3D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8503920" y="4800600"/>
            <a:ext cx="310896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321040" y="4846320"/>
            <a:ext cx="3474720" cy="365760"/>
          </a:xfrm>
          <a:prstGeom prst="rect">
            <a:avLst/>
          </a:prstGeom>
          <a:noFill/>
        </p:spPr>
        <p:txBody>
          <a:bodyPr wrap="square">
            <a:spAutoFit/>
          </a:bodyPr>
          <a:lstStyle/>
          <a:p>
            <a:pPr algn="ctr"/>
            <a:r>
              <a:rPr sz="1200" b="1">
                <a:solidFill>
                  <a:srgbClr val="1A2238"/>
                </a:solidFill>
              </a:rPr>
              <a:t>tailed: same mean, 5% wide component</a:t>
            </a:r>
          </a:p>
        </p:txBody>
      </p:sp>
      <p:sp>
        <p:nvSpPr>
          <p:cNvPr id="24" name="TextBox 23"/>
          <p:cNvSpPr txBox="1"/>
          <p:nvPr/>
        </p:nvSpPr>
        <p:spPr>
          <a:xfrm>
            <a:off x="8321040" y="4892040"/>
            <a:ext cx="3474720" cy="731520"/>
          </a:xfrm>
          <a:prstGeom prst="rect">
            <a:avLst/>
          </a:prstGeom>
          <a:noFill/>
        </p:spPr>
        <p:txBody>
          <a:bodyPr wrap="square">
            <a:spAutoFit/>
          </a:bodyPr>
          <a:lstStyle/>
          <a:p>
            <a:pPr algn="ctr"/>
            <a:r>
              <a:rPr sz="1000" b="0">
                <a:solidFill>
                  <a:srgbClr val="8A93A3"/>
                </a:solidFill>
              </a:rPr>
              <a:t>the repair is to interval-MISS rocks (score), not to the stated intervals (width)</a:t>
            </a:r>
          </a:p>
        </p:txBody>
      </p:sp>
      <p:sp>
        <p:nvSpPr>
          <p:cNvPr id="25" name="Rounded Rectangle 24"/>
          <p:cNvSpPr/>
          <p:nvPr/>
        </p:nvSpPr>
        <p:spPr>
          <a:xfrm>
            <a:off x="502920" y="5257800"/>
            <a:ext cx="11201400" cy="7315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how many labelled rocks does this need?</a:t>
            </a:r>
          </a:p>
          <a:p>
            <a:pPr algn="ctr"/>
            <a:r>
              <a:rPr sz="900" b="0">
                <a:solidFill>
                  <a:srgbClr val="8A93A3"/>
                </a:solidFill>
              </a:rPr>
              <a:t>~26 rocks recover ~77% of the 9.55-nat magnitude gain, then it flattens hard. matrix and tailed are indistinguishable there (paired delta -0.001) -- 25 rocks carry too few interval misses to identify two contamination parameters -- and tailed then wins 10/10 paired draws at every budget from 50 up (-0.11 at 100, -0.29 at 200, -0.30 at full train). vector lags from 50 on and never goes negative.</a:t>
            </a:r>
          </a:p>
        </p:txBody>
      </p:sp>
      <p:sp>
        <p:nvSpPr>
          <p:cNvPr id="26" name="TextBox 25"/>
          <p:cNvSpPr txBox="1"/>
          <p:nvPr/>
        </p:nvSpPr>
        <p:spPr>
          <a:xfrm>
            <a:off x="502920" y="6172200"/>
            <a:ext cx="11201400" cy="731520"/>
          </a:xfrm>
          <a:prstGeom prst="rect">
            <a:avLst/>
          </a:prstGeom>
          <a:noFill/>
        </p:spPr>
        <p:txBody>
          <a:bodyPr wrap="square">
            <a:spAutoFit/>
          </a:bodyPr>
          <a:lstStyle/>
          <a:p>
            <a:pPr algn="l"/>
            <a:r>
              <a:rPr sz="1000" b="0">
                <a:solidFill>
                  <a:srgbClr val="8A93A3"/>
                </a:solidFill>
              </a:rPr>
              <a:t>current limits: at 25 rocks the 10-90 draw band spans ~2.5 nats, so WHICH eruptions you label dominates which tier you fit. The silica location hypothesis was tested and refuted at the joint-likelihood level. Rendered verdicts stay stamped to the tier that produced them. The 161-rock test slice is sealed. full report: explorations/real_rock_fewshot/results/&lt;tag&gt;/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 -- K=2 MIXTURE: EVALUATED, KEPT AS A DIAL (K=1 STAYS CANONICAL)</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The ModeHead dirichlet layer (mixture) -- trained 2026-08-04; wins the corpus, leans against on real rocks</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same bulk, same h, same presence Bernoullis -- only the 'how much, given this mineral set' answer changes: two full-assemblage components chosen by a gate, instead of one Dirichlet per (rock, support)</a:t>
            </a:r>
          </a:p>
        </p:txBody>
      </p:sp>
      <p:sp>
        <p:nvSpPr>
          <p:cNvPr id="5" name="TextBox 4"/>
          <p:cNvSpPr txBox="1"/>
          <p:nvPr/>
        </p:nvSpPr>
        <p:spPr>
          <a:xfrm>
            <a:off x="502920" y="1645920"/>
            <a:ext cx="11155680" cy="731520"/>
          </a:xfrm>
          <a:prstGeom prst="rect">
            <a:avLst/>
          </a:prstGeom>
          <a:noFill/>
        </p:spPr>
        <p:txBody>
          <a:bodyPr wrap="square">
            <a:spAutoFit/>
          </a:bodyPr>
          <a:lstStyle/>
          <a:p>
            <a:pPr algn="l"/>
            <a:r>
              <a:rPr sz="1200" b="0">
                <a:solidFill>
                  <a:srgbClr val="1A2238"/>
                </a:solidFill>
              </a:rPr>
              <a:t>amphibole's conditional share, one fixed support (same minerals present, path deep-wet or shallow-dry):</a:t>
            </a:r>
          </a:p>
        </p:txBody>
      </p:sp>
      <p:sp>
        <p:nvSpPr>
          <p:cNvPr id="6" name="Freeform 5"/>
          <p:cNvSpPr/>
          <p:nvPr/>
        </p:nvSpPr>
        <p:spPr>
          <a:xfrm>
            <a:off x="822960" y="2148840"/>
            <a:ext cx="2926080" cy="1188720"/>
          </a:xfrm>
          <a:custGeom>
            <a:avLst/>
            <a:gdLst/>
            <a:ahLst/>
            <a:cxnLst/>
            <a:rect l="l" t="t" r="r" b="b"/>
            <a:pathLst>
              <a:path w="2926080" h="1188720">
                <a:moveTo>
                  <a:pt x="0" y="1188720"/>
                </a:moveTo>
                <a:lnTo>
                  <a:pt x="0" y="1175468"/>
                </a:lnTo>
                <a:lnTo>
                  <a:pt x="60960" y="1146313"/>
                </a:lnTo>
                <a:lnTo>
                  <a:pt x="121920" y="1074642"/>
                </a:lnTo>
                <a:lnTo>
                  <a:pt x="182880" y="930747"/>
                </a:lnTo>
                <a:lnTo>
                  <a:pt x="243840" y="698322"/>
                </a:lnTo>
                <a:lnTo>
                  <a:pt x="304800" y="405067"/>
                </a:lnTo>
                <a:lnTo>
                  <a:pt x="365760" y="136029"/>
                </a:lnTo>
                <a:lnTo>
                  <a:pt x="426720" y="0"/>
                </a:lnTo>
                <a:lnTo>
                  <a:pt x="487680" y="60327"/>
                </a:lnTo>
                <a:lnTo>
                  <a:pt x="548640" y="288305"/>
                </a:lnTo>
                <a:lnTo>
                  <a:pt x="609600" y="584729"/>
                </a:lnTo>
                <a:lnTo>
                  <a:pt x="670560" y="848116"/>
                </a:lnTo>
                <a:lnTo>
                  <a:pt x="731520" y="1027149"/>
                </a:lnTo>
                <a:lnTo>
                  <a:pt x="792480" y="1123853"/>
                </a:lnTo>
                <a:lnTo>
                  <a:pt x="853440" y="1165256"/>
                </a:lnTo>
                <a:lnTo>
                  <a:pt x="914400" y="1176628"/>
                </a:lnTo>
                <a:lnTo>
                  <a:pt x="975360" y="1170496"/>
                </a:lnTo>
                <a:lnTo>
                  <a:pt x="1036320" y="1146969"/>
                </a:lnTo>
                <a:lnTo>
                  <a:pt x="1097280" y="1097886"/>
                </a:lnTo>
                <a:lnTo>
                  <a:pt x="1158239" y="1012517"/>
                </a:lnTo>
                <a:lnTo>
                  <a:pt x="1219200" y="885597"/>
                </a:lnTo>
                <a:lnTo>
                  <a:pt x="1280160" y="726470"/>
                </a:lnTo>
                <a:lnTo>
                  <a:pt x="1341120" y="563869"/>
                </a:lnTo>
                <a:lnTo>
                  <a:pt x="1402080" y="440005"/>
                </a:lnTo>
                <a:lnTo>
                  <a:pt x="1463040" y="393483"/>
                </a:lnTo>
                <a:lnTo>
                  <a:pt x="1524000" y="440005"/>
                </a:lnTo>
                <a:lnTo>
                  <a:pt x="1584960" y="563869"/>
                </a:lnTo>
                <a:lnTo>
                  <a:pt x="1645920" y="726470"/>
                </a:lnTo>
                <a:lnTo>
                  <a:pt x="1706880" y="885598"/>
                </a:lnTo>
                <a:lnTo>
                  <a:pt x="1767840" y="1012523"/>
                </a:lnTo>
                <a:lnTo>
                  <a:pt x="1828800" y="1097934"/>
                </a:lnTo>
                <a:lnTo>
                  <a:pt x="1889760" y="1147255"/>
                </a:lnTo>
                <a:lnTo>
                  <a:pt x="1950720" y="1171932"/>
                </a:lnTo>
                <a:lnTo>
                  <a:pt x="2011680" y="1182695"/>
                </a:lnTo>
                <a:lnTo>
                  <a:pt x="2072640" y="1186803"/>
                </a:lnTo>
                <a:lnTo>
                  <a:pt x="2133600" y="1188179"/>
                </a:lnTo>
                <a:lnTo>
                  <a:pt x="2194560" y="1188584"/>
                </a:lnTo>
                <a:lnTo>
                  <a:pt x="2255520" y="1188690"/>
                </a:lnTo>
                <a:lnTo>
                  <a:pt x="2316480" y="1188714"/>
                </a:lnTo>
                <a:lnTo>
                  <a:pt x="2377440" y="1188718"/>
                </a:lnTo>
                <a:lnTo>
                  <a:pt x="2438400" y="1188719"/>
                </a:lnTo>
                <a:lnTo>
                  <a:pt x="2499360" y="1188719"/>
                </a:lnTo>
                <a:lnTo>
                  <a:pt x="2560320" y="1188719"/>
                </a:lnTo>
                <a:lnTo>
                  <a:pt x="2621280" y="1188719"/>
                </a:lnTo>
                <a:lnTo>
                  <a:pt x="2682240" y="1188719"/>
                </a:lnTo>
                <a:lnTo>
                  <a:pt x="2743200" y="1188719"/>
                </a:lnTo>
                <a:lnTo>
                  <a:pt x="2804160" y="1188719"/>
                </a:lnTo>
                <a:lnTo>
                  <a:pt x="2865120" y="1188719"/>
                </a:lnTo>
                <a:lnTo>
                  <a:pt x="2926080" y="1188719"/>
                </a:lnTo>
                <a:lnTo>
                  <a:pt x="2926080" y="1188720"/>
                </a:lnTo>
                <a:close/>
              </a:path>
            </a:pathLst>
          </a:custGeom>
          <a:solidFill>
            <a:srgbClr val="C3E3D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a:off x="822960" y="3337560"/>
            <a:ext cx="292608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3383280"/>
            <a:ext cx="3291840" cy="365760"/>
          </a:xfrm>
          <a:prstGeom prst="rect">
            <a:avLst/>
          </a:prstGeom>
          <a:noFill/>
        </p:spPr>
        <p:txBody>
          <a:bodyPr wrap="square">
            <a:spAutoFit/>
          </a:bodyPr>
          <a:lstStyle/>
          <a:p>
            <a:pPr algn="ctr"/>
            <a:r>
              <a:rPr sz="1200" b="1">
                <a:solidFill>
                  <a:srgbClr val="1A2238"/>
                </a:solidFill>
              </a:rPr>
              <a:t>truth across paths: two humps</a:t>
            </a:r>
          </a:p>
        </p:txBody>
      </p:sp>
      <p:sp>
        <p:nvSpPr>
          <p:cNvPr id="9" name="Freeform 8"/>
          <p:cNvSpPr/>
          <p:nvPr/>
        </p:nvSpPr>
        <p:spPr>
          <a:xfrm>
            <a:off x="4617720" y="2148840"/>
            <a:ext cx="2926080" cy="1188720"/>
          </a:xfrm>
          <a:custGeom>
            <a:avLst/>
            <a:gdLst/>
            <a:ahLst/>
            <a:cxnLst/>
            <a:rect l="l" t="t" r="r" b="b"/>
            <a:pathLst>
              <a:path w="2926080" h="1188720">
                <a:moveTo>
                  <a:pt x="0" y="1188720"/>
                </a:moveTo>
                <a:lnTo>
                  <a:pt x="0" y="1005295"/>
                </a:lnTo>
                <a:lnTo>
                  <a:pt x="60960" y="951098"/>
                </a:lnTo>
                <a:lnTo>
                  <a:pt x="121920" y="886769"/>
                </a:lnTo>
                <a:lnTo>
                  <a:pt x="182880" y="812356"/>
                </a:lnTo>
                <a:lnTo>
                  <a:pt x="243840" y="728567"/>
                </a:lnTo>
                <a:lnTo>
                  <a:pt x="304800" y="636872"/>
                </a:lnTo>
                <a:lnTo>
                  <a:pt x="365760" y="539550"/>
                </a:lnTo>
                <a:lnTo>
                  <a:pt x="426720" y="439654"/>
                </a:lnTo>
                <a:lnTo>
                  <a:pt x="487680" y="340899"/>
                </a:lnTo>
                <a:lnTo>
                  <a:pt x="548640" y="247457"/>
                </a:lnTo>
                <a:lnTo>
                  <a:pt x="609600" y="163682"/>
                </a:lnTo>
                <a:lnTo>
                  <a:pt x="670560" y="93778"/>
                </a:lnTo>
                <a:lnTo>
                  <a:pt x="731520" y="41452"/>
                </a:lnTo>
                <a:lnTo>
                  <a:pt x="792479" y="9591"/>
                </a:lnTo>
                <a:lnTo>
                  <a:pt x="853440" y="0"/>
                </a:lnTo>
                <a:lnTo>
                  <a:pt x="914400" y="13225"/>
                </a:lnTo>
                <a:lnTo>
                  <a:pt x="975360" y="48512"/>
                </a:lnTo>
                <a:lnTo>
                  <a:pt x="1036320" y="103869"/>
                </a:lnTo>
                <a:lnTo>
                  <a:pt x="1097280" y="176259"/>
                </a:lnTo>
                <a:lnTo>
                  <a:pt x="1158240" y="261871"/>
                </a:lnTo>
                <a:lnTo>
                  <a:pt x="1219200" y="356455"/>
                </a:lnTo>
                <a:lnTo>
                  <a:pt x="1280160" y="455664"/>
                </a:lnTo>
                <a:lnTo>
                  <a:pt x="1341120" y="555382"/>
                </a:lnTo>
                <a:lnTo>
                  <a:pt x="1402080" y="651990"/>
                </a:lnTo>
                <a:lnTo>
                  <a:pt x="1463040" y="742552"/>
                </a:lnTo>
                <a:lnTo>
                  <a:pt x="1524000" y="824919"/>
                </a:lnTo>
                <a:lnTo>
                  <a:pt x="1584960" y="897748"/>
                </a:lnTo>
                <a:lnTo>
                  <a:pt x="1645920" y="960444"/>
                </a:lnTo>
                <a:lnTo>
                  <a:pt x="1706880" y="1013052"/>
                </a:lnTo>
                <a:lnTo>
                  <a:pt x="1767840" y="1056118"/>
                </a:lnTo>
                <a:lnTo>
                  <a:pt x="1828800" y="1090539"/>
                </a:lnTo>
                <a:lnTo>
                  <a:pt x="1889760" y="1117414"/>
                </a:lnTo>
                <a:lnTo>
                  <a:pt x="1950720" y="1137922"/>
                </a:lnTo>
                <a:lnTo>
                  <a:pt x="2011680" y="1153223"/>
                </a:lnTo>
                <a:lnTo>
                  <a:pt x="2072640" y="1164389"/>
                </a:lnTo>
                <a:lnTo>
                  <a:pt x="2133600" y="1172361"/>
                </a:lnTo>
                <a:lnTo>
                  <a:pt x="2194560" y="1177931"/>
                </a:lnTo>
                <a:lnTo>
                  <a:pt x="2255520" y="1181741"/>
                </a:lnTo>
                <a:lnTo>
                  <a:pt x="2316480" y="1184291"/>
                </a:lnTo>
                <a:lnTo>
                  <a:pt x="2377440" y="1185963"/>
                </a:lnTo>
                <a:lnTo>
                  <a:pt x="2438400" y="1187037"/>
                </a:lnTo>
                <a:lnTo>
                  <a:pt x="2499360" y="1187712"/>
                </a:lnTo>
                <a:lnTo>
                  <a:pt x="2560320" y="1188128"/>
                </a:lnTo>
                <a:lnTo>
                  <a:pt x="2621280" y="1188378"/>
                </a:lnTo>
                <a:lnTo>
                  <a:pt x="2682240" y="1188527"/>
                </a:lnTo>
                <a:lnTo>
                  <a:pt x="2743200" y="1188613"/>
                </a:lnTo>
                <a:lnTo>
                  <a:pt x="2804160" y="1188661"/>
                </a:lnTo>
                <a:lnTo>
                  <a:pt x="2865120" y="1188688"/>
                </a:lnTo>
                <a:lnTo>
                  <a:pt x="2926080" y="1188703"/>
                </a:lnTo>
                <a:lnTo>
                  <a:pt x="2926080" y="1188720"/>
                </a:lnTo>
                <a:close/>
              </a:path>
            </a:pathLst>
          </a:custGeom>
          <a:solidFill>
            <a:srgbClr val="EDC7C3"/>
          </a:solidFill>
          <a:ln w="254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a:off x="4617720" y="3337560"/>
            <a:ext cx="292608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434840" y="3383280"/>
            <a:ext cx="3291840" cy="365760"/>
          </a:xfrm>
          <a:prstGeom prst="rect">
            <a:avLst/>
          </a:prstGeom>
          <a:noFill/>
        </p:spPr>
        <p:txBody>
          <a:bodyPr wrap="square">
            <a:spAutoFit/>
          </a:bodyPr>
          <a:lstStyle/>
          <a:p>
            <a:pPr algn="ctr"/>
            <a:r>
              <a:rPr sz="1200" b="1">
                <a:solidFill>
                  <a:srgbClr val="1A2238"/>
                </a:solidFill>
              </a:rPr>
              <a:t>current: one Dirichlet -- mean in the valley</a:t>
            </a:r>
          </a:p>
        </p:txBody>
      </p:sp>
      <p:sp>
        <p:nvSpPr>
          <p:cNvPr id="12" name="Freeform 11"/>
          <p:cNvSpPr/>
          <p:nvPr/>
        </p:nvSpPr>
        <p:spPr>
          <a:xfrm>
            <a:off x="8412480" y="2148840"/>
            <a:ext cx="2926079" cy="1188720"/>
          </a:xfrm>
          <a:custGeom>
            <a:avLst/>
            <a:gdLst/>
            <a:ahLst/>
            <a:cxnLst/>
            <a:rect l="l" t="t" r="r" b="b"/>
            <a:pathLst>
              <a:path w="2926079" h="1188720">
                <a:moveTo>
                  <a:pt x="0" y="1188720"/>
                </a:moveTo>
                <a:lnTo>
                  <a:pt x="0" y="1159801"/>
                </a:lnTo>
                <a:lnTo>
                  <a:pt x="60960" y="1113093"/>
                </a:lnTo>
                <a:lnTo>
                  <a:pt x="121919" y="1017380"/>
                </a:lnTo>
                <a:lnTo>
                  <a:pt x="182879" y="852419"/>
                </a:lnTo>
                <a:lnTo>
                  <a:pt x="243840" y="616866"/>
                </a:lnTo>
                <a:lnTo>
                  <a:pt x="304800" y="346299"/>
                </a:lnTo>
                <a:lnTo>
                  <a:pt x="365760" y="113590"/>
                </a:lnTo>
                <a:lnTo>
                  <a:pt x="426720" y="0"/>
                </a:lnTo>
                <a:lnTo>
                  <a:pt x="487680" y="50080"/>
                </a:lnTo>
                <a:lnTo>
                  <a:pt x="548639" y="243826"/>
                </a:lnTo>
                <a:lnTo>
                  <a:pt x="609599" y="509388"/>
                </a:lnTo>
                <a:lnTo>
                  <a:pt x="670560" y="765499"/>
                </a:lnTo>
                <a:lnTo>
                  <a:pt x="731520" y="959944"/>
                </a:lnTo>
                <a:lnTo>
                  <a:pt x="792480" y="1080416"/>
                </a:lnTo>
                <a:lnTo>
                  <a:pt x="853440" y="1140830"/>
                </a:lnTo>
                <a:lnTo>
                  <a:pt x="914400" y="1161159"/>
                </a:lnTo>
                <a:lnTo>
                  <a:pt x="975360" y="1154423"/>
                </a:lnTo>
                <a:lnTo>
                  <a:pt x="1036319" y="1123358"/>
                </a:lnTo>
                <a:lnTo>
                  <a:pt x="1097279" y="1063366"/>
                </a:lnTo>
                <a:lnTo>
                  <a:pt x="1158239" y="968598"/>
                </a:lnTo>
                <a:lnTo>
                  <a:pt x="1219200" y="839313"/>
                </a:lnTo>
                <a:lnTo>
                  <a:pt x="1280160" y="688143"/>
                </a:lnTo>
                <a:lnTo>
                  <a:pt x="1341120" y="541568"/>
                </a:lnTo>
                <a:lnTo>
                  <a:pt x="1402080" y="433754"/>
                </a:lnTo>
                <a:lnTo>
                  <a:pt x="1463039" y="393962"/>
                </a:lnTo>
                <a:lnTo>
                  <a:pt x="1524000" y="433754"/>
                </a:lnTo>
                <a:lnTo>
                  <a:pt x="1584960" y="541568"/>
                </a:lnTo>
                <a:lnTo>
                  <a:pt x="1645920" y="688144"/>
                </a:lnTo>
                <a:lnTo>
                  <a:pt x="1706880" y="839322"/>
                </a:lnTo>
                <a:lnTo>
                  <a:pt x="1767840" y="968653"/>
                </a:lnTo>
                <a:lnTo>
                  <a:pt x="1828800" y="1063643"/>
                </a:lnTo>
                <a:lnTo>
                  <a:pt x="1889760" y="1124572"/>
                </a:lnTo>
                <a:lnTo>
                  <a:pt x="1950719" y="1159032"/>
                </a:lnTo>
                <a:lnTo>
                  <a:pt x="2011679" y="1176322"/>
                </a:lnTo>
                <a:lnTo>
                  <a:pt x="2072640" y="1184047"/>
                </a:lnTo>
                <a:lnTo>
                  <a:pt x="2133600" y="1187131"/>
                </a:lnTo>
                <a:lnTo>
                  <a:pt x="2194560" y="1188232"/>
                </a:lnTo>
                <a:lnTo>
                  <a:pt x="2255520" y="1188585"/>
                </a:lnTo>
                <a:lnTo>
                  <a:pt x="2316480" y="1188686"/>
                </a:lnTo>
                <a:lnTo>
                  <a:pt x="2377439" y="1188712"/>
                </a:lnTo>
                <a:lnTo>
                  <a:pt x="2438400" y="1188718"/>
                </a:lnTo>
                <a:lnTo>
                  <a:pt x="2499360" y="1188719"/>
                </a:lnTo>
                <a:lnTo>
                  <a:pt x="2560320" y="1188719"/>
                </a:lnTo>
                <a:lnTo>
                  <a:pt x="2621280" y="1188719"/>
                </a:lnTo>
                <a:lnTo>
                  <a:pt x="2682240" y="1188719"/>
                </a:lnTo>
                <a:lnTo>
                  <a:pt x="2743200" y="1188719"/>
                </a:lnTo>
                <a:lnTo>
                  <a:pt x="2804160" y="1188719"/>
                </a:lnTo>
                <a:lnTo>
                  <a:pt x="2865119" y="1188719"/>
                </a:lnTo>
                <a:lnTo>
                  <a:pt x="2926079" y="1188719"/>
                </a:lnTo>
                <a:lnTo>
                  <a:pt x="2926079" y="1188720"/>
                </a:lnTo>
                <a:close/>
              </a:path>
            </a:pathLst>
          </a:custGeom>
          <a:solidFill>
            <a:srgbClr val="F8DDC7"/>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8412480" y="3337560"/>
            <a:ext cx="2926079"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229600" y="3383280"/>
            <a:ext cx="3291840" cy="365760"/>
          </a:xfrm>
          <a:prstGeom prst="rect">
            <a:avLst/>
          </a:prstGeom>
          <a:noFill/>
        </p:spPr>
        <p:txBody>
          <a:bodyPr wrap="square">
            <a:spAutoFit/>
          </a:bodyPr>
          <a:lstStyle/>
          <a:p>
            <a:pPr algn="ctr"/>
            <a:r>
              <a:rPr sz="1200" b="1">
                <a:solidFill>
                  <a:srgbClr val="1A2238"/>
                </a:solidFill>
              </a:rPr>
              <a:t>proposed: K=2 -- mass on the humps</a:t>
            </a:r>
          </a:p>
        </p:txBody>
      </p:sp>
      <p:sp>
        <p:nvSpPr>
          <p:cNvPr id="15" name="Rounded Rectangle 14"/>
          <p:cNvSpPr/>
          <p:nvPr/>
        </p:nvSpPr>
        <p:spPr>
          <a:xfrm>
            <a:off x="822960" y="4114800"/>
            <a:ext cx="3291840" cy="137160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gate (the new piece)</a:t>
            </a:r>
          </a:p>
          <a:p>
            <a:pPr algn="ctr"/>
            <a:r>
              <a:rPr sz="900" b="0">
                <a:solidFill>
                  <a:srgbClr val="8A93A3"/>
                </a:solidFill>
              </a:rPr>
              <a:t>w = [0.60, 0.40] for this rock</a:t>
            </a:r>
          </a:p>
          <a:p>
            <a:pPr algn="ctr"/>
            <a:r>
              <a:rPr sz="900" b="0">
                <a:solidFill>
                  <a:srgbClr val="8A93A3"/>
                </a:solidFill>
              </a:rPr>
              <a:t>softmax over 2 logits from the</a:t>
            </a:r>
          </a:p>
          <a:p>
            <a:pPr algn="ctr"/>
            <a:r>
              <a:rPr sz="900" b="0">
                <a:solidFill>
                  <a:srgbClr val="8A93A3"/>
                </a:solidFill>
              </a:rPr>
              <a:t>magnitude trunk on [h, support]</a:t>
            </a:r>
          </a:p>
          <a:p>
            <a:pPr algn="ctr"/>
            <a:r>
              <a:rPr sz="900" b="0">
                <a:solidFill>
                  <a:srgbClr val="8A93A3"/>
                </a:solidFill>
              </a:rPr>
              <a:t>H(w) -&gt; 0 = commits to one answer</a:t>
            </a:r>
          </a:p>
        </p:txBody>
      </p:sp>
      <p:sp>
        <p:nvSpPr>
          <p:cNvPr id="16" name="Freeform 15"/>
          <p:cNvSpPr/>
          <p:nvPr/>
        </p:nvSpPr>
        <p:spPr>
          <a:xfrm>
            <a:off x="4617720" y="4434840"/>
            <a:ext cx="2926080" cy="1005839"/>
          </a:xfrm>
          <a:custGeom>
            <a:avLst/>
            <a:gdLst/>
            <a:ahLst/>
            <a:cxnLst/>
            <a:rect l="l" t="t" r="r" b="b"/>
            <a:pathLst>
              <a:path w="2926080" h="1005839">
                <a:moveTo>
                  <a:pt x="0" y="1005839"/>
                </a:moveTo>
                <a:lnTo>
                  <a:pt x="0" y="1005838"/>
                </a:lnTo>
                <a:lnTo>
                  <a:pt x="60960" y="1005836"/>
                </a:lnTo>
                <a:lnTo>
                  <a:pt x="121920" y="1005827"/>
                </a:lnTo>
                <a:lnTo>
                  <a:pt x="182880" y="1005804"/>
                </a:lnTo>
                <a:lnTo>
                  <a:pt x="243840" y="1005740"/>
                </a:lnTo>
                <a:lnTo>
                  <a:pt x="304800" y="1005578"/>
                </a:lnTo>
                <a:lnTo>
                  <a:pt x="365760" y="1005188"/>
                </a:lnTo>
                <a:lnTo>
                  <a:pt x="426720" y="1004299"/>
                </a:lnTo>
                <a:lnTo>
                  <a:pt x="487680" y="1002387"/>
                </a:lnTo>
                <a:lnTo>
                  <a:pt x="548640" y="998506"/>
                </a:lnTo>
                <a:lnTo>
                  <a:pt x="609600" y="991075"/>
                </a:lnTo>
                <a:lnTo>
                  <a:pt x="670560" y="977663"/>
                </a:lnTo>
                <a:lnTo>
                  <a:pt x="731520" y="954876"/>
                </a:lnTo>
                <a:lnTo>
                  <a:pt x="792479" y="918469"/>
                </a:lnTo>
                <a:lnTo>
                  <a:pt x="853440" y="863867"/>
                </a:lnTo>
                <a:lnTo>
                  <a:pt x="914400" y="787180"/>
                </a:lnTo>
                <a:lnTo>
                  <a:pt x="975360" y="686640"/>
                </a:lnTo>
                <a:lnTo>
                  <a:pt x="1036320" y="564183"/>
                </a:lnTo>
                <a:lnTo>
                  <a:pt x="1097280" y="426629"/>
                </a:lnTo>
                <a:lnTo>
                  <a:pt x="1158240" y="285865"/>
                </a:lnTo>
                <a:lnTo>
                  <a:pt x="1219200" y="157584"/>
                </a:lnTo>
                <a:lnTo>
                  <a:pt x="1280160" y="58588"/>
                </a:lnTo>
                <a:lnTo>
                  <a:pt x="1341120" y="3228"/>
                </a:lnTo>
                <a:lnTo>
                  <a:pt x="1402080" y="0"/>
                </a:lnTo>
                <a:lnTo>
                  <a:pt x="1463040" y="49408"/>
                </a:lnTo>
                <a:lnTo>
                  <a:pt x="1524000" y="143838"/>
                </a:lnTo>
                <a:lnTo>
                  <a:pt x="1584960" y="269478"/>
                </a:lnTo>
                <a:lnTo>
                  <a:pt x="1645920" y="409624"/>
                </a:lnTo>
                <a:lnTo>
                  <a:pt x="1706880" y="548284"/>
                </a:lnTo>
                <a:lnTo>
                  <a:pt x="1767840" y="673016"/>
                </a:lnTo>
                <a:lnTo>
                  <a:pt x="1828800" y="776377"/>
                </a:lnTo>
                <a:lnTo>
                  <a:pt x="1889760" y="855892"/>
                </a:lnTo>
                <a:lnTo>
                  <a:pt x="1950720" y="912965"/>
                </a:lnTo>
                <a:lnTo>
                  <a:pt x="2011680" y="951316"/>
                </a:lnTo>
                <a:lnTo>
                  <a:pt x="2072640" y="975501"/>
                </a:lnTo>
                <a:lnTo>
                  <a:pt x="2133600" y="989839"/>
                </a:lnTo>
                <a:lnTo>
                  <a:pt x="2194560" y="997841"/>
                </a:lnTo>
                <a:lnTo>
                  <a:pt x="2255520" y="1002050"/>
                </a:lnTo>
                <a:lnTo>
                  <a:pt x="2316480" y="1004138"/>
                </a:lnTo>
                <a:lnTo>
                  <a:pt x="2377440" y="1005115"/>
                </a:lnTo>
                <a:lnTo>
                  <a:pt x="2438400" y="1005547"/>
                </a:lnTo>
                <a:lnTo>
                  <a:pt x="2499360" y="1005728"/>
                </a:lnTo>
                <a:lnTo>
                  <a:pt x="2560320" y="1005799"/>
                </a:lnTo>
                <a:lnTo>
                  <a:pt x="2621280" y="1005826"/>
                </a:lnTo>
                <a:lnTo>
                  <a:pt x="2682240" y="1005835"/>
                </a:lnTo>
                <a:lnTo>
                  <a:pt x="2743200" y="1005838"/>
                </a:lnTo>
                <a:lnTo>
                  <a:pt x="2804160" y="1005839"/>
                </a:lnTo>
                <a:lnTo>
                  <a:pt x="2865120" y="1005839"/>
                </a:lnTo>
                <a:lnTo>
                  <a:pt x="2926080" y="1005839"/>
                </a:lnTo>
                <a:lnTo>
                  <a:pt x="2926080" y="1005839"/>
                </a:lnTo>
                <a:close/>
              </a:path>
            </a:pathLst>
          </a:custGeom>
          <a:solidFill>
            <a:srgbClr val="BCEAE5"/>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4617720" y="5440679"/>
            <a:ext cx="292608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434840" y="5486399"/>
            <a:ext cx="3291840" cy="365760"/>
          </a:xfrm>
          <a:prstGeom prst="rect">
            <a:avLst/>
          </a:prstGeom>
          <a:noFill/>
        </p:spPr>
        <p:txBody>
          <a:bodyPr wrap="square">
            <a:spAutoFit/>
          </a:bodyPr>
          <a:lstStyle/>
          <a:p>
            <a:pPr algn="ctr"/>
            <a:r>
              <a:rPr sz="1200" b="1">
                <a:solidFill>
                  <a:srgbClr val="1A2238"/>
                </a:solidFill>
              </a:rPr>
              <a:t>plag: components coincide -- unimodal phases unchanged</a:t>
            </a:r>
          </a:p>
        </p:txBody>
      </p:sp>
      <p:sp>
        <p:nvSpPr>
          <p:cNvPr id="19" name="Rounded Rectangle 18"/>
          <p:cNvSpPr/>
          <p:nvPr/>
        </p:nvSpPr>
        <p:spPr>
          <a:xfrm>
            <a:off x="8229600" y="4114800"/>
            <a:ext cx="3383280" cy="13716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scenario view gains one field</a:t>
            </a:r>
          </a:p>
          <a:p>
            <a:pPr algn="ctr"/>
            <a:r>
              <a:rPr sz="900" b="0">
                <a:solidFill>
                  <a:srgbClr val="8A93A3"/>
                </a:solidFill>
              </a:rPr>
              <a:t>a sample = support -&gt; component</a:t>
            </a:r>
          </a:p>
          <a:p>
            <a:pPr algn="ctr"/>
            <a:r>
              <a:rPr sz="900" b="0">
                <a:solidFill>
                  <a:srgbClr val="8A93A3"/>
                </a:solidFill>
              </a:rPr>
              <a:t>-&gt; abundances; each scenario now</a:t>
            </a:r>
          </a:p>
          <a:p>
            <a:pPr algn="ctr"/>
            <a:r>
              <a:rPr sz="900" b="0">
                <a:solidFill>
                  <a:srgbClr val="8A93A3"/>
                </a:solidFill>
              </a:rPr>
              <a:t>commits to a hump instead of</a:t>
            </a:r>
          </a:p>
          <a:p>
            <a:pPr algn="ctr"/>
            <a:r>
              <a:rPr sz="900" b="0">
                <a:solidFill>
                  <a:srgbClr val="8A93A3"/>
                </a:solidFill>
              </a:rPr>
              <a:t>predicting the valley</a:t>
            </a:r>
          </a:p>
        </p:txBody>
      </p:sp>
      <p:sp>
        <p:nvSpPr>
          <p:cNvPr id="20" name="TextBox 19"/>
          <p:cNvSpPr txBox="1"/>
          <p:nvPr/>
        </p:nvSpPr>
        <p:spPr>
          <a:xfrm>
            <a:off x="502920" y="5715000"/>
            <a:ext cx="11155680" cy="731520"/>
          </a:xfrm>
          <a:prstGeom prst="rect">
            <a:avLst/>
          </a:prstGeom>
          <a:noFill/>
        </p:spPr>
        <p:txBody>
          <a:bodyPr wrap="square">
            <a:spAutoFit/>
          </a:bodyPr>
          <a:lstStyle/>
          <a:p>
            <a:pPr algn="l"/>
            <a:r>
              <a:rPr sz="1100" b="0">
                <a:solidFill>
                  <a:srgbClr val="1A2238"/>
                </a:solidFill>
              </a:rPr>
              <a:t>unchanged: presence branch, CompHead, CondHead, closure. K=1 is the current head exactly (same parameters, same loss), so production checkpoints load untouched and the drop path is one deleted code branch.</a:t>
            </a:r>
          </a:p>
        </p:txBody>
      </p:sp>
      <p:sp>
        <p:nvSpPr>
          <p:cNvPr id="21" name="TextBox 20"/>
          <p:cNvSpPr txBox="1"/>
          <p:nvPr/>
        </p:nvSpPr>
        <p:spPr>
          <a:xfrm>
            <a:off x="502920" y="6309360"/>
            <a:ext cx="11155680" cy="731520"/>
          </a:xfrm>
          <a:prstGeom prst="rect">
            <a:avLst/>
          </a:prstGeom>
          <a:noFill/>
        </p:spPr>
        <p:txBody>
          <a:bodyPr wrap="square">
            <a:spAutoFit/>
          </a:bodyPr>
          <a:lstStyle/>
          <a:p>
            <a:pPr algn="l"/>
            <a:r>
              <a:rPr sz="1000" b="0">
                <a:solidFill>
                  <a:srgbClr val="8A93A3"/>
                </a:solidFill>
              </a:rPr>
              <a:t>verdict 2026-08-04: corpus best-on-record on both axes, amp two-sided PIT 0.120 -&gt; 0.023, but recalibrated real-rock val leans against the K=1 control (-0.365 [-0.864, +0.118]) -- the real amp population is one-humped at matched chemistry; the second hump belongs to the broad hidden-(P, H2O) prior. kept as the `mode_n_components` dial, K=1 default. drawings illustrative.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