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Living deck: how the current canonical model and its training/inference pipeline work. Regenerated on every major architecture change.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corpora. Pretrain (Gard) is inputs-only and trains the encoder; the equilibrium corpus (MAGEMin cooling, phenocryst-regime endpoint -- generation pipeline on the next slide) carries the labels that train the heads; the real volcanic benchmark and mineralML grains are held out for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Track B label factory, left to right: stratified volcanic bulk tables; solubility-bounded Latin-Hypercube (P, H2O) draws with the proposal density stored per row; chunked MAGEMin equilibrium cooling stopped below 30% residual melt (fresh Julia worker per chunk, atomic parquet + manifest, rerun-to-resume); three tables with full labels at the four candidate rungs; crystals-renormalized training labels rebuilt at train time (presence cutoff is a rebuild, not a regen).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one-to-many mapping that everything downstream leans on: one gard bulk -&gt; 48 solubility-bounded (P, H2O) draws -&gt; each read out at two melt-fraction rungs (50/30) -&gt; 96 label rows sharing one input vector. Assemblage numbers illustrative; amp-vs-opx flips with wetness/depth (the flagship multimodality). This is the visual justification for fractional presence targets (within-bulk frequency), the bulk-level split rule, and the per-bulk latent cache in training. Same-bulk-at-both-rungs is intentional (rungs LOCKED 50+30).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strip for the corpus regen, now fully landed -- the slide is a record, not a plan. Candidate to retire or fold into the corpora slide at the next deck pass (owner call).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 before the detailed walk-through: tokens -&gt; embed -&gt; encoder -&gt; h -&gt; {heads, encoder apps}. Following slides zoom into each block.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 = up to 22 (element id, amount) pairs. Padding is src==0. The conditions (T,P,H2O) are CondHead targets, never inputs.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Opens the embed step: element id -&gt; mat2vec vector, amount -&gt; projection, summed into the per-token vector.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Self-attention (4x4 heatmap, diagonal strongest) then masked-mean pool over non-padding tokens into 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Masked-element modelling. Encoder is TRAINED here (frozen is the downstream state). Loss is per-element standardized log-space MSE so traces get supervised (fracs span ~8 decades; linear MSE leaves traces unsupervised). mu/sigma are per-element log10-frac stats from the train split (pretrain_objective.compute_loss_stats), stored as head buffers. Over ~167k rocks.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three-stage training pipeline. Stage 1 is the SSL loop from the prior slide; stage 2 freezes; stage 3 trains the heads on the labeled equilibrium corpus.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view: which heads exist and that they all read the same frozen h. Head internals on the next slide; outputs after.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the trained ModeHead (checkpoints/joint_heads_seed0): shared trunk 3 stacked Linear(-&gt;256)+GELU+dropout blocks, then two parallel linear branches -- presence logits (sigmoid -&gt; per-phase Bernoulli, BCE) and concentrations (softplus + eps -&gt; conditional Dirichlet, masked NLL on the true support). Param counts are pulled from the checkpoint (mode_hidden 256, mode_layers 3, the joint-HPO winner; fANOVA put architecture near zero, the gain came with the tuned environment). Loss boxes mirror the SSL slide: BCE is a proper scoring rule (per-rock minimum = within-bulk presence frequency, which is why intermediate p is signal); the Dirichlet NLL is masked to the label's present set (sub-composition property keeps it a proper density); λ_mag is the loss-weighting coefficient (config key magnitude_weight, 0.25 tuned) -- λ chosen over w to avoid clashing with layer weights and to match the λ_balance / λ_comp family. 'Trained jointly' is literal chain-rule math: L is one scalar, so one backward pass and one AdamW step update all params at once. Each branch's weights appear in only its own term (the other term's gradient is exactly zero there); the trunk appears in both, so its gradient is the sum -- λ_mag is the exchange rate between the two error signals shaping the shared features. NOT alternating epochs, NOT separate optimizers, NOT staged pretraining of one branch. The hurdle split exists because one full-simplex Dirichlet cannot be simultaneously confident about absences and honest about present-phase spread (shared concentration). CompHead/CondHead follow the same small-MLP-emitting-distribution-parameters pattern; their two-slide reports follow ModeHead's.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Worked example for the reliability diagram in results/mode_head/&lt;tag&gt;/reliability.png. Numbers illustrative but to scale: three rocks predicted in [0.70, 0.80) -- a real bin edge of the 10 equal-width bins the code uses -- contribute 3 predictions x 256 labels = 768 (p, truth) pairs -- 3 predictions, not 768; each rock's single p is scored against its 256 labels. x = count-weighted mean p (0.740), y = pooled fraction of pairs with cpx present (547/768 = 0.712). ECE on the real panels is the count-weighted |x - y| over 10 such bins. The gray ghost dot shows the overconfident failure mode. Real population: the sealed valtest tier's val roster (221 assigned rocks, 218 contributing 55,576 rows at 128 draws x rungs 50/30, minus attrition). Fixed roster: panel numbers move only when the head retrains. Pair with figure 2 (p vs within-bulk frequency): reliability is aggregate honesty, the scatter is per-rock sharpness; a base-rate predictor passes the first and fails the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the magnitude branch, mirroring the presence branch's reliability worked example. Laid out as two tracks converging at a scoring node: the prediction track never sees the truth's modes; the truth contributes only its support to the slice (teacher-forced) and meets the prediction at scoring. Numbers illustrative but to scale: alpha sliced to the true 4-phase support gives Dirichlet means alpha_i/alpha0 and Beta marginals Beta(alpha_i, alpha0 - alpha_i); plag Beta(12,13) has mean 0.48, sd ~0.10, and truth 0.44 lands at CDF 0.34. alpha0 is the single shared confidence knob per row -- the reason per-phase spreads can't be tuned independently (see alpha_concentration.png). PIT histograms are the magnitude analog of reliability diagrams; parity plots are the point-estimate view. Scored by masked Dirichlet NLL (anatomy slide's L_magnitude). Worked numbers for the expansion box: this row scores -4.34 nats (normalizer -28.37 + shape +24.03); scaling alpha x4 improves to -5.26 when truth is near the peak but explodes to +17.9 when truth swaps to the other hump (plag/amp values exchanged) -- the mechanism that pins amphibole's alpha0 low and its mean in the middle.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CompHead (trains in the joint trainer, checkpoints/joint_heads_seed0). Interface: h [256] in, alpha [21, 11] out; one training example is one (bulk, draw, rung) row; targets are per-phase oxide mass fractions from the rungs table (same-token instances merged by mass-weighted mean, feldspar split into plag/afs BEFORE averaging so the solvus pair never mixes), eps-clipped at comp_eps and renormalized. Param counts are exact (instantiated at d_model 256, hidden 128). The shared-concentration factorization is the locked heads.md parameterization: one c_p per phase blurs per-oxide error bars toward each other -- accepted because composition spreads are 10-30x tighter than modal spreads (the reason CompHead is bulk-controlled and unconditioned). L_comp's minimum: the Dirichlet matching the per-bulk composition distribution of each phase. L_closure is the one loss term coupling two heads (mode x comp product); squared-L2 is a constraint penalty, not a head likelihood, so the no-MSE rule for heads doesn't apply. Known limits: hard-zero oxides are clipped (a q row is 'SiO2 + 10 eps-floors'); ~0.3% of corpus rows don't self-close (melt immiscibility, dropped-phase mass, worst 5.2 wt%) and set an unattainable closure floor there; endmember bonus heads deferred (heads.md).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CompHead, mirroring the ModeHead magnitude worked example: two tracks converge at a scoring node; the truth contributes its support to the slice and meets the prediction only at scoring. Box numbers illustrative but to scale (a plag Dirichlet with alpha0 ~780 has SiO2 sd ~0.018); headline numbers are real, from results/comp_head/joint_heads_seed0/metrics.json vs the preserved joint_heads_seed0_baseline run: NLL -50.25 -&gt; -53.85, closure L2 mean 0.0181 -&gt; 0.0134 with the stable +SiO2/-Al2O3 signed bias collapsed to zero-centered residuals (the closure-penalty-form question, #38, closed on this evidence), An# parity mae 0.064 -&gt; 0.060 / r 0.920 -&gt; 0.927. The alpha0-span story is the headline fix: comp_concentration.png baseline vs tuned shows the 100-650 compression opening to 25-32,000, ordered by how constrained each mineral's chemistry really is. PIT here is per-oxide Beta marginals of the 11-simplex Dirichlet (same sub-composition property as the mode slice).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Anatomy of CondHead (trains in the joint trainer, checkpoints/joint_heads_seed0). Interface: concat(h [256], presence [21]) in; (log_w, mu, sigma) each [3 axes, K] out; one training example is one (bulk, draw, rung) row with targets (T_end from the rung row; P_kbar, H2O from the draw). Param counts pulled from the checkpoint (cond_hidden 512, cond_layers 2, K=3): cond was the one head that wanted capacity -- starved at 128x1 under the shared tuned lr, fixed by the mini-sweep adoption. Support-conditioning is the locked chain-rule decision: independent heads assume a conditional independence the corpus violates by design -- the within-bulk label variance is driven by the shared hidden (P, H2O) path, and marginals forget which condition mode went with which support. Raw linear units are deliberate (no log transforms; negative mass is a diagnostic, not a bug -- mass_below_zero in the cond eval). init_output_bias seeds component means at target mean +/- 1 std and sigmas at the target std; without it Adam needs ~mu/lr steps to walk mu from 0 to ~900 C. lambda_cond nuance: L_cond's gradient reaches only CondHead's own weights (frozen encoder, separate trunks, teacher-forced input), and per-head clipping + Adam's per-parameter scaling make the constant nearly inert for optimization; per-head best selection (each head keeps its own raw-val best epoch) removed its old early-stopping lever too, leaving it a raw-unit scale absorber (mineralogy-first). Known limits: axes are independent mixtures (no (T, P) correlation, deferred per ADR 006); exposure bias measured, not yet mitigated (#31); T is a derived cooling endpoint, not a sampled axis, in the scenario view.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Eval-semantics slide for CondHead. The two-pass protocol is the point: teacher-forced scoring isolates the head's conditional skill p(T,P,H2O | h, true support); sampled-support scoring measures the deployed chain with ModeHead's Bernoulli draws standing in for the truth (exposure_seed pins reproducibility). Mixture drawing illustrative but to scale for a bimodal amp/opx bulk (deep-wet vs shallow-dry is the flagship condition multimodality). Real numbers from results/cond_head/joint_heads_seed0/metrics.json vs the preserved baseline: teacher-forced NLL 8.60 -&gt; 8.32 and coverage_68 0.65-0.69 -&gt; 0.67-0.72 (tuning + the 512x2 trunk), while the exposure delta WIDENED (T 2.91 -&gt; 3.94, H2O 1.53 -&gt; 2.40, P finite -&gt; inf on some rows) -- the sharper head is more wrong under mismatched supports. Coverage is central-interval mass via the mixture CDF (PIT), same construction as the mode/comp calibration reads.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Output FORM, not measured results (heads train in issue #10). ModeHead = hurdle Dirichlet over the crystals-renormalized solid assemblage (liq/fl dropped, solids sum to 1 -- matches real itemized-phenocrysts + lumped-groundmass granularity). EVERY phase gets a presence Bernoulli AND a conditional amount +/- CI; near-certain phases just have p~1. Amp 0.41 / opx 0.63 anti-correlated is the flagship multimodality (deep-wet-amp vs shallow-dry-opx), so their marginal amounts are conditional on presence, not rock-wide means. CondHead = per-axis GMM; P and H2O were sampled at generation, T is derived (cooling endpoint at the phenocryst window), hence the lower illustrative T. Second read-out view: top-K scenarios; weights labeled prior-weighted plausibility, reweightable p/q. Mass-balance closure teacher-forces the label melt fraction at training. Numbers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 2 from heads.md, modernized to the locked corpus design: crystals-renormalized (no residual-melt row -- melt-fraction head dropped), composition shared across scenarios (CompHead reads h only), no inference-time mass-balance checkmark (closure is teacher-forced at training; the inference residual as OOD signal is an open rethink). Marginal view = projection of these scenarios; scenarios are the primary object. Open mechanism detail for #10/#13: coupling conditions to assemblage in a sampled scenario requires joint sampling across heads. Numbers illustrative.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0"/>
            <a:ext cx="12191695" cy="1737360"/>
          </a:xfrm>
          <a:prstGeom prst="rect">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606040"/>
            <a:ext cx="10698480" cy="822960"/>
          </a:xfrm>
          <a:prstGeom prst="rect">
            <a:avLst/>
          </a:prstGeom>
          <a:noFill/>
        </p:spPr>
        <p:txBody>
          <a:bodyPr wrap="square">
            <a:spAutoFit/>
          </a:bodyPr>
          <a:lstStyle/>
          <a:p>
            <a:pPr algn="l"/>
            <a:r>
              <a:rPr sz="4000" b="1">
                <a:solidFill>
                  <a:srgbClr val="FFFFFF"/>
                </a:solidFill>
              </a:rPr>
              <a:t>CrabNet-Mineral v3</a:t>
            </a:r>
          </a:p>
        </p:txBody>
      </p:sp>
      <p:sp>
        <p:nvSpPr>
          <p:cNvPr id="4" name="TextBox 3"/>
          <p:cNvSpPr txBox="1"/>
          <p:nvPr/>
        </p:nvSpPr>
        <p:spPr>
          <a:xfrm>
            <a:off x="758952" y="3474720"/>
            <a:ext cx="10698480" cy="548640"/>
          </a:xfrm>
          <a:prstGeom prst="rect">
            <a:avLst/>
          </a:prstGeom>
          <a:noFill/>
        </p:spPr>
        <p:txBody>
          <a:bodyPr wrap="square">
            <a:spAutoFit/>
          </a:bodyPr>
          <a:lstStyle/>
          <a:p>
            <a:pPr algn="l"/>
            <a:r>
              <a:rPr sz="2200" b="0">
                <a:solidFill>
                  <a:srgbClr val="E8883A"/>
                </a:solidFill>
              </a:rPr>
              <a:t>model &amp; pipeline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Three corpora</a:t>
            </a:r>
          </a:p>
        </p:txBody>
      </p:sp>
      <p:sp>
        <p:nvSpPr>
          <p:cNvPr id="4" name="Rounded Rectangle 3"/>
          <p:cNvSpPr/>
          <p:nvPr/>
        </p:nvSpPr>
        <p:spPr>
          <a:xfrm>
            <a:off x="548640" y="1828800"/>
            <a:ext cx="3566160" cy="23774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SSL pretrain</a:t>
            </a:r>
          </a:p>
          <a:p>
            <a:pPr algn="ctr"/>
            <a:r>
              <a:rPr sz="1400" b="1">
                <a:solidFill>
                  <a:srgbClr val="1A2238"/>
                </a:solidFill>
              </a:rPr>
              <a:t/>
            </a:r>
          </a:p>
          <a:p>
            <a:pPr algn="ctr"/>
            <a:r>
              <a:rPr sz="1100" b="0">
                <a:solidFill>
                  <a:srgbClr val="8A93A3"/>
                </a:solidFill>
              </a:rPr>
              <a:t>data/bulks/gard2019.csv</a:t>
            </a:r>
          </a:p>
          <a:p>
            <a:pPr algn="ctr"/>
            <a:r>
              <a:rPr sz="1100" b="0">
                <a:solidFill>
                  <a:srgbClr val="8A93A3"/>
                </a:solidFill>
              </a:rPr>
              <a:t>~167k igneous bulks</a:t>
            </a:r>
          </a:p>
          <a:p>
            <a:pPr algn="ctr"/>
            <a:r>
              <a:rPr sz="1100" b="0">
                <a:solidFill>
                  <a:srgbClr val="8A93A3"/>
                </a:solidFill>
              </a:rPr>
              <a:t>inputs only (no labels)</a:t>
            </a:r>
          </a:p>
        </p:txBody>
      </p:sp>
      <p:sp>
        <p:nvSpPr>
          <p:cNvPr id="5" name="Rounded Rectangle 4"/>
          <p:cNvSpPr/>
          <p:nvPr/>
        </p:nvSpPr>
        <p:spPr>
          <a:xfrm>
            <a:off x="4297680" y="1828800"/>
            <a:ext cx="3566160" cy="23774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supervised</a:t>
            </a:r>
          </a:p>
          <a:p>
            <a:pPr algn="ctr"/>
            <a:r>
              <a:rPr sz="1400" b="1">
                <a:solidFill>
                  <a:srgbClr val="1A2238"/>
                </a:solidFill>
              </a:rPr>
              <a:t/>
            </a:r>
          </a:p>
          <a:p>
            <a:pPr algn="ctr"/>
            <a:r>
              <a:rPr sz="1100" b="0">
                <a:solidFill>
                  <a:srgbClr val="8A93A3"/>
                </a:solidFill>
              </a:rPr>
              <a:t>equilibrium corpus (MAGEMin)</a:t>
            </a:r>
          </a:p>
          <a:p>
            <a:pPr algn="ctr"/>
            <a:r>
              <a:rPr sz="1100" b="0">
                <a:solidFill>
                  <a:srgbClr val="8A93A3"/>
                </a:solidFill>
              </a:rPr>
              <a:t>volcanic bulks x 48 (P, H2O) draws</a:t>
            </a:r>
          </a:p>
          <a:p>
            <a:pPr algn="ctr"/>
            <a:r>
              <a:rPr sz="1100" b="0">
                <a:solidFill>
                  <a:srgbClr val="8A93A3"/>
                </a:solidFill>
              </a:rPr>
              <a:t>phenocryst-regime labels</a:t>
            </a:r>
          </a:p>
        </p:txBody>
      </p:sp>
      <p:sp>
        <p:nvSpPr>
          <p:cNvPr id="6" name="Rounded Rectangle 5"/>
          <p:cNvSpPr/>
          <p:nvPr/>
        </p:nvSpPr>
        <p:spPr>
          <a:xfrm>
            <a:off x="8046720" y="1828800"/>
            <a:ext cx="3566160" cy="23774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held-out eval</a:t>
            </a:r>
          </a:p>
          <a:p>
            <a:pPr algn="ctr"/>
            <a:r>
              <a:rPr sz="1400" b="1">
                <a:solidFill>
                  <a:srgbClr val="1A2238"/>
                </a:solidFill>
              </a:rPr>
              <a:t/>
            </a:r>
          </a:p>
          <a:p>
            <a:pPr algn="ctr"/>
            <a:r>
              <a:rPr sz="1100" b="0">
                <a:solidFill>
                  <a:srgbClr val="8A93A3"/>
                </a:solidFill>
              </a:rPr>
              <a:t>730 real volcanic modes</a:t>
            </a:r>
          </a:p>
          <a:p>
            <a:pPr algn="ctr"/>
            <a:r>
              <a:rPr sz="1100" b="0">
                <a:solidFill>
                  <a:srgbClr val="8A93A3"/>
                </a:solidFill>
              </a:rPr>
              <a:t>+ mineralML grains (~88k)</a:t>
            </a:r>
          </a:p>
          <a:p>
            <a:pPr algn="ctr"/>
            <a:r>
              <a:rPr sz="1100" b="0">
                <a:solidFill>
                  <a:srgbClr val="8A93A3"/>
                </a:solidFill>
              </a:rPr>
              <a:t>never trained on</a:t>
            </a:r>
          </a:p>
        </p:txBody>
      </p:sp>
      <p:sp>
        <p:nvSpPr>
          <p:cNvPr id="7" name="TextBox 6"/>
          <p:cNvSpPr txBox="1"/>
          <p:nvPr/>
        </p:nvSpPr>
        <p:spPr>
          <a:xfrm>
            <a:off x="548640" y="4480560"/>
            <a:ext cx="3566160" cy="731520"/>
          </a:xfrm>
          <a:prstGeom prst="rect">
            <a:avLst/>
          </a:prstGeom>
          <a:noFill/>
        </p:spPr>
        <p:txBody>
          <a:bodyPr wrap="square">
            <a:spAutoFit/>
          </a:bodyPr>
          <a:lstStyle/>
          <a:p>
            <a:pPr algn="ctr"/>
            <a:r>
              <a:rPr sz="1200" b="0">
                <a:solidFill>
                  <a:srgbClr val="12B5A5"/>
                </a:solidFill>
              </a:rPr>
              <a:t>trains the encoder</a:t>
            </a:r>
          </a:p>
        </p:txBody>
      </p:sp>
      <p:sp>
        <p:nvSpPr>
          <p:cNvPr id="8" name="TextBox 7"/>
          <p:cNvSpPr txBox="1"/>
          <p:nvPr/>
        </p:nvSpPr>
        <p:spPr>
          <a:xfrm>
            <a:off x="4297680" y="4480560"/>
            <a:ext cx="3566160" cy="731520"/>
          </a:xfrm>
          <a:prstGeom prst="rect">
            <a:avLst/>
          </a:prstGeom>
          <a:noFill/>
        </p:spPr>
        <p:txBody>
          <a:bodyPr wrap="square">
            <a:spAutoFit/>
          </a:bodyPr>
          <a:lstStyle/>
          <a:p>
            <a:pPr algn="ctr"/>
            <a:r>
              <a:rPr sz="1200" b="0">
                <a:solidFill>
                  <a:srgbClr val="2A9D8F"/>
                </a:solidFill>
              </a:rPr>
              <a:t>trains the heads (next two slides)</a:t>
            </a:r>
          </a:p>
        </p:txBody>
      </p:sp>
      <p:sp>
        <p:nvSpPr>
          <p:cNvPr id="9" name="TextBox 8"/>
          <p:cNvSpPr txBox="1"/>
          <p:nvPr/>
        </p:nvSpPr>
        <p:spPr>
          <a:xfrm>
            <a:off x="8046720" y="4480560"/>
            <a:ext cx="3566160" cy="731520"/>
          </a:xfrm>
          <a:prstGeom prst="rect">
            <a:avLst/>
          </a:prstGeom>
          <a:noFill/>
        </p:spPr>
        <p:txBody>
          <a:bodyPr wrap="square">
            <a:spAutoFit/>
          </a:bodyPr>
          <a:lstStyle/>
          <a:p>
            <a:pPr algn="ctr"/>
            <a:r>
              <a:rPr sz="1200" b="0">
                <a:solidFill>
                  <a:srgbClr val="6C5CE7"/>
                </a:solidFill>
              </a:rPr>
              <a:t>evaluation only</a:t>
            </a:r>
          </a:p>
        </p:txBody>
      </p:sp>
      <p:sp>
        <p:nvSpPr>
          <p:cNvPr id="10" name="TextBox 9"/>
          <p:cNvSpPr txBox="1"/>
          <p:nvPr/>
        </p:nvSpPr>
        <p:spPr>
          <a:xfrm>
            <a:off x="548640" y="5212080"/>
            <a:ext cx="11064240" cy="731520"/>
          </a:xfrm>
          <a:prstGeom prst="rect">
            <a:avLst/>
          </a:prstGeom>
          <a:noFill/>
        </p:spPr>
        <p:txBody>
          <a:bodyPr wrap="square">
            <a:spAutoFit/>
          </a:bodyPr>
          <a:lstStyle/>
          <a:p>
            <a:pPr algn="l"/>
            <a:r>
              <a:rPr sz="1300" b="0">
                <a:solidFill>
                  <a:srgbClr val="1A2238"/>
                </a:solidFill>
              </a:rPr>
              <a:t>inputs everywhere are the same 22-token cation+trace vector; the corpora differ in what supervision (if any) they attach.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How the supervised labels are generated</a:t>
            </a:r>
          </a:p>
        </p:txBody>
      </p:sp>
      <p:sp>
        <p:nvSpPr>
          <p:cNvPr id="4" name="Rounded Rectangle 3"/>
          <p:cNvSpPr/>
          <p:nvPr/>
        </p:nvSpPr>
        <p:spPr>
          <a:xfrm>
            <a:off x="502920" y="1417320"/>
            <a:ext cx="2148840" cy="17373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volcanic core</a:t>
            </a:r>
          </a:p>
          <a:p>
            <a:pPr algn="ctr"/>
            <a:r>
              <a:rPr sz="900" b="0">
                <a:solidFill>
                  <a:srgbClr val="8A93A3"/>
                </a:solidFill>
              </a:rPr>
              <a:t>gard2019 -&gt; 324k bulks</a:t>
            </a:r>
          </a:p>
          <a:p>
            <a:pPr algn="ctr"/>
            <a:r>
              <a:rPr sz="900" b="0">
                <a:solidFill>
                  <a:srgbClr val="8A93A3"/>
                </a:solidFill>
              </a:rPr>
              <a:t>stratified: 10k train</a:t>
            </a:r>
          </a:p>
          <a:p>
            <a:pPr algn="ctr"/>
            <a:r>
              <a:rPr sz="900" b="0">
                <a:solidFill>
                  <a:srgbClr val="8A93A3"/>
                </a:solidFill>
              </a:rPr>
              <a:t>+ 500 val/test</a:t>
            </a:r>
          </a:p>
        </p:txBody>
      </p:sp>
      <p:sp>
        <p:nvSpPr>
          <p:cNvPr id="5" name="TextBox 4"/>
          <p:cNvSpPr txBox="1"/>
          <p:nvPr/>
        </p:nvSpPr>
        <p:spPr>
          <a:xfrm>
            <a:off x="365760" y="3209544"/>
            <a:ext cx="2423160" cy="731520"/>
          </a:xfrm>
          <a:prstGeom prst="rect">
            <a:avLst/>
          </a:prstGeom>
          <a:noFill/>
        </p:spPr>
        <p:txBody>
          <a:bodyPr wrap="square">
            <a:spAutoFit/>
          </a:bodyPr>
          <a:lstStyle/>
          <a:p>
            <a:pPr algn="ctr"/>
            <a:r>
              <a:rPr sz="1000" b="0">
                <a:solidFill>
                  <a:srgbClr val="8A93A3"/>
                </a:solidFill>
              </a:rPr>
              <a:t>build_corpus_bulk_tables.py</a:t>
            </a:r>
          </a:p>
        </p:txBody>
      </p:sp>
      <p:sp>
        <p:nvSpPr>
          <p:cNvPr id="6" name="Rounded Rectangle 5"/>
          <p:cNvSpPr/>
          <p:nvPr/>
        </p:nvSpPr>
        <p:spPr>
          <a:xfrm>
            <a:off x="2880360" y="1417320"/>
            <a:ext cx="2148840" cy="17373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sample conditions</a:t>
            </a:r>
          </a:p>
          <a:p>
            <a:pPr algn="ctr"/>
            <a:r>
              <a:rPr sz="900" b="0">
                <a:solidFill>
                  <a:srgbClr val="8A93A3"/>
                </a:solidFill>
              </a:rPr>
              <a:t>48 (P, H2O) draws/bulk</a:t>
            </a:r>
          </a:p>
          <a:p>
            <a:pPr algn="ctr"/>
            <a:r>
              <a:rPr sz="900" b="0">
                <a:solidFill>
                  <a:srgbClr val="8A93A3"/>
                </a:solidFill>
              </a:rPr>
              <a:t>solubility-bounded LHS</a:t>
            </a:r>
          </a:p>
          <a:p>
            <a:pPr algn="ctr"/>
            <a:r>
              <a:rPr sz="900" b="0">
                <a:solidFill>
                  <a:srgbClr val="8A93A3"/>
                </a:solidFill>
              </a:rPr>
              <a:t>density q stored per row</a:t>
            </a:r>
          </a:p>
        </p:txBody>
      </p:sp>
      <p:sp>
        <p:nvSpPr>
          <p:cNvPr id="7" name="TextBox 6"/>
          <p:cNvSpPr txBox="1"/>
          <p:nvPr/>
        </p:nvSpPr>
        <p:spPr>
          <a:xfrm>
            <a:off x="2743200" y="3209544"/>
            <a:ext cx="2423160" cy="731520"/>
          </a:xfrm>
          <a:prstGeom prst="rect">
            <a:avLst/>
          </a:prstGeom>
          <a:noFill/>
        </p:spPr>
        <p:txBody>
          <a:bodyPr wrap="square">
            <a:spAutoFit/>
          </a:bodyPr>
          <a:lstStyle/>
          <a:p>
            <a:pPr algn="ctr"/>
            <a:r>
              <a:rPr sz="1000" b="0">
                <a:solidFill>
                  <a:srgbClr val="8A93A3"/>
                </a:solidFill>
              </a:rPr>
              <a:t>cnmineral.data.condition_proposal</a:t>
            </a:r>
          </a:p>
        </p:txBody>
      </p:sp>
      <p:sp>
        <p:nvSpPr>
          <p:cNvPr id="8" name="Right Arrow 7"/>
          <p:cNvSpPr/>
          <p:nvPr/>
        </p:nvSpPr>
        <p:spPr>
          <a:xfrm>
            <a:off x="2688336" y="2121408"/>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1417320"/>
            <a:ext cx="2148840" cy="173736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equilibrium cooling</a:t>
            </a:r>
          </a:p>
          <a:p>
            <a:pPr algn="ctr"/>
            <a:r>
              <a:rPr sz="900" b="0">
                <a:solidFill>
                  <a:srgbClr val="8A93A3"/>
                </a:solidFill>
              </a:rPr>
              <a:t>MAGEMin, 1200 -&gt; 600 C</a:t>
            </a:r>
          </a:p>
          <a:p>
            <a:pPr algn="ctr"/>
            <a:r>
              <a:rPr sz="900" b="0">
                <a:solidFill>
                  <a:srgbClr val="8A93A3"/>
                </a:solidFill>
              </a:rPr>
              <a:t>stop below 30% melt</a:t>
            </a:r>
          </a:p>
          <a:p>
            <a:pPr algn="ctr"/>
            <a:r>
              <a:rPr sz="900" b="0">
                <a:solidFill>
                  <a:srgbClr val="8A93A3"/>
                </a:solidFill>
              </a:rPr>
              <a:t>chunked + resumable</a:t>
            </a:r>
          </a:p>
        </p:txBody>
      </p:sp>
      <p:sp>
        <p:nvSpPr>
          <p:cNvPr id="10" name="TextBox 9"/>
          <p:cNvSpPr txBox="1"/>
          <p:nvPr/>
        </p:nvSpPr>
        <p:spPr>
          <a:xfrm>
            <a:off x="5120640" y="3209544"/>
            <a:ext cx="2423160" cy="731520"/>
          </a:xfrm>
          <a:prstGeom prst="rect">
            <a:avLst/>
          </a:prstGeom>
          <a:noFill/>
        </p:spPr>
        <p:txBody>
          <a:bodyPr wrap="square">
            <a:spAutoFit/>
          </a:bodyPr>
          <a:lstStyle/>
          <a:p>
            <a:pPr algn="ctr"/>
            <a:r>
              <a:rPr sz="1000" b="0">
                <a:solidFill>
                  <a:srgbClr val="8A93A3"/>
                </a:solidFill>
              </a:rPr>
              <a:t>generate_mineralogy_corpus.py</a:t>
            </a:r>
          </a:p>
        </p:txBody>
      </p:sp>
      <p:sp>
        <p:nvSpPr>
          <p:cNvPr id="11" name="Right Arrow 10"/>
          <p:cNvSpPr/>
          <p:nvPr/>
        </p:nvSpPr>
        <p:spPr>
          <a:xfrm>
            <a:off x="5065776"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1417320"/>
            <a:ext cx="21488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corpus tables</a:t>
            </a:r>
          </a:p>
          <a:p>
            <a:pPr algn="ctr"/>
            <a:r>
              <a:rPr sz="900" b="0">
                <a:solidFill>
                  <a:srgbClr val="8A93A3"/>
                </a:solidFill>
              </a:rPr>
              <a:t>draws / ladder / rungs</a:t>
            </a:r>
          </a:p>
          <a:p>
            <a:pPr algn="ctr"/>
            <a:r>
              <a:rPr sz="900" b="0">
                <a:solidFill>
                  <a:srgbClr val="8A93A3"/>
                </a:solidFill>
              </a:rPr>
              <a:t>full labels at</a:t>
            </a:r>
          </a:p>
          <a:p>
            <a:pPr algn="ctr"/>
            <a:r>
              <a:rPr sz="900" b="0">
                <a:solidFill>
                  <a:srgbClr val="8A93A3"/>
                </a:solidFill>
              </a:rPr>
              <a:t>60/50/40/30% melt</a:t>
            </a:r>
          </a:p>
        </p:txBody>
      </p:sp>
      <p:sp>
        <p:nvSpPr>
          <p:cNvPr id="13" name="TextBox 12"/>
          <p:cNvSpPr txBox="1"/>
          <p:nvPr/>
        </p:nvSpPr>
        <p:spPr>
          <a:xfrm>
            <a:off x="7498079" y="3209544"/>
            <a:ext cx="2423160" cy="731520"/>
          </a:xfrm>
          <a:prstGeom prst="rect">
            <a:avLst/>
          </a:prstGeom>
          <a:noFill/>
        </p:spPr>
        <p:txBody>
          <a:bodyPr wrap="square">
            <a:spAutoFit/>
          </a:bodyPr>
          <a:lstStyle/>
          <a:p>
            <a:pPr algn="ctr"/>
            <a:r>
              <a:rPr sz="1000" b="0">
                <a:solidFill>
                  <a:srgbClr val="8A93A3"/>
                </a:solidFill>
              </a:rPr>
              <a:t>parquet + manifest per chunk</a:t>
            </a:r>
          </a:p>
        </p:txBody>
      </p:sp>
      <p:sp>
        <p:nvSpPr>
          <p:cNvPr id="14" name="Right Arrow 13"/>
          <p:cNvSpPr/>
          <p:nvPr/>
        </p:nvSpPr>
        <p:spPr>
          <a:xfrm>
            <a:off x="744321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1417320"/>
            <a:ext cx="2148840" cy="17373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training labels</a:t>
            </a:r>
          </a:p>
          <a:p>
            <a:pPr algn="ctr"/>
            <a:r>
              <a:rPr sz="900" b="0">
                <a:solidFill>
                  <a:srgbClr val="8A93A3"/>
                </a:solidFill>
              </a:rPr>
              <a:t>crystals-renormalized</a:t>
            </a:r>
          </a:p>
          <a:p>
            <a:pPr algn="ctr"/>
            <a:r>
              <a:rPr sz="900" b="0">
                <a:solidFill>
                  <a:srgbClr val="8A93A3"/>
                </a:solidFill>
              </a:rPr>
              <a:t>solids; presence + modes</a:t>
            </a:r>
          </a:p>
          <a:p>
            <a:pPr algn="ctr"/>
            <a:r>
              <a:rPr sz="900" b="0">
                <a:solidFill>
                  <a:srgbClr val="8A93A3"/>
                </a:solidFill>
              </a:rPr>
              <a:t>rebuild, never a regen</a:t>
            </a:r>
          </a:p>
        </p:txBody>
      </p:sp>
      <p:sp>
        <p:nvSpPr>
          <p:cNvPr id="16" name="TextBox 15"/>
          <p:cNvSpPr txBox="1"/>
          <p:nvPr/>
        </p:nvSpPr>
        <p:spPr>
          <a:xfrm>
            <a:off x="9875519" y="3209544"/>
            <a:ext cx="2423160" cy="731520"/>
          </a:xfrm>
          <a:prstGeom prst="rect">
            <a:avLst/>
          </a:prstGeom>
          <a:noFill/>
        </p:spPr>
        <p:txBody>
          <a:bodyPr wrap="square">
            <a:spAutoFit/>
          </a:bodyPr>
          <a:lstStyle/>
          <a:p>
            <a:pPr algn="ctr"/>
            <a:r>
              <a:rPr sz="1000" b="0">
                <a:solidFill>
                  <a:srgbClr val="8A93A3"/>
                </a:solidFill>
              </a:rPr>
              <a:t>training-time transform</a:t>
            </a:r>
          </a:p>
        </p:txBody>
      </p:sp>
      <p:sp>
        <p:nvSpPr>
          <p:cNvPr id="17" name="Right Arrow 16"/>
          <p:cNvSpPr/>
          <p:nvPr/>
        </p:nvSpPr>
        <p:spPr>
          <a:xfrm>
            <a:off x="9820655" y="2121408"/>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97280" y="4526280"/>
            <a:ext cx="3291840" cy="160020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Freeform 18"/>
          <p:cNvSpPr/>
          <p:nvPr/>
        </p:nvSpPr>
        <p:spPr>
          <a:xfrm>
            <a:off x="1097280" y="4526280"/>
            <a:ext cx="3291840" cy="1600200"/>
          </a:xfrm>
          <a:custGeom>
            <a:avLst/>
            <a:gdLst/>
            <a:ahLst/>
            <a:cxnLst/>
            <a:rect l="l" t="t" r="r" b="b"/>
            <a:pathLst>
              <a:path w="3291840" h="1600200">
                <a:moveTo>
                  <a:pt x="0" y="1600200"/>
                </a:moveTo>
                <a:lnTo>
                  <a:pt x="0" y="1080135"/>
                </a:lnTo>
                <a:lnTo>
                  <a:pt x="143123" y="824103"/>
                </a:lnTo>
                <a:lnTo>
                  <a:pt x="286246" y="614076"/>
                </a:lnTo>
                <a:lnTo>
                  <a:pt x="429370" y="416052"/>
                </a:lnTo>
                <a:lnTo>
                  <a:pt x="572493" y="220027"/>
                </a:lnTo>
                <a:lnTo>
                  <a:pt x="715617" y="22002"/>
                </a:lnTo>
                <a:lnTo>
                  <a:pt x="729929" y="0"/>
                </a:lnTo>
                <a:lnTo>
                  <a:pt x="3291840" y="0"/>
                </a:lnTo>
                <a:lnTo>
                  <a:pt x="3291840" y="160020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6144768"/>
            <a:ext cx="3657600" cy="731520"/>
          </a:xfrm>
          <a:prstGeom prst="rect">
            <a:avLst/>
          </a:prstGeom>
          <a:noFill/>
        </p:spPr>
        <p:txBody>
          <a:bodyPr wrap="square">
            <a:spAutoFit/>
          </a:bodyPr>
          <a:lstStyle/>
          <a:p>
            <a:pPr algn="ctr"/>
            <a:r>
              <a:rPr sz="1000" b="0">
                <a:solidFill>
                  <a:srgbClr val="8A93A3"/>
                </a:solidFill>
              </a:rPr>
              <a:t>P  0.5 -&gt; 12 kbar</a:t>
            </a:r>
          </a:p>
        </p:txBody>
      </p:sp>
      <p:sp>
        <p:nvSpPr>
          <p:cNvPr id="21" name="TextBox 20"/>
          <p:cNvSpPr txBox="1"/>
          <p:nvPr/>
        </p:nvSpPr>
        <p:spPr>
          <a:xfrm>
            <a:off x="530352" y="448056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22" name="TextBox 21"/>
          <p:cNvSpPr txBox="1"/>
          <p:nvPr/>
        </p:nvSpPr>
        <p:spPr>
          <a:xfrm>
            <a:off x="1280160" y="4160520"/>
            <a:ext cx="3291840" cy="731520"/>
          </a:xfrm>
          <a:prstGeom prst="rect">
            <a:avLst/>
          </a:prstGeom>
          <a:noFill/>
        </p:spPr>
        <p:txBody>
          <a:bodyPr wrap="square">
            <a:spAutoFit/>
          </a:bodyPr>
          <a:lstStyle/>
          <a:p>
            <a:pPr algn="ctr"/>
            <a:r>
              <a:rPr sz="1100" b="0">
                <a:solidFill>
                  <a:srgbClr val="2E5BFF"/>
                </a:solidFill>
              </a:rPr>
              <a:t>sampled (P, H2O) region</a:t>
            </a:r>
          </a:p>
        </p:txBody>
      </p:sp>
      <p:sp>
        <p:nvSpPr>
          <p:cNvPr id="23" name="TextBox 22"/>
          <p:cNvSpPr txBox="1"/>
          <p:nvPr/>
        </p:nvSpPr>
        <p:spPr>
          <a:xfrm>
            <a:off x="4937760" y="5440680"/>
            <a:ext cx="6766560" cy="731520"/>
          </a:xfrm>
          <a:prstGeom prst="rect">
            <a:avLst/>
          </a:prstGeom>
          <a:noFill/>
        </p:spPr>
        <p:txBody>
          <a:bodyPr wrap="square">
            <a:spAutoFit/>
          </a:bodyPr>
          <a:lstStyle/>
          <a:p>
            <a:pPr algn="l"/>
            <a:r>
              <a:rPr sz="1200" b="0">
                <a:solidFill>
                  <a:srgbClr val="1A2238"/>
                </a:solidFill>
              </a:rPr>
              <a:t>water is bounded by what melt can dissolve at each pressure (Newman &amp; Lowenstern 2002 rhyolite curve, capped at 8 wt%) -- the old flat box (whole rectangle) sampled impossible wet-shallow corners. q is the sampling density; inference reweights scenarios by p/q, so the corpus itself stays prior-agnostic.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One rock, 96 labels: the one-to-many mapping</a:t>
            </a:r>
          </a:p>
        </p:txBody>
      </p:sp>
      <p:sp>
        <p:nvSpPr>
          <p:cNvPr id="4" name="TextBox 3"/>
          <p:cNvSpPr txBox="1"/>
          <p:nvPr/>
        </p:nvSpPr>
        <p:spPr>
          <a:xfrm>
            <a:off x="365760" y="1188720"/>
            <a:ext cx="2286000" cy="731520"/>
          </a:xfrm>
          <a:prstGeom prst="rect">
            <a:avLst/>
          </a:prstGeom>
          <a:noFill/>
        </p:spPr>
        <p:txBody>
          <a:bodyPr wrap="square">
            <a:spAutoFit/>
          </a:bodyPr>
          <a:lstStyle/>
          <a:p>
            <a:pPr algn="l"/>
            <a:r>
              <a:rPr sz="1100" b="0">
                <a:solidFill>
                  <a:srgbClr val="2E5BFF"/>
                </a:solidFill>
              </a:rPr>
              <a:t>ONE input rock</a:t>
            </a:r>
          </a:p>
        </p:txBody>
      </p:sp>
      <p:sp>
        <p:nvSpPr>
          <p:cNvPr id="5" name="TextBox 4"/>
          <p:cNvSpPr txBox="1"/>
          <p:nvPr/>
        </p:nvSpPr>
        <p:spPr>
          <a:xfrm>
            <a:off x="3200400" y="1188720"/>
            <a:ext cx="2194560" cy="731520"/>
          </a:xfrm>
          <a:prstGeom prst="rect">
            <a:avLst/>
          </a:prstGeom>
          <a:noFill/>
        </p:spPr>
        <p:txBody>
          <a:bodyPr wrap="square">
            <a:spAutoFit/>
          </a:bodyPr>
          <a:lstStyle/>
          <a:p>
            <a:pPr algn="l"/>
            <a:r>
              <a:rPr sz="1100" b="0">
                <a:solidFill>
                  <a:srgbClr val="6C5CE7"/>
                </a:solidFill>
              </a:rPr>
              <a:t>48 sampled (P, H2O) paths</a:t>
            </a:r>
          </a:p>
        </p:txBody>
      </p:sp>
      <p:sp>
        <p:nvSpPr>
          <p:cNvPr id="6" name="TextBox 5"/>
          <p:cNvSpPr txBox="1"/>
          <p:nvPr/>
        </p:nvSpPr>
        <p:spPr>
          <a:xfrm>
            <a:off x="5669280" y="1188720"/>
            <a:ext cx="1463040" cy="731520"/>
          </a:xfrm>
          <a:prstGeom prst="rect">
            <a:avLst/>
          </a:prstGeom>
          <a:noFill/>
        </p:spPr>
        <p:txBody>
          <a:bodyPr wrap="square">
            <a:spAutoFit/>
          </a:bodyPr>
          <a:lstStyle/>
          <a:p>
            <a:pPr algn="l"/>
            <a:r>
              <a:rPr sz="1100" b="0">
                <a:solidFill>
                  <a:srgbClr val="E8883A"/>
                </a:solidFill>
              </a:rPr>
              <a:t>x 2 rungs</a:t>
            </a:r>
          </a:p>
        </p:txBody>
      </p:sp>
      <p:sp>
        <p:nvSpPr>
          <p:cNvPr id="7" name="TextBox 6"/>
          <p:cNvSpPr txBox="1"/>
          <p:nvPr/>
        </p:nvSpPr>
        <p:spPr>
          <a:xfrm>
            <a:off x="7589520" y="1188720"/>
            <a:ext cx="4069080" cy="731520"/>
          </a:xfrm>
          <a:prstGeom prst="rect">
            <a:avLst/>
          </a:prstGeom>
          <a:noFill/>
        </p:spPr>
        <p:txBody>
          <a:bodyPr wrap="square">
            <a:spAutoFit/>
          </a:bodyPr>
          <a:lstStyle/>
          <a:p>
            <a:pPr algn="l"/>
            <a:r>
              <a:rPr sz="1100" b="0">
                <a:solidFill>
                  <a:srgbClr val="2A9D8F"/>
                </a:solidFill>
              </a:rPr>
              <a:t>96 training labels (solid wt%, crystals-renormalized)</a:t>
            </a:r>
          </a:p>
        </p:txBody>
      </p:sp>
      <p:sp>
        <p:nvSpPr>
          <p:cNvPr id="8" name="Rounded Rectangle 7"/>
          <p:cNvSpPr/>
          <p:nvPr/>
        </p:nvSpPr>
        <p:spPr>
          <a:xfrm>
            <a:off x="502920" y="3017520"/>
            <a:ext cx="1828800" cy="10058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one gard2019 rock</a:t>
            </a:r>
          </a:p>
          <a:p>
            <a:pPr algn="ctr"/>
            <a:r>
              <a:rPr sz="900" b="0">
                <a:solidFill>
                  <a:srgbClr val="8A93A3"/>
                </a:solidFill>
              </a:rPr>
              <a:t>SiO2 58 . Al2O3 17 . MgO 3.5 ...</a:t>
            </a:r>
          </a:p>
        </p:txBody>
      </p:sp>
      <p:cxnSp>
        <p:nvCxnSpPr>
          <p:cNvPr id="9" name="Connector 8"/>
          <p:cNvCxnSpPr/>
          <p:nvPr/>
        </p:nvCxnSpPr>
        <p:spPr>
          <a:xfrm flipV="1">
            <a:off x="2331720" y="182880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46304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(P₁, H₂O₁)</a:t>
            </a:r>
          </a:p>
          <a:p>
            <a:pPr algn="ctr"/>
            <a:r>
              <a:rPr sz="800" b="0">
                <a:solidFill>
                  <a:srgbClr val="8A93A3"/>
                </a:solidFill>
              </a:rPr>
              <a:t>9 kbar . 5.5 wt% -- deep, wet</a:t>
            </a:r>
          </a:p>
        </p:txBody>
      </p:sp>
      <p:cxnSp>
        <p:nvCxnSpPr>
          <p:cNvPr id="11" name="Connector 10"/>
          <p:cNvCxnSpPr/>
          <p:nvPr/>
        </p:nvCxnSpPr>
        <p:spPr>
          <a:xfrm flipV="1">
            <a:off x="5212080" y="14630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60720" y="12344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13" name="Connector 12"/>
          <p:cNvCxnSpPr/>
          <p:nvPr/>
        </p:nvCxnSpPr>
        <p:spPr>
          <a:xfrm>
            <a:off x="6995160" y="14630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2344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44 . cpx 26 . amp 19 . ox 11</a:t>
            </a:r>
          </a:p>
        </p:txBody>
      </p:sp>
      <p:cxnSp>
        <p:nvCxnSpPr>
          <p:cNvPr id="15" name="Connector 14"/>
          <p:cNvCxnSpPr/>
          <p:nvPr/>
        </p:nvCxnSpPr>
        <p:spPr>
          <a:xfrm>
            <a:off x="5212080" y="182880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60720" y="196596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17" name="Connector 16"/>
          <p:cNvCxnSpPr/>
          <p:nvPr/>
        </p:nvCxnSpPr>
        <p:spPr>
          <a:xfrm>
            <a:off x="6995160" y="219456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89520" y="196596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40 . cpx 25 . amp 24 . ox 11</a:t>
            </a:r>
          </a:p>
        </p:txBody>
      </p:sp>
      <p:cxnSp>
        <p:nvCxnSpPr>
          <p:cNvPr id="19" name="Connector 18"/>
          <p:cNvCxnSpPr/>
          <p:nvPr/>
        </p:nvCxnSpPr>
        <p:spPr>
          <a:xfrm flipV="1">
            <a:off x="2331720" y="3291840"/>
            <a:ext cx="960120" cy="22860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91840" y="292608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(P₂, H₂O₂)</a:t>
            </a:r>
          </a:p>
          <a:p>
            <a:pPr algn="ctr"/>
            <a:r>
              <a:rPr sz="800" b="0">
                <a:solidFill>
                  <a:srgbClr val="8A93A3"/>
                </a:solidFill>
              </a:rPr>
              <a:t>2 kbar . 1.5 wt% -- shallow, dry</a:t>
            </a:r>
          </a:p>
        </p:txBody>
      </p:sp>
      <p:cxnSp>
        <p:nvCxnSpPr>
          <p:cNvPr id="21" name="Connector 20"/>
          <p:cNvCxnSpPr/>
          <p:nvPr/>
        </p:nvCxnSpPr>
        <p:spPr>
          <a:xfrm flipV="1">
            <a:off x="5212080" y="2926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760720" y="269748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23" name="Connector 22"/>
          <p:cNvCxnSpPr/>
          <p:nvPr/>
        </p:nvCxnSpPr>
        <p:spPr>
          <a:xfrm>
            <a:off x="6995160" y="292608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269748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49 . cpx 26 . opx 14 . ox 11   (no amp)</a:t>
            </a:r>
          </a:p>
        </p:txBody>
      </p:sp>
      <p:cxnSp>
        <p:nvCxnSpPr>
          <p:cNvPr id="25" name="Connector 24"/>
          <p:cNvCxnSpPr/>
          <p:nvPr/>
        </p:nvCxnSpPr>
        <p:spPr>
          <a:xfrm>
            <a:off x="5212080" y="329184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60720" y="342900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27" name="Connector 26"/>
          <p:cNvCxnSpPr/>
          <p:nvPr/>
        </p:nvCxnSpPr>
        <p:spPr>
          <a:xfrm>
            <a:off x="6995160" y="365760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342900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46 . cpx 25 . opx 18 . ox 11   (no amp)</a:t>
            </a:r>
          </a:p>
        </p:txBody>
      </p:sp>
      <p:cxnSp>
        <p:nvCxnSpPr>
          <p:cNvPr id="29" name="Connector 28"/>
          <p:cNvCxnSpPr/>
          <p:nvPr/>
        </p:nvCxnSpPr>
        <p:spPr>
          <a:xfrm>
            <a:off x="2331720" y="3520440"/>
            <a:ext cx="960120" cy="16916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291840" y="4846320"/>
            <a:ext cx="1920240" cy="7315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(P₄₈, H₂O₄₈)</a:t>
            </a:r>
          </a:p>
          <a:p>
            <a:pPr algn="ctr"/>
            <a:r>
              <a:rPr sz="800" b="0">
                <a:solidFill>
                  <a:srgbClr val="8A93A3"/>
                </a:solidFill>
              </a:rPr>
              <a:t>5 kbar . 3 wt% -- intermediate</a:t>
            </a:r>
          </a:p>
        </p:txBody>
      </p:sp>
      <p:cxnSp>
        <p:nvCxnSpPr>
          <p:cNvPr id="31" name="Connector 30"/>
          <p:cNvCxnSpPr/>
          <p:nvPr/>
        </p:nvCxnSpPr>
        <p:spPr>
          <a:xfrm flipV="1">
            <a:off x="5212080" y="484632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760720" y="461772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50% melt</a:t>
            </a:r>
          </a:p>
        </p:txBody>
      </p:sp>
      <p:cxnSp>
        <p:nvCxnSpPr>
          <p:cNvPr id="33" name="Connector 32"/>
          <p:cNvCxnSpPr/>
          <p:nvPr/>
        </p:nvCxnSpPr>
        <p:spPr>
          <a:xfrm>
            <a:off x="6995160" y="484632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461772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45 . cpx 24 . amp 10 . opx 10 . ox 11</a:t>
            </a:r>
          </a:p>
        </p:txBody>
      </p:sp>
      <p:cxnSp>
        <p:nvCxnSpPr>
          <p:cNvPr id="35" name="Connector 34"/>
          <p:cNvCxnSpPr/>
          <p:nvPr/>
        </p:nvCxnSpPr>
        <p:spPr>
          <a:xfrm>
            <a:off x="5212080" y="5212080"/>
            <a:ext cx="548640" cy="36576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760720" y="5349240"/>
            <a:ext cx="1234440" cy="4572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30% melt</a:t>
            </a:r>
          </a:p>
        </p:txBody>
      </p:sp>
      <p:cxnSp>
        <p:nvCxnSpPr>
          <p:cNvPr id="37" name="Connector 36"/>
          <p:cNvCxnSpPr/>
          <p:nvPr/>
        </p:nvCxnSpPr>
        <p:spPr>
          <a:xfrm>
            <a:off x="6995160" y="5577840"/>
            <a:ext cx="594360" cy="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589520" y="5349240"/>
            <a:ext cx="4069080" cy="4572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b="1">
                <a:solidFill>
                  <a:srgbClr val="1A2238"/>
                </a:solidFill>
              </a:rPr>
              <a:t>plag 43 . cpx 23 . amp 12 . opx 11 . ox 11</a:t>
            </a:r>
          </a:p>
        </p:txBody>
      </p:sp>
      <p:sp>
        <p:nvSpPr>
          <p:cNvPr id="39" name="TextBox 38"/>
          <p:cNvSpPr txBox="1"/>
          <p:nvPr/>
        </p:nvSpPr>
        <p:spPr>
          <a:xfrm>
            <a:off x="3291840" y="3931920"/>
            <a:ext cx="1920240" cy="731520"/>
          </a:xfrm>
          <a:prstGeom prst="rect">
            <a:avLst/>
          </a:prstGeom>
          <a:noFill/>
        </p:spPr>
        <p:txBody>
          <a:bodyPr wrap="square">
            <a:spAutoFit/>
          </a:bodyPr>
          <a:lstStyle/>
          <a:p>
            <a:pPr algn="ctr"/>
            <a:r>
              <a:rPr sz="1400" b="0">
                <a:solidFill>
                  <a:srgbClr val="8A93A3"/>
                </a:solidFill>
              </a:rPr>
              <a:t>. . .</a:t>
            </a:r>
          </a:p>
        </p:txBody>
      </p:sp>
      <p:sp>
        <p:nvSpPr>
          <p:cNvPr id="40" name="TextBox 39"/>
          <p:cNvSpPr txBox="1"/>
          <p:nvPr/>
        </p:nvSpPr>
        <p:spPr>
          <a:xfrm>
            <a:off x="5760720" y="3931920"/>
            <a:ext cx="1234440" cy="731520"/>
          </a:xfrm>
          <a:prstGeom prst="rect">
            <a:avLst/>
          </a:prstGeom>
          <a:noFill/>
        </p:spPr>
        <p:txBody>
          <a:bodyPr wrap="square">
            <a:spAutoFit/>
          </a:bodyPr>
          <a:lstStyle/>
          <a:p>
            <a:pPr algn="ctr"/>
            <a:r>
              <a:rPr sz="1400" b="0">
                <a:solidFill>
                  <a:srgbClr val="8A93A3"/>
                </a:solidFill>
              </a:rPr>
              <a:t>. . .</a:t>
            </a:r>
          </a:p>
        </p:txBody>
      </p:sp>
      <p:sp>
        <p:nvSpPr>
          <p:cNvPr id="41" name="TextBox 40"/>
          <p:cNvSpPr txBox="1"/>
          <p:nvPr/>
        </p:nvSpPr>
        <p:spPr>
          <a:xfrm>
            <a:off x="7589520" y="3931920"/>
            <a:ext cx="4069080" cy="731520"/>
          </a:xfrm>
          <a:prstGeom prst="rect">
            <a:avLst/>
          </a:prstGeom>
          <a:noFill/>
        </p:spPr>
        <p:txBody>
          <a:bodyPr wrap="square">
            <a:spAutoFit/>
          </a:bodyPr>
          <a:lstStyle/>
          <a:p>
            <a:pPr algn="ctr"/>
            <a:r>
              <a:rPr sz="1400" b="0">
                <a:solidFill>
                  <a:srgbClr val="8A93A3"/>
                </a:solidFill>
              </a:rPr>
              <a:t>. . .</a:t>
            </a:r>
          </a:p>
        </p:txBody>
      </p:sp>
      <p:sp>
        <p:nvSpPr>
          <p:cNvPr id="42" name="TextBox 41"/>
          <p:cNvSpPr txBox="1"/>
          <p:nvPr/>
        </p:nvSpPr>
        <p:spPr>
          <a:xfrm>
            <a:off x="502920" y="4617720"/>
            <a:ext cx="2926080" cy="731520"/>
          </a:xfrm>
          <a:prstGeom prst="rect">
            <a:avLst/>
          </a:prstGeom>
          <a:noFill/>
        </p:spPr>
        <p:txBody>
          <a:bodyPr wrap="square">
            <a:spAutoFit/>
          </a:bodyPr>
          <a:lstStyle/>
          <a:p>
            <a:pPr algn="l"/>
            <a:r>
              <a:rPr sz="1000" b="0">
                <a:solidFill>
                  <a:srgbClr val="8A93A3"/>
                </a:solidFill>
              </a:rPr>
              <a:t>each path drawn from the bounded (P, H2O) region:</a:t>
            </a:r>
          </a:p>
        </p:txBody>
      </p:sp>
      <p:sp>
        <p:nvSpPr>
          <p:cNvPr id="43" name="Rectangle 42"/>
          <p:cNvSpPr/>
          <p:nvPr/>
        </p:nvSpPr>
        <p:spPr>
          <a:xfrm>
            <a:off x="868680" y="5074920"/>
            <a:ext cx="2194560" cy="11887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Freeform 43"/>
          <p:cNvSpPr/>
          <p:nvPr/>
        </p:nvSpPr>
        <p:spPr>
          <a:xfrm>
            <a:off x="868680" y="5074920"/>
            <a:ext cx="2194559" cy="1188720"/>
          </a:xfrm>
          <a:custGeom>
            <a:avLst/>
            <a:gdLst/>
            <a:ahLst/>
            <a:cxnLst/>
            <a:rect l="l" t="t" r="r" b="b"/>
            <a:pathLst>
              <a:path w="2194559" h="1188720">
                <a:moveTo>
                  <a:pt x="0" y="1188720"/>
                </a:moveTo>
                <a:lnTo>
                  <a:pt x="0" y="802385"/>
                </a:lnTo>
                <a:lnTo>
                  <a:pt x="95415" y="612190"/>
                </a:lnTo>
                <a:lnTo>
                  <a:pt x="190831" y="456171"/>
                </a:lnTo>
                <a:lnTo>
                  <a:pt x="286246" y="309067"/>
                </a:lnTo>
                <a:lnTo>
                  <a:pt x="381662" y="163449"/>
                </a:lnTo>
                <a:lnTo>
                  <a:pt x="477078" y="16344"/>
                </a:lnTo>
                <a:lnTo>
                  <a:pt x="486619" y="0"/>
                </a:lnTo>
                <a:lnTo>
                  <a:pt x="2194559" y="0"/>
                </a:lnTo>
                <a:lnTo>
                  <a:pt x="2194559" y="1188720"/>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5800" y="6281927"/>
            <a:ext cx="2560320" cy="731520"/>
          </a:xfrm>
          <a:prstGeom prst="rect">
            <a:avLst/>
          </a:prstGeom>
          <a:noFill/>
        </p:spPr>
        <p:txBody>
          <a:bodyPr wrap="square">
            <a:spAutoFit/>
          </a:bodyPr>
          <a:lstStyle/>
          <a:p>
            <a:pPr algn="ctr"/>
            <a:r>
              <a:rPr sz="1000" b="0">
                <a:solidFill>
                  <a:srgbClr val="8A93A3"/>
                </a:solidFill>
              </a:rPr>
              <a:t>P  0.5 -&gt; 12 kbar</a:t>
            </a:r>
          </a:p>
        </p:txBody>
      </p:sp>
      <p:sp>
        <p:nvSpPr>
          <p:cNvPr id="46" name="TextBox 45"/>
          <p:cNvSpPr txBox="1"/>
          <p:nvPr/>
        </p:nvSpPr>
        <p:spPr>
          <a:xfrm>
            <a:off x="301751" y="5029200"/>
            <a:ext cx="548640" cy="365760"/>
          </a:xfrm>
          <a:prstGeom prst="rect">
            <a:avLst/>
          </a:prstGeom>
          <a:noFill/>
        </p:spPr>
        <p:txBody>
          <a:bodyPr wrap="square">
            <a:spAutoFit/>
          </a:bodyPr>
          <a:lstStyle/>
          <a:p>
            <a:pPr algn="ctr"/>
            <a:r>
              <a:rPr sz="1000" b="0">
                <a:solidFill>
                  <a:srgbClr val="8A93A3"/>
                </a:solidFill>
              </a:rPr>
              <a:t>H2O</a:t>
            </a:r>
          </a:p>
          <a:p>
            <a:pPr algn="ctr"/>
            <a:r>
              <a:rPr sz="700" b="0">
                <a:solidFill>
                  <a:srgbClr val="8A93A3"/>
                </a:solidFill>
              </a:rPr>
              <a:t>0-8</a:t>
            </a:r>
          </a:p>
        </p:txBody>
      </p:sp>
      <p:sp>
        <p:nvSpPr>
          <p:cNvPr id="47" name="TextBox 46"/>
          <p:cNvSpPr txBox="1"/>
          <p:nvPr/>
        </p:nvSpPr>
        <p:spPr>
          <a:xfrm>
            <a:off x="3383280" y="5806440"/>
            <a:ext cx="8321040" cy="731520"/>
          </a:xfrm>
          <a:prstGeom prst="rect">
            <a:avLst/>
          </a:prstGeom>
          <a:noFill/>
        </p:spPr>
        <p:txBody>
          <a:bodyPr wrap="square">
            <a:spAutoFit/>
          </a:bodyPr>
          <a:lstStyle/>
          <a:p>
            <a:pPr algn="l"/>
            <a:r>
              <a:rPr sz="1100" b="0">
                <a:solidFill>
                  <a:srgbClr val="1A2238"/>
                </a:solidFill>
              </a:rPr>
              <a:t>why this shape matters for the presence head: it only ever sees the left box, so all 96 rows share one input and it emits ONE p per mineral against 96 different truths -- amp grows on the wet-deep paths, opx on the dry-shallow. BCE's optimum is the fraction of paths growing the mineral, so an intermediate p is the multimodal signal, not indecision.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DATA</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Corpus regen: where we are</a:t>
            </a:r>
          </a:p>
        </p:txBody>
      </p:sp>
      <p:sp>
        <p:nvSpPr>
          <p:cNvPr id="4" name="Rounded Rectangle 3"/>
          <p:cNvSpPr/>
          <p:nvPr/>
        </p:nvSpPr>
        <p:spPr>
          <a:xfrm>
            <a:off x="50292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1. bounded sampler</a:t>
            </a:r>
          </a:p>
          <a:p>
            <a:pPr algn="ctr"/>
            <a:r>
              <a:rPr sz="1200" b="1">
                <a:solidFill>
                  <a:srgbClr val="1A2238"/>
                </a:solidFill>
              </a:rPr>
              <a:t/>
            </a:r>
          </a:p>
          <a:p>
            <a:pPr algn="ctr"/>
            <a:r>
              <a:rPr sz="1200" b="1">
                <a:solidFill>
                  <a:srgbClr val="1A2238"/>
                </a:solidFill>
              </a:rPr>
              <a:t>landed + tested</a:t>
            </a:r>
          </a:p>
          <a:p>
            <a:pPr algn="ctr"/>
            <a:r>
              <a:rPr sz="900" b="0">
                <a:solidFill>
                  <a:srgbClr val="8A93A3"/>
                </a:solidFill>
              </a:rPr>
              <a:t>condition_proposal</a:t>
            </a:r>
          </a:p>
        </p:txBody>
      </p:sp>
      <p:sp>
        <p:nvSpPr>
          <p:cNvPr id="5" name="TextBox 4"/>
          <p:cNvSpPr txBox="1"/>
          <p:nvPr/>
        </p:nvSpPr>
        <p:spPr>
          <a:xfrm>
            <a:off x="502920" y="1719072"/>
            <a:ext cx="2148840" cy="731520"/>
          </a:xfrm>
          <a:prstGeom prst="rect">
            <a:avLst/>
          </a:prstGeom>
          <a:noFill/>
        </p:spPr>
        <p:txBody>
          <a:bodyPr wrap="square">
            <a:spAutoFit/>
          </a:bodyPr>
          <a:lstStyle/>
          <a:p>
            <a:pPr algn="ctr"/>
            <a:r>
              <a:rPr sz="1100" b="0">
                <a:solidFill>
                  <a:srgbClr val="2A9D8F"/>
                </a:solidFill>
              </a:rPr>
              <a:t>LANDED</a:t>
            </a:r>
          </a:p>
        </p:txBody>
      </p:sp>
      <p:sp>
        <p:nvSpPr>
          <p:cNvPr id="6" name="Rounded Rectangle 5"/>
          <p:cNvSpPr/>
          <p:nvPr/>
        </p:nvSpPr>
        <p:spPr>
          <a:xfrm>
            <a:off x="288036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 orchestrator</a:t>
            </a:r>
          </a:p>
          <a:p>
            <a:pPr algn="ctr"/>
            <a:r>
              <a:rPr sz="1200" b="1">
                <a:solidFill>
                  <a:srgbClr val="1A2238"/>
                </a:solidFill>
              </a:rPr>
              <a:t/>
            </a:r>
          </a:p>
          <a:p>
            <a:pPr algn="ctr"/>
            <a:r>
              <a:rPr sz="1200" b="1">
                <a:solidFill>
                  <a:srgbClr val="1A2238"/>
                </a:solidFill>
              </a:rPr>
              <a:t>landed + smoke-run</a:t>
            </a:r>
          </a:p>
          <a:p>
            <a:pPr algn="ctr"/>
            <a:r>
              <a:rPr sz="900" b="0">
                <a:solidFill>
                  <a:srgbClr val="8A93A3"/>
                </a:solidFill>
              </a:rPr>
              <a:t>generate_mineralogy_corpus</a:t>
            </a:r>
          </a:p>
        </p:txBody>
      </p:sp>
      <p:sp>
        <p:nvSpPr>
          <p:cNvPr id="7" name="TextBox 6"/>
          <p:cNvSpPr txBox="1"/>
          <p:nvPr/>
        </p:nvSpPr>
        <p:spPr>
          <a:xfrm>
            <a:off x="2880360" y="1719072"/>
            <a:ext cx="2148840" cy="731520"/>
          </a:xfrm>
          <a:prstGeom prst="rect">
            <a:avLst/>
          </a:prstGeom>
          <a:noFill/>
        </p:spPr>
        <p:txBody>
          <a:bodyPr wrap="square">
            <a:spAutoFit/>
          </a:bodyPr>
          <a:lstStyle/>
          <a:p>
            <a:pPr algn="ctr"/>
            <a:r>
              <a:rPr sz="1100" b="0">
                <a:solidFill>
                  <a:srgbClr val="2A9D8F"/>
                </a:solidFill>
              </a:rPr>
              <a:t>LANDED</a:t>
            </a:r>
          </a:p>
        </p:txBody>
      </p:sp>
      <p:sp>
        <p:nvSpPr>
          <p:cNvPr id="8" name="Right Arrow 7"/>
          <p:cNvSpPr/>
          <p:nvPr/>
        </p:nvSpPr>
        <p:spPr>
          <a:xfrm>
            <a:off x="2688336" y="2898647"/>
            <a:ext cx="155447"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5780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3. water A/B</a:t>
            </a:r>
          </a:p>
          <a:p>
            <a:pPr algn="ctr"/>
            <a:r>
              <a:rPr sz="1200" b="1">
                <a:solidFill>
                  <a:srgbClr val="1A2238"/>
                </a:solidFill>
              </a:rPr>
              <a:t/>
            </a:r>
          </a:p>
          <a:p>
            <a:pPr algn="ctr"/>
            <a:r>
              <a:rPr sz="1200" b="1">
                <a:solidFill>
                  <a:srgbClr val="1A2238"/>
                </a:solidFill>
              </a:rPr>
              <a:t>switch holds;</a:t>
            </a:r>
          </a:p>
          <a:p>
            <a:pPr algn="ctr"/>
            <a:r>
              <a:rPr sz="900" b="0">
                <a:solidFill>
                  <a:srgbClr val="8A93A3"/>
                </a:solidFill>
              </a:rPr>
              <a:t>biotite gap is</a:t>
            </a:r>
          </a:p>
          <a:p>
            <a:pPr algn="ctr"/>
            <a:r>
              <a:rPr sz="900" b="0">
                <a:solidFill>
                  <a:srgbClr val="8A93A3"/>
                </a:solidFill>
              </a:rPr>
              <a:t>prior-side, not coverage</a:t>
            </a:r>
          </a:p>
        </p:txBody>
      </p:sp>
      <p:sp>
        <p:nvSpPr>
          <p:cNvPr id="10" name="TextBox 9"/>
          <p:cNvSpPr txBox="1"/>
          <p:nvPr/>
        </p:nvSpPr>
        <p:spPr>
          <a:xfrm>
            <a:off x="5257800" y="1719072"/>
            <a:ext cx="2148840" cy="731520"/>
          </a:xfrm>
          <a:prstGeom prst="rect">
            <a:avLst/>
          </a:prstGeom>
          <a:noFill/>
        </p:spPr>
        <p:txBody>
          <a:bodyPr wrap="square">
            <a:spAutoFit/>
          </a:bodyPr>
          <a:lstStyle/>
          <a:p>
            <a:pPr algn="ctr"/>
            <a:r>
              <a:rPr sz="1100" b="0">
                <a:solidFill>
                  <a:srgbClr val="2A9D8F"/>
                </a:solidFill>
              </a:rPr>
              <a:t>LANDED</a:t>
            </a:r>
          </a:p>
        </p:txBody>
      </p:sp>
      <p:sp>
        <p:nvSpPr>
          <p:cNvPr id="11" name="Right Arrow 10"/>
          <p:cNvSpPr/>
          <p:nvPr/>
        </p:nvSpPr>
        <p:spPr>
          <a:xfrm>
            <a:off x="5065776"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63524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4. pilot + rung pick</a:t>
            </a:r>
          </a:p>
          <a:p>
            <a:pPr algn="ctr"/>
            <a:r>
              <a:rPr sz="1200" b="1">
                <a:solidFill>
                  <a:srgbClr val="1A2238"/>
                </a:solidFill>
              </a:rPr>
              <a:t/>
            </a:r>
          </a:p>
          <a:p>
            <a:pPr algn="ctr"/>
            <a:r>
              <a:rPr sz="1200" b="1">
                <a:solidFill>
                  <a:srgbClr val="1A2238"/>
                </a:solidFill>
              </a:rPr>
              <a:t>passed; rungs locked</a:t>
            </a:r>
          </a:p>
          <a:p>
            <a:pPr algn="ctr"/>
            <a:r>
              <a:rPr sz="900" b="0">
                <a:solidFill>
                  <a:srgbClr val="8A93A3"/>
                </a:solidFill>
              </a:rPr>
              <a:t>50 + 30 (owner,</a:t>
            </a:r>
          </a:p>
          <a:p>
            <a:pPr algn="ctr"/>
            <a:r>
              <a:rPr sz="900" b="0">
                <a:solidFill>
                  <a:srgbClr val="8A93A3"/>
                </a:solidFill>
              </a:rPr>
              <a:t>rung_prescreen.py)</a:t>
            </a:r>
          </a:p>
        </p:txBody>
      </p:sp>
      <p:sp>
        <p:nvSpPr>
          <p:cNvPr id="13" name="TextBox 12"/>
          <p:cNvSpPr txBox="1"/>
          <p:nvPr/>
        </p:nvSpPr>
        <p:spPr>
          <a:xfrm>
            <a:off x="7635240" y="1719072"/>
            <a:ext cx="2148840" cy="731520"/>
          </a:xfrm>
          <a:prstGeom prst="rect">
            <a:avLst/>
          </a:prstGeom>
          <a:noFill/>
        </p:spPr>
        <p:txBody>
          <a:bodyPr wrap="square">
            <a:spAutoFit/>
          </a:bodyPr>
          <a:lstStyle/>
          <a:p>
            <a:pPr algn="ctr"/>
            <a:r>
              <a:rPr sz="1100" b="0">
                <a:solidFill>
                  <a:srgbClr val="2A9D8F"/>
                </a:solidFill>
              </a:rPr>
              <a:t>LANDED</a:t>
            </a:r>
          </a:p>
        </p:txBody>
      </p:sp>
      <p:sp>
        <p:nvSpPr>
          <p:cNvPr id="14" name="Right Arrow 13"/>
          <p:cNvSpPr/>
          <p:nvPr/>
        </p:nvSpPr>
        <p:spPr>
          <a:xfrm>
            <a:off x="744321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0012680" y="2103120"/>
            <a:ext cx="2148840" cy="1920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5. production</a:t>
            </a:r>
          </a:p>
          <a:p>
            <a:pPr algn="ctr"/>
            <a:r>
              <a:rPr sz="1200" b="1">
                <a:solidFill>
                  <a:srgbClr val="1A2238"/>
                </a:solidFill>
              </a:rPr>
              <a:t/>
            </a:r>
          </a:p>
          <a:p>
            <a:pPr algn="ctr"/>
            <a:r>
              <a:rPr sz="1200" b="1">
                <a:solidFill>
                  <a:srgbClr val="1A2238"/>
                </a:solidFill>
              </a:rPr>
              <a:t>both tiers complete</a:t>
            </a:r>
          </a:p>
          <a:p>
            <a:pPr algn="ctr"/>
            <a:r>
              <a:rPr sz="900" b="0">
                <a:solidFill>
                  <a:srgbClr val="8A93A3"/>
                </a:solidFill>
              </a:rPr>
              <a:t>948k train rows;</a:t>
            </a:r>
          </a:p>
          <a:p>
            <a:pPr algn="ctr"/>
            <a:r>
              <a:rPr sz="900" b="0">
                <a:solidFill>
                  <a:srgbClr val="8A93A3"/>
                </a:solidFill>
              </a:rPr>
              <a:t>valtest 125k, sealed</a:t>
            </a:r>
          </a:p>
          <a:p>
            <a:pPr algn="ctr"/>
            <a:r>
              <a:rPr sz="900" b="0">
                <a:solidFill>
                  <a:srgbClr val="8A93A3"/>
                </a:solidFill>
              </a:rPr>
              <a:t>221/278 val/test roster</a:t>
            </a:r>
          </a:p>
        </p:txBody>
      </p:sp>
      <p:sp>
        <p:nvSpPr>
          <p:cNvPr id="16" name="TextBox 15"/>
          <p:cNvSpPr txBox="1"/>
          <p:nvPr/>
        </p:nvSpPr>
        <p:spPr>
          <a:xfrm>
            <a:off x="10012680" y="1719072"/>
            <a:ext cx="2148840" cy="731520"/>
          </a:xfrm>
          <a:prstGeom prst="rect">
            <a:avLst/>
          </a:prstGeom>
          <a:noFill/>
        </p:spPr>
        <p:txBody>
          <a:bodyPr wrap="square">
            <a:spAutoFit/>
          </a:bodyPr>
          <a:lstStyle/>
          <a:p>
            <a:pPr algn="ctr"/>
            <a:r>
              <a:rPr sz="1100" b="0">
                <a:solidFill>
                  <a:srgbClr val="2A9D8F"/>
                </a:solidFill>
              </a:rPr>
              <a:t>LANDED</a:t>
            </a:r>
          </a:p>
        </p:txBody>
      </p:sp>
      <p:sp>
        <p:nvSpPr>
          <p:cNvPr id="17" name="Right Arrow 16"/>
          <p:cNvSpPr/>
          <p:nvPr/>
        </p:nvSpPr>
        <p:spPr>
          <a:xfrm>
            <a:off x="9820655" y="2898647"/>
            <a:ext cx="155448" cy="329184"/>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300" b="0">
                <a:solidFill>
                  <a:srgbClr val="1A2238"/>
                </a:solidFill>
              </a:rPr>
              <a:t>all gates passed: the water A/B held under bounded sampling; the pilot pre-screen locked rungs 50 + 30; production completed 2026-07-17 (train 99.2% point convergence, valtest 97.7% usable rows after dropping one solver-poisoned bulk). The 499 valtest bulks divide 16:20 into a committed val/test roster (valtest_split.csv); test stays sealed.</a:t>
            </a:r>
          </a:p>
        </p:txBody>
      </p:sp>
      <p:sp>
        <p:nvSpPr>
          <p:cNvPr id="19" name="TextBox 18"/>
          <p:cNvSpPr txBox="1"/>
          <p:nvPr/>
        </p:nvSpPr>
        <p:spPr>
          <a:xfrm>
            <a:off x="502920" y="5806440"/>
            <a:ext cx="11155680" cy="731520"/>
          </a:xfrm>
          <a:prstGeom prst="rect">
            <a:avLst/>
          </a:prstGeom>
          <a:noFill/>
        </p:spPr>
        <p:txBody>
          <a:bodyPr wrap="square">
            <a:spAutoFit/>
          </a:bodyPr>
          <a:lstStyle/>
          <a:p>
            <a:pPr algn="l"/>
            <a:r>
              <a:rPr sz="1200" b="0">
                <a:solidFill>
                  <a:srgbClr val="8A93A3"/>
                </a:solidFill>
              </a:rPr>
              <a:t>spec: docs/corpus_regen_spec.md (all design decisions locked 2026-07-14; generation complete 2026-07-17).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ARCHITECTURE</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 a glance</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829800" y="2743200"/>
            <a:ext cx="182880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heads</a:t>
            </a:r>
          </a:p>
          <a:p>
            <a:pPr algn="ctr"/>
            <a:r>
              <a:rPr sz="900" b="0">
                <a:solidFill>
                  <a:srgbClr val="8A93A3"/>
                </a:solidFill>
              </a:rPr>
              <a:t>parallel</a:t>
            </a:r>
          </a:p>
        </p:txBody>
      </p:sp>
      <p:sp>
        <p:nvSpPr>
          <p:cNvPr id="12" name="Right Arrow 11"/>
          <p:cNvSpPr/>
          <p:nvPr/>
        </p:nvSpPr>
        <p:spPr>
          <a:xfrm>
            <a:off x="9372600" y="3268979"/>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5279" y="86868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imputation / retrieval</a:t>
            </a:r>
          </a:p>
        </p:txBody>
      </p:sp>
      <p:sp>
        <p:nvSpPr>
          <p:cNvPr id="14" name="Rounded Rectangle 13"/>
          <p:cNvSpPr/>
          <p:nvPr/>
        </p:nvSpPr>
        <p:spPr>
          <a:xfrm>
            <a:off x="7955279" y="5257800"/>
            <a:ext cx="2377440" cy="7315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OOD / similarity</a:t>
            </a:r>
          </a:p>
        </p:txBody>
      </p:sp>
      <p:cxnSp>
        <p:nvCxnSpPr>
          <p:cNvPr id="15" name="Connector 14"/>
          <p:cNvCxnSpPr/>
          <p:nvPr/>
        </p:nvCxnSpPr>
        <p:spPr>
          <a:xfrm flipV="1">
            <a:off x="8412480" y="1600200"/>
            <a:ext cx="640080" cy="1138428"/>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412480" y="4165091"/>
            <a:ext cx="640080" cy="1092709"/>
          </a:xfrm>
          <a:prstGeom prst="bentConnector3">
            <a:avLst/>
          </a:prstGeom>
          <a:ln w="17780">
            <a:solidFill>
              <a:srgbClr val="12B5A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02920" y="4572000"/>
            <a:ext cx="7315200" cy="731520"/>
          </a:xfrm>
          <a:prstGeom prst="rect">
            <a:avLst/>
          </a:prstGeom>
          <a:noFill/>
        </p:spPr>
        <p:txBody>
          <a:bodyPr wrap="square">
            <a:spAutoFit/>
          </a:bodyPr>
          <a:lstStyle/>
          <a:p>
            <a:pPr algn="l"/>
            <a:r>
              <a:rPr sz="1300" b="0">
                <a:solidFill>
                  <a:srgbClr val="1A2238"/>
                </a:solidFill>
              </a:rPr>
              <a:t>one shared encoder -&gt; latent h -&gt; parallel heads (supervised) and training-free encoder apps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INPUTS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 rock is a bag of (element, amount) tokens</a:t>
            </a:r>
          </a:p>
        </p:txBody>
      </p:sp>
      <p:sp>
        <p:nvSpPr>
          <p:cNvPr id="4" name="Rounded Rectangle 3"/>
          <p:cNvSpPr/>
          <p:nvPr/>
        </p:nvSpPr>
        <p:spPr>
          <a:xfrm>
            <a:off x="1478127"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5" name="Rounded Rectangle 4"/>
          <p:cNvSpPr/>
          <p:nvPr/>
        </p:nvSpPr>
        <p:spPr>
          <a:xfrm>
            <a:off x="3050895"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6" name="Rounded Rectangle 5"/>
          <p:cNvSpPr/>
          <p:nvPr/>
        </p:nvSpPr>
        <p:spPr>
          <a:xfrm>
            <a:off x="4623663"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7" name="Rounded Rectangle 6"/>
          <p:cNvSpPr/>
          <p:nvPr/>
        </p:nvSpPr>
        <p:spPr>
          <a:xfrm>
            <a:off x="6196431" y="2926080"/>
            <a:ext cx="1371600" cy="100584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Mg</a:t>
            </a:r>
          </a:p>
          <a:p>
            <a:pPr algn="ctr"/>
            <a:r>
              <a:rPr sz="1500" b="0">
                <a:solidFill>
                  <a:srgbClr val="8A93A3"/>
                </a:solidFill>
              </a:rPr>
              <a:t>0.075</a:t>
            </a:r>
          </a:p>
        </p:txBody>
      </p:sp>
      <p:sp>
        <p:nvSpPr>
          <p:cNvPr id="8" name="Rounded Rectangle 7"/>
          <p:cNvSpPr/>
          <p:nvPr/>
        </p:nvSpPr>
        <p:spPr>
          <a:xfrm>
            <a:off x="7769199"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sp>
        <p:nvSpPr>
          <p:cNvPr id="9" name="Rounded Rectangle 8"/>
          <p:cNvSpPr/>
          <p:nvPr/>
        </p:nvSpPr>
        <p:spPr>
          <a:xfrm>
            <a:off x="9341967" y="2926080"/>
            <a:ext cx="1371600" cy="100584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Yb</a:t>
            </a:r>
          </a:p>
          <a:p>
            <a:pPr algn="ctr"/>
            <a:r>
              <a:rPr sz="1500" b="0">
                <a:solidFill>
                  <a:srgbClr val="8A93A3"/>
                </a:solidFill>
              </a:rPr>
              <a:t>2e-6</a:t>
            </a:r>
          </a:p>
        </p:txBody>
      </p:sp>
      <p:sp>
        <p:nvSpPr>
          <p:cNvPr id="10" name="TextBox 9"/>
          <p:cNvSpPr txBox="1"/>
          <p:nvPr/>
        </p:nvSpPr>
        <p:spPr>
          <a:xfrm>
            <a:off x="502920" y="4297680"/>
            <a:ext cx="11155680" cy="731520"/>
          </a:xfrm>
          <a:prstGeom prst="rect">
            <a:avLst/>
          </a:prstGeom>
          <a:noFill/>
        </p:spPr>
        <p:txBody>
          <a:bodyPr wrap="square">
            <a:spAutoFit/>
          </a:bodyPr>
          <a:lstStyle/>
          <a:p>
            <a:pPr algn="ctr"/>
            <a:r>
              <a:rPr sz="1300" b="0">
                <a:solidFill>
                  <a:srgbClr val="1A2238"/>
                </a:solidFill>
              </a:rPr>
              <a:t>9 majors (wt%/100, blue)  +  13 traces (ppm/1e6, teal), 22 token slots; absent = padding (src=0)</a:t>
            </a:r>
          </a:p>
        </p:txBody>
      </p:sp>
      <p:sp>
        <p:nvSpPr>
          <p:cNvPr id="11" name="TextBox 10"/>
          <p:cNvSpPr txBox="1"/>
          <p:nvPr/>
        </p:nvSpPr>
        <p:spPr>
          <a:xfrm>
            <a:off x="502920" y="4937760"/>
            <a:ext cx="11155680" cy="731520"/>
          </a:xfrm>
          <a:prstGeom prst="rect">
            <a:avLst/>
          </a:prstGeom>
          <a:noFill/>
        </p:spPr>
        <p:txBody>
          <a:bodyPr wrap="square">
            <a:spAutoFit/>
          </a:bodyPr>
          <a:lstStyle/>
          <a:p>
            <a:pPr algn="ctr"/>
            <a:r>
              <a:rPr sz="1200" b="0">
                <a:solidFill>
                  <a:srgbClr val="8A93A3"/>
                </a:solidFill>
              </a:rPr>
              <a:t>no T, P, or H2O ever enters the forward graph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Each token becomes a chemistry-aware vector</a:t>
            </a:r>
          </a:p>
        </p:txBody>
      </p:sp>
      <p:sp>
        <p:nvSpPr>
          <p:cNvPr id="4" name="Rounded Rectangle 3"/>
          <p:cNvSpPr/>
          <p:nvPr/>
        </p:nvSpPr>
        <p:spPr>
          <a:xfrm>
            <a:off x="640080" y="2880360"/>
            <a:ext cx="1463040" cy="109728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cxnSp>
        <p:nvCxnSpPr>
          <p:cNvPr id="5" name="Connector 4"/>
          <p:cNvCxnSpPr/>
          <p:nvPr/>
        </p:nvCxnSpPr>
        <p:spPr>
          <a:xfrm flipV="1">
            <a:off x="2103120" y="2331720"/>
            <a:ext cx="822960" cy="82296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103120" y="3703320"/>
            <a:ext cx="822960" cy="64008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926080" y="1965960"/>
            <a:ext cx="2286000" cy="7772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atomic number 14</a:t>
            </a:r>
          </a:p>
        </p:txBody>
      </p:sp>
      <p:sp>
        <p:nvSpPr>
          <p:cNvPr id="8" name="Right Arrow 7"/>
          <p:cNvSpPr/>
          <p:nvPr/>
        </p:nvSpPr>
        <p:spPr>
          <a:xfrm>
            <a:off x="5303520" y="21488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806440" y="1783080"/>
            <a:ext cx="4023360" cy="11430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mat2vec lookup</a:t>
            </a:r>
          </a:p>
          <a:p>
            <a:pPr algn="ctr"/>
            <a:r>
              <a:rPr sz="900" b="0">
                <a:solidFill>
                  <a:srgbClr val="8A93A3"/>
                </a:solidFill>
              </a:rPr>
              <a:t>200-d element vector,</a:t>
            </a:r>
          </a:p>
          <a:p>
            <a:pPr algn="ctr"/>
            <a:r>
              <a:rPr sz="900" b="0">
                <a:solidFill>
                  <a:srgbClr val="8A93A3"/>
                </a:solidFill>
              </a:rPr>
              <a:t>pretrained on materials-science text</a:t>
            </a:r>
          </a:p>
        </p:txBody>
      </p:sp>
      <p:sp>
        <p:nvSpPr>
          <p:cNvPr id="10" name="Rounded Rectangle 9"/>
          <p:cNvSpPr/>
          <p:nvPr/>
        </p:nvSpPr>
        <p:spPr>
          <a:xfrm>
            <a:off x="2926080" y="4023360"/>
            <a:ext cx="2286000" cy="7772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amount  0.50</a:t>
            </a:r>
          </a:p>
        </p:txBody>
      </p:sp>
      <p:sp>
        <p:nvSpPr>
          <p:cNvPr id="11" name="Right Arrow 10"/>
          <p:cNvSpPr/>
          <p:nvPr/>
        </p:nvSpPr>
        <p:spPr>
          <a:xfrm>
            <a:off x="5303520" y="4206240"/>
            <a:ext cx="41148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806440" y="3840480"/>
            <a:ext cx="4023360" cy="9601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linear projection</a:t>
            </a:r>
          </a:p>
          <a:p>
            <a:pPr algn="ctr"/>
            <a:r>
              <a:rPr sz="900" b="0">
                <a:solidFill>
                  <a:srgbClr val="8A93A3"/>
                </a:solidFill>
              </a:rPr>
              <a:t>amount -&gt; vector</a:t>
            </a:r>
          </a:p>
        </p:txBody>
      </p:sp>
      <p:sp>
        <p:nvSpPr>
          <p:cNvPr id="13" name="Rounded Rectangle 12"/>
          <p:cNvSpPr/>
          <p:nvPr/>
        </p:nvSpPr>
        <p:spPr>
          <a:xfrm>
            <a:off x="10058400" y="2743200"/>
            <a:ext cx="173736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t>
            </a:r>
          </a:p>
          <a:p>
            <a:pPr algn="ctr"/>
            <a:r>
              <a:rPr sz="1500" b="0">
                <a:solidFill>
                  <a:srgbClr val="8A93A3"/>
                </a:solidFill>
              </a:rPr>
              <a:t>token</a:t>
            </a:r>
          </a:p>
          <a:p>
            <a:pPr algn="ctr"/>
            <a:r>
              <a:rPr sz="1500" b="0">
                <a:solidFill>
                  <a:srgbClr val="8A93A3"/>
                </a:solidFill>
              </a:rPr>
              <a:t>256-d</a:t>
            </a:r>
          </a:p>
        </p:txBody>
      </p:sp>
      <p:cxnSp>
        <p:nvCxnSpPr>
          <p:cNvPr id="14" name="Connector 13"/>
          <p:cNvCxnSpPr/>
          <p:nvPr/>
        </p:nvCxnSpPr>
        <p:spPr>
          <a:xfrm>
            <a:off x="9829800" y="2331720"/>
            <a:ext cx="228600" cy="777240"/>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829800" y="3749039"/>
            <a:ext cx="228600" cy="548641"/>
          </a:xfrm>
          <a:prstGeom prst="bentConnector3">
            <a:avLst/>
          </a:prstGeom>
          <a:ln w="1778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mat2vec gives a learned chemistry vector per element (materials-informatics embedding); summed with the projected amount.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ENCODER</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Attention mixes elements, then pool to one h</a:t>
            </a:r>
          </a:p>
        </p:txBody>
      </p:sp>
      <p:sp>
        <p:nvSpPr>
          <p:cNvPr id="4" name="TextBox 3"/>
          <p:cNvSpPr txBox="1"/>
          <p:nvPr/>
        </p:nvSpPr>
        <p:spPr>
          <a:xfrm>
            <a:off x="1005840" y="1554480"/>
            <a:ext cx="4572000" cy="731520"/>
          </a:xfrm>
          <a:prstGeom prst="rect">
            <a:avLst/>
          </a:prstGeom>
          <a:noFill/>
        </p:spPr>
        <p:txBody>
          <a:bodyPr wrap="square">
            <a:spAutoFit/>
          </a:bodyPr>
          <a:lstStyle/>
          <a:p>
            <a:pPr algn="l"/>
            <a:r>
              <a:rPr sz="1200" b="0">
                <a:solidFill>
                  <a:srgbClr val="6C5CE7"/>
                </a:solidFill>
              </a:rPr>
              <a:t>self-attention: every token attends to every token</a:t>
            </a:r>
          </a:p>
        </p:txBody>
      </p:sp>
      <p:sp>
        <p:nvSpPr>
          <p:cNvPr id="5" name="TextBox 4"/>
          <p:cNvSpPr txBox="1"/>
          <p:nvPr/>
        </p:nvSpPr>
        <p:spPr>
          <a:xfrm>
            <a:off x="502920" y="2057400"/>
            <a:ext cx="457200" cy="365760"/>
          </a:xfrm>
          <a:prstGeom prst="rect">
            <a:avLst/>
          </a:prstGeom>
          <a:noFill/>
        </p:spPr>
        <p:txBody>
          <a:bodyPr wrap="square">
            <a:spAutoFit/>
          </a:bodyPr>
          <a:lstStyle/>
          <a:p>
            <a:pPr algn="ctr"/>
            <a:r>
              <a:rPr sz="1100" b="1">
                <a:solidFill>
                  <a:srgbClr val="1A2238"/>
                </a:solidFill>
              </a:rPr>
              <a:t>Si</a:t>
            </a:r>
          </a:p>
        </p:txBody>
      </p:sp>
      <p:sp>
        <p:nvSpPr>
          <p:cNvPr id="6" name="TextBox 5"/>
          <p:cNvSpPr txBox="1"/>
          <p:nvPr/>
        </p:nvSpPr>
        <p:spPr>
          <a:xfrm>
            <a:off x="1005840" y="1645920"/>
            <a:ext cx="548640" cy="274320"/>
          </a:xfrm>
          <a:prstGeom prst="rect">
            <a:avLst/>
          </a:prstGeom>
          <a:noFill/>
        </p:spPr>
        <p:txBody>
          <a:bodyPr wrap="square">
            <a:spAutoFit/>
          </a:bodyPr>
          <a:lstStyle/>
          <a:p>
            <a:pPr algn="ctr"/>
            <a:r>
              <a:rPr sz="1100" b="1">
                <a:solidFill>
                  <a:srgbClr val="1A2238"/>
                </a:solidFill>
              </a:rPr>
              <a:t>Si</a:t>
            </a:r>
          </a:p>
        </p:txBody>
      </p:sp>
      <p:sp>
        <p:nvSpPr>
          <p:cNvPr id="7" name="TextBox 6"/>
          <p:cNvSpPr txBox="1"/>
          <p:nvPr/>
        </p:nvSpPr>
        <p:spPr>
          <a:xfrm>
            <a:off x="502920" y="2624328"/>
            <a:ext cx="457200" cy="365760"/>
          </a:xfrm>
          <a:prstGeom prst="rect">
            <a:avLst/>
          </a:prstGeom>
          <a:noFill/>
        </p:spPr>
        <p:txBody>
          <a:bodyPr wrap="square">
            <a:spAutoFit/>
          </a:bodyPr>
          <a:lstStyle/>
          <a:p>
            <a:pPr algn="ctr"/>
            <a:r>
              <a:rPr sz="1100" b="1">
                <a:solidFill>
                  <a:srgbClr val="1A2238"/>
                </a:solidFill>
              </a:rPr>
              <a:t>Al</a:t>
            </a:r>
          </a:p>
        </p:txBody>
      </p:sp>
      <p:sp>
        <p:nvSpPr>
          <p:cNvPr id="8" name="TextBox 7"/>
          <p:cNvSpPr txBox="1"/>
          <p:nvPr/>
        </p:nvSpPr>
        <p:spPr>
          <a:xfrm>
            <a:off x="1572768" y="1645920"/>
            <a:ext cx="548640" cy="274320"/>
          </a:xfrm>
          <a:prstGeom prst="rect">
            <a:avLst/>
          </a:prstGeom>
          <a:noFill/>
        </p:spPr>
        <p:txBody>
          <a:bodyPr wrap="square">
            <a:spAutoFit/>
          </a:bodyPr>
          <a:lstStyle/>
          <a:p>
            <a:pPr algn="ctr"/>
            <a:r>
              <a:rPr sz="1100" b="1">
                <a:solidFill>
                  <a:srgbClr val="1A2238"/>
                </a:solidFill>
              </a:rPr>
              <a:t>Al</a:t>
            </a:r>
          </a:p>
        </p:txBody>
      </p:sp>
      <p:sp>
        <p:nvSpPr>
          <p:cNvPr id="9" name="TextBox 8"/>
          <p:cNvSpPr txBox="1"/>
          <p:nvPr/>
        </p:nvSpPr>
        <p:spPr>
          <a:xfrm>
            <a:off x="502920" y="3191256"/>
            <a:ext cx="457200" cy="365760"/>
          </a:xfrm>
          <a:prstGeom prst="rect">
            <a:avLst/>
          </a:prstGeom>
          <a:noFill/>
        </p:spPr>
        <p:txBody>
          <a:bodyPr wrap="square">
            <a:spAutoFit/>
          </a:bodyPr>
          <a:lstStyle/>
          <a:p>
            <a:pPr algn="ctr"/>
            <a:r>
              <a:rPr sz="1100" b="1">
                <a:solidFill>
                  <a:srgbClr val="1A2238"/>
                </a:solidFill>
              </a:rPr>
              <a:t>Mg</a:t>
            </a:r>
          </a:p>
        </p:txBody>
      </p:sp>
      <p:sp>
        <p:nvSpPr>
          <p:cNvPr id="10" name="TextBox 9"/>
          <p:cNvSpPr txBox="1"/>
          <p:nvPr/>
        </p:nvSpPr>
        <p:spPr>
          <a:xfrm>
            <a:off x="2139696" y="1645920"/>
            <a:ext cx="548640" cy="274320"/>
          </a:xfrm>
          <a:prstGeom prst="rect">
            <a:avLst/>
          </a:prstGeom>
          <a:noFill/>
        </p:spPr>
        <p:txBody>
          <a:bodyPr wrap="square">
            <a:spAutoFit/>
          </a:bodyPr>
          <a:lstStyle/>
          <a:p>
            <a:pPr algn="ctr"/>
            <a:r>
              <a:rPr sz="1100" b="1">
                <a:solidFill>
                  <a:srgbClr val="1A2238"/>
                </a:solidFill>
              </a:rPr>
              <a:t>Mg</a:t>
            </a:r>
          </a:p>
        </p:txBody>
      </p:sp>
      <p:sp>
        <p:nvSpPr>
          <p:cNvPr id="11" name="TextBox 10"/>
          <p:cNvSpPr txBox="1"/>
          <p:nvPr/>
        </p:nvSpPr>
        <p:spPr>
          <a:xfrm>
            <a:off x="502920" y="3758183"/>
            <a:ext cx="457200" cy="365760"/>
          </a:xfrm>
          <a:prstGeom prst="rect">
            <a:avLst/>
          </a:prstGeom>
          <a:noFill/>
        </p:spPr>
        <p:txBody>
          <a:bodyPr wrap="square">
            <a:spAutoFit/>
          </a:bodyPr>
          <a:lstStyle/>
          <a:p>
            <a:pPr algn="ctr"/>
            <a:r>
              <a:rPr sz="1100" b="1">
                <a:solidFill>
                  <a:srgbClr val="1A2238"/>
                </a:solidFill>
              </a:rPr>
              <a:t>Fe</a:t>
            </a:r>
          </a:p>
        </p:txBody>
      </p:sp>
      <p:sp>
        <p:nvSpPr>
          <p:cNvPr id="12" name="TextBox 11"/>
          <p:cNvSpPr txBox="1"/>
          <p:nvPr/>
        </p:nvSpPr>
        <p:spPr>
          <a:xfrm>
            <a:off x="2706624" y="1645920"/>
            <a:ext cx="548640" cy="274320"/>
          </a:xfrm>
          <a:prstGeom prst="rect">
            <a:avLst/>
          </a:prstGeom>
          <a:noFill/>
        </p:spPr>
        <p:txBody>
          <a:bodyPr wrap="square">
            <a:spAutoFit/>
          </a:bodyPr>
          <a:lstStyle/>
          <a:p>
            <a:pPr algn="ctr"/>
            <a:r>
              <a:rPr sz="1100" b="1">
                <a:solidFill>
                  <a:srgbClr val="1A2238"/>
                </a:solidFill>
              </a:rPr>
              <a:t>Fe</a:t>
            </a:r>
          </a:p>
        </p:txBody>
      </p:sp>
      <p:sp>
        <p:nvSpPr>
          <p:cNvPr id="13" name="Rectangle 12"/>
          <p:cNvSpPr/>
          <p:nvPr/>
        </p:nvSpPr>
        <p:spPr>
          <a:xfrm>
            <a:off x="1005840" y="2011680"/>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2011680"/>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139696" y="2011680"/>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06624" y="2011680"/>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5840" y="2578608"/>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72768" y="2578608"/>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139696" y="2578608"/>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06624" y="2578608"/>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05840" y="3145536"/>
            <a:ext cx="512064" cy="512064"/>
          </a:xfrm>
          <a:prstGeom prst="rect">
            <a:avLst/>
          </a:prstGeom>
          <a:solidFill>
            <a:srgbClr val="AFA6F2"/>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572768" y="3145536"/>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139696" y="3145536"/>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706624" y="3145536"/>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005840" y="3712464"/>
            <a:ext cx="512064" cy="512064"/>
          </a:xfrm>
          <a:prstGeom prst="rect">
            <a:avLst/>
          </a:prstGeom>
          <a:solidFill>
            <a:srgbClr val="9D93E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72768" y="3712464"/>
            <a:ext cx="512064" cy="512064"/>
          </a:xfrm>
          <a:prstGeom prst="rect">
            <a:avLst/>
          </a:prstGeom>
          <a:solidFill>
            <a:srgbClr val="D2CEF7"/>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139696" y="3712464"/>
            <a:ext cx="512064" cy="512064"/>
          </a:xfrm>
          <a:prstGeom prst="rect">
            <a:avLst/>
          </a:prstGeom>
          <a:solidFill>
            <a:srgbClr val="C1BAF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706624" y="3712464"/>
            <a:ext cx="512064" cy="512064"/>
          </a:xfrm>
          <a:prstGeom prst="rect">
            <a:avLst/>
          </a:prstGeom>
          <a:solidFill>
            <a:srgbClr val="8274E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44805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303520" y="2697480"/>
            <a:ext cx="3108960" cy="137160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masked-mean pool</a:t>
            </a:r>
          </a:p>
          <a:p>
            <a:pPr algn="ctr"/>
            <a:r>
              <a:rPr sz="1100" b="0">
                <a:solidFill>
                  <a:srgbClr val="8A93A3"/>
                </a:solidFill>
              </a:rPr>
              <a:t>average the real tokens</a:t>
            </a:r>
          </a:p>
          <a:p>
            <a:pPr algn="ctr"/>
            <a:r>
              <a:rPr sz="1100" b="0">
                <a:solidFill>
                  <a:srgbClr val="8A93A3"/>
                </a:solidFill>
              </a:rPr>
              <a:t>(skip padding)</a:t>
            </a:r>
          </a:p>
        </p:txBody>
      </p:sp>
      <p:sp>
        <p:nvSpPr>
          <p:cNvPr id="31" name="Right Arrow 30"/>
          <p:cNvSpPr/>
          <p:nvPr/>
        </p:nvSpPr>
        <p:spPr>
          <a:xfrm>
            <a:off x="8595360" y="32004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555480" y="2606040"/>
            <a:ext cx="1554480" cy="155448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33" name="TextBox 32"/>
          <p:cNvSpPr txBox="1"/>
          <p:nvPr/>
        </p:nvSpPr>
        <p:spPr>
          <a:xfrm>
            <a:off x="502920" y="5669280"/>
            <a:ext cx="11155680" cy="731520"/>
          </a:xfrm>
          <a:prstGeom prst="rect">
            <a:avLst/>
          </a:prstGeom>
          <a:noFill/>
        </p:spPr>
        <p:txBody>
          <a:bodyPr wrap="square">
            <a:spAutoFit/>
          </a:bodyPr>
          <a:lstStyle/>
          <a:p>
            <a:pPr algn="ctr"/>
            <a:r>
              <a:rPr sz="1200" b="0">
                <a:solidFill>
                  <a:srgbClr val="1A2238"/>
                </a:solidFill>
              </a:rPr>
              <a:t>attention lets elements interact; pooling collapses the 22 contextualized vectors into one 256-d fingerprint 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SSL pretraining: fill in the blank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mask one element's amount, predict it from the rest -- the encoder learns which elements co-vary</a:t>
            </a:r>
          </a:p>
        </p:txBody>
      </p:sp>
      <p:sp>
        <p:nvSpPr>
          <p:cNvPr id="5" name="Rounded Rectangle 4"/>
          <p:cNvSpPr/>
          <p:nvPr/>
        </p:nvSpPr>
        <p:spPr>
          <a:xfrm>
            <a:off x="69174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Si</a:t>
            </a:r>
          </a:p>
          <a:p>
            <a:pPr algn="ctr"/>
            <a:r>
              <a:rPr sz="1500" b="0">
                <a:solidFill>
                  <a:srgbClr val="8A93A3"/>
                </a:solidFill>
              </a:rPr>
              <a:t>0.50</a:t>
            </a:r>
          </a:p>
        </p:txBody>
      </p:sp>
      <p:sp>
        <p:nvSpPr>
          <p:cNvPr id="6" name="Rounded Rectangle 5"/>
          <p:cNvSpPr/>
          <p:nvPr/>
        </p:nvSpPr>
        <p:spPr>
          <a:xfrm>
            <a:off x="2264511"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Al</a:t>
            </a:r>
          </a:p>
          <a:p>
            <a:pPr algn="ctr"/>
            <a:r>
              <a:rPr sz="1500" b="0">
                <a:solidFill>
                  <a:srgbClr val="8A93A3"/>
                </a:solidFill>
              </a:rPr>
              <a:t>0.16</a:t>
            </a:r>
          </a:p>
        </p:txBody>
      </p:sp>
      <p:sp>
        <p:nvSpPr>
          <p:cNvPr id="7" name="Rounded Rectangle 6"/>
          <p:cNvSpPr/>
          <p:nvPr/>
        </p:nvSpPr>
        <p:spPr>
          <a:xfrm>
            <a:off x="3837279"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Ca</a:t>
            </a:r>
          </a:p>
          <a:p>
            <a:pPr algn="ctr"/>
            <a:r>
              <a:rPr sz="1500" b="0">
                <a:solidFill>
                  <a:srgbClr val="8A93A3"/>
                </a:solidFill>
              </a:rPr>
              <a:t>0.10</a:t>
            </a:r>
          </a:p>
        </p:txBody>
      </p:sp>
      <p:sp>
        <p:nvSpPr>
          <p:cNvPr id="8" name="Rounded Rectangle 7"/>
          <p:cNvSpPr/>
          <p:nvPr/>
        </p:nvSpPr>
        <p:spPr>
          <a:xfrm>
            <a:off x="5410047" y="1783080"/>
            <a:ext cx="1371600" cy="960120"/>
          </a:xfrm>
          <a:prstGeom prst="roundRect">
            <a:avLst/>
          </a:prstGeom>
          <a:solidFill>
            <a:srgbClr val="9AA3B2"/>
          </a:solidFill>
          <a:ln w="31750">
            <a:solidFill>
              <a:srgbClr val="9AA3B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FFFFF"/>
                </a:solidFill>
              </a:rPr>
              <a:t>[MASK]</a:t>
            </a:r>
          </a:p>
          <a:p>
            <a:pPr algn="ctr"/>
            <a:r>
              <a:rPr sz="1400" b="0">
                <a:solidFill>
                  <a:srgbClr val="8A93A3"/>
                </a:solidFill>
              </a:rPr>
              <a:t>hide amount</a:t>
            </a:r>
          </a:p>
        </p:txBody>
      </p:sp>
      <p:sp>
        <p:nvSpPr>
          <p:cNvPr id="9" name="Rounded Rectangle 8"/>
          <p:cNvSpPr/>
          <p:nvPr/>
        </p:nvSpPr>
        <p:spPr>
          <a:xfrm>
            <a:off x="6982815"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Fe</a:t>
            </a:r>
          </a:p>
          <a:p>
            <a:pPr algn="ctr"/>
            <a:r>
              <a:rPr sz="1500" b="0">
                <a:solidFill>
                  <a:srgbClr val="8A93A3"/>
                </a:solidFill>
              </a:rPr>
              <a:t>0.11</a:t>
            </a:r>
          </a:p>
        </p:txBody>
      </p:sp>
      <p:sp>
        <p:nvSpPr>
          <p:cNvPr id="10" name="Rounded Rectangle 9"/>
          <p:cNvSpPr/>
          <p:nvPr/>
        </p:nvSpPr>
        <p:spPr>
          <a:xfrm>
            <a:off x="8555583" y="1783080"/>
            <a:ext cx="1371600" cy="960120"/>
          </a:xfrm>
          <a:prstGeom prst="roundRect">
            <a:avLst/>
          </a:prstGeom>
          <a:solidFill>
            <a:srgbClr val="D1DAFF"/>
          </a:solidFill>
          <a:ln w="22225">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Na</a:t>
            </a:r>
          </a:p>
          <a:p>
            <a:pPr algn="ctr"/>
            <a:r>
              <a:rPr sz="1500" b="0">
                <a:solidFill>
                  <a:srgbClr val="8A93A3"/>
                </a:solidFill>
              </a:rPr>
              <a:t>0.025</a:t>
            </a:r>
          </a:p>
        </p:txBody>
      </p:sp>
      <p:sp>
        <p:nvSpPr>
          <p:cNvPr id="11" name="Rounded Rectangle 10"/>
          <p:cNvSpPr/>
          <p:nvPr/>
        </p:nvSpPr>
        <p:spPr>
          <a:xfrm>
            <a:off x="10128351" y="1783080"/>
            <a:ext cx="1371600" cy="960120"/>
          </a:xfrm>
          <a:prstGeom prst="roundRect">
            <a:avLst/>
          </a:prstGeom>
          <a:solidFill>
            <a:srgbClr val="CAEEEB"/>
          </a:solidFill>
          <a:ln w="22225">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1A2238"/>
                </a:solidFill>
              </a:rPr>
              <a:t>Sr</a:t>
            </a:r>
          </a:p>
          <a:p>
            <a:pPr algn="ctr"/>
            <a:r>
              <a:rPr sz="1500" b="0">
                <a:solidFill>
                  <a:srgbClr val="8A93A3"/>
                </a:solidFill>
              </a:rPr>
              <a:t>4e-4</a:t>
            </a:r>
          </a:p>
        </p:txBody>
      </p:sp>
      <p:cxnSp>
        <p:nvCxnSpPr>
          <p:cNvPr id="12" name="Connector 11"/>
          <p:cNvCxnSpPr/>
          <p:nvPr/>
        </p:nvCxnSpPr>
        <p:spPr>
          <a:xfrm>
            <a:off x="137754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95031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3079"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5847" y="2743200"/>
            <a:ext cx="0" cy="685800"/>
          </a:xfrm>
          <a:prstGeom prst="bentConnector3">
            <a:avLst/>
          </a:prstGeom>
          <a:ln w="17780">
            <a:solidFill>
              <a:srgbClr val="9AA3B2"/>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668615"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241383"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814151" y="2743200"/>
            <a:ext cx="0" cy="685800"/>
          </a:xfrm>
          <a:prstGeom prst="bentConnector3">
            <a:avLst/>
          </a:prstGeom>
          <a:ln w="17780">
            <a:solidFill>
              <a:srgbClr val="C8CDD6"/>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1743" y="3429000"/>
            <a:ext cx="10808208" cy="8686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A2238"/>
                </a:solidFill>
              </a:rPr>
              <a:t>transformer encoder</a:t>
            </a:r>
          </a:p>
          <a:p>
            <a:pPr algn="ctr"/>
            <a:r>
              <a:rPr sz="1200" b="0">
                <a:solidFill>
                  <a:srgbClr val="8A93A3"/>
                </a:solidFill>
              </a:rPr>
              <a:t>being trained -- weights updated each step (not frozen)</a:t>
            </a:r>
          </a:p>
        </p:txBody>
      </p:sp>
      <p:sp>
        <p:nvSpPr>
          <p:cNvPr id="20" name="Down Arrow 19"/>
          <p:cNvSpPr/>
          <p:nvPr/>
        </p:nvSpPr>
        <p:spPr>
          <a:xfrm>
            <a:off x="5949543" y="4343400"/>
            <a:ext cx="292608" cy="347472"/>
          </a:xfrm>
          <a:prstGeom prst="down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103120" y="4892040"/>
            <a:ext cx="2743200" cy="9144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encoder predicts</a:t>
            </a:r>
          </a:p>
          <a:p>
            <a:pPr algn="ctr"/>
            <a:r>
              <a:rPr sz="1000" b="0">
                <a:solidFill>
                  <a:srgbClr val="8A93A3"/>
                </a:solidFill>
              </a:rPr>
              <a:t>Mg amount ~ 0.071</a:t>
            </a:r>
          </a:p>
        </p:txBody>
      </p:sp>
      <p:sp>
        <p:nvSpPr>
          <p:cNvPr id="22" name="Rounded Rectangle 21"/>
          <p:cNvSpPr/>
          <p:nvPr/>
        </p:nvSpPr>
        <p:spPr>
          <a:xfrm>
            <a:off x="5120640" y="4892040"/>
            <a:ext cx="1737360" cy="91440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8A93A3"/>
                </a:solidFill>
              </a:rPr>
              <a:t>truth</a:t>
            </a:r>
          </a:p>
          <a:p>
            <a:pPr algn="ctr"/>
            <a:r>
              <a:rPr sz="1000" b="0">
                <a:solidFill>
                  <a:srgbClr val="8A93A3"/>
                </a:solidFill>
              </a:rPr>
              <a:t>0.075</a:t>
            </a:r>
          </a:p>
        </p:txBody>
      </p:sp>
      <p:sp>
        <p:nvSpPr>
          <p:cNvPr id="23" name="Right Arrow 22"/>
          <p:cNvSpPr/>
          <p:nvPr/>
        </p:nvSpPr>
        <p:spPr>
          <a:xfrm>
            <a:off x="489204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6903720" y="5166360"/>
            <a:ext cx="256032"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0" y="4892040"/>
            <a:ext cx="2651760" cy="91440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log-space</a:t>
            </a:r>
          </a:p>
          <a:p>
            <a:pPr algn="ctr"/>
            <a:r>
              <a:rPr sz="1400" b="1">
                <a:solidFill>
                  <a:srgbClr val="1A2238"/>
                </a:solidFill>
              </a:rPr>
              <a:t>MSE loss</a:t>
            </a:r>
          </a:p>
        </p:txBody>
      </p:sp>
      <p:cxnSp>
        <p:nvCxnSpPr>
          <p:cNvPr id="26" name="Connector 25"/>
          <p:cNvCxnSpPr/>
          <p:nvPr/>
        </p:nvCxnSpPr>
        <p:spPr>
          <a:xfrm>
            <a:off x="9875520" y="5349240"/>
            <a:ext cx="1737360" cy="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1612880" y="3886200"/>
            <a:ext cx="0" cy="1463040"/>
          </a:xfrm>
          <a:prstGeom prst="bentConnector3">
            <a:avLst/>
          </a:prstGeom>
          <a:ln w="31750">
            <a:solidFill>
              <a:srgbClr val="C0392B"/>
            </a:solidFill>
          </a:ln>
          <a:effectLst/>
        </p:spPr>
        <p:style>
          <a:lnRef idx="2">
            <a:schemeClr val="accent1"/>
          </a:lnRef>
          <a:fillRef idx="0">
            <a:schemeClr val="accent1"/>
          </a:fillRef>
          <a:effectRef idx="1">
            <a:schemeClr val="accent1"/>
          </a:effectRef>
          <a:fontRef idx="minor">
            <a:schemeClr val="tx1"/>
          </a:fontRef>
        </p:style>
      </p:cxnSp>
      <p:sp>
        <p:nvSpPr>
          <p:cNvPr id="28" name="Left Arrow 27"/>
          <p:cNvSpPr/>
          <p:nvPr/>
        </p:nvSpPr>
        <p:spPr>
          <a:xfrm>
            <a:off x="11109960" y="3721608"/>
            <a:ext cx="502920" cy="310896"/>
          </a:xfrm>
          <a:prstGeom prst="leftArrow">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4114800"/>
            <a:ext cx="3108960" cy="548640"/>
          </a:xfrm>
          <a:prstGeom prst="rect">
            <a:avLst/>
          </a:prstGeom>
          <a:noFill/>
        </p:spPr>
        <p:txBody>
          <a:bodyPr wrap="square">
            <a:spAutoFit/>
          </a:bodyPr>
          <a:lstStyle/>
          <a:p>
            <a:pPr algn="ctr"/>
            <a:r>
              <a:rPr sz="1200" b="1">
                <a:solidFill>
                  <a:srgbClr val="C0392B"/>
                </a:solidFill>
              </a:rPr>
              <a:t>backpropagation:</a:t>
            </a:r>
          </a:p>
          <a:p>
            <a:pPr algn="ctr"/>
            <a:r>
              <a:rPr sz="1200" b="1">
                <a:solidFill>
                  <a:srgbClr val="C0392B"/>
                </a:solidFill>
              </a:rPr>
              <a:t>updates encoder weights</a:t>
            </a:r>
          </a:p>
        </p:txBody>
      </p:sp>
      <p:sp>
        <p:nvSpPr>
          <p:cNvPr id="30" name="Rounded Rectangle 29"/>
          <p:cNvSpPr/>
          <p:nvPr/>
        </p:nvSpPr>
        <p:spPr>
          <a:xfrm>
            <a:off x="146304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zⱼ = (log₁₀ fⱼ − μⱼ) / σⱼ</a:t>
            </a:r>
          </a:p>
          <a:p>
            <a:pPr algn="ctr"/>
            <a:r>
              <a:rPr sz="1200" b="0">
                <a:solidFill>
                  <a:srgbClr val="8A93A3"/>
                </a:solidFill>
              </a:rPr>
              <a:t>target: per-element z-scored log fraction; μⱼ, σⱼ from the train split only</a:t>
            </a:r>
          </a:p>
        </p:txBody>
      </p:sp>
      <p:sp>
        <p:nvSpPr>
          <p:cNvPr id="31" name="Rounded Rectangle 30"/>
          <p:cNvSpPr/>
          <p:nvPr/>
        </p:nvSpPr>
        <p:spPr>
          <a:xfrm>
            <a:off x="6309360" y="5943600"/>
            <a:ext cx="42062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8A93A3"/>
                </a:solidFill>
              </a:rPr>
              <a:t>L = 1/|M| Σⱼ∈M (ŷⱼ − zⱼ)²</a:t>
            </a:r>
          </a:p>
          <a:p>
            <a:pPr algn="ctr"/>
            <a:r>
              <a:rPr sz="1200" b="0">
                <a:solidFill>
                  <a:srgbClr val="8A93A3"/>
                </a:solidFill>
              </a:rPr>
              <a:t>plain MSE between prediction ŷ and z, at the masked positions M only</a:t>
            </a:r>
          </a:p>
        </p:txBody>
      </p:sp>
      <p:sp>
        <p:nvSpPr>
          <p:cNvPr id="32" name="TextBox 31"/>
          <p:cNvSpPr txBox="1"/>
          <p:nvPr/>
        </p:nvSpPr>
        <p:spPr>
          <a:xfrm>
            <a:off x="502920" y="5989320"/>
            <a:ext cx="91440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TRAINING</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Workflow: pretrain, freeze, train heads</a:t>
            </a:r>
          </a:p>
        </p:txBody>
      </p:sp>
      <p:sp>
        <p:nvSpPr>
          <p:cNvPr id="4" name="Rounded Rectangle 3"/>
          <p:cNvSpPr/>
          <p:nvPr/>
        </p:nvSpPr>
        <p:spPr>
          <a:xfrm>
            <a:off x="640080" y="2377440"/>
            <a:ext cx="3017520" cy="155448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1. SSL pretrain</a:t>
            </a:r>
          </a:p>
          <a:p>
            <a:pPr algn="ctr"/>
            <a:r>
              <a:rPr sz="1400" b="1">
                <a:solidFill>
                  <a:srgbClr val="1A2238"/>
                </a:solidFill>
              </a:rPr>
              <a:t/>
            </a:r>
          </a:p>
          <a:p>
            <a:pPr algn="ctr"/>
            <a:r>
              <a:rPr sz="1100" b="0">
                <a:solidFill>
                  <a:srgbClr val="8A93A3"/>
                </a:solidFill>
              </a:rPr>
              <a:t>Gard bulks, masked-element</a:t>
            </a:r>
          </a:p>
          <a:p>
            <a:pPr algn="ctr"/>
            <a:r>
              <a:rPr sz="1100" b="0">
                <a:solidFill>
                  <a:srgbClr val="8A93A3"/>
                </a:solidFill>
              </a:rPr>
              <a:t>-&gt; encoder</a:t>
            </a:r>
          </a:p>
        </p:txBody>
      </p:sp>
      <p:sp>
        <p:nvSpPr>
          <p:cNvPr id="5" name="Right Arrow 4"/>
          <p:cNvSpPr/>
          <p:nvPr/>
        </p:nvSpPr>
        <p:spPr>
          <a:xfrm>
            <a:off x="3749039"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572000" y="2377440"/>
            <a:ext cx="2743200" cy="155448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2. freeze</a:t>
            </a:r>
          </a:p>
          <a:p>
            <a:pPr algn="ctr"/>
            <a:r>
              <a:rPr sz="1400" b="1">
                <a:solidFill>
                  <a:srgbClr val="1A2238"/>
                </a:solidFill>
              </a:rPr>
              <a:t>encoder</a:t>
            </a:r>
          </a:p>
          <a:p>
            <a:pPr algn="ctr"/>
            <a:r>
              <a:rPr sz="1100" b="0">
                <a:solidFill>
                  <a:srgbClr val="8A93A3"/>
                </a:solidFill>
              </a:rPr>
              <a:t>weights fixed</a:t>
            </a:r>
          </a:p>
        </p:txBody>
      </p:sp>
      <p:sp>
        <p:nvSpPr>
          <p:cNvPr id="7" name="Right Arrow 6"/>
          <p:cNvSpPr/>
          <p:nvPr/>
        </p:nvSpPr>
        <p:spPr>
          <a:xfrm>
            <a:off x="7406640" y="2971800"/>
            <a:ext cx="640080" cy="41148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0" y="2377440"/>
            <a:ext cx="3291840" cy="155448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3. train heads</a:t>
            </a:r>
          </a:p>
          <a:p>
            <a:pPr algn="ctr"/>
            <a:r>
              <a:rPr sz="1400" b="1">
                <a:solidFill>
                  <a:srgbClr val="1A2238"/>
                </a:solidFill>
              </a:rPr>
              <a:t/>
            </a:r>
          </a:p>
          <a:p>
            <a:pPr algn="ctr"/>
            <a:r>
              <a:rPr sz="1100" b="0">
                <a:solidFill>
                  <a:srgbClr val="8A93A3"/>
                </a:solidFill>
              </a:rPr>
              <a:t>equilibrium corpus labels</a:t>
            </a:r>
          </a:p>
          <a:p>
            <a:pPr algn="ctr"/>
            <a:r>
              <a:rPr sz="1100" b="0">
                <a:solidFill>
                  <a:srgbClr val="8A93A3"/>
                </a:solidFill>
              </a:rPr>
              <a:t>encoder untouched</a:t>
            </a:r>
          </a:p>
        </p:txBody>
      </p:sp>
      <p:sp>
        <p:nvSpPr>
          <p:cNvPr id="9" name="TextBox 8"/>
          <p:cNvSpPr txBox="1"/>
          <p:nvPr/>
        </p:nvSpPr>
        <p:spPr>
          <a:xfrm>
            <a:off x="640080" y="4206240"/>
            <a:ext cx="10881360" cy="731520"/>
          </a:xfrm>
          <a:prstGeom prst="rect">
            <a:avLst/>
          </a:prstGeom>
          <a:noFill/>
        </p:spPr>
        <p:txBody>
          <a:bodyPr wrap="square">
            <a:spAutoFit/>
          </a:bodyPr>
          <a:lstStyle/>
          <a:p>
            <a:pPr algn="l"/>
            <a:r>
              <a:rPr sz="1300" b="0">
                <a:solidFill>
                  <a:srgbClr val="1A2238"/>
                </a:solidFill>
              </a:rPr>
              <a:t>the encoder is the durable contribution: heads can be re-supervised against any label source without retraining it.</a:t>
            </a:r>
          </a:p>
        </p:txBody>
      </p:sp>
      <p:sp>
        <p:nvSpPr>
          <p:cNvPr id="10" name="TextBox 9"/>
          <p:cNvSpPr txBox="1"/>
          <p:nvPr/>
        </p:nvSpPr>
        <p:spPr>
          <a:xfrm>
            <a:off x="640080" y="4937760"/>
            <a:ext cx="10881360" cy="731520"/>
          </a:xfrm>
          <a:prstGeom prst="rect">
            <a:avLst/>
          </a:prstGeom>
          <a:noFill/>
        </p:spPr>
        <p:txBody>
          <a:bodyPr wrap="square">
            <a:spAutoFit/>
          </a:bodyPr>
          <a:lstStyle/>
          <a:p>
            <a:pPr algn="l"/>
            <a:r>
              <a:rPr sz="1200" b="0">
                <a:solidFill>
                  <a:srgbClr val="8A93A3"/>
                </a:solidFill>
              </a:rPr>
              <a:t>evaluation: frozen-latent probes + the held-out mineralML grains.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Parallel heads on the frozen h</a:t>
            </a:r>
          </a:p>
        </p:txBody>
      </p:sp>
      <p:sp>
        <p:nvSpPr>
          <p:cNvPr id="4" name="Rounded Rectangle 3"/>
          <p:cNvSpPr/>
          <p:nvPr/>
        </p:nvSpPr>
        <p:spPr>
          <a:xfrm>
            <a:off x="502920" y="2743200"/>
            <a:ext cx="1828800" cy="14173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input tokens</a:t>
            </a:r>
          </a:p>
          <a:p>
            <a:pPr algn="ctr"/>
            <a:r>
              <a:rPr sz="900" b="0">
                <a:solidFill>
                  <a:srgbClr val="8A93A3"/>
                </a:solidFill>
              </a:rPr>
              <a:t>22 elements</a:t>
            </a:r>
          </a:p>
        </p:txBody>
      </p:sp>
      <p:sp>
        <p:nvSpPr>
          <p:cNvPr id="5" name="Rounded Rectangle 4"/>
          <p:cNvSpPr/>
          <p:nvPr/>
        </p:nvSpPr>
        <p:spPr>
          <a:xfrm>
            <a:off x="2788920" y="2743200"/>
            <a:ext cx="182880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embed</a:t>
            </a:r>
          </a:p>
          <a:p>
            <a:pPr algn="ctr"/>
            <a:r>
              <a:rPr sz="900" b="0">
                <a:solidFill>
                  <a:srgbClr val="8A93A3"/>
                </a:solidFill>
              </a:rPr>
              <a:t>mat2vec + amount</a:t>
            </a:r>
          </a:p>
        </p:txBody>
      </p:sp>
      <p:sp>
        <p:nvSpPr>
          <p:cNvPr id="6" name="Right Arrow 5"/>
          <p:cNvSpPr/>
          <p:nvPr/>
        </p:nvSpPr>
        <p:spPr>
          <a:xfrm>
            <a:off x="2377439" y="3268979"/>
            <a:ext cx="36576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120640" y="2743200"/>
            <a:ext cx="1828800" cy="14173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transformer</a:t>
            </a:r>
          </a:p>
          <a:p>
            <a:pPr algn="ctr"/>
            <a:r>
              <a:rPr sz="1200" b="1">
                <a:solidFill>
                  <a:srgbClr val="1A2238"/>
                </a:solidFill>
              </a:rPr>
              <a:t>encoder</a:t>
            </a:r>
          </a:p>
        </p:txBody>
      </p:sp>
      <p:sp>
        <p:nvSpPr>
          <p:cNvPr id="8" name="Right Arrow 7"/>
          <p:cNvSpPr/>
          <p:nvPr/>
        </p:nvSpPr>
        <p:spPr>
          <a:xfrm>
            <a:off x="4663440" y="3268979"/>
            <a:ext cx="41147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99248" y="2738628"/>
            <a:ext cx="1426464" cy="1426464"/>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10" name="Right Arrow 9"/>
          <p:cNvSpPr/>
          <p:nvPr/>
        </p:nvSpPr>
        <p:spPr>
          <a:xfrm>
            <a:off x="6995159" y="3268979"/>
            <a:ext cx="457199"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869680" y="114300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ModeHead</a:t>
            </a:r>
          </a:p>
          <a:p>
            <a:pPr algn="ctr"/>
            <a:r>
              <a:rPr sz="1000" b="0">
                <a:solidFill>
                  <a:srgbClr val="8A93A3"/>
                </a:solidFill>
              </a:rPr>
              <a:t>modal mineralogy</a:t>
            </a:r>
          </a:p>
        </p:txBody>
      </p:sp>
      <p:cxnSp>
        <p:nvCxnSpPr>
          <p:cNvPr id="12" name="Connector 11"/>
          <p:cNvCxnSpPr/>
          <p:nvPr/>
        </p:nvCxnSpPr>
        <p:spPr>
          <a:xfrm flipV="1">
            <a:off x="8211312" y="1554480"/>
            <a:ext cx="658368" cy="190195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8869680" y="210312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CompHead</a:t>
            </a:r>
          </a:p>
          <a:p>
            <a:pPr algn="ctr"/>
            <a:r>
              <a:rPr sz="1000" b="0">
                <a:solidFill>
                  <a:srgbClr val="8A93A3"/>
                </a:solidFill>
              </a:rPr>
              <a:t>per-mineral composition</a:t>
            </a:r>
          </a:p>
        </p:txBody>
      </p:sp>
      <p:cxnSp>
        <p:nvCxnSpPr>
          <p:cNvPr id="14" name="Connector 13"/>
          <p:cNvCxnSpPr/>
          <p:nvPr/>
        </p:nvCxnSpPr>
        <p:spPr>
          <a:xfrm flipV="1">
            <a:off x="8211312" y="2514600"/>
            <a:ext cx="658368" cy="941832"/>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869680" y="306324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CondHead</a:t>
            </a:r>
          </a:p>
          <a:p>
            <a:pPr algn="ctr"/>
            <a:r>
              <a:rPr sz="1000" b="0">
                <a:solidFill>
                  <a:srgbClr val="8A93A3"/>
                </a:solidFill>
              </a:rPr>
              <a:t>T, P, H2O</a:t>
            </a:r>
          </a:p>
        </p:txBody>
      </p:sp>
      <p:cxnSp>
        <p:nvCxnSpPr>
          <p:cNvPr id="16" name="Connector 15"/>
          <p:cNvCxnSpPr/>
          <p:nvPr/>
        </p:nvCxnSpPr>
        <p:spPr>
          <a:xfrm>
            <a:off x="8211312" y="3456432"/>
            <a:ext cx="658368" cy="1828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869680" y="402336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ClassHead</a:t>
            </a:r>
          </a:p>
          <a:p>
            <a:pPr algn="ctr"/>
            <a:r>
              <a:rPr sz="1000" b="0">
                <a:solidFill>
                  <a:srgbClr val="8A93A3"/>
                </a:solidFill>
              </a:rPr>
              <a:t>rock class (aux)</a:t>
            </a:r>
          </a:p>
        </p:txBody>
      </p:sp>
      <p:cxnSp>
        <p:nvCxnSpPr>
          <p:cNvPr id="18" name="Connector 17"/>
          <p:cNvCxnSpPr/>
          <p:nvPr/>
        </p:nvCxnSpPr>
        <p:spPr>
          <a:xfrm>
            <a:off x="8211312" y="3456432"/>
            <a:ext cx="658368" cy="97840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869680" y="4983480"/>
            <a:ext cx="2834640" cy="8229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G_sys</a:t>
            </a:r>
          </a:p>
          <a:p>
            <a:pPr algn="ctr"/>
            <a:r>
              <a:rPr sz="1000" b="0">
                <a:solidFill>
                  <a:srgbClr val="8A93A3"/>
                </a:solidFill>
              </a:rPr>
              <a:t>free energy (aux)</a:t>
            </a:r>
          </a:p>
        </p:txBody>
      </p:sp>
      <p:cxnSp>
        <p:nvCxnSpPr>
          <p:cNvPr id="20" name="Connector 19"/>
          <p:cNvCxnSpPr/>
          <p:nvPr/>
        </p:nvCxnSpPr>
        <p:spPr>
          <a:xfrm>
            <a:off x="8211312" y="3456432"/>
            <a:ext cx="658368" cy="1938528"/>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02920" y="5120640"/>
            <a:ext cx="7772400" cy="731520"/>
          </a:xfrm>
          <a:prstGeom prst="rect">
            <a:avLst/>
          </a:prstGeom>
          <a:noFill/>
        </p:spPr>
        <p:txBody>
          <a:bodyPr wrap="square">
            <a:spAutoFit/>
          </a:bodyPr>
          <a:lstStyle/>
          <a:p>
            <a:pPr algn="ctr"/>
            <a:r>
              <a:rPr sz="1200" b="0">
                <a:solidFill>
                  <a:srgbClr val="1A2238"/>
                </a:solidFill>
              </a:rPr>
              <a:t>encoder now frozen; each head is a small network reading the same h (anatomy on the next slide, outputs after)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ModeHead: a small MLP on the frozen h</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ModeHead, the first head trained end-to-end -- two clean factors of the hurdle likelihood P(modal) = P(present) x P(modal | present)</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shared trunk</a:t>
            </a:r>
          </a:p>
          <a:p>
            <a:pPr algn="ctr"/>
            <a:r>
              <a:rPr sz="1000" b="0">
                <a:solidFill>
                  <a:srgbClr val="8A93A3"/>
                </a:solidFill>
              </a:rPr>
              <a:t>3 x [Linear -&gt; 256]</a:t>
            </a:r>
          </a:p>
          <a:p>
            <a:pPr algn="ctr"/>
            <a:r>
              <a:rPr sz="1000" b="0">
                <a:solidFill>
                  <a:srgbClr val="8A93A3"/>
                </a:solidFill>
              </a:rPr>
              <a:t>GELU + dropout each</a:t>
            </a:r>
          </a:p>
          <a:p>
            <a:pPr algn="ctr"/>
            <a:r>
              <a:rPr sz="1000" b="0">
                <a:solidFill>
                  <a:srgbClr val="8A93A3"/>
                </a:solidFill>
              </a:rPr>
              <a:t>197,376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presence branch</a:t>
            </a:r>
          </a:p>
          <a:p>
            <a:pPr algn="ctr"/>
            <a:r>
              <a:rPr sz="1000" b="0">
                <a:solidFill>
                  <a:srgbClr val="8A93A3"/>
                </a:solidFill>
              </a:rPr>
              <a:t>Linear 256 -&gt; 21, sigmoid</a:t>
            </a:r>
          </a:p>
          <a:p>
            <a:pPr algn="ctr"/>
            <a:r>
              <a:rPr sz="1000" b="0">
                <a:solidFill>
                  <a:srgbClr val="8A93A3"/>
                </a:solidFill>
              </a:rPr>
              <a:t>p_i = P(phase i present)</a:t>
            </a:r>
          </a:p>
          <a:p>
            <a:pPr algn="ctr"/>
            <a:r>
              <a:rPr sz="1000" b="0">
                <a:solidFill>
                  <a:srgbClr val="8A93A3"/>
                </a:solidFill>
              </a:rPr>
              <a:t>5,397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Bernoullis</a:t>
            </a:r>
          </a:p>
          <a:p>
            <a:pPr algn="ctr"/>
            <a:r>
              <a:rPr sz="900" b="0">
                <a:solidFill>
                  <a:srgbClr val="8A93A3"/>
                </a:solidFill>
              </a:rPr>
              <a:t>which minerals</a:t>
            </a:r>
          </a:p>
          <a:p>
            <a:pPr algn="ctr"/>
            <a:r>
              <a:rPr sz="900" b="0">
                <a:solidFill>
                  <a:srgbClr val="8A93A3"/>
                </a:solidFill>
              </a:rPr>
              <a:t>BCE loss</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magnitude branch</a:t>
            </a:r>
          </a:p>
          <a:p>
            <a:pPr algn="ctr"/>
            <a:r>
              <a:rPr sz="1000" b="0">
                <a:solidFill>
                  <a:srgbClr val="8A93A3"/>
                </a:solidFill>
              </a:rPr>
              <a:t>Linear 256 -&gt; 21, softplus</a:t>
            </a:r>
          </a:p>
          <a:p>
            <a:pPr algn="ctr"/>
            <a:r>
              <a:rPr sz="1000" b="0">
                <a:solidFill>
                  <a:srgbClr val="8A93A3"/>
                </a:solidFill>
              </a:rPr>
              <a:t>alpha_i, Dirichlet concentration</a:t>
            </a:r>
          </a:p>
          <a:p>
            <a:pPr algn="ctr"/>
            <a:r>
              <a:rPr sz="1000" b="0">
                <a:solidFill>
                  <a:srgbClr val="8A93A3"/>
                </a:solidFill>
              </a:rPr>
              <a:t>5,397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cond. Dirichlet</a:t>
            </a:r>
          </a:p>
          <a:p>
            <a:pPr algn="ctr"/>
            <a:r>
              <a:rPr sz="900" b="0">
                <a:solidFill>
                  <a:srgbClr val="8A93A3"/>
                </a:solidFill>
              </a:rPr>
              <a:t>how much of each,</a:t>
            </a:r>
          </a:p>
          <a:p>
            <a:pPr algn="ctr"/>
            <a:r>
              <a:rPr sz="900" b="0">
                <a:solidFill>
                  <a:srgbClr val="8A93A3"/>
                </a:solidFill>
              </a:rPr>
              <a:t>on the present set (NLL)</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208,170 trainable params (trunk 197,376 + 2 x 5,397) -- ~6.4% of the frozen encoder; the 256 x 3 trunk is the joint-HPO winner (untuned 128 x 1 gave up 0.105 nats of assemblage NLL).</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mode_hidden 256 . mode_layers 3 . dropout 0.348 . magnitude_weight 0.25 . alpha_eps 1e-6 . lr 2.15e-4 . weight_decay 1.04e-5 . batch 1024 . epochs 120 / per-head patience 10 -- fixed in code: GELU, AdamW,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L_presence = −Σᵢ [ yᵢ ln pᵢ + (1−yᵢ) ln(1−pᵢ) ]</a:t>
            </a:r>
          </a:p>
          <a:p>
            <a:pPr algn="ctr"/>
            <a:r>
              <a:rPr sz="900" b="0">
                <a:solidFill>
                  <a:srgbClr val="8A93A3"/>
                </a:solidFill>
              </a:rPr>
              <a:t>BCE, all 21 phases x every row; minimized when p = the rock's true presence frequency</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L_magnitude = −log Dir(mₛ | αₛ)</a:t>
            </a:r>
          </a:p>
          <a:p>
            <a:pPr algn="ctr"/>
            <a:r>
              <a:rPr sz="900" b="0">
                <a:solidFill>
                  <a:srgbClr val="8A93A3"/>
                </a:solidFill>
              </a:rPr>
              <a:t>Dirichlet NLL scored only on the present set S -- absent phases belong to the Bernoullis</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L_presence + λ_mag · L_magnitude</a:t>
            </a:r>
          </a:p>
          <a:p>
            <a:pPr algn="ctr"/>
            <a:r>
              <a:rPr sz="900" b="0">
                <a:solidFill>
                  <a:srgbClr val="8A93A3"/>
                </a:solidFill>
              </a:rPr>
              <a:t>trained jointly: one backward pass; each branch gets only its own term's gradient, the shared trunk gets the SUM of both -- ∇L(trunk) = ∇L_pres + λ_mag ∇L_mag</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70% honest? One bin of the reliability check</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presence head's headline eval: pool every prediction near a probability, then ask how often the mineral was really there</a:t>
            </a:r>
          </a:p>
        </p:txBody>
      </p:sp>
      <p:sp>
        <p:nvSpPr>
          <p:cNvPr id="5" name="TextBox 4"/>
          <p:cNvSpPr txBox="1"/>
          <p:nvPr/>
        </p:nvSpPr>
        <p:spPr>
          <a:xfrm>
            <a:off x="502920" y="1600200"/>
            <a:ext cx="2651760" cy="731520"/>
          </a:xfrm>
          <a:prstGeom prst="rect">
            <a:avLst/>
          </a:prstGeom>
          <a:noFill/>
        </p:spPr>
        <p:txBody>
          <a:bodyPr wrap="square">
            <a:spAutoFit/>
          </a:bodyPr>
          <a:lstStyle/>
          <a:p>
            <a:pPr algn="ctr"/>
            <a:r>
              <a:rPr sz="1100" b="0">
                <a:solidFill>
                  <a:srgbClr val="2E5BFF"/>
                </a:solidFill>
              </a:rPr>
              <a:t>22-token chemistry -&gt; one p per rock</a:t>
            </a:r>
          </a:p>
        </p:txBody>
      </p:sp>
      <p:sp>
        <p:nvSpPr>
          <p:cNvPr id="6" name="TextBox 5"/>
          <p:cNvSpPr txBox="1"/>
          <p:nvPr/>
        </p:nvSpPr>
        <p:spPr>
          <a:xfrm>
            <a:off x="3703320" y="1600200"/>
            <a:ext cx="2926080" cy="731520"/>
          </a:xfrm>
          <a:prstGeom prst="rect">
            <a:avLst/>
          </a:prstGeom>
          <a:noFill/>
        </p:spPr>
        <p:txBody>
          <a:bodyPr wrap="square">
            <a:spAutoFit/>
          </a:bodyPr>
          <a:lstStyle/>
          <a:p>
            <a:pPr algn="ctr"/>
            <a:r>
              <a:rPr sz="1100" b="0">
                <a:solidFill>
                  <a:srgbClr val="2A9D8F"/>
                </a:solidFill>
              </a:rPr>
              <a:t>truth: rows where cpx &gt; 0.1 wt% of the solids</a:t>
            </a:r>
          </a:p>
        </p:txBody>
      </p:sp>
      <p:sp>
        <p:nvSpPr>
          <p:cNvPr id="7" name="Rounded Rectangle 6"/>
          <p:cNvSpPr/>
          <p:nvPr/>
        </p:nvSpPr>
        <p:spPr>
          <a:xfrm>
            <a:off x="502920" y="192024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A (andesite)</a:t>
            </a:r>
          </a:p>
          <a:p>
            <a:pPr algn="ctr"/>
            <a:r>
              <a:rPr sz="900" b="0">
                <a:solidFill>
                  <a:srgbClr val="8A93A3"/>
                </a:solidFill>
              </a:rPr>
              <a:t>p_cpx = 0.71</a:t>
            </a:r>
          </a:p>
        </p:txBody>
      </p:sp>
      <p:sp>
        <p:nvSpPr>
          <p:cNvPr id="8" name="Right Arrow 7"/>
          <p:cNvSpPr/>
          <p:nvPr/>
        </p:nvSpPr>
        <p:spPr>
          <a:xfrm>
            <a:off x="3246120" y="214884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703320" y="192024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187</a:t>
            </a:r>
          </a:p>
        </p:txBody>
      </p:sp>
      <p:cxnSp>
        <p:nvCxnSpPr>
          <p:cNvPr id="10" name="Connector 9"/>
          <p:cNvCxnSpPr/>
          <p:nvPr/>
        </p:nvCxnSpPr>
        <p:spPr>
          <a:xfrm>
            <a:off x="6629400" y="2304288"/>
            <a:ext cx="548640" cy="107899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288036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B (bas. andesite)</a:t>
            </a:r>
          </a:p>
          <a:p>
            <a:pPr algn="ctr"/>
            <a:r>
              <a:rPr sz="900" b="0">
                <a:solidFill>
                  <a:srgbClr val="8A93A3"/>
                </a:solidFill>
              </a:rPr>
              <a:t>p_cpx = 0.74</a:t>
            </a:r>
          </a:p>
        </p:txBody>
      </p:sp>
      <p:sp>
        <p:nvSpPr>
          <p:cNvPr id="12" name="Right Arrow 11"/>
          <p:cNvSpPr/>
          <p:nvPr/>
        </p:nvSpPr>
        <p:spPr>
          <a:xfrm>
            <a:off x="3246120" y="310896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703320" y="288036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163</a:t>
            </a:r>
          </a:p>
        </p:txBody>
      </p:sp>
      <p:cxnSp>
        <p:nvCxnSpPr>
          <p:cNvPr id="14" name="Connector 13"/>
          <p:cNvCxnSpPr/>
          <p:nvPr/>
        </p:nvCxnSpPr>
        <p:spPr>
          <a:xfrm>
            <a:off x="6629400" y="3264408"/>
            <a:ext cx="548640" cy="118872"/>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02920" y="3840480"/>
            <a:ext cx="2651760" cy="77724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rock C (andesite)</a:t>
            </a:r>
          </a:p>
          <a:p>
            <a:pPr algn="ctr"/>
            <a:r>
              <a:rPr sz="900" b="0">
                <a:solidFill>
                  <a:srgbClr val="8A93A3"/>
                </a:solidFill>
              </a:rPr>
              <a:t>p_cpx = 0.77</a:t>
            </a:r>
          </a:p>
        </p:txBody>
      </p:sp>
      <p:sp>
        <p:nvSpPr>
          <p:cNvPr id="16" name="Right Arrow 15"/>
          <p:cNvSpPr/>
          <p:nvPr/>
        </p:nvSpPr>
        <p:spPr>
          <a:xfrm>
            <a:off x="3246120" y="4069080"/>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703320" y="3840480"/>
            <a:ext cx="2926080" cy="7772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256 rows: cpx in 197</a:t>
            </a:r>
          </a:p>
        </p:txBody>
      </p:sp>
      <p:cxnSp>
        <p:nvCxnSpPr>
          <p:cNvPr id="18" name="Connector 17"/>
          <p:cNvCxnSpPr/>
          <p:nvPr/>
        </p:nvCxnSpPr>
        <p:spPr>
          <a:xfrm flipV="1">
            <a:off x="6629400" y="3383280"/>
            <a:ext cx="548640" cy="841248"/>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178040" y="2514600"/>
            <a:ext cx="2377440" cy="17373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predictions binned:</a:t>
            </a:r>
          </a:p>
          <a:p>
            <a:pPr algn="ctr"/>
            <a:r>
              <a:rPr sz="1000" b="0">
                <a:solidFill>
                  <a:srgbClr val="8A93A3"/>
                </a:solidFill>
              </a:rPr>
              <a:t>p in [0.70, 0.80): 3 predictions,</a:t>
            </a:r>
          </a:p>
          <a:p>
            <a:pPr algn="ctr"/>
            <a:r>
              <a:rPr sz="1000" b="0">
                <a:solidFill>
                  <a:srgbClr val="8A93A3"/>
                </a:solidFill>
              </a:rPr>
              <a:t>x 256 labels each = 768 pairs</a:t>
            </a:r>
          </a:p>
          <a:p>
            <a:pPr algn="ctr"/>
            <a:r>
              <a:rPr sz="1000" b="0">
                <a:solidFill>
                  <a:srgbClr val="8A93A3"/>
                </a:solidFill>
              </a:rPr>
              <a:t>mean p = 0.740  .  actually</a:t>
            </a:r>
          </a:p>
          <a:p>
            <a:pPr algn="ctr"/>
            <a:r>
              <a:rPr sz="1000" b="0">
                <a:solidFill>
                  <a:srgbClr val="8A93A3"/>
                </a:solidFill>
              </a:rPr>
              <a:t>present: 547 / 768 = 0.712</a:t>
            </a:r>
          </a:p>
        </p:txBody>
      </p:sp>
      <p:sp>
        <p:nvSpPr>
          <p:cNvPr id="20" name="Rectangle 19"/>
          <p:cNvSpPr/>
          <p:nvPr/>
        </p:nvSpPr>
        <p:spPr>
          <a:xfrm>
            <a:off x="9875520" y="1783080"/>
            <a:ext cx="2103120" cy="2103120"/>
          </a:xfrm>
          <a:prstGeom prst="rect">
            <a:avLst/>
          </a:prstGeom>
          <a:no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flipV="1">
            <a:off x="9875520" y="1783080"/>
            <a:ext cx="2103120" cy="2103120"/>
          </a:xfrm>
          <a:prstGeom prst="bentConnector3">
            <a:avLst/>
          </a:prstGeom>
          <a:ln w="1524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1349532" y="2306482"/>
            <a:ext cx="164592" cy="164592"/>
          </a:xfrm>
          <a:prstGeom prst="ellipse">
            <a:avLst/>
          </a:prstGeom>
          <a:solidFill>
            <a:srgbClr val="E88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58676" y="2826684"/>
            <a:ext cx="146304" cy="146304"/>
          </a:xfrm>
          <a:prstGeom prst="ellipse">
            <a:avLst/>
          </a:prstGeom>
          <a:solidFill>
            <a:srgbClr val="C8CD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8183879" y="2498506"/>
            <a:ext cx="3247949" cy="1753454"/>
          </a:xfrm>
          <a:prstGeom prst="bentConnector3">
            <a:avLst/>
          </a:prstGeom>
          <a:ln w="19050">
            <a:solidFill>
              <a:srgbClr val="E8883A"/>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9601200" y="3931920"/>
            <a:ext cx="2651760" cy="731520"/>
          </a:xfrm>
          <a:prstGeom prst="rect">
            <a:avLst/>
          </a:prstGeom>
          <a:noFill/>
        </p:spPr>
        <p:txBody>
          <a:bodyPr wrap="square">
            <a:spAutoFit/>
          </a:bodyPr>
          <a:lstStyle/>
          <a:p>
            <a:pPr algn="ctr"/>
            <a:r>
              <a:rPr sz="1000" b="0">
                <a:solidFill>
                  <a:srgbClr val="8A93A3"/>
                </a:solidFill>
              </a:rPr>
              <a:t>predicted p -&gt;</a:t>
            </a:r>
          </a:p>
        </p:txBody>
      </p:sp>
      <p:sp>
        <p:nvSpPr>
          <p:cNvPr id="26" name="TextBox 25"/>
          <p:cNvSpPr txBox="1"/>
          <p:nvPr/>
        </p:nvSpPr>
        <p:spPr>
          <a:xfrm>
            <a:off x="9601200" y="1371600"/>
            <a:ext cx="2651760" cy="731520"/>
          </a:xfrm>
          <a:prstGeom prst="rect">
            <a:avLst/>
          </a:prstGeom>
          <a:noFill/>
        </p:spPr>
        <p:txBody>
          <a:bodyPr wrap="square">
            <a:spAutoFit/>
          </a:bodyPr>
          <a:lstStyle/>
          <a:p>
            <a:pPr algn="ctr"/>
            <a:r>
              <a:rPr sz="1100" b="0">
                <a:solidFill>
                  <a:srgbClr val="E8883A"/>
                </a:solidFill>
              </a:rPr>
              <a:t>on the diagonal = calibrated</a:t>
            </a:r>
          </a:p>
        </p:txBody>
      </p:sp>
      <p:sp>
        <p:nvSpPr>
          <p:cNvPr id="27" name="TextBox 26"/>
          <p:cNvSpPr txBox="1"/>
          <p:nvPr/>
        </p:nvSpPr>
        <p:spPr>
          <a:xfrm>
            <a:off x="9601200" y="4270248"/>
            <a:ext cx="2651760" cy="731520"/>
          </a:xfrm>
          <a:prstGeom prst="rect">
            <a:avLst/>
          </a:prstGeom>
          <a:noFill/>
        </p:spPr>
        <p:txBody>
          <a:bodyPr wrap="square">
            <a:spAutoFit/>
          </a:bodyPr>
          <a:lstStyle/>
          <a:p>
            <a:pPr algn="ctr"/>
            <a:r>
              <a:rPr sz="900" b="0">
                <a:solidFill>
                  <a:srgbClr val="8A93A3"/>
                </a:solidFill>
              </a:rPr>
              <a:t>gray dot: overconfident (if truth were 360/768)</a:t>
            </a:r>
          </a:p>
        </p:txBody>
      </p:sp>
      <p:sp>
        <p:nvSpPr>
          <p:cNvPr id="28" name="TextBox 27"/>
          <p:cNvSpPr txBox="1"/>
          <p:nvPr/>
        </p:nvSpPr>
        <p:spPr>
          <a:xfrm>
            <a:off x="502920" y="4709160"/>
            <a:ext cx="11155680" cy="731520"/>
          </a:xfrm>
          <a:prstGeom prst="rect">
            <a:avLst/>
          </a:prstGeom>
          <a:noFill/>
        </p:spPr>
        <p:txBody>
          <a:bodyPr wrap="square">
            <a:spAutoFit/>
          </a:bodyPr>
          <a:lstStyle/>
          <a:p>
            <a:pPr algn="l"/>
            <a:r>
              <a:rPr sz="1100" b="0">
                <a:solidFill>
                  <a:srgbClr val="1A2238"/>
                </a:solidFill>
              </a:rPr>
              <a:t>"actually present" is the pooled hit rate over the rows whose prediction landed in the bin -- never a corpus-wide rate, never one rock alone. Per-rock misses can cancel inside a bin (B deserved 0.64); the p-vs-frequency scatter is the stricter per-rock test, and the head is scored on both.</a:t>
            </a:r>
          </a:p>
        </p:txBody>
      </p:sp>
      <p:sp>
        <p:nvSpPr>
          <p:cNvPr id="29" name="TextBox 28"/>
          <p:cNvSpPr txBox="1"/>
          <p:nvPr/>
        </p:nvSpPr>
        <p:spPr>
          <a:xfrm>
            <a:off x="502920" y="5394960"/>
            <a:ext cx="11155680" cy="731520"/>
          </a:xfrm>
          <a:prstGeom prst="rect">
            <a:avLst/>
          </a:prstGeom>
          <a:noFill/>
        </p:spPr>
        <p:txBody>
          <a:bodyPr wrap="square">
            <a:spAutoFit/>
          </a:bodyPr>
          <a:lstStyle/>
          <a:p>
            <a:pPr algn="l"/>
            <a:r>
              <a:rPr sz="1100" b="0">
                <a:solidFill>
                  <a:srgbClr val="1A2238"/>
                </a:solidFill>
              </a:rPr>
              <a:t>3 rocks shown; the real figure pools the val-roster rocks only -- 218 rocks x ~255 rows = 55,576 (p, truth) pairs per mineral panel, partitioned across the 10 bins (the gray bars). Training rocks are excluded because a head that memorized them would grade itself calibrated. And since all ~255 rows of a rock share one prediction, a panel holds only 218 distinct p values, each stamped ~255x -- the effective sample size is rocks, not rows. The population is the fixed val roster of the sealed valtest tier (128 draws/rock at rungs 50+30), so panels are comparable across retrains.</a:t>
            </a:r>
          </a:p>
        </p:txBody>
      </p:sp>
      <p:sp>
        <p:nvSpPr>
          <p:cNvPr id="30" name="TextBox 29"/>
          <p:cNvSpPr txBox="1"/>
          <p:nvPr/>
        </p:nvSpPr>
        <p:spPr>
          <a:xfrm>
            <a:off x="502920" y="6355080"/>
            <a:ext cx="11155680" cy="731520"/>
          </a:xfrm>
          <a:prstGeom prst="rect">
            <a:avLst/>
          </a:prstGeom>
          <a:noFill/>
        </p:spPr>
        <p:txBody>
          <a:bodyPr wrap="square">
            <a:spAutoFit/>
          </a:bodyPr>
          <a:lstStyle/>
          <a:p>
            <a:pPr algn="l"/>
            <a:r>
              <a:rPr sz="1000" b="0">
                <a:solidFill>
                  <a:srgbClr val="8A93A3"/>
                </a:solidFill>
              </a:rPr>
              <a:t>BCE's per-rock minimum is the true fraction, so an honest head lands on the diagonal by construction. current limits (tuned model): intermediate-frequency presence is the miss mode (garnet recall 0.58 in f = [0.5, 0.9) and 0.0 elsewhere; opx 0.25 / ru 0.08 / ol 0.08 overall); spinel is the worst-calibrated panel (ECE 0.037); amphibole magnitude spread stays too narrow (next slide). full report: results/mode_head/&lt;tag&gt;/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If it's there, how much? One row through the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magnitude branch's eval: slice the predicted concentrations to the row's true support, then meet the truth at the scoring step -- are the means right, and is the claimed spread honest (PIT)?</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for all 21 phases,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alpha sliced to the support</a:t>
            </a:r>
          </a:p>
          <a:p>
            <a:pPr algn="ctr"/>
            <a:r>
              <a:rPr sz="800" b="0">
                <a:solidFill>
                  <a:srgbClr val="8A93A3"/>
                </a:solidFill>
              </a:rPr>
              <a:t>plag 12.0    cpx 7.0</a:t>
            </a:r>
          </a:p>
          <a:p>
            <a:pPr algn="ctr"/>
            <a:r>
              <a:rPr sz="800" b="0">
                <a:solidFill>
                  <a:srgbClr val="8A93A3"/>
                </a:solidFill>
              </a:rPr>
              <a:t>amp 4.5      ilm 1.5</a:t>
            </a:r>
          </a:p>
          <a:p>
            <a:pPr algn="ctr"/>
            <a:r>
              <a:rPr sz="800" b="0">
                <a:solidFill>
                  <a:srgbClr val="8A93A3"/>
                </a:solidFill>
              </a:rPr>
              <a:t>alpha0 = sum = 25 (confidence)</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mean +/- spread</a:t>
            </a:r>
          </a:p>
          <a:p>
            <a:pPr algn="ctr"/>
            <a:r>
              <a:rPr sz="800" b="0">
                <a:solidFill>
                  <a:srgbClr val="8A93A3"/>
                </a:solidFill>
              </a:rPr>
              <a:t>plag 0.48 +/- 0.10</a:t>
            </a:r>
          </a:p>
          <a:p>
            <a:pPr algn="ctr"/>
            <a:r>
              <a:rPr sz="800" b="0">
                <a:solidFill>
                  <a:srgbClr val="8A93A3"/>
                </a:solidFill>
              </a:rPr>
              <a:t>cpx 0.28 +/- 0.09</a:t>
            </a:r>
          </a:p>
          <a:p>
            <a:pPr algn="ctr"/>
            <a:r>
              <a:rPr sz="800" b="0">
                <a:solidFill>
                  <a:srgbClr val="8A93A3"/>
                </a:solidFill>
              </a:rPr>
              <a:t>amp 0.18 +/- 0.08</a:t>
            </a:r>
          </a:p>
          <a:p>
            <a:pPr algn="ctr"/>
            <a:r>
              <a:rPr sz="800" b="0">
                <a:solidFill>
                  <a:srgbClr val="8A93A3"/>
                </a:solidFill>
              </a:rPr>
              <a:t>ilm 0.06 +/- 0.05</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present: plag cpx amp ilm</a:t>
            </a:r>
          </a:p>
          <a:p>
            <a:pPr algn="ctr"/>
            <a:r>
              <a:rPr sz="800" b="0">
                <a:solidFill>
                  <a:srgbClr val="8A93A3"/>
                </a:solidFill>
              </a:rPr>
              <a:t>modes: .44  .26  .19  .11</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PIT of each true mode</a:t>
            </a:r>
          </a:p>
          <a:p>
            <a:pPr algn="ctr"/>
            <a:r>
              <a:rPr sz="800" b="0">
                <a:solidFill>
                  <a:srgbClr val="8A93A3"/>
                </a:solidFill>
              </a:rPr>
              <a:t>train: masked Dirichlet NLL</a:t>
            </a:r>
          </a:p>
        </p:txBody>
      </p:sp>
      <p:cxnSp>
        <p:nvCxnSpPr>
          <p:cNvPr id="13" name="Connector 12"/>
          <p:cNvCxnSpPr/>
          <p:nvPr/>
        </p:nvCxnSpPr>
        <p:spPr>
          <a:xfrm flipV="1">
            <a:off x="2651760" y="3154680"/>
            <a:ext cx="1280160" cy="274320"/>
          </a:xfrm>
          <a:prstGeom prst="bentConnector3">
            <a:avLst/>
          </a:prstGeom>
          <a:ln w="1905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48640" y="3172968"/>
            <a:ext cx="2377440" cy="731520"/>
          </a:xfrm>
          <a:prstGeom prst="rect">
            <a:avLst/>
          </a:prstGeom>
          <a:noFill/>
        </p:spPr>
        <p:txBody>
          <a:bodyPr wrap="square">
            <a:spAutoFit/>
          </a:bodyPr>
          <a:lstStyle/>
          <a:p>
            <a:pPr algn="l"/>
            <a:r>
              <a:rPr sz="900" b="0">
                <a:solidFill>
                  <a:srgbClr val="2A9D8F"/>
                </a:solidFill>
              </a:rPr>
              <a:t>support only (which phases)</a:t>
            </a:r>
          </a:p>
        </p:txBody>
      </p:sp>
      <p:cxnSp>
        <p:nvCxnSpPr>
          <p:cNvPr id="15" name="Connector 14"/>
          <p:cNvCxnSpPr/>
          <p:nvPr/>
        </p:nvCxnSpPr>
        <p:spPr>
          <a:xfrm flipH="1">
            <a:off x="6080760" y="3154680"/>
            <a:ext cx="1737360" cy="777240"/>
          </a:xfrm>
          <a:prstGeom prst="bentConnector3">
            <a:avLst/>
          </a:prstGeom>
          <a:ln w="19050">
            <a:solidFill>
              <a:srgbClr val="6C5CE7"/>
            </a:solidFill>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315200" y="3429000"/>
            <a:ext cx="4297680" cy="118872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8A93A3"/>
                </a:solidFill>
              </a:rPr>
              <a:t>L_magnitude = −log Dir(mₛ | αₛ), expanded:</a:t>
            </a:r>
          </a:p>
          <a:p>
            <a:pPr algn="ctr"/>
            <a:r>
              <a:rPr sz="1100" b="1">
                <a:solidFill>
                  <a:srgbClr val="8A93A3"/>
                </a:solidFill>
              </a:rPr>
              <a:t>= Σ lnΓ(αᵢ) − lnΓ(α₀) − Σ (αᵢ−1) ln mᵢ   (sums over S)</a:t>
            </a:r>
          </a:p>
          <a:p>
            <a:pPr algn="ctr"/>
            <a:r>
              <a:rPr sz="800" b="0">
                <a:solidFill>
                  <a:srgbClr val="8A93A3"/>
                </a:solidFill>
              </a:rPr>
              <a:t>mᵢ true mode . αᵢ predicted concentration . α₀ = Σ αᵢ . Γ extends factorial</a:t>
            </a:r>
          </a:p>
          <a:p>
            <a:pPr algn="ctr"/>
            <a:r>
              <a:rPr sz="800" b="0">
                <a:solidFill>
                  <a:srgbClr val="8A93A3"/>
                </a:solidFill>
              </a:rPr>
              <a:t>Γ terms: normalizer -- the cost of confidence, grows with α₀</a:t>
            </a:r>
          </a:p>
          <a:p>
            <a:pPr algn="ctr"/>
            <a:r>
              <a:rPr sz="800" b="0">
                <a:solidFill>
                  <a:srgbClr val="8A93A3"/>
                </a:solidFill>
              </a:rPr>
              <a:t>(αᵢ−1) ln mᵢ: shape term -- the only place truth meets prediction</a:t>
            </a:r>
          </a:p>
          <a:p>
            <a:pPr algn="ctr"/>
            <a:r>
              <a:rPr sz="800" b="0">
                <a:solidFill>
                  <a:srgbClr val="8A93A3"/>
                </a:solidFill>
              </a:rPr>
              <a:t>a density, not a probability -- well-scored rows go negative</a:t>
            </a:r>
          </a:p>
        </p:txBody>
      </p:sp>
      <p:sp>
        <p:nvSpPr>
          <p:cNvPr id="17" name="Freeform 16"/>
          <p:cNvSpPr/>
          <p:nvPr/>
        </p:nvSpPr>
        <p:spPr>
          <a:xfrm>
            <a:off x="10104120" y="2240280"/>
            <a:ext cx="1828800" cy="1051560"/>
          </a:xfrm>
          <a:custGeom>
            <a:avLst/>
            <a:gdLst/>
            <a:ahLst/>
            <a:cxnLst/>
            <a:rect l="l" t="t" r="r" b="b"/>
            <a:pathLst>
              <a:path w="1828800" h="1051560">
                <a:moveTo>
                  <a:pt x="0" y="1051560"/>
                </a:moveTo>
                <a:lnTo>
                  <a:pt x="0" y="1051549"/>
                </a:lnTo>
                <a:lnTo>
                  <a:pt x="38100" y="1051532"/>
                </a:lnTo>
                <a:lnTo>
                  <a:pt x="76200" y="1051489"/>
                </a:lnTo>
                <a:lnTo>
                  <a:pt x="114300" y="1051387"/>
                </a:lnTo>
                <a:lnTo>
                  <a:pt x="152400" y="1051157"/>
                </a:lnTo>
                <a:lnTo>
                  <a:pt x="190500" y="1050659"/>
                </a:lnTo>
                <a:lnTo>
                  <a:pt x="228600" y="1049631"/>
                </a:lnTo>
                <a:lnTo>
                  <a:pt x="266700" y="1047606"/>
                </a:lnTo>
                <a:lnTo>
                  <a:pt x="304800" y="1043798"/>
                </a:lnTo>
                <a:lnTo>
                  <a:pt x="342900" y="1036971"/>
                </a:lnTo>
                <a:lnTo>
                  <a:pt x="381000" y="1025303"/>
                </a:lnTo>
                <a:lnTo>
                  <a:pt x="419100" y="1006310"/>
                </a:lnTo>
                <a:lnTo>
                  <a:pt x="457200" y="976891"/>
                </a:lnTo>
                <a:lnTo>
                  <a:pt x="495300" y="933578"/>
                </a:lnTo>
                <a:lnTo>
                  <a:pt x="533400" y="873059"/>
                </a:lnTo>
                <a:lnTo>
                  <a:pt x="571500" y="792967"/>
                </a:lnTo>
                <a:lnTo>
                  <a:pt x="609600" y="692851"/>
                </a:lnTo>
                <a:lnTo>
                  <a:pt x="647700" y="575109"/>
                </a:lnTo>
                <a:lnTo>
                  <a:pt x="685800" y="445599"/>
                </a:lnTo>
                <a:lnTo>
                  <a:pt x="723900" y="313619"/>
                </a:lnTo>
                <a:lnTo>
                  <a:pt x="762000" y="191063"/>
                </a:lnTo>
                <a:lnTo>
                  <a:pt x="800100" y="90773"/>
                </a:lnTo>
                <a:lnTo>
                  <a:pt x="838200" y="24359"/>
                </a:lnTo>
                <a:lnTo>
                  <a:pt x="876300" y="0"/>
                </a:lnTo>
                <a:lnTo>
                  <a:pt x="914400" y="20786"/>
                </a:lnTo>
                <a:lnTo>
                  <a:pt x="952500" y="84078"/>
                </a:lnTo>
                <a:lnTo>
                  <a:pt x="990600" y="182053"/>
                </a:lnTo>
                <a:lnTo>
                  <a:pt x="1028700" y="303298"/>
                </a:lnTo>
                <a:lnTo>
                  <a:pt x="1066800" y="434987"/>
                </a:lnTo>
                <a:lnTo>
                  <a:pt x="1104900" y="565079"/>
                </a:lnTo>
                <a:lnTo>
                  <a:pt x="1143000" y="684026"/>
                </a:lnTo>
                <a:lnTo>
                  <a:pt x="1181100" y="785683"/>
                </a:lnTo>
                <a:lnTo>
                  <a:pt x="1219200" y="867393"/>
                </a:lnTo>
                <a:lnTo>
                  <a:pt x="1257300" y="929409"/>
                </a:lnTo>
                <a:lnTo>
                  <a:pt x="1295400" y="973983"/>
                </a:lnTo>
                <a:lnTo>
                  <a:pt x="1333500" y="1004385"/>
                </a:lnTo>
                <a:lnTo>
                  <a:pt x="1371600" y="1024090"/>
                </a:lnTo>
                <a:lnTo>
                  <a:pt x="1409700" y="1036244"/>
                </a:lnTo>
                <a:lnTo>
                  <a:pt x="1447800" y="1043383"/>
                </a:lnTo>
                <a:lnTo>
                  <a:pt x="1485900" y="1047380"/>
                </a:lnTo>
                <a:lnTo>
                  <a:pt x="1524000" y="1049514"/>
                </a:lnTo>
                <a:lnTo>
                  <a:pt x="1562100" y="1050601"/>
                </a:lnTo>
                <a:lnTo>
                  <a:pt x="1600200" y="1051129"/>
                </a:lnTo>
                <a:lnTo>
                  <a:pt x="1638300" y="1051375"/>
                </a:lnTo>
                <a:lnTo>
                  <a:pt x="1676400" y="1051483"/>
                </a:lnTo>
                <a:lnTo>
                  <a:pt x="1714500" y="1051530"/>
                </a:lnTo>
                <a:lnTo>
                  <a:pt x="1752600" y="1051548"/>
                </a:lnTo>
                <a:lnTo>
                  <a:pt x="1790700" y="1051555"/>
                </a:lnTo>
                <a:lnTo>
                  <a:pt x="1828800" y="1051558"/>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plag marginal: Beta(12, 13)</a:t>
            </a:r>
          </a:p>
        </p:txBody>
      </p:sp>
      <p:cxnSp>
        <p:nvCxnSpPr>
          <p:cNvPr id="20" name="Connector 19"/>
          <p:cNvCxnSpPr/>
          <p:nvPr/>
        </p:nvCxnSpPr>
        <p:spPr>
          <a:xfrm flipV="1">
            <a:off x="10908792"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0.44 -&gt; PIT 0.34</a:t>
            </a:r>
          </a:p>
        </p:txBody>
      </p:sp>
      <p:sp>
        <p:nvSpPr>
          <p:cNvPr id="22" name="TextBox 21"/>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each present phase's marginal is a Beta distribution; PIT = where the truth lands inside it (its CDF value). Over many rows a flat PIT histogram means the spread is honest; a U means overconfident (truth keeps escaping the claimed range), a hump means underconfident.</a:t>
            </a:r>
          </a:p>
        </p:txBody>
      </p:sp>
      <p:sp>
        <p:nvSpPr>
          <p:cNvPr id="23" name="TextBox 22"/>
          <p:cNvSpPr txBox="1"/>
          <p:nvPr/>
        </p:nvSpPr>
        <p:spPr>
          <a:xfrm>
            <a:off x="502920" y="5486400"/>
            <a:ext cx="11155680" cy="731520"/>
          </a:xfrm>
          <a:prstGeom prst="rect">
            <a:avLst/>
          </a:prstGeom>
          <a:noFill/>
        </p:spPr>
        <p:txBody>
          <a:bodyPr wrap="square">
            <a:spAutoFit/>
          </a:bodyPr>
          <a:lstStyle/>
          <a:p>
            <a:pPr algn="l"/>
            <a:r>
              <a:rPr sz="1100" b="0">
                <a:solidFill>
                  <a:srgbClr val="1A2238"/>
                </a:solidFill>
              </a:rPr>
              <a:t>the truth plays two roles, never as a model input: its support slices alpha (teacher-forced at train/eval, sampled from the presence branch at inference; a Dirichlet sub-composition is itself a Dirichlet, so the sliced score is a proper density), and its modes appear only at the scoring step.</a:t>
            </a:r>
          </a:p>
        </p:txBody>
      </p:sp>
      <p:sp>
        <p:nvSpPr>
          <p:cNvPr id="24" name="TextBox 23"/>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population: only truly-present (row, phase) pairs are scored -- ~41k pairs for plag down to ~240 for andalusite; single-phase rows are excluded (nothing to size). current limits (tuned model): amphibole stays the flagship miss -- 65% of its (rock, support) PIT groups are mean-shifted (within-bulk bimodality collapses to the mean; mixture fix staged, #25) and tuning did not move its magnitude error; plag/afs/q are majority-shifted too (the support-conditioning signal, heads.md). full report: results/mode_head/&lt;tag&gt;/ (magnitude_parity, magnitude_pit).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CompHead: one oxide Dirichlet per mineral</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 emits a Dirichlet over the 11 MAGEMin oxides for each of the 21 phases -- composition is bulk-controlled, so it reads h only (never the support or conditions)</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from the frozen encoder (3.23M params, not trained here)</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Linear 256 -&gt; 128</a:t>
            </a:r>
          </a:p>
          <a:p>
            <a:pPr algn="ctr"/>
            <a:r>
              <a:rPr sz="1000" b="0">
                <a:solidFill>
                  <a:srgbClr val="8A93A3"/>
                </a:solidFill>
              </a:rPr>
              <a:t>GELU + dropout</a:t>
            </a:r>
          </a:p>
          <a:p>
            <a:pPr algn="ctr"/>
            <a:r>
              <a:rPr sz="1000" b="0">
                <a:solidFill>
                  <a:srgbClr val="8A93A3"/>
                </a:solidFill>
              </a:rPr>
              <a:t>32,896 params</a:t>
            </a:r>
          </a:p>
        </p:txBody>
      </p:sp>
      <p:cxnSp>
        <p:nvCxnSpPr>
          <p:cNvPr id="9" name="Connector 8"/>
          <p:cNvCxnSpPr/>
          <p:nvPr/>
        </p:nvCxnSpPr>
        <p:spPr>
          <a:xfrm flipV="1">
            <a:off x="5486400" y="2537460"/>
            <a:ext cx="685800" cy="9829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41732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128 -&gt; 231 (21x11)</a:t>
            </a:r>
          </a:p>
          <a:p>
            <a:pPr algn="ctr"/>
            <a:r>
              <a:rPr sz="1000" b="0">
                <a:solidFill>
                  <a:srgbClr val="8A93A3"/>
                </a:solidFill>
              </a:rPr>
              <a:t>softmax per phase: m_p, the oxide mix</a:t>
            </a:r>
          </a:p>
          <a:p>
            <a:pPr algn="ctr"/>
            <a:r>
              <a:rPr sz="1000" b="0">
                <a:solidFill>
                  <a:srgbClr val="8A93A3"/>
                </a:solidFill>
              </a:rPr>
              <a:t>29,799 params</a:t>
            </a:r>
          </a:p>
        </p:txBody>
      </p:sp>
      <p:sp>
        <p:nvSpPr>
          <p:cNvPr id="11" name="Right Arrow 10"/>
          <p:cNvSpPr/>
          <p:nvPr/>
        </p:nvSpPr>
        <p:spPr>
          <a:xfrm>
            <a:off x="9281160" y="237286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simplex means</a:t>
            </a:r>
          </a:p>
          <a:p>
            <a:pPr algn="ctr"/>
            <a:r>
              <a:rPr sz="900" b="0">
                <a:solidFill>
                  <a:srgbClr val="8A93A3"/>
                </a:solidFill>
              </a:rPr>
              <a:t>what each mineral</a:t>
            </a:r>
          </a:p>
          <a:p>
            <a:pPr algn="ctr"/>
            <a:r>
              <a:rPr sz="900" b="0">
                <a:solidFill>
                  <a:srgbClr val="8A93A3"/>
                </a:solidFill>
              </a:rPr>
              <a:t>is made of</a:t>
            </a:r>
          </a:p>
        </p:txBody>
      </p:sp>
      <p:cxnSp>
        <p:nvCxnSpPr>
          <p:cNvPr id="13" name="Connector 12"/>
          <p:cNvCxnSpPr/>
          <p:nvPr/>
        </p:nvCxnSpPr>
        <p:spPr>
          <a:xfrm>
            <a:off x="5486400" y="3520440"/>
            <a:ext cx="685800" cy="102870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840480"/>
            <a:ext cx="3017520" cy="141732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concentration branch</a:t>
            </a:r>
          </a:p>
          <a:p>
            <a:pPr algn="ctr"/>
            <a:r>
              <a:rPr sz="1000" b="0">
                <a:solidFill>
                  <a:srgbClr val="8A93A3"/>
                </a:solidFill>
              </a:rPr>
              <a:t>Linear 128 -&gt; 21, softplus + eps</a:t>
            </a:r>
          </a:p>
          <a:p>
            <a:pPr algn="ctr"/>
            <a:r>
              <a:rPr sz="1000" b="0">
                <a:solidFill>
                  <a:srgbClr val="8A93A3"/>
                </a:solidFill>
              </a:rPr>
              <a:t>c_p = one certainty scalar per phase</a:t>
            </a:r>
          </a:p>
          <a:p>
            <a:pPr algn="ctr"/>
            <a:r>
              <a:rPr sz="1000" b="0">
                <a:solidFill>
                  <a:srgbClr val="8A93A3"/>
                </a:solidFill>
              </a:rPr>
              <a:t>2,709 params</a:t>
            </a:r>
          </a:p>
        </p:txBody>
      </p:sp>
      <p:sp>
        <p:nvSpPr>
          <p:cNvPr id="15" name="Right Arrow 14"/>
          <p:cNvSpPr/>
          <p:nvPr/>
        </p:nvSpPr>
        <p:spPr>
          <a:xfrm>
            <a:off x="9281160" y="438454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886200"/>
            <a:ext cx="2057400" cy="132588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21 certainties</a:t>
            </a:r>
          </a:p>
          <a:p>
            <a:pPr algn="ctr"/>
            <a:r>
              <a:rPr sz="900" b="0">
                <a:solidFill>
                  <a:srgbClr val="8A93A3"/>
                </a:solidFill>
              </a:rPr>
              <a:t>alpha_p = c_p · m_p</a:t>
            </a:r>
          </a:p>
          <a:p>
            <a:pPr algn="ctr"/>
            <a:r>
              <a:rPr sz="900" b="0">
                <a:solidFill>
                  <a:srgbClr val="8A93A3"/>
                </a:solidFill>
              </a:rPr>
              <a:t>(mean invariant to c_p)</a:t>
            </a:r>
          </a:p>
        </p:txBody>
      </p:sp>
      <p:sp>
        <p:nvSpPr>
          <p:cNvPr id="17" name="TextBox 16"/>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65,404 trainable params (trunk 32,896 + mean 29,799 + concentration 2,709) -- ~2.0% of the frozen encoder; the largest head, and still trivially retrainable.</a:t>
            </a:r>
          </a:p>
        </p:txBody>
      </p:sp>
      <p:sp>
        <p:nvSpPr>
          <p:cNvPr id="18" name="TextBox 17"/>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comp_hidden 128 . comp_layers 1 (mini-sweep verdict: capacity above 128 x 1 hurts comp) . dropout 0.348 . alpha_eps 1e-6 . comp_eps 1e-4 (hard-zero clip on targets) . lambda_comp 1.0 . lambda_balance 54.5 -- fixed in code: GELU, AdamW, per-head grad-clip 1.0</a:t>
            </a:r>
          </a:p>
        </p:txBody>
      </p:sp>
      <p:sp>
        <p:nvSpPr>
          <p:cNvPr id="19" name="Rounded Rectangle 18"/>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alpha_p = c_p · softmax(u_p)</a:t>
            </a:r>
          </a:p>
          <a:p>
            <a:pPr algn="ctr"/>
            <a:r>
              <a:rPr sz="900" b="0">
                <a:solidFill>
                  <a:srgbClr val="8A93A3"/>
                </a:solidFill>
              </a:rPr>
              <a:t>mean x shared-concentration factorization: c_p scales certainty, never the predicted composition</a:t>
            </a:r>
          </a:p>
        </p:txBody>
      </p:sp>
      <p:sp>
        <p:nvSpPr>
          <p:cNvPr id="20" name="Rounded Rectangle 19"/>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L_comp = −mean_{p ∈ S} log Dir(x_p | alpha_p)</a:t>
            </a:r>
          </a:p>
          <a:p>
            <a:pPr algn="ctr"/>
            <a:r>
              <a:rPr sz="900" b="0">
                <a:solidFill>
                  <a:srgbClr val="8A93A3"/>
                </a:solidFill>
              </a:rPr>
              <a:t>Dirichlet NLL only where the label marks phase p present; targets eps-clipped to full support, renormalized</a:t>
            </a:r>
          </a:p>
        </p:txBody>
      </p:sp>
      <p:sp>
        <p:nvSpPr>
          <p:cNvPr id="21" name="Rounded Rectangle 20"/>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L_closure = ‖(1−F_liq−F_fl)·Σᵢ mᵢCᵢ + F_liq·C_liq + F_fl·C_fl − B‖²</a:t>
            </a:r>
          </a:p>
          <a:p>
            <a:pPr algn="ctr"/>
            <a:r>
              <a:rPr sz="900" b="0">
                <a:solidFill>
                  <a:srgbClr val="8A93A3"/>
                </a:solidFill>
              </a:rPr>
              <a:t>mass balance: ModeHead's modes m x CompHead's comps C must rebuild the input bulk B; melt/fluid side teacher-forced from the corpus</a:t>
            </a:r>
          </a:p>
        </p:txBody>
      </p:sp>
      <p:sp>
        <p:nvSpPr>
          <p:cNvPr id="22" name="TextBox 21"/>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recipe right? One phase through the oxide Dirichlet</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CompHead's eval: slice the per-phase Dirichlets to the row's true support, then score each present phase's 11-oxide simplex -- right mix (parity), honest error bars (PIT), and mass balance as the physics self-check</a:t>
            </a:r>
          </a:p>
        </p:txBody>
      </p:sp>
      <p:sp>
        <p:nvSpPr>
          <p:cNvPr id="5" name="Rounded Rectangle 4"/>
          <p:cNvSpPr/>
          <p:nvPr/>
        </p:nvSpPr>
        <p:spPr>
          <a:xfrm>
            <a:off x="50292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head output for bulk X</a:t>
            </a:r>
          </a:p>
          <a:p>
            <a:pPr algn="ctr"/>
            <a:r>
              <a:rPr sz="800" b="0">
                <a:solidFill>
                  <a:srgbClr val="8A93A3"/>
                </a:solidFill>
              </a:rPr>
              <a:t>alpha [21 phases x 11 oxides],</a:t>
            </a:r>
          </a:p>
          <a:p>
            <a:pPr algn="ctr"/>
            <a:r>
              <a:rPr sz="800" b="0">
                <a:solidFill>
                  <a:srgbClr val="8A93A3"/>
                </a:solidFill>
              </a:rPr>
              <a:t>computed from the latent --</a:t>
            </a:r>
          </a:p>
          <a:p>
            <a:pPr algn="ctr"/>
            <a:r>
              <a:rPr sz="800" b="0">
                <a:solidFill>
                  <a:srgbClr val="8A93A3"/>
                </a:solidFill>
              </a:rPr>
              <a:t>truth is not an input</a:t>
            </a:r>
          </a:p>
        </p:txBody>
      </p:sp>
      <p:sp>
        <p:nvSpPr>
          <p:cNvPr id="6" name="Right Arrow 5"/>
          <p:cNvSpPr/>
          <p:nvPr/>
        </p:nvSpPr>
        <p:spPr>
          <a:xfrm>
            <a:off x="315468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20440" y="1783080"/>
            <a:ext cx="2560320" cy="137160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present phase: plag</a:t>
            </a:r>
          </a:p>
          <a:p>
            <a:pPr algn="ctr"/>
            <a:r>
              <a:rPr sz="800" b="0">
                <a:solidFill>
                  <a:srgbClr val="8A93A3"/>
                </a:solidFill>
              </a:rPr>
              <a:t>alpha0 = 780 (confidence)</a:t>
            </a:r>
          </a:p>
          <a:p>
            <a:pPr algn="ctr"/>
            <a:r>
              <a:rPr sz="800" b="0">
                <a:solidFill>
                  <a:srgbClr val="8A93A3"/>
                </a:solidFill>
              </a:rPr>
              <a:t>mean = alpha / alpha0:</a:t>
            </a:r>
          </a:p>
          <a:p>
            <a:pPr algn="ctr"/>
            <a:r>
              <a:rPr sz="800" b="0">
                <a:solidFill>
                  <a:srgbClr val="8A93A3"/>
                </a:solidFill>
              </a:rPr>
              <a:t>SiO2 .55  Al2O3 .28  CaO .12 ...</a:t>
            </a:r>
          </a:p>
        </p:txBody>
      </p:sp>
      <p:sp>
        <p:nvSpPr>
          <p:cNvPr id="8" name="Right Arrow 7"/>
          <p:cNvSpPr/>
          <p:nvPr/>
        </p:nvSpPr>
        <p:spPr>
          <a:xfrm>
            <a:off x="617220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37960" y="1783080"/>
            <a:ext cx="2560320" cy="137160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predicted mix +/- spread</a:t>
            </a:r>
          </a:p>
          <a:p>
            <a:pPr algn="ctr"/>
            <a:r>
              <a:rPr sz="800" b="0">
                <a:solidFill>
                  <a:srgbClr val="8A93A3"/>
                </a:solidFill>
              </a:rPr>
              <a:t>SiO2 0.55 +/- 0.018</a:t>
            </a:r>
          </a:p>
          <a:p>
            <a:pPr algn="ctr"/>
            <a:r>
              <a:rPr sz="800" b="0">
                <a:solidFill>
                  <a:srgbClr val="8A93A3"/>
                </a:solidFill>
              </a:rPr>
              <a:t>Al2O3 0.28 +/- 0.016</a:t>
            </a:r>
          </a:p>
          <a:p>
            <a:pPr algn="ctr"/>
            <a:r>
              <a:rPr sz="800" b="0">
                <a:solidFill>
                  <a:srgbClr val="8A93A3"/>
                </a:solidFill>
              </a:rPr>
              <a:t>CaO 0.12 +/- 0.012</a:t>
            </a:r>
          </a:p>
        </p:txBody>
      </p:sp>
      <p:sp>
        <p:nvSpPr>
          <p:cNvPr id="10" name="Rounded Rectangle 9"/>
          <p:cNvSpPr/>
          <p:nvPr/>
        </p:nvSpPr>
        <p:spPr>
          <a:xfrm>
            <a:off x="502920" y="3429000"/>
            <a:ext cx="2560320" cy="118872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truth</a:t>
            </a:r>
          </a:p>
          <a:p>
            <a:pPr algn="ctr"/>
            <a:r>
              <a:rPr sz="800" b="0">
                <a:solidFill>
                  <a:srgbClr val="8A93A3"/>
                </a:solidFill>
              </a:rPr>
              <a:t>bulk X . draw 17 . rung 50</a:t>
            </a:r>
          </a:p>
          <a:p>
            <a:pPr algn="ctr"/>
            <a:r>
              <a:rPr sz="800" b="0">
                <a:solidFill>
                  <a:srgbClr val="8A93A3"/>
                </a:solidFill>
              </a:rPr>
              <a:t>plag measured (mass-frac):</a:t>
            </a:r>
          </a:p>
          <a:p>
            <a:pPr algn="ctr"/>
            <a:r>
              <a:rPr sz="800" b="0">
                <a:solidFill>
                  <a:srgbClr val="8A93A3"/>
                </a:solidFill>
              </a:rPr>
              <a:t>.553  .285  .118  .041 ...</a:t>
            </a:r>
          </a:p>
        </p:txBody>
      </p:sp>
      <p:sp>
        <p:nvSpPr>
          <p:cNvPr id="11" name="Right Arrow 10"/>
          <p:cNvSpPr/>
          <p:nvPr/>
        </p:nvSpPr>
        <p:spPr>
          <a:xfrm>
            <a:off x="3154680" y="388620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0440" y="3429000"/>
            <a:ext cx="2560320" cy="118872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scoring -- truth meets prediction</a:t>
            </a:r>
          </a:p>
          <a:p>
            <a:pPr algn="ctr"/>
            <a:r>
              <a:rPr sz="800" b="0">
                <a:solidFill>
                  <a:srgbClr val="8A93A3"/>
                </a:solidFill>
              </a:rPr>
              <a:t>eval: per-oxide Beta PIT</a:t>
            </a:r>
          </a:p>
          <a:p>
            <a:pPr algn="ctr"/>
            <a:r>
              <a:rPr sz="800" b="0">
                <a:solidFill>
                  <a:srgbClr val="8A93A3"/>
                </a:solidFill>
              </a:rPr>
              <a:t>train: masked comp Dirichlet NLL</a:t>
            </a:r>
          </a:p>
        </p:txBody>
      </p:sp>
      <p:sp>
        <p:nvSpPr>
          <p:cNvPr id="13" name="Freeform 12"/>
          <p:cNvSpPr/>
          <p:nvPr/>
        </p:nvSpPr>
        <p:spPr>
          <a:xfrm>
            <a:off x="10104120" y="2240280"/>
            <a:ext cx="1828800" cy="1051560"/>
          </a:xfrm>
          <a:custGeom>
            <a:avLst/>
            <a:gdLst/>
            <a:ahLst/>
            <a:cxnLst/>
            <a:rect l="l" t="t" r="r" b="b"/>
            <a:pathLst>
              <a:path w="1828800" h="1051560">
                <a:moveTo>
                  <a:pt x="0" y="1051560"/>
                </a:moveTo>
                <a:lnTo>
                  <a:pt x="0" y="1050844"/>
                </a:lnTo>
                <a:lnTo>
                  <a:pt x="38100" y="1050329"/>
                </a:lnTo>
                <a:lnTo>
                  <a:pt x="76200" y="1049487"/>
                </a:lnTo>
                <a:lnTo>
                  <a:pt x="114300" y="1048141"/>
                </a:lnTo>
                <a:lnTo>
                  <a:pt x="152400" y="1046039"/>
                </a:lnTo>
                <a:lnTo>
                  <a:pt x="190500" y="1042828"/>
                </a:lnTo>
                <a:lnTo>
                  <a:pt x="228600" y="1038037"/>
                </a:lnTo>
                <a:lnTo>
                  <a:pt x="266700" y="1031050"/>
                </a:lnTo>
                <a:lnTo>
                  <a:pt x="304800" y="1021097"/>
                </a:lnTo>
                <a:lnTo>
                  <a:pt x="342900" y="1007252"/>
                </a:lnTo>
                <a:lnTo>
                  <a:pt x="381000" y="988449"/>
                </a:lnTo>
                <a:lnTo>
                  <a:pt x="419100" y="963528"/>
                </a:lnTo>
                <a:lnTo>
                  <a:pt x="457200" y="931310"/>
                </a:lnTo>
                <a:lnTo>
                  <a:pt x="495300" y="890704"/>
                </a:lnTo>
                <a:lnTo>
                  <a:pt x="533400" y="840842"/>
                </a:lnTo>
                <a:lnTo>
                  <a:pt x="571500" y="781241"/>
                </a:lnTo>
                <a:lnTo>
                  <a:pt x="609600" y="711966"/>
                </a:lnTo>
                <a:lnTo>
                  <a:pt x="647700" y="633774"/>
                </a:lnTo>
                <a:lnTo>
                  <a:pt x="685800" y="548225"/>
                </a:lnTo>
                <a:lnTo>
                  <a:pt x="723900" y="457719"/>
                </a:lnTo>
                <a:lnTo>
                  <a:pt x="762000" y="365451"/>
                </a:lnTo>
                <a:lnTo>
                  <a:pt x="800100" y="275267"/>
                </a:lnTo>
                <a:lnTo>
                  <a:pt x="838200" y="191423"/>
                </a:lnTo>
                <a:lnTo>
                  <a:pt x="876300" y="118263"/>
                </a:lnTo>
                <a:lnTo>
                  <a:pt x="914400" y="59857"/>
                </a:lnTo>
                <a:lnTo>
                  <a:pt x="952500" y="19623"/>
                </a:lnTo>
                <a:lnTo>
                  <a:pt x="990600" y="0"/>
                </a:lnTo>
                <a:lnTo>
                  <a:pt x="1028700" y="2198"/>
                </a:lnTo>
                <a:lnTo>
                  <a:pt x="1066800" y="26083"/>
                </a:lnTo>
                <a:lnTo>
                  <a:pt x="1104900" y="70182"/>
                </a:lnTo>
                <a:lnTo>
                  <a:pt x="1143000" y="131838"/>
                </a:lnTo>
                <a:lnTo>
                  <a:pt x="1181100" y="207474"/>
                </a:lnTo>
                <a:lnTo>
                  <a:pt x="1219200" y="292937"/>
                </a:lnTo>
                <a:lnTo>
                  <a:pt x="1257300" y="383869"/>
                </a:lnTo>
                <a:lnTo>
                  <a:pt x="1295400" y="476074"/>
                </a:lnTo>
                <a:lnTo>
                  <a:pt x="1333500" y="565820"/>
                </a:lnTo>
                <a:lnTo>
                  <a:pt x="1371600" y="650063"/>
                </a:lnTo>
                <a:lnTo>
                  <a:pt x="1409700" y="726570"/>
                </a:lnTo>
                <a:lnTo>
                  <a:pt x="1447800" y="793946"/>
                </a:lnTo>
                <a:lnTo>
                  <a:pt x="1485900" y="851585"/>
                </a:lnTo>
                <a:lnTo>
                  <a:pt x="1524000" y="899542"/>
                </a:lnTo>
                <a:lnTo>
                  <a:pt x="1562100" y="938392"/>
                </a:lnTo>
                <a:lnTo>
                  <a:pt x="1600200" y="969059"/>
                </a:lnTo>
                <a:lnTo>
                  <a:pt x="1638300" y="992661"/>
                </a:lnTo>
                <a:lnTo>
                  <a:pt x="1676400" y="1010382"/>
                </a:lnTo>
                <a:lnTo>
                  <a:pt x="1714500" y="1023367"/>
                </a:lnTo>
                <a:lnTo>
                  <a:pt x="1752600" y="1032658"/>
                </a:lnTo>
                <a:lnTo>
                  <a:pt x="1790700" y="1039149"/>
                </a:lnTo>
                <a:lnTo>
                  <a:pt x="1828800" y="1043580"/>
                </a:lnTo>
                <a:lnTo>
                  <a:pt x="1828800" y="1051560"/>
                </a:lnTo>
                <a:close/>
              </a:path>
            </a:pathLst>
          </a:custGeom>
          <a:solidFill>
            <a:srgbClr val="D5D1F8"/>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0104120" y="3291840"/>
            <a:ext cx="182880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921240" y="3337560"/>
            <a:ext cx="2194560" cy="365760"/>
          </a:xfrm>
          <a:prstGeom prst="rect">
            <a:avLst/>
          </a:prstGeom>
          <a:noFill/>
        </p:spPr>
        <p:txBody>
          <a:bodyPr wrap="square">
            <a:spAutoFit/>
          </a:bodyPr>
          <a:lstStyle/>
          <a:p>
            <a:pPr algn="ctr"/>
            <a:r>
              <a:rPr sz="1200" b="1">
                <a:solidFill>
                  <a:srgbClr val="1A2238"/>
                </a:solidFill>
              </a:rPr>
              <a:t>SiO2 marginal (Beta)</a:t>
            </a:r>
          </a:p>
        </p:txBody>
      </p:sp>
      <p:cxnSp>
        <p:nvCxnSpPr>
          <p:cNvPr id="16" name="Connector 15"/>
          <p:cNvCxnSpPr/>
          <p:nvPr/>
        </p:nvCxnSpPr>
        <p:spPr>
          <a:xfrm flipV="1">
            <a:off x="11073384" y="2103120"/>
            <a:ext cx="0" cy="118872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9875520" y="1737360"/>
            <a:ext cx="2286000" cy="731520"/>
          </a:xfrm>
          <a:prstGeom prst="rect">
            <a:avLst/>
          </a:prstGeom>
          <a:noFill/>
        </p:spPr>
        <p:txBody>
          <a:bodyPr wrap="square">
            <a:spAutoFit/>
          </a:bodyPr>
          <a:lstStyle/>
          <a:p>
            <a:pPr algn="ctr"/>
            <a:r>
              <a:rPr sz="1000" b="0">
                <a:solidFill>
                  <a:srgbClr val="2A9D8F"/>
                </a:solidFill>
              </a:rPr>
              <a:t>truth 0.553 -&gt; PIT 0.43</a:t>
            </a:r>
          </a:p>
        </p:txBody>
      </p:sp>
      <p:sp>
        <p:nvSpPr>
          <p:cNvPr id="18" name="TextBox 17"/>
          <p:cNvSpPr txBox="1"/>
          <p:nvPr/>
        </p:nvSpPr>
        <p:spPr>
          <a:xfrm>
            <a:off x="502920" y="4754880"/>
            <a:ext cx="11155680" cy="731520"/>
          </a:xfrm>
          <a:prstGeom prst="rect">
            <a:avLst/>
          </a:prstGeom>
          <a:noFill/>
        </p:spPr>
        <p:txBody>
          <a:bodyPr wrap="square">
            <a:spAutoFit/>
          </a:bodyPr>
          <a:lstStyle/>
          <a:p>
            <a:pPr algn="l"/>
            <a:r>
              <a:rPr sz="1100" b="0">
                <a:solidFill>
                  <a:srgbClr val="1A2238"/>
                </a:solidFill>
              </a:rPr>
              <a:t>population: only truly-present (row, phase) pairs -- 42k for cpx down to ~240 for andalusite. headline (val roster, tuned): comp NLL -53.85 nats per present (row, phase), from -50.25 untuned; majors' PIT tails sit near the nominal 10% (cpx 0.055/0.056).</a:t>
            </a:r>
          </a:p>
        </p:txBody>
      </p:sp>
      <p:sp>
        <p:nvSpPr>
          <p:cNvPr id="19" name="TextBox 18"/>
          <p:cNvSpPr txBox="1"/>
          <p:nvPr/>
        </p:nvSpPr>
        <p:spPr>
          <a:xfrm>
            <a:off x="502920" y="5440680"/>
            <a:ext cx="11155680" cy="731520"/>
          </a:xfrm>
          <a:prstGeom prst="rect">
            <a:avLst/>
          </a:prstGeom>
          <a:noFill/>
        </p:spPr>
        <p:txBody>
          <a:bodyPr wrap="square">
            <a:spAutoFit/>
          </a:bodyPr>
          <a:lstStyle/>
          <a:p>
            <a:pPr algn="l"/>
            <a:r>
              <a:rPr sz="1100" b="0">
                <a:solidFill>
                  <a:srgbClr val="1A2238"/>
                </a:solidFill>
              </a:rPr>
              <a:t>the tuned confidence spans ~3 decades and tracks real mineralogy: near-stoichiometric phases (q, ru, sph, sill) earn alpha0 up to ~30,000 while wide solid solutions (spl, ilm, cpx) stay soft -- the untuned model hedged every phase into alpha0 100-650. mass balance closes to 1.3% mean L2 with signed per-oxide residuals centered on zero; plag An# parity r = 0.93.</a:t>
            </a:r>
          </a:p>
        </p:txBody>
      </p:sp>
      <p:sp>
        <p:nvSpPr>
          <p:cNvPr id="20" name="TextBox 19"/>
          <p:cNvSpPr txBox="1"/>
          <p:nvPr/>
        </p:nvSpPr>
        <p:spPr>
          <a:xfrm>
            <a:off x="502920" y="6263640"/>
            <a:ext cx="11155680" cy="731520"/>
          </a:xfrm>
          <a:prstGeom prst="rect">
            <a:avLst/>
          </a:prstGeom>
          <a:noFill/>
        </p:spPr>
        <p:txBody>
          <a:bodyPr wrap="square">
            <a:spAutoFit/>
          </a:bodyPr>
          <a:lstStyle/>
          <a:p>
            <a:pPr algn="l"/>
            <a:r>
              <a:rPr sz="1000" b="0">
                <a:solidFill>
                  <a:srgbClr val="8A93A3"/>
                </a:solidFill>
              </a:rPr>
              <a:t>current limits: hard-zero oxides ride the eps floor (a quartz row is 'SiO2 + 10 floors'); ilmenite FeO/TiO2 stays the accuracy outlier; ~0.3% of corpus rows cannot self-close and set an unattainable closure floor there. full report: results/comp_head/&lt;tag&gt;/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Inside CondHead: a support-conditioned mixture over (T, P, H2O)</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inverse-inference head, chain rule p(support | h) x p(T, P, H2O | h, support): the presence vector joins h at the input -- teacher-forced true set at train, ModeHead-sampled at inference</a:t>
            </a:r>
          </a:p>
        </p:txBody>
      </p:sp>
      <p:sp>
        <p:nvSpPr>
          <p:cNvPr id="5" name="Oval 4"/>
          <p:cNvSpPr/>
          <p:nvPr/>
        </p:nvSpPr>
        <p:spPr>
          <a:xfrm>
            <a:off x="777240" y="2834640"/>
            <a:ext cx="1371600" cy="1371600"/>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6" name="TextBox 5"/>
          <p:cNvSpPr txBox="1"/>
          <p:nvPr/>
        </p:nvSpPr>
        <p:spPr>
          <a:xfrm>
            <a:off x="457200" y="4434840"/>
            <a:ext cx="2011680" cy="731520"/>
          </a:xfrm>
          <a:prstGeom prst="rect">
            <a:avLst/>
          </a:prstGeom>
          <a:noFill/>
        </p:spPr>
        <p:txBody>
          <a:bodyPr wrap="square">
            <a:spAutoFit/>
          </a:bodyPr>
          <a:lstStyle/>
          <a:p>
            <a:pPr algn="ctr"/>
            <a:r>
              <a:rPr sz="1000" b="0">
                <a:solidFill>
                  <a:srgbClr val="8A93A3"/>
                </a:solidFill>
              </a:rPr>
              <a:t>frozen h [256] ++ presence vector [21] = 277-dim input</a:t>
            </a:r>
          </a:p>
        </p:txBody>
      </p:sp>
      <p:sp>
        <p:nvSpPr>
          <p:cNvPr id="7" name="Right Arrow 6"/>
          <p:cNvSpPr/>
          <p:nvPr/>
        </p:nvSpPr>
        <p:spPr>
          <a:xfrm>
            <a:off x="2286000" y="333756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34640" y="2788920"/>
            <a:ext cx="2651760" cy="146304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own trunk</a:t>
            </a:r>
          </a:p>
          <a:p>
            <a:pPr algn="ctr"/>
            <a:r>
              <a:rPr sz="1000" b="0">
                <a:solidFill>
                  <a:srgbClr val="8A93A3"/>
                </a:solidFill>
              </a:rPr>
              <a:t>2 x [Linear -&gt; 512]</a:t>
            </a:r>
          </a:p>
          <a:p>
            <a:pPr algn="ctr"/>
            <a:r>
              <a:rPr sz="1000" b="0">
                <a:solidFill>
                  <a:srgbClr val="8A93A3"/>
                </a:solidFill>
              </a:rPr>
              <a:t>GELU + dropout each</a:t>
            </a:r>
          </a:p>
          <a:p>
            <a:pPr algn="ctr"/>
            <a:r>
              <a:rPr sz="1000" b="0">
                <a:solidFill>
                  <a:srgbClr val="8A93A3"/>
                </a:solidFill>
              </a:rPr>
              <a:t>404,992 params</a:t>
            </a:r>
          </a:p>
        </p:txBody>
      </p:sp>
      <p:cxnSp>
        <p:nvCxnSpPr>
          <p:cNvPr id="9" name="Connector 8"/>
          <p:cNvCxnSpPr/>
          <p:nvPr/>
        </p:nvCxnSpPr>
        <p:spPr>
          <a:xfrm flipV="1">
            <a:off x="5486400" y="2354580"/>
            <a:ext cx="685800" cy="1165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72200" y="1828800"/>
            <a:ext cx="3017520" cy="10515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weight branch</a:t>
            </a:r>
          </a:p>
          <a:p>
            <a:pPr algn="ctr"/>
            <a:r>
              <a:rPr sz="1000" b="0">
                <a:solidFill>
                  <a:srgbClr val="8A93A3"/>
                </a:solidFill>
              </a:rPr>
              <a:t>Linear 512 -&gt; 9 (3 axes x K=3)</a:t>
            </a:r>
          </a:p>
          <a:p>
            <a:pPr algn="ctr"/>
            <a:r>
              <a:rPr sz="1000" b="0">
                <a:solidFill>
                  <a:srgbClr val="8A93A3"/>
                </a:solidFill>
              </a:rPr>
              <a:t>log-softmax over K per axis</a:t>
            </a:r>
          </a:p>
          <a:p>
            <a:pPr algn="ctr"/>
            <a:r>
              <a:rPr sz="1000" b="0">
                <a:solidFill>
                  <a:srgbClr val="8A93A3"/>
                </a:solidFill>
              </a:rPr>
              <a:t>4,617 params</a:t>
            </a:r>
          </a:p>
        </p:txBody>
      </p:sp>
      <p:sp>
        <p:nvSpPr>
          <p:cNvPr id="11" name="Right Arrow 10"/>
          <p:cNvSpPr/>
          <p:nvPr/>
        </p:nvSpPr>
        <p:spPr>
          <a:xfrm>
            <a:off x="9281160" y="218998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38360" y="187451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mixture weights</a:t>
            </a:r>
          </a:p>
          <a:p>
            <a:pPr algn="ctr"/>
            <a:r>
              <a:rPr sz="900" b="0">
                <a:solidFill>
                  <a:srgbClr val="8A93A3"/>
                </a:solidFill>
              </a:rPr>
              <a:t>which condition mode,</a:t>
            </a:r>
          </a:p>
          <a:p>
            <a:pPr algn="ctr"/>
            <a:r>
              <a:rPr sz="900" b="0">
                <a:solidFill>
                  <a:srgbClr val="8A93A3"/>
                </a:solidFill>
              </a:rPr>
              <a:t>how likely</a:t>
            </a:r>
          </a:p>
        </p:txBody>
      </p:sp>
      <p:cxnSp>
        <p:nvCxnSpPr>
          <p:cNvPr id="13" name="Connector 12"/>
          <p:cNvCxnSpPr/>
          <p:nvPr/>
        </p:nvCxnSpPr>
        <p:spPr>
          <a:xfrm>
            <a:off x="5486400" y="3520440"/>
            <a:ext cx="685800" cy="2286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172200" y="3017520"/>
            <a:ext cx="301752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mean branch</a:t>
            </a:r>
          </a:p>
          <a:p>
            <a:pPr algn="ctr"/>
            <a:r>
              <a:rPr sz="1000" b="0">
                <a:solidFill>
                  <a:srgbClr val="8A93A3"/>
                </a:solidFill>
              </a:rPr>
              <a:t>Linear 512 -&gt; 9</a:t>
            </a:r>
          </a:p>
          <a:p>
            <a:pPr algn="ctr"/>
            <a:r>
              <a:rPr sz="1000" b="0">
                <a:solidFill>
                  <a:srgbClr val="8A93A3"/>
                </a:solidFill>
              </a:rPr>
              <a:t>mu_k in raw units (C, kbar, wt%)</a:t>
            </a:r>
          </a:p>
          <a:p>
            <a:pPr algn="ctr"/>
            <a:r>
              <a:rPr sz="1000" b="0">
                <a:solidFill>
                  <a:srgbClr val="8A93A3"/>
                </a:solidFill>
              </a:rPr>
              <a:t>4,617 params</a:t>
            </a:r>
          </a:p>
        </p:txBody>
      </p:sp>
      <p:sp>
        <p:nvSpPr>
          <p:cNvPr id="15" name="Right Arrow 14"/>
          <p:cNvSpPr/>
          <p:nvPr/>
        </p:nvSpPr>
        <p:spPr>
          <a:xfrm>
            <a:off x="9281160" y="337870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738360" y="306323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component centers</a:t>
            </a:r>
          </a:p>
          <a:p>
            <a:pPr algn="ctr"/>
            <a:r>
              <a:rPr sz="900" b="0">
                <a:solidFill>
                  <a:srgbClr val="8A93A3"/>
                </a:solidFill>
              </a:rPr>
              <a:t>e.g. deep-wet vs</a:t>
            </a:r>
          </a:p>
          <a:p>
            <a:pPr algn="ctr"/>
            <a:r>
              <a:rPr sz="900" b="0">
                <a:solidFill>
                  <a:srgbClr val="8A93A3"/>
                </a:solidFill>
              </a:rPr>
              <a:t>shallow-dry</a:t>
            </a:r>
          </a:p>
        </p:txBody>
      </p:sp>
      <p:cxnSp>
        <p:nvCxnSpPr>
          <p:cNvPr id="17" name="Connector 16"/>
          <p:cNvCxnSpPr/>
          <p:nvPr/>
        </p:nvCxnSpPr>
        <p:spPr>
          <a:xfrm>
            <a:off x="5486400" y="3520440"/>
            <a:ext cx="685800" cy="1211580"/>
          </a:xfrm>
          <a:prstGeom prst="bentConnector3">
            <a:avLst/>
          </a:prstGeom>
          <a:ln w="1905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172200" y="4206240"/>
            <a:ext cx="3017520" cy="1051560"/>
          </a:xfrm>
          <a:prstGeom prst="roundRect">
            <a:avLst/>
          </a:prstGeom>
          <a:solidFill>
            <a:srgbClr val="FBEEE3"/>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spread branch</a:t>
            </a:r>
          </a:p>
          <a:p>
            <a:pPr algn="ctr"/>
            <a:r>
              <a:rPr sz="1000" b="0">
                <a:solidFill>
                  <a:srgbClr val="8A93A3"/>
                </a:solidFill>
              </a:rPr>
              <a:t>Linear 512 -&gt; 9, softplus + eps</a:t>
            </a:r>
          </a:p>
          <a:p>
            <a:pPr algn="ctr"/>
            <a:r>
              <a:rPr sz="1000" b="0">
                <a:solidFill>
                  <a:srgbClr val="8A93A3"/>
                </a:solidFill>
              </a:rPr>
              <a:t>sigma_k, heteroscedastic</a:t>
            </a:r>
          </a:p>
          <a:p>
            <a:pPr algn="ctr"/>
            <a:r>
              <a:rPr sz="1000" b="0">
                <a:solidFill>
                  <a:srgbClr val="8A93A3"/>
                </a:solidFill>
              </a:rPr>
              <a:t>4,617 params</a:t>
            </a:r>
          </a:p>
        </p:txBody>
      </p:sp>
      <p:sp>
        <p:nvSpPr>
          <p:cNvPr id="19" name="Right Arrow 18"/>
          <p:cNvSpPr/>
          <p:nvPr/>
        </p:nvSpPr>
        <p:spPr>
          <a:xfrm>
            <a:off x="9281160" y="4567428"/>
            <a:ext cx="365760" cy="32004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38360" y="4251959"/>
            <a:ext cx="2057400" cy="960119"/>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per-mode spreads</a:t>
            </a:r>
          </a:p>
          <a:p>
            <a:pPr algn="ctr"/>
            <a:r>
              <a:rPr sz="900" b="0">
                <a:solidFill>
                  <a:srgbClr val="8A93A3"/>
                </a:solidFill>
              </a:rPr>
              <a:t>row-dependent</a:t>
            </a:r>
          </a:p>
          <a:p>
            <a:pPr algn="ctr"/>
            <a:r>
              <a:rPr sz="900" b="0">
                <a:solidFill>
                  <a:srgbClr val="8A93A3"/>
                </a:solidFill>
              </a:rPr>
              <a:t>error bars</a:t>
            </a:r>
          </a:p>
        </p:txBody>
      </p:sp>
      <p:sp>
        <p:nvSpPr>
          <p:cNvPr id="21" name="TextBox 20"/>
          <p:cNvSpPr txBox="1"/>
          <p:nvPr/>
        </p:nvSpPr>
        <p:spPr>
          <a:xfrm>
            <a:off x="502920" y="5349240"/>
            <a:ext cx="11155680" cy="731520"/>
          </a:xfrm>
          <a:prstGeom prst="rect">
            <a:avLst/>
          </a:prstGeom>
          <a:noFill/>
        </p:spPr>
        <p:txBody>
          <a:bodyPr wrap="square">
            <a:spAutoFit/>
          </a:bodyPr>
          <a:lstStyle/>
          <a:p>
            <a:pPr algn="l"/>
            <a:r>
              <a:rPr sz="1100" b="0">
                <a:solidFill>
                  <a:srgbClr val="1A2238"/>
                </a:solidFill>
              </a:rPr>
              <a:t>418,843 trainable params (trunk 404,992 + 3 x 4,617) -- ~13% of the frozen encoder; the 512 x 2 trunk is the mini-sweep winner (0.29 nats over the starved 128 x 1). Output biases seeded at the targets' mean/std (raw-unit cold-start fix).</a:t>
            </a:r>
          </a:p>
        </p:txBody>
      </p:sp>
      <p:sp>
        <p:nvSpPr>
          <p:cNvPr id="22" name="TextBox 21"/>
          <p:cNvSpPr txBox="1"/>
          <p:nvPr/>
        </p:nvSpPr>
        <p:spPr>
          <a:xfrm>
            <a:off x="502920" y="5669280"/>
            <a:ext cx="11155680" cy="731520"/>
          </a:xfrm>
          <a:prstGeom prst="rect">
            <a:avLst/>
          </a:prstGeom>
          <a:noFill/>
        </p:spPr>
        <p:txBody>
          <a:bodyPr wrap="square">
            <a:spAutoFit/>
          </a:bodyPr>
          <a:lstStyle/>
          <a:p>
            <a:pPr algn="l"/>
            <a:r>
              <a:rPr sz="1000" b="0">
                <a:solidFill>
                  <a:srgbClr val="8A93A3"/>
                </a:solidFill>
              </a:rPr>
              <a:t>dials (configs/heads/joint_heads.yaml): cond_n_components 3 . cond_sigma_eps 1e-3 . cond_hidden 512 . cond_layers 2 (adopted from the architecture mini-sweep) . dropout 0.348 . lambda_cond 0.01 -- fixed in code: GELU, AdamW, per-head grad-clip 1.0, linear units (no log transform of T/P/H2O)</a:t>
            </a:r>
          </a:p>
        </p:txBody>
      </p:sp>
      <p:sp>
        <p:nvSpPr>
          <p:cNvPr id="23" name="Rounded Rectangle 22"/>
          <p:cNvSpPr/>
          <p:nvPr/>
        </p:nvSpPr>
        <p:spPr>
          <a:xfrm>
            <a:off x="146304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L_cond = Σ_axis −log Σ_k w_k · N(t | mu_k, sigma_k²)</a:t>
            </a:r>
          </a:p>
          <a:p>
            <a:pPr algn="ctr"/>
            <a:r>
              <a:rPr sz="900" b="0">
                <a:solidFill>
                  <a:srgbClr val="8A93A3"/>
                </a:solidFill>
              </a:rPr>
              <a:t>per-axis GMM NLL in raw units; minimized when the mixture matches each rock's condition distribution per support</a:t>
            </a:r>
          </a:p>
        </p:txBody>
      </p:sp>
      <p:sp>
        <p:nvSpPr>
          <p:cNvPr id="24" name="Rounded Rectangle 23"/>
          <p:cNvSpPr/>
          <p:nvPr/>
        </p:nvSpPr>
        <p:spPr>
          <a:xfrm>
            <a:off x="487680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support in, never through the encoder</a:t>
            </a:r>
          </a:p>
          <a:p>
            <a:pPr algn="ctr"/>
            <a:r>
              <a:rPr sz="900" b="0">
                <a:solidFill>
                  <a:srgbClr val="8A93A3"/>
                </a:solidFill>
              </a:rPr>
              <a:t>teacher-forced true set at train -&gt; no gradient coupling to ModeHead; sampled sets at inference (exposure bias, #31)</a:t>
            </a:r>
          </a:p>
        </p:txBody>
      </p:sp>
      <p:sp>
        <p:nvSpPr>
          <p:cNvPr id="25" name="Rounded Rectangle 24"/>
          <p:cNvSpPr/>
          <p:nvPr/>
        </p:nvSpPr>
        <p:spPr>
          <a:xfrm>
            <a:off x="8290560" y="6035040"/>
            <a:ext cx="3139440" cy="777240"/>
          </a:xfrm>
          <a:prstGeom prst="roundRect">
            <a:avLst/>
          </a:prstGeom>
          <a:solidFill>
            <a:srgbClr val="FFFFFF"/>
          </a:solidFill>
          <a:ln w="12700">
            <a:solidFill>
              <a:srgbClr val="C8CDD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8A93A3"/>
                </a:solidFill>
              </a:rPr>
              <a:t>L = L_mode + λ_comp·L_comp + λ_cond·L_cond + λ_bal·L_closure</a:t>
            </a:r>
          </a:p>
          <a:p>
            <a:pPr algn="ctr"/>
            <a:r>
              <a:rPr sz="900" b="0">
                <a:solidFill>
                  <a:srgbClr val="8A93A3"/>
                </a:solidFill>
              </a:rPr>
              <a:t>heads share no weights and each is snapshotted at its own raw-val best, so λ_cond only absorbs the raw-unit scale in the total</a:t>
            </a:r>
          </a:p>
        </p:txBody>
      </p:sp>
      <p:sp>
        <p:nvSpPr>
          <p:cNvPr id="26" name="TextBox 25"/>
          <p:cNvSpPr txBox="1"/>
          <p:nvPr/>
        </p:nvSpPr>
        <p:spPr>
          <a:xfrm>
            <a:off x="457200" y="6080760"/>
            <a:ext cx="960120" cy="731520"/>
          </a:xfrm>
          <a:prstGeom prst="rect">
            <a:avLst/>
          </a:prstGeom>
          <a:noFill/>
        </p:spPr>
        <p:txBody>
          <a:bodyPr wrap="square">
            <a:spAutoFit/>
          </a:bodyPr>
          <a:lstStyle/>
          <a:p>
            <a:pPr algn="l"/>
            <a:r>
              <a:rPr sz="1100" b="0">
                <a:solidFill>
                  <a:srgbClr val="C0392B"/>
                </a:solidFill>
              </a:rPr>
              <a:t>the loss,
explicitly: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Is the 68% band honest? Coverage, and the exposure gap</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CondHead's eval scores every row twice: told the TRUE mineral list (teacher-forced -- the head's own skill) and told ModeHead's SAMPLED list (the deployed pipeline). The first is calibrated; the gap to the second is the exposure bias.</a:t>
            </a:r>
          </a:p>
        </p:txBody>
      </p:sp>
      <p:sp>
        <p:nvSpPr>
          <p:cNvPr id="5" name="Rounded Rectangle 4"/>
          <p:cNvSpPr/>
          <p:nvPr/>
        </p:nvSpPr>
        <p:spPr>
          <a:xfrm>
            <a:off x="502920" y="1828800"/>
            <a:ext cx="2651760" cy="128016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one row's input</a:t>
            </a:r>
          </a:p>
          <a:p>
            <a:pPr algn="ctr"/>
            <a:r>
              <a:rPr sz="800" b="0">
                <a:solidFill>
                  <a:srgbClr val="8A93A3"/>
                </a:solidFill>
              </a:rPr>
              <a:t>h [256] ++ true presence [21]</a:t>
            </a:r>
          </a:p>
          <a:p>
            <a:pPr algn="ctr"/>
            <a:r>
              <a:rPr sz="800" b="0">
                <a:solidFill>
                  <a:srgbClr val="8A93A3"/>
                </a:solidFill>
              </a:rPr>
              <a:t>bulk X: plag cpx amp ilm</a:t>
            </a:r>
          </a:p>
        </p:txBody>
      </p:sp>
      <p:sp>
        <p:nvSpPr>
          <p:cNvPr id="6" name="Right Arrow 5"/>
          <p:cNvSpPr/>
          <p:nvPr/>
        </p:nvSpPr>
        <p:spPr>
          <a:xfrm>
            <a:off x="3246120" y="2331720"/>
            <a:ext cx="320040" cy="27432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11880" y="1828800"/>
            <a:ext cx="2834640" cy="128016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T-axis mixture (K=3)</a:t>
            </a:r>
          </a:p>
          <a:p>
            <a:pPr algn="ctr"/>
            <a:r>
              <a:rPr sz="800" b="0">
                <a:solidFill>
                  <a:srgbClr val="8A93A3"/>
                </a:solidFill>
              </a:rPr>
              <a:t>deep-wet:  mu 780 C, w 0.58</a:t>
            </a:r>
          </a:p>
          <a:p>
            <a:pPr algn="ctr"/>
            <a:r>
              <a:rPr sz="800" b="0">
                <a:solidFill>
                  <a:srgbClr val="8A93A3"/>
                </a:solidFill>
              </a:rPr>
              <a:t>shallow-dry: mu 940 C, w 0.39</a:t>
            </a:r>
          </a:p>
          <a:p>
            <a:pPr algn="ctr"/>
            <a:r>
              <a:rPr sz="800" b="0">
                <a:solidFill>
                  <a:srgbClr val="8A93A3"/>
                </a:solidFill>
              </a:rPr>
              <a:t>(third component ~unused)</a:t>
            </a:r>
          </a:p>
        </p:txBody>
      </p:sp>
      <p:sp>
        <p:nvSpPr>
          <p:cNvPr id="8" name="Freeform 7"/>
          <p:cNvSpPr/>
          <p:nvPr/>
        </p:nvSpPr>
        <p:spPr>
          <a:xfrm>
            <a:off x="6903720" y="1874519"/>
            <a:ext cx="2377440" cy="1143001"/>
          </a:xfrm>
          <a:custGeom>
            <a:avLst/>
            <a:gdLst/>
            <a:ahLst/>
            <a:cxnLst/>
            <a:rect l="l" t="t" r="r" b="b"/>
            <a:pathLst>
              <a:path w="2377440" h="1143001">
                <a:moveTo>
                  <a:pt x="0" y="1143001"/>
                </a:moveTo>
                <a:lnTo>
                  <a:pt x="0" y="1140938"/>
                </a:lnTo>
                <a:lnTo>
                  <a:pt x="49529" y="1138428"/>
                </a:lnTo>
                <a:lnTo>
                  <a:pt x="99060" y="1133390"/>
                </a:lnTo>
                <a:lnTo>
                  <a:pt x="148589" y="1123858"/>
                </a:lnTo>
                <a:lnTo>
                  <a:pt x="198120" y="1106860"/>
                </a:lnTo>
                <a:lnTo>
                  <a:pt x="247650" y="1078329"/>
                </a:lnTo>
                <a:lnTo>
                  <a:pt x="297180" y="1033310"/>
                </a:lnTo>
                <a:lnTo>
                  <a:pt x="346710" y="966661"/>
                </a:lnTo>
                <a:lnTo>
                  <a:pt x="396240" y="874305"/>
                </a:lnTo>
                <a:lnTo>
                  <a:pt x="445770" y="754939"/>
                </a:lnTo>
                <a:lnTo>
                  <a:pt x="495300" y="611787"/>
                </a:lnTo>
                <a:lnTo>
                  <a:pt x="544830" y="453767"/>
                </a:lnTo>
                <a:lnTo>
                  <a:pt x="594359" y="295397"/>
                </a:lnTo>
                <a:lnTo>
                  <a:pt x="643890" y="155020"/>
                </a:lnTo>
                <a:lnTo>
                  <a:pt x="693420" y="51478"/>
                </a:lnTo>
                <a:lnTo>
                  <a:pt x="742950" y="0"/>
                </a:lnTo>
                <a:lnTo>
                  <a:pt x="792479" y="8538"/>
                </a:lnTo>
                <a:lnTo>
                  <a:pt x="842010" y="75747"/>
                </a:lnTo>
                <a:lnTo>
                  <a:pt x="891540" y="191322"/>
                </a:lnTo>
                <a:lnTo>
                  <a:pt x="941069" y="338550"/>
                </a:lnTo>
                <a:lnTo>
                  <a:pt x="990600" y="498187"/>
                </a:lnTo>
                <a:lnTo>
                  <a:pt x="1040130" y="652364"/>
                </a:lnTo>
                <a:lnTo>
                  <a:pt x="1089660" y="787363"/>
                </a:lnTo>
                <a:lnTo>
                  <a:pt x="1139189" y="894668"/>
                </a:lnTo>
                <a:lnTo>
                  <a:pt x="1188720" y="970345"/>
                </a:lnTo>
                <a:lnTo>
                  <a:pt x="1238250" y="1013401"/>
                </a:lnTo>
                <a:lnTo>
                  <a:pt x="1287779" y="1024014"/>
                </a:lnTo>
                <a:lnTo>
                  <a:pt x="1337309" y="1002483"/>
                </a:lnTo>
                <a:lnTo>
                  <a:pt x="1386840" y="949410"/>
                </a:lnTo>
                <a:lnTo>
                  <a:pt x="1436370" y="867099"/>
                </a:lnTo>
                <a:lnTo>
                  <a:pt x="1485900" y="761531"/>
                </a:lnTo>
                <a:lnTo>
                  <a:pt x="1535430" y="643826"/>
                </a:lnTo>
                <a:lnTo>
                  <a:pt x="1584960" y="530029"/>
                </a:lnTo>
                <a:lnTo>
                  <a:pt x="1634490" y="438642"/>
                </a:lnTo>
                <a:lnTo>
                  <a:pt x="1684020" y="386335"/>
                </a:lnTo>
                <a:lnTo>
                  <a:pt x="1733550" y="383317"/>
                </a:lnTo>
                <a:lnTo>
                  <a:pt x="1783080" y="430256"/>
                </a:lnTo>
                <a:lnTo>
                  <a:pt x="1832610" y="518129"/>
                </a:lnTo>
                <a:lnTo>
                  <a:pt x="1882140" y="631084"/>
                </a:lnTo>
                <a:lnTo>
                  <a:pt x="1931670" y="751118"/>
                </a:lnTo>
                <a:lnTo>
                  <a:pt x="1981200" y="862677"/>
                </a:lnTo>
                <a:lnTo>
                  <a:pt x="2030729" y="955625"/>
                </a:lnTo>
                <a:lnTo>
                  <a:pt x="2080260" y="1025967"/>
                </a:lnTo>
                <a:lnTo>
                  <a:pt x="2129790" y="1074694"/>
                </a:lnTo>
                <a:lnTo>
                  <a:pt x="2179320" y="1105748"/>
                </a:lnTo>
                <a:lnTo>
                  <a:pt x="2228850" y="1124016"/>
                </a:lnTo>
                <a:lnTo>
                  <a:pt x="2278380" y="1133960"/>
                </a:lnTo>
                <a:lnTo>
                  <a:pt x="2327910" y="1138978"/>
                </a:lnTo>
                <a:lnTo>
                  <a:pt x="2377440" y="1141328"/>
                </a:lnTo>
                <a:lnTo>
                  <a:pt x="2377440" y="1143001"/>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6903720" y="3017520"/>
            <a:ext cx="237744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720840" y="3063239"/>
            <a:ext cx="2743200" cy="365760"/>
          </a:xfrm>
          <a:prstGeom prst="rect">
            <a:avLst/>
          </a:prstGeom>
          <a:noFill/>
        </p:spPr>
        <p:txBody>
          <a:bodyPr wrap="square">
            <a:spAutoFit/>
          </a:bodyPr>
          <a:lstStyle/>
          <a:p>
            <a:pPr algn="ctr"/>
            <a:r>
              <a:rPr sz="1200" b="1">
                <a:solidFill>
                  <a:srgbClr val="1A2238"/>
                </a:solidFill>
              </a:rPr>
              <a:t>p(T | h, support): two condition modes</a:t>
            </a:r>
          </a:p>
        </p:txBody>
      </p:sp>
      <p:cxnSp>
        <p:nvCxnSpPr>
          <p:cNvPr id="11" name="Connector 10"/>
          <p:cNvCxnSpPr/>
          <p:nvPr/>
        </p:nvCxnSpPr>
        <p:spPr>
          <a:xfrm flipV="1">
            <a:off x="7807147" y="1737360"/>
            <a:ext cx="0" cy="1280160"/>
          </a:xfrm>
          <a:prstGeom prst="bentConnector3">
            <a:avLst/>
          </a:prstGeom>
          <a:ln w="25400">
            <a:solidFill>
              <a:srgbClr val="2A9D8F"/>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1371599"/>
            <a:ext cx="2743200" cy="731520"/>
          </a:xfrm>
          <a:prstGeom prst="rect">
            <a:avLst/>
          </a:prstGeom>
          <a:noFill/>
        </p:spPr>
        <p:txBody>
          <a:bodyPr wrap="square">
            <a:spAutoFit/>
          </a:bodyPr>
          <a:lstStyle/>
          <a:p>
            <a:pPr algn="ctr"/>
            <a:r>
              <a:rPr sz="1000" b="0">
                <a:solidFill>
                  <a:srgbClr val="2A9D8F"/>
                </a:solidFill>
              </a:rPr>
              <a:t>truth T = 815 C, inside the 68% band</a:t>
            </a:r>
          </a:p>
        </p:txBody>
      </p:sp>
      <p:sp>
        <p:nvSpPr>
          <p:cNvPr id="13" name="Rounded Rectangle 12"/>
          <p:cNvSpPr/>
          <p:nvPr/>
        </p:nvSpPr>
        <p:spPr>
          <a:xfrm>
            <a:off x="9646920" y="1828800"/>
            <a:ext cx="2148840" cy="12801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1A2238"/>
                </a:solidFill>
              </a:rPr>
              <a:t>coverage question</a:t>
            </a:r>
          </a:p>
          <a:p>
            <a:pPr algn="ctr"/>
            <a:r>
              <a:rPr sz="800" b="0">
                <a:solidFill>
                  <a:srgbClr val="8A93A3"/>
                </a:solidFill>
              </a:rPr>
              <a:t>does the central 68% of</a:t>
            </a:r>
          </a:p>
          <a:p>
            <a:pPr algn="ctr"/>
            <a:r>
              <a:rPr sz="800" b="0">
                <a:solidFill>
                  <a:srgbClr val="8A93A3"/>
                </a:solidFill>
              </a:rPr>
              <a:t>the mixture catch the</a:t>
            </a:r>
          </a:p>
          <a:p>
            <a:pPr algn="ctr"/>
            <a:r>
              <a:rPr sz="800" b="0">
                <a:solidFill>
                  <a:srgbClr val="8A93A3"/>
                </a:solidFill>
              </a:rPr>
              <a:t>truth ~68% of rows?</a:t>
            </a:r>
          </a:p>
        </p:txBody>
      </p:sp>
      <p:sp>
        <p:nvSpPr>
          <p:cNvPr id="14" name="Rounded Rectangle 13"/>
          <p:cNvSpPr/>
          <p:nvPr/>
        </p:nvSpPr>
        <p:spPr>
          <a:xfrm>
            <a:off x="502920" y="3657600"/>
            <a:ext cx="5394960" cy="105156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teacher-forced (true list): honest</a:t>
            </a:r>
          </a:p>
          <a:p>
            <a:pPr algn="ctr"/>
            <a:r>
              <a:rPr sz="900" b="0">
                <a:solidFill>
                  <a:srgbClr val="8A93A3"/>
                </a:solidFill>
              </a:rPr>
              <a:t>68% band catches truth on 71.5% of rows (T),</a:t>
            </a:r>
          </a:p>
          <a:p>
            <a:pPr algn="ctr"/>
            <a:r>
              <a:rPr sz="900" b="0">
                <a:solidFill>
                  <a:srgbClr val="8A93A3"/>
                </a:solidFill>
              </a:rPr>
              <a:t>67.1% (P), 68.4% (H2O) . NLL 8.32 nats/row (was 8.60)</a:t>
            </a:r>
          </a:p>
        </p:txBody>
      </p:sp>
      <p:sp>
        <p:nvSpPr>
          <p:cNvPr id="15" name="Rounded Rectangle 14"/>
          <p:cNvSpPr/>
          <p:nvPr/>
        </p:nvSpPr>
        <p:spPr>
          <a:xfrm>
            <a:off x="6263640" y="3657600"/>
            <a:ext cx="5532120" cy="1051560"/>
          </a:xfrm>
          <a:prstGeom prst="roundRect">
            <a:avLst/>
          </a:prstGeom>
          <a:solidFill>
            <a:srgbClr val="F6E3E1"/>
          </a:solidFill>
          <a:ln w="2540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ModeHead-sampled list: the exposure gap</a:t>
            </a:r>
          </a:p>
          <a:p>
            <a:pPr algn="ctr"/>
            <a:r>
              <a:rPr sz="900" b="0">
                <a:solidFill>
                  <a:srgbClr val="8A93A3"/>
                </a:solidFill>
              </a:rPr>
              <a:t>coverage collapses to 26-35% . NLL +2.4 to +3.9 nats/axis</a:t>
            </a:r>
          </a:p>
          <a:p>
            <a:pPr algn="ctr"/>
            <a:r>
              <a:rPr sz="900" b="0">
                <a:solidFill>
                  <a:srgbClr val="8A93A3"/>
                </a:solidFill>
              </a:rPr>
              <a:t>(P_kbar hits inf rows) -- sharper under truth = more wrong under mismatch</a:t>
            </a:r>
          </a:p>
        </p:txBody>
      </p:sp>
      <p:sp>
        <p:nvSpPr>
          <p:cNvPr id="16" name="TextBox 15"/>
          <p:cNvSpPr txBox="1"/>
          <p:nvPr/>
        </p:nvSpPr>
        <p:spPr>
          <a:xfrm>
            <a:off x="502920" y="4937760"/>
            <a:ext cx="11155680" cy="731520"/>
          </a:xfrm>
          <a:prstGeom prst="rect">
            <a:avLst/>
          </a:prstGeom>
          <a:noFill/>
        </p:spPr>
        <p:txBody>
          <a:bodyPr wrap="square">
            <a:spAutoFit/>
          </a:bodyPr>
          <a:lstStyle/>
          <a:p>
            <a:pPr algn="l"/>
            <a:r>
              <a:rPr sz="1100" b="0">
                <a:solidFill>
                  <a:srgbClr val="1A2238"/>
                </a:solidFill>
              </a:rPr>
              <a:t>the gap is a deliberate debt: the head trains and is graded teacher-forced (mineralogy-first -- conditions are the bonus product), and tuning made the head sharper, which widened the gap. It is measured, tracked (#31, P3), and untouched by design until the mineralogy heads are done.</a:t>
            </a:r>
          </a:p>
        </p:txBody>
      </p:sp>
      <p:sp>
        <p:nvSpPr>
          <p:cNvPr id="17" name="TextBox 16"/>
          <p:cNvSpPr txBox="1"/>
          <p:nvPr/>
        </p:nvSpPr>
        <p:spPr>
          <a:xfrm>
            <a:off x="502920" y="5623560"/>
            <a:ext cx="11155680" cy="731520"/>
          </a:xfrm>
          <a:prstGeom prst="rect">
            <a:avLst/>
          </a:prstGeom>
          <a:noFill/>
        </p:spPr>
        <p:txBody>
          <a:bodyPr wrap="square">
            <a:spAutoFit/>
          </a:bodyPr>
          <a:lstStyle/>
          <a:p>
            <a:pPr algn="l"/>
            <a:r>
              <a:rPr sz="1100" b="0">
                <a:solidFill>
                  <a:srgbClr val="1A2238"/>
                </a:solidFill>
              </a:rPr>
              <a:t>population: all 55,576 val-roster rows, both scoring passes on the same rows with a fixed sampling seed. per-axis NLL (tuned, teacher-forced): T 4.97, P 1.82, H2O 1.53 -- summed 8.32.</a:t>
            </a:r>
          </a:p>
        </p:txBody>
      </p:sp>
      <p:sp>
        <p:nvSpPr>
          <p:cNvPr id="18" name="TextBox 17"/>
          <p:cNvSpPr txBox="1"/>
          <p:nvPr/>
        </p:nvSpPr>
        <p:spPr>
          <a:xfrm>
            <a:off x="502920" y="6309360"/>
            <a:ext cx="11155680" cy="731520"/>
          </a:xfrm>
          <a:prstGeom prst="rect">
            <a:avLst/>
          </a:prstGeom>
          <a:noFill/>
        </p:spPr>
        <p:txBody>
          <a:bodyPr wrap="square">
            <a:spAutoFit/>
          </a:bodyPr>
          <a:lstStyle/>
          <a:p>
            <a:pPr algn="l"/>
            <a:r>
              <a:rPr sz="1000" b="0">
                <a:solidFill>
                  <a:srgbClr val="8A93A3"/>
                </a:solidFill>
              </a:rPr>
              <a:t>current limits: axes are independent mixtures (no (T, P) correlation, deferred per ADR 006); T is a derived cooling endpoint, not a sampled axis; sampled-support P rows can blow up numerically (the inf rows are #31's starting point). full report: results/cond_head/&lt;tag&gt;/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What the heads emit (distributions, not point estimates)</a:t>
            </a:r>
          </a:p>
        </p:txBody>
      </p:sp>
      <p:sp>
        <p:nvSpPr>
          <p:cNvPr id="4" name="Rounded Rectangle 3"/>
          <p:cNvSpPr/>
          <p:nvPr/>
        </p:nvSpPr>
        <p:spPr>
          <a:xfrm>
            <a:off x="502920" y="2651760"/>
            <a:ext cx="2286000" cy="1554480"/>
          </a:xfrm>
          <a:prstGeom prst="roundRect">
            <a:avLst/>
          </a:prstGeom>
          <a:solidFill>
            <a:srgbClr val="E1E8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1A2238"/>
                </a:solidFill>
              </a:rPr>
              <a:t>example bulk</a:t>
            </a:r>
          </a:p>
          <a:p>
            <a:pPr algn="ctr"/>
            <a:r>
              <a:rPr sz="1200" b="1">
                <a:solidFill>
                  <a:srgbClr val="1A2238"/>
                </a:solidFill>
              </a:rPr>
              <a:t/>
            </a:r>
          </a:p>
          <a:p>
            <a:pPr algn="ctr"/>
            <a:r>
              <a:rPr sz="900" b="0">
                <a:solidFill>
                  <a:srgbClr val="8A93A3"/>
                </a:solidFill>
              </a:rPr>
              <a:t>SiO2 50  Al2O3 16</a:t>
            </a:r>
          </a:p>
          <a:p>
            <a:pPr algn="ctr"/>
            <a:r>
              <a:rPr sz="900" b="0">
                <a:solidFill>
                  <a:srgbClr val="8A93A3"/>
                </a:solidFill>
              </a:rPr>
              <a:t>MgO 7.5  FeO 11</a:t>
            </a:r>
          </a:p>
          <a:p>
            <a:pPr algn="ctr"/>
            <a:r>
              <a:rPr sz="900" b="0">
                <a:solidFill>
                  <a:srgbClr val="8A93A3"/>
                </a:solidFill>
              </a:rPr>
              <a:t>Sr 400 ppm ...</a:t>
            </a:r>
          </a:p>
        </p:txBody>
      </p:sp>
      <p:sp>
        <p:nvSpPr>
          <p:cNvPr id="5" name="Right Arrow 4"/>
          <p:cNvSpPr/>
          <p:nvPr/>
        </p:nvSpPr>
        <p:spPr>
          <a:xfrm>
            <a:off x="288036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3456432" y="2770632"/>
            <a:ext cx="1316736" cy="1316736"/>
          </a:xfrm>
          <a:prstGeom prst="ellipse">
            <a:avLst/>
          </a:prstGeom>
          <a:solidFill>
            <a:srgbClr val="E8883A"/>
          </a:solidFill>
          <a:ln w="3175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rPr>
              <a:t>h</a:t>
            </a:r>
          </a:p>
          <a:p>
            <a:pPr algn="ctr"/>
            <a:r>
              <a:rPr sz="1900" b="0">
                <a:solidFill>
                  <a:srgbClr val="8A93A3"/>
                </a:solidFill>
              </a:rPr>
              <a:t>256-d latent</a:t>
            </a:r>
          </a:p>
        </p:txBody>
      </p:sp>
      <p:sp>
        <p:nvSpPr>
          <p:cNvPr id="7" name="Right Arrow 6"/>
          <p:cNvSpPr/>
          <p:nvPr/>
        </p:nvSpPr>
        <p:spPr>
          <a:xfrm>
            <a:off x="4892040" y="3246120"/>
            <a:ext cx="457200" cy="365760"/>
          </a:xfrm>
          <a:prstGeom prst="rightArrow">
            <a:avLst/>
          </a:prstGeom>
          <a:solidFill>
            <a:srgbClr val="1A22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486400" y="1417320"/>
            <a:ext cx="6309360" cy="205740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9" name="TextBox 8"/>
          <p:cNvSpPr txBox="1"/>
          <p:nvPr/>
        </p:nvSpPr>
        <p:spPr>
          <a:xfrm>
            <a:off x="5669280" y="1463040"/>
            <a:ext cx="5943600" cy="731520"/>
          </a:xfrm>
          <a:prstGeom prst="rect">
            <a:avLst/>
          </a:prstGeom>
          <a:noFill/>
        </p:spPr>
        <p:txBody>
          <a:bodyPr wrap="square">
            <a:spAutoFit/>
          </a:bodyPr>
          <a:lstStyle/>
          <a:p>
            <a:pPr algn="l"/>
            <a:r>
              <a:rPr sz="1200" b="0">
                <a:solidFill>
                  <a:srgbClr val="2A9D8F"/>
                </a:solidFill>
              </a:rPr>
              <a:t>ModeHead -&gt; per phase: p(present) x amount-when-present (hurdle Dirichlet; crystals renormalized to 1, groundmass/melt excluded)</a:t>
            </a:r>
          </a:p>
        </p:txBody>
      </p:sp>
      <p:sp>
        <p:nvSpPr>
          <p:cNvPr id="10" name="Rounded Rectangle 9"/>
          <p:cNvSpPr/>
          <p:nvPr/>
        </p:nvSpPr>
        <p:spPr>
          <a:xfrm>
            <a:off x="5715000" y="1874519"/>
            <a:ext cx="1892807"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397496" y="2020824"/>
            <a:ext cx="420624"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97496"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18120" y="1956816"/>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909560" y="1828799"/>
            <a:ext cx="4206240" cy="365760"/>
          </a:xfrm>
          <a:prstGeom prst="rect">
            <a:avLst/>
          </a:prstGeom>
          <a:noFill/>
        </p:spPr>
        <p:txBody>
          <a:bodyPr wrap="square">
            <a:spAutoFit/>
          </a:bodyPr>
          <a:lstStyle/>
          <a:p>
            <a:pPr algn="l"/>
            <a:r>
              <a:rPr sz="1200" b="0">
                <a:solidFill>
                  <a:srgbClr val="1A2238"/>
                </a:solidFill>
              </a:rPr>
              <a:t>plagioclase  0.45  |  p 1.00</a:t>
            </a:r>
          </a:p>
        </p:txBody>
      </p:sp>
      <p:sp>
        <p:nvSpPr>
          <p:cNvPr id="15" name="Rounded Rectangle 14"/>
          <p:cNvSpPr/>
          <p:nvPr/>
        </p:nvSpPr>
        <p:spPr>
          <a:xfrm>
            <a:off x="5715000" y="2185415"/>
            <a:ext cx="1135684"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682435" y="2331720"/>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682435"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018934" y="2267712"/>
            <a:ext cx="0" cy="128015"/>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10374" y="2139696"/>
            <a:ext cx="4206240" cy="365760"/>
          </a:xfrm>
          <a:prstGeom prst="rect">
            <a:avLst/>
          </a:prstGeom>
          <a:noFill/>
        </p:spPr>
        <p:txBody>
          <a:bodyPr wrap="square">
            <a:spAutoFit/>
          </a:bodyPr>
          <a:lstStyle/>
          <a:p>
            <a:pPr algn="l"/>
            <a:r>
              <a:rPr sz="1200" b="0">
                <a:solidFill>
                  <a:srgbClr val="1A2238"/>
                </a:solidFill>
              </a:rPr>
              <a:t>clinopyroxene  0.27  |  p 0.97</a:t>
            </a:r>
          </a:p>
        </p:txBody>
      </p:sp>
      <p:sp>
        <p:nvSpPr>
          <p:cNvPr id="20" name="Rounded Rectangle 19"/>
          <p:cNvSpPr/>
          <p:nvPr/>
        </p:nvSpPr>
        <p:spPr>
          <a:xfrm>
            <a:off x="5715000" y="2496312"/>
            <a:ext cx="7571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6219748" y="2642616"/>
            <a:ext cx="50474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219748"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724497" y="2578608"/>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15937" y="2450592"/>
            <a:ext cx="4206240" cy="365760"/>
          </a:xfrm>
          <a:prstGeom prst="rect">
            <a:avLst/>
          </a:prstGeom>
          <a:noFill/>
        </p:spPr>
        <p:txBody>
          <a:bodyPr wrap="square">
            <a:spAutoFit/>
          </a:bodyPr>
          <a:lstStyle/>
          <a:p>
            <a:pPr algn="l"/>
            <a:r>
              <a:rPr sz="1200" b="0">
                <a:solidFill>
                  <a:srgbClr val="1A2238"/>
                </a:solidFill>
              </a:rPr>
              <a:t>amphibole  0.18  |  p 0.41</a:t>
            </a:r>
          </a:p>
        </p:txBody>
      </p:sp>
      <p:sp>
        <p:nvSpPr>
          <p:cNvPr id="25" name="Rounded Rectangle 24"/>
          <p:cNvSpPr/>
          <p:nvPr/>
        </p:nvSpPr>
        <p:spPr>
          <a:xfrm>
            <a:off x="5715000" y="2807208"/>
            <a:ext cx="420623" cy="292608"/>
          </a:xfrm>
          <a:prstGeom prst="roundRect">
            <a:avLst/>
          </a:prstGeom>
          <a:solidFill>
            <a:srgbClr val="A9D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967374" y="2953512"/>
            <a:ext cx="336499"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67374"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303873" y="2889504"/>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395313" y="2761488"/>
            <a:ext cx="4206240" cy="365760"/>
          </a:xfrm>
          <a:prstGeom prst="rect">
            <a:avLst/>
          </a:prstGeom>
          <a:noFill/>
        </p:spPr>
        <p:txBody>
          <a:bodyPr wrap="square">
            <a:spAutoFit/>
          </a:bodyPr>
          <a:lstStyle/>
          <a:p>
            <a:pPr algn="l"/>
            <a:r>
              <a:rPr sz="1200" b="0">
                <a:solidFill>
                  <a:srgbClr val="1A2238"/>
                </a:solidFill>
              </a:rPr>
              <a:t>orthopyroxene  0.10  |  p 0.63</a:t>
            </a:r>
          </a:p>
        </p:txBody>
      </p:sp>
      <p:sp>
        <p:nvSpPr>
          <p:cNvPr id="30" name="Rounded Rectangle 29"/>
          <p:cNvSpPr/>
          <p:nvPr/>
        </p:nvSpPr>
        <p:spPr>
          <a:xfrm>
            <a:off x="5715000" y="3118104"/>
            <a:ext cx="168249" cy="292608"/>
          </a:xfrm>
          <a:prstGeom prst="round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799124" y="3264408"/>
            <a:ext cx="168250" cy="0"/>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79912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7374" y="3200400"/>
            <a:ext cx="0" cy="128016"/>
          </a:xfrm>
          <a:prstGeom prst="bentConnector3">
            <a:avLst/>
          </a:prstGeom>
          <a:ln w="15875">
            <a:solidFill>
              <a:srgbClr val="1A2238"/>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058814" y="3072384"/>
            <a:ext cx="4206240" cy="365760"/>
          </a:xfrm>
          <a:prstGeom prst="rect">
            <a:avLst/>
          </a:prstGeom>
          <a:noFill/>
        </p:spPr>
        <p:txBody>
          <a:bodyPr wrap="square">
            <a:spAutoFit/>
          </a:bodyPr>
          <a:lstStyle/>
          <a:p>
            <a:pPr algn="l"/>
            <a:r>
              <a:rPr sz="1200" b="0">
                <a:solidFill>
                  <a:srgbClr val="1A2238"/>
                </a:solidFill>
              </a:rPr>
              <a:t>magnetite  0.04  |  p 0.95</a:t>
            </a:r>
          </a:p>
        </p:txBody>
      </p:sp>
      <p:sp>
        <p:nvSpPr>
          <p:cNvPr id="35" name="Rounded Rectangle 34"/>
          <p:cNvSpPr/>
          <p:nvPr/>
        </p:nvSpPr>
        <p:spPr>
          <a:xfrm>
            <a:off x="5486400" y="3657600"/>
            <a:ext cx="6309360" cy="2331720"/>
          </a:xfrm>
          <a:prstGeom prst="roundRect">
            <a:avLst/>
          </a:prstGeom>
          <a:solidFill>
            <a:srgbClr val="EAE8FB"/>
          </a:solidFill>
          <a:ln w="25400">
            <a:solidFill>
              <a:srgbClr val="6C5CE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1A2238"/>
                </a:solidFill>
              </a:rPr>
              <a:t/>
            </a:r>
          </a:p>
        </p:txBody>
      </p:sp>
      <p:sp>
        <p:nvSpPr>
          <p:cNvPr id="36" name="TextBox 35"/>
          <p:cNvSpPr txBox="1"/>
          <p:nvPr/>
        </p:nvSpPr>
        <p:spPr>
          <a:xfrm>
            <a:off x="5669280" y="3703320"/>
            <a:ext cx="5943600" cy="731520"/>
          </a:xfrm>
          <a:prstGeom prst="rect">
            <a:avLst/>
          </a:prstGeom>
          <a:noFill/>
        </p:spPr>
        <p:txBody>
          <a:bodyPr wrap="square">
            <a:spAutoFit/>
          </a:bodyPr>
          <a:lstStyle/>
          <a:p>
            <a:pPr algn="l"/>
            <a:r>
              <a:rPr sz="1200" b="0">
                <a:solidFill>
                  <a:srgbClr val="6C5CE7"/>
                </a:solidFill>
              </a:rPr>
              <a:t>CondHead -&gt; storage conditions (per-axis GMM; P and H2O are sampled axes, T is the derived phenocryst-window endpoint temperature)</a:t>
            </a:r>
          </a:p>
        </p:txBody>
      </p:sp>
      <p:sp>
        <p:nvSpPr>
          <p:cNvPr id="37" name="Freeform 36"/>
          <p:cNvSpPr/>
          <p:nvPr/>
        </p:nvSpPr>
        <p:spPr>
          <a:xfrm>
            <a:off x="5806440" y="4434840"/>
            <a:ext cx="1737360" cy="960119"/>
          </a:xfrm>
          <a:custGeom>
            <a:avLst/>
            <a:gdLst/>
            <a:ahLst/>
            <a:cxnLst/>
            <a:rect l="l" t="t" r="r" b="b"/>
            <a:pathLst>
              <a:path w="1737360" h="960119">
                <a:moveTo>
                  <a:pt x="0" y="960119"/>
                </a:moveTo>
                <a:lnTo>
                  <a:pt x="0" y="952846"/>
                </a:lnTo>
                <a:lnTo>
                  <a:pt x="36195" y="949286"/>
                </a:lnTo>
                <a:lnTo>
                  <a:pt x="72390" y="944254"/>
                </a:lnTo>
                <a:lnTo>
                  <a:pt x="108585" y="937276"/>
                </a:lnTo>
                <a:lnTo>
                  <a:pt x="144780" y="927782"/>
                </a:lnTo>
                <a:lnTo>
                  <a:pt x="180975" y="915112"/>
                </a:lnTo>
                <a:lnTo>
                  <a:pt x="217169" y="898531"/>
                </a:lnTo>
                <a:lnTo>
                  <a:pt x="253365" y="877258"/>
                </a:lnTo>
                <a:lnTo>
                  <a:pt x="289559" y="850511"/>
                </a:lnTo>
                <a:lnTo>
                  <a:pt x="325755" y="817567"/>
                </a:lnTo>
                <a:lnTo>
                  <a:pt x="361949" y="777839"/>
                </a:lnTo>
                <a:lnTo>
                  <a:pt x="398145" y="730958"/>
                </a:lnTo>
                <a:lnTo>
                  <a:pt x="434339" y="676862"/>
                </a:lnTo>
                <a:lnTo>
                  <a:pt x="470535" y="615883"/>
                </a:lnTo>
                <a:lnTo>
                  <a:pt x="506730" y="548809"/>
                </a:lnTo>
                <a:lnTo>
                  <a:pt x="542925" y="476928"/>
                </a:lnTo>
                <a:lnTo>
                  <a:pt x="579119" y="402028"/>
                </a:lnTo>
                <a:lnTo>
                  <a:pt x="615315" y="326353"/>
                </a:lnTo>
                <a:lnTo>
                  <a:pt x="651510" y="252517"/>
                </a:lnTo>
                <a:lnTo>
                  <a:pt x="687705" y="183360"/>
                </a:lnTo>
                <a:lnTo>
                  <a:pt x="723900" y="121779"/>
                </a:lnTo>
                <a:lnTo>
                  <a:pt x="760094" y="70526"/>
                </a:lnTo>
                <a:lnTo>
                  <a:pt x="796290" y="32010"/>
                </a:lnTo>
                <a:lnTo>
                  <a:pt x="832484" y="8104"/>
                </a:lnTo>
                <a:lnTo>
                  <a:pt x="868680" y="0"/>
                </a:lnTo>
                <a:lnTo>
                  <a:pt x="904874" y="8104"/>
                </a:lnTo>
                <a:lnTo>
                  <a:pt x="941070" y="32010"/>
                </a:lnTo>
                <a:lnTo>
                  <a:pt x="977264" y="70526"/>
                </a:lnTo>
                <a:lnTo>
                  <a:pt x="1013460" y="121779"/>
                </a:lnTo>
                <a:lnTo>
                  <a:pt x="1049654" y="183360"/>
                </a:lnTo>
                <a:lnTo>
                  <a:pt x="1085850" y="252517"/>
                </a:lnTo>
                <a:lnTo>
                  <a:pt x="1122044" y="326353"/>
                </a:lnTo>
                <a:lnTo>
                  <a:pt x="1158240" y="402028"/>
                </a:lnTo>
                <a:lnTo>
                  <a:pt x="1194435" y="476928"/>
                </a:lnTo>
                <a:lnTo>
                  <a:pt x="1230630" y="548809"/>
                </a:lnTo>
                <a:lnTo>
                  <a:pt x="1266824" y="615883"/>
                </a:lnTo>
                <a:lnTo>
                  <a:pt x="1303019" y="676862"/>
                </a:lnTo>
                <a:lnTo>
                  <a:pt x="1339215" y="730958"/>
                </a:lnTo>
                <a:lnTo>
                  <a:pt x="1375409" y="777839"/>
                </a:lnTo>
                <a:lnTo>
                  <a:pt x="1411605" y="817567"/>
                </a:lnTo>
                <a:lnTo>
                  <a:pt x="1447799" y="850511"/>
                </a:lnTo>
                <a:lnTo>
                  <a:pt x="1483995" y="877258"/>
                </a:lnTo>
                <a:lnTo>
                  <a:pt x="1520189" y="898531"/>
                </a:lnTo>
                <a:lnTo>
                  <a:pt x="1556384" y="915112"/>
                </a:lnTo>
                <a:lnTo>
                  <a:pt x="1592580" y="927782"/>
                </a:lnTo>
                <a:lnTo>
                  <a:pt x="1628775" y="937276"/>
                </a:lnTo>
                <a:lnTo>
                  <a:pt x="1664969" y="944254"/>
                </a:lnTo>
                <a:lnTo>
                  <a:pt x="1701165" y="949286"/>
                </a:lnTo>
                <a:lnTo>
                  <a:pt x="1737360" y="952846"/>
                </a:lnTo>
                <a:lnTo>
                  <a:pt x="1737360" y="960119"/>
                </a:lnTo>
                <a:close/>
              </a:path>
            </a:pathLst>
          </a:custGeom>
          <a:solidFill>
            <a:srgbClr val="C4D1FF"/>
          </a:solidFill>
          <a:ln w="25400">
            <a:solidFill>
              <a:srgbClr val="2E5B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580644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23559" y="5440679"/>
            <a:ext cx="2103120" cy="365760"/>
          </a:xfrm>
          <a:prstGeom prst="rect">
            <a:avLst/>
          </a:prstGeom>
          <a:noFill/>
        </p:spPr>
        <p:txBody>
          <a:bodyPr wrap="square">
            <a:spAutoFit/>
          </a:bodyPr>
          <a:lstStyle/>
          <a:p>
            <a:pPr algn="ctr"/>
            <a:r>
              <a:rPr sz="1200" b="1">
                <a:solidFill>
                  <a:srgbClr val="1A2238"/>
                </a:solidFill>
              </a:rPr>
              <a:t>T  1010 +/- 40 C</a:t>
            </a:r>
          </a:p>
        </p:txBody>
      </p:sp>
      <p:sp>
        <p:nvSpPr>
          <p:cNvPr id="40" name="Freeform 39"/>
          <p:cNvSpPr/>
          <p:nvPr/>
        </p:nvSpPr>
        <p:spPr>
          <a:xfrm>
            <a:off x="7772400" y="4434840"/>
            <a:ext cx="1737360" cy="960119"/>
          </a:xfrm>
          <a:custGeom>
            <a:avLst/>
            <a:gdLst/>
            <a:ahLst/>
            <a:cxnLst/>
            <a:rect l="l" t="t" r="r" b="b"/>
            <a:pathLst>
              <a:path w="1737360" h="960119">
                <a:moveTo>
                  <a:pt x="0" y="960119"/>
                </a:moveTo>
                <a:lnTo>
                  <a:pt x="0" y="939852"/>
                </a:lnTo>
                <a:lnTo>
                  <a:pt x="36195" y="932353"/>
                </a:lnTo>
                <a:lnTo>
                  <a:pt x="72390" y="922586"/>
                </a:lnTo>
                <a:lnTo>
                  <a:pt x="108585" y="910058"/>
                </a:lnTo>
                <a:lnTo>
                  <a:pt x="144780" y="894237"/>
                </a:lnTo>
                <a:lnTo>
                  <a:pt x="180974" y="874570"/>
                </a:lnTo>
                <a:lnTo>
                  <a:pt x="217170" y="850511"/>
                </a:lnTo>
                <a:lnTo>
                  <a:pt x="253365" y="821553"/>
                </a:lnTo>
                <a:lnTo>
                  <a:pt x="289560" y="787277"/>
                </a:lnTo>
                <a:lnTo>
                  <a:pt x="325754" y="747391"/>
                </a:lnTo>
                <a:lnTo>
                  <a:pt x="361950" y="701784"/>
                </a:lnTo>
                <a:lnTo>
                  <a:pt x="398145" y="650575"/>
                </a:lnTo>
                <a:lnTo>
                  <a:pt x="434340" y="594149"/>
                </a:lnTo>
                <a:lnTo>
                  <a:pt x="470534" y="533196"/>
                </a:lnTo>
                <a:lnTo>
                  <a:pt x="506730" y="468718"/>
                </a:lnTo>
                <a:lnTo>
                  <a:pt x="542925" y="402028"/>
                </a:lnTo>
                <a:lnTo>
                  <a:pt x="579120" y="334721"/>
                </a:lnTo>
                <a:lnTo>
                  <a:pt x="615315" y="268623"/>
                </a:lnTo>
                <a:lnTo>
                  <a:pt x="651510" y="205713"/>
                </a:lnTo>
                <a:lnTo>
                  <a:pt x="687705" y="148031"/>
                </a:lnTo>
                <a:lnTo>
                  <a:pt x="723900" y="97571"/>
                </a:lnTo>
                <a:lnTo>
                  <a:pt x="760095" y="56167"/>
                </a:lnTo>
                <a:lnTo>
                  <a:pt x="796290" y="25381"/>
                </a:lnTo>
                <a:lnTo>
                  <a:pt x="832485" y="6409"/>
                </a:lnTo>
                <a:lnTo>
                  <a:pt x="868680" y="0"/>
                </a:lnTo>
                <a:lnTo>
                  <a:pt x="904875" y="6409"/>
                </a:lnTo>
                <a:lnTo>
                  <a:pt x="941070" y="25381"/>
                </a:lnTo>
                <a:lnTo>
                  <a:pt x="977265" y="56167"/>
                </a:lnTo>
                <a:lnTo>
                  <a:pt x="1013460" y="97571"/>
                </a:lnTo>
                <a:lnTo>
                  <a:pt x="1049655" y="148031"/>
                </a:lnTo>
                <a:lnTo>
                  <a:pt x="1085850" y="205713"/>
                </a:lnTo>
                <a:lnTo>
                  <a:pt x="1122045" y="268623"/>
                </a:lnTo>
                <a:lnTo>
                  <a:pt x="1158240" y="334721"/>
                </a:lnTo>
                <a:lnTo>
                  <a:pt x="1194435" y="402028"/>
                </a:lnTo>
                <a:lnTo>
                  <a:pt x="1230630" y="468718"/>
                </a:lnTo>
                <a:lnTo>
                  <a:pt x="1266825" y="533196"/>
                </a:lnTo>
                <a:lnTo>
                  <a:pt x="1303020" y="594149"/>
                </a:lnTo>
                <a:lnTo>
                  <a:pt x="1339215" y="650575"/>
                </a:lnTo>
                <a:lnTo>
                  <a:pt x="1375410" y="701784"/>
                </a:lnTo>
                <a:lnTo>
                  <a:pt x="1411605" y="747391"/>
                </a:lnTo>
                <a:lnTo>
                  <a:pt x="1447800" y="787277"/>
                </a:lnTo>
                <a:lnTo>
                  <a:pt x="1483995" y="821553"/>
                </a:lnTo>
                <a:lnTo>
                  <a:pt x="1520190" y="850511"/>
                </a:lnTo>
                <a:lnTo>
                  <a:pt x="1556385" y="874570"/>
                </a:lnTo>
                <a:lnTo>
                  <a:pt x="1592580" y="894237"/>
                </a:lnTo>
                <a:lnTo>
                  <a:pt x="1628775" y="910058"/>
                </a:lnTo>
                <a:lnTo>
                  <a:pt x="1664970" y="922586"/>
                </a:lnTo>
                <a:lnTo>
                  <a:pt x="1701165" y="932353"/>
                </a:lnTo>
                <a:lnTo>
                  <a:pt x="1737360" y="939852"/>
                </a:lnTo>
                <a:lnTo>
                  <a:pt x="1737360" y="960119"/>
                </a:lnTo>
                <a:close/>
              </a:path>
            </a:pathLst>
          </a:custGeom>
          <a:solidFill>
            <a:srgbClr val="BCEAE5"/>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7772400" y="5394959"/>
            <a:ext cx="173736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589520" y="5440679"/>
            <a:ext cx="2103120" cy="365760"/>
          </a:xfrm>
          <a:prstGeom prst="rect">
            <a:avLst/>
          </a:prstGeom>
          <a:noFill/>
        </p:spPr>
        <p:txBody>
          <a:bodyPr wrap="square">
            <a:spAutoFit/>
          </a:bodyPr>
          <a:lstStyle/>
          <a:p>
            <a:pPr algn="ctr"/>
            <a:r>
              <a:rPr sz="1200" b="1">
                <a:solidFill>
                  <a:srgbClr val="1A2238"/>
                </a:solidFill>
              </a:rPr>
              <a:t>P  4.8 +/- 1.9 kbar</a:t>
            </a:r>
          </a:p>
        </p:txBody>
      </p:sp>
      <p:sp>
        <p:nvSpPr>
          <p:cNvPr id="43" name="Freeform 42"/>
          <p:cNvSpPr/>
          <p:nvPr/>
        </p:nvSpPr>
        <p:spPr>
          <a:xfrm>
            <a:off x="9738360" y="4434840"/>
            <a:ext cx="1783080" cy="960119"/>
          </a:xfrm>
          <a:custGeom>
            <a:avLst/>
            <a:gdLst/>
            <a:ahLst/>
            <a:cxnLst/>
            <a:rect l="l" t="t" r="r" b="b"/>
            <a:pathLst>
              <a:path w="1783080" h="960119">
                <a:moveTo>
                  <a:pt x="0" y="960119"/>
                </a:moveTo>
                <a:lnTo>
                  <a:pt x="0" y="954380"/>
                </a:lnTo>
                <a:lnTo>
                  <a:pt x="37147" y="949181"/>
                </a:lnTo>
                <a:lnTo>
                  <a:pt x="74295" y="940156"/>
                </a:lnTo>
                <a:lnTo>
                  <a:pt x="111442" y="925235"/>
                </a:lnTo>
                <a:lnTo>
                  <a:pt x="148590" y="901749"/>
                </a:lnTo>
                <a:lnTo>
                  <a:pt x="185737" y="866600"/>
                </a:lnTo>
                <a:lnTo>
                  <a:pt x="222885" y="816648"/>
                </a:lnTo>
                <a:lnTo>
                  <a:pt x="260032" y="749364"/>
                </a:lnTo>
                <a:lnTo>
                  <a:pt x="297180" y="663673"/>
                </a:lnTo>
                <a:lnTo>
                  <a:pt x="334327" y="560845"/>
                </a:lnTo>
                <a:lnTo>
                  <a:pt x="371475" y="445176"/>
                </a:lnTo>
                <a:lnTo>
                  <a:pt x="408622" y="324178"/>
                </a:lnTo>
                <a:lnTo>
                  <a:pt x="445770" y="208043"/>
                </a:lnTo>
                <a:lnTo>
                  <a:pt x="482917" y="108354"/>
                </a:lnTo>
                <a:lnTo>
                  <a:pt x="520065" y="36181"/>
                </a:lnTo>
                <a:lnTo>
                  <a:pt x="557212" y="0"/>
                </a:lnTo>
                <a:lnTo>
                  <a:pt x="594360" y="3933"/>
                </a:lnTo>
                <a:lnTo>
                  <a:pt x="631507" y="46793"/>
                </a:lnTo>
                <a:lnTo>
                  <a:pt x="668655" y="122197"/>
                </a:lnTo>
                <a:lnTo>
                  <a:pt x="705802" y="219711"/>
                </a:lnTo>
                <a:lnTo>
                  <a:pt x="742950" y="326710"/>
                </a:lnTo>
                <a:lnTo>
                  <a:pt x="780097" y="430457"/>
                </a:lnTo>
                <a:lnTo>
                  <a:pt x="817245" y="519915"/>
                </a:lnTo>
                <a:lnTo>
                  <a:pt x="854392" y="586970"/>
                </a:lnTo>
                <a:lnTo>
                  <a:pt x="891540" y="626939"/>
                </a:lnTo>
                <a:lnTo>
                  <a:pt x="928687" y="638485"/>
                </a:lnTo>
                <a:lnTo>
                  <a:pt x="965835" y="623138"/>
                </a:lnTo>
                <a:lnTo>
                  <a:pt x="1002982" y="584667"/>
                </a:lnTo>
                <a:lnTo>
                  <a:pt x="1040130" y="528460"/>
                </a:lnTo>
                <a:lnTo>
                  <a:pt x="1077277" y="460988"/>
                </a:lnTo>
                <a:lnTo>
                  <a:pt x="1114425" y="389315"/>
                </a:lnTo>
                <a:lnTo>
                  <a:pt x="1151572" y="320622"/>
                </a:lnTo>
                <a:lnTo>
                  <a:pt x="1188720" y="261689"/>
                </a:lnTo>
                <a:lnTo>
                  <a:pt x="1225867" y="218338"/>
                </a:lnTo>
                <a:lnTo>
                  <a:pt x="1263015" y="194904"/>
                </a:lnTo>
                <a:lnTo>
                  <a:pt x="1300162" y="193807"/>
                </a:lnTo>
                <a:lnTo>
                  <a:pt x="1337310" y="215337"/>
                </a:lnTo>
                <a:lnTo>
                  <a:pt x="1374457" y="257689"/>
                </a:lnTo>
                <a:lnTo>
                  <a:pt x="1411605" y="317276"/>
                </a:lnTo>
                <a:lnTo>
                  <a:pt x="1448752" y="389265"/>
                </a:lnTo>
                <a:lnTo>
                  <a:pt x="1485900" y="468240"/>
                </a:lnTo>
                <a:lnTo>
                  <a:pt x="1523047" y="548872"/>
                </a:lnTo>
                <a:lnTo>
                  <a:pt x="1560195" y="626495"/>
                </a:lnTo>
                <a:lnTo>
                  <a:pt x="1597342" y="697502"/>
                </a:lnTo>
                <a:lnTo>
                  <a:pt x="1634490" y="759534"/>
                </a:lnTo>
                <a:lnTo>
                  <a:pt x="1671637" y="811463"/>
                </a:lnTo>
                <a:lnTo>
                  <a:pt x="1708785" y="853219"/>
                </a:lnTo>
                <a:lnTo>
                  <a:pt x="1745932" y="885529"/>
                </a:lnTo>
                <a:lnTo>
                  <a:pt x="1783080" y="909618"/>
                </a:lnTo>
                <a:lnTo>
                  <a:pt x="1783080" y="960119"/>
                </a:lnTo>
                <a:close/>
              </a:path>
            </a:pathLst>
          </a:custGeom>
          <a:solidFill>
            <a:srgbClr val="F8DDC7"/>
          </a:solidFill>
          <a:ln w="25400">
            <a:solidFill>
              <a:srgbClr val="E8883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4" name="Connector 43"/>
          <p:cNvCxnSpPr/>
          <p:nvPr/>
        </p:nvCxnSpPr>
        <p:spPr>
          <a:xfrm>
            <a:off x="9738360" y="5394959"/>
            <a:ext cx="1783080" cy="0"/>
          </a:xfrm>
          <a:prstGeom prst="bentConnector3">
            <a:avLst/>
          </a:prstGeom>
          <a:ln w="12700">
            <a:solidFill>
              <a:srgbClr val="8A93A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9555480" y="5440679"/>
            <a:ext cx="2148840" cy="365760"/>
          </a:xfrm>
          <a:prstGeom prst="rect">
            <a:avLst/>
          </a:prstGeom>
          <a:noFill/>
        </p:spPr>
        <p:txBody>
          <a:bodyPr wrap="square">
            <a:spAutoFit/>
          </a:bodyPr>
          <a:lstStyle/>
          <a:p>
            <a:pPr algn="ctr"/>
            <a:r>
              <a:rPr sz="1200" b="1">
                <a:solidFill>
                  <a:srgbClr val="1A2238"/>
                </a:solidFill>
              </a:rPr>
              <a:t>H2O  multimodal</a:t>
            </a:r>
          </a:p>
        </p:txBody>
      </p:sp>
      <p:sp>
        <p:nvSpPr>
          <p:cNvPr id="46" name="TextBox 45"/>
          <p:cNvSpPr txBox="1"/>
          <p:nvPr/>
        </p:nvSpPr>
        <p:spPr>
          <a:xfrm>
            <a:off x="502920" y="6172200"/>
            <a:ext cx="11247120" cy="731520"/>
          </a:xfrm>
          <a:prstGeom prst="rect">
            <a:avLst/>
          </a:prstGeom>
          <a:noFill/>
        </p:spPr>
        <p:txBody>
          <a:bodyPr wrap="square">
            <a:spAutoFit/>
          </a:bodyPr>
          <a:lstStyle/>
          <a:p>
            <a:pPr algn="l"/>
            <a:r>
              <a:rPr sz="1200" b="0">
                <a:solidFill>
                  <a:srgbClr val="8A93A3"/>
                </a:solidFill>
              </a:rPr>
              <a:t>values illustrative -- every phase carries both numbers; faded bars = presence genuinely uncertain (here the amphibole/orthopyroxene either-or: wet-deep grows amp, dry-shallow grows opx). This marginal view is a projection; the primary output is the ranked-scenario view on the next slide.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0972800" cy="365760"/>
          </a:xfrm>
          <a:prstGeom prst="rect">
            <a:avLst/>
          </a:prstGeom>
          <a:noFill/>
        </p:spPr>
        <p:txBody>
          <a:bodyPr wrap="square">
            <a:spAutoFit/>
          </a:bodyPr>
          <a:lstStyle/>
          <a:p>
            <a:pPr algn="l"/>
            <a:r>
              <a:rPr sz="1300" b="1">
                <a:solidFill>
                  <a:srgbClr val="2E5BFF"/>
                </a:solidFill>
              </a:rPr>
              <a:t>HEADS</a:t>
            </a:r>
          </a:p>
        </p:txBody>
      </p:sp>
      <p:sp>
        <p:nvSpPr>
          <p:cNvPr id="3" name="TextBox 2"/>
          <p:cNvSpPr txBox="1"/>
          <p:nvPr/>
        </p:nvSpPr>
        <p:spPr>
          <a:xfrm>
            <a:off x="502920" y="603504"/>
            <a:ext cx="11155680" cy="731520"/>
          </a:xfrm>
          <a:prstGeom prst="rect">
            <a:avLst/>
          </a:prstGeom>
          <a:noFill/>
        </p:spPr>
        <p:txBody>
          <a:bodyPr wrap="square">
            <a:spAutoFit/>
          </a:bodyPr>
          <a:lstStyle/>
          <a:p>
            <a:pPr algn="l"/>
            <a:r>
              <a:rPr sz="2600" b="1">
                <a:solidFill>
                  <a:srgbClr val="1A2238"/>
                </a:solidFill>
              </a:rPr>
              <a:t>The coherent answer: ranked scenarios</a:t>
            </a:r>
          </a:p>
        </p:txBody>
      </p:sp>
      <p:sp>
        <p:nvSpPr>
          <p:cNvPr id="4" name="TextBox 3"/>
          <p:cNvSpPr txBox="1"/>
          <p:nvPr/>
        </p:nvSpPr>
        <p:spPr>
          <a:xfrm>
            <a:off x="502920" y="1051560"/>
            <a:ext cx="11155680" cy="731520"/>
          </a:xfrm>
          <a:prstGeom prst="rect">
            <a:avLst/>
          </a:prstGeom>
          <a:noFill/>
        </p:spPr>
        <p:txBody>
          <a:bodyPr wrap="square">
            <a:spAutoFit/>
          </a:bodyPr>
          <a:lstStyle/>
          <a:p>
            <a:pPr algn="l"/>
            <a:r>
              <a:rPr sz="1300" b="0">
                <a:solidFill>
                  <a:srgbClr val="8A93A3"/>
                </a:solidFill>
              </a:rPr>
              <a:t>the marginal table can't show WHICH minerals trade off; scenarios can -- sample the posterior, cluster by assemblage, rank by weight</a:t>
            </a:r>
          </a:p>
        </p:txBody>
      </p:sp>
      <p:sp>
        <p:nvSpPr>
          <p:cNvPr id="5" name="Rounded Rectangle 4"/>
          <p:cNvSpPr/>
          <p:nvPr/>
        </p:nvSpPr>
        <p:spPr>
          <a:xfrm>
            <a:off x="640080" y="1783080"/>
            <a:ext cx="5394960" cy="3291840"/>
          </a:xfrm>
          <a:prstGeom prst="roundRect">
            <a:avLst/>
          </a:prstGeom>
          <a:solidFill>
            <a:srgbClr val="E1F1EF"/>
          </a:solidFill>
          <a:ln w="25400">
            <a:solidFill>
              <a:srgbClr val="2A9D8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A -- deep &amp; wet . weight ~45%</a:t>
            </a:r>
          </a:p>
          <a:p>
            <a:pPr algn="ctr"/>
            <a:r>
              <a:rPr sz="1100" b="0">
                <a:solidFill>
                  <a:srgbClr val="8A93A3"/>
                </a:solidFill>
              </a:rPr>
              <a:t>P 6-9 kbar   H2O 4-6 wt%   T ~950-990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44 +/- 4    clinopyroxene 26 +/- 3</a:t>
            </a:r>
          </a:p>
          <a:p>
            <a:pPr algn="ctr"/>
            <a:r>
              <a:rPr sz="1100" b="0">
                <a:solidFill>
                  <a:srgbClr val="8A93A3"/>
                </a:solidFill>
              </a:rPr>
              <a:t>amphibole 18 +/- 4      Fe-Ti oxides 12 +/- 2</a:t>
            </a:r>
          </a:p>
        </p:txBody>
      </p:sp>
      <p:sp>
        <p:nvSpPr>
          <p:cNvPr id="6" name="Rounded Rectangle 5"/>
          <p:cNvSpPr/>
          <p:nvPr/>
        </p:nvSpPr>
        <p:spPr>
          <a:xfrm>
            <a:off x="6309360" y="1783080"/>
            <a:ext cx="5394960" cy="3291840"/>
          </a:xfrm>
          <a:prstGeom prst="roundRect">
            <a:avLst/>
          </a:prstGeom>
          <a:solidFill>
            <a:srgbClr val="DDF4F2"/>
          </a:solidFill>
          <a:ln w="25400">
            <a:solidFill>
              <a:srgbClr val="12B5A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A2238"/>
                </a:solidFill>
              </a:rPr>
              <a:t>Scenario B -- shallow &amp; dry . weight ~35%</a:t>
            </a:r>
          </a:p>
          <a:p>
            <a:pPr algn="ctr"/>
            <a:r>
              <a:rPr sz="1100" b="0">
                <a:solidFill>
                  <a:srgbClr val="8A93A3"/>
                </a:solidFill>
              </a:rPr>
              <a:t>P 1-3 kbar   H2O 1-2.5 wt%   T ~1000-1040 C</a:t>
            </a:r>
          </a:p>
          <a:p>
            <a:pPr algn="ctr"/>
            <a:r>
              <a:rPr sz="1400" b="1">
                <a:solidFill>
                  <a:srgbClr val="1A2238"/>
                </a:solidFill>
              </a:rPr>
              <a:t/>
            </a:r>
          </a:p>
          <a:p>
            <a:pPr algn="ctr"/>
            <a:r>
              <a:rPr sz="1100" b="0">
                <a:solidFill>
                  <a:srgbClr val="8A93A3"/>
                </a:solidFill>
              </a:rPr>
              <a:t>phenocrysts (wt% of cargo, sums to 100):</a:t>
            </a:r>
          </a:p>
          <a:p>
            <a:pPr algn="ctr"/>
            <a:r>
              <a:rPr sz="1100" b="0">
                <a:solidFill>
                  <a:srgbClr val="8A93A3"/>
                </a:solidFill>
              </a:rPr>
              <a:t>plagioclase 48 +/- 4    clinopyroxene 24 +/- 3</a:t>
            </a:r>
          </a:p>
          <a:p>
            <a:pPr algn="ctr"/>
            <a:r>
              <a:rPr sz="1100" b="0">
                <a:solidFill>
                  <a:srgbClr val="8A93A3"/>
                </a:solidFill>
              </a:rPr>
              <a:t>orthopyroxene 16 +/- 3  Fe-Ti oxides 12 +/- 2</a:t>
            </a:r>
          </a:p>
        </p:txBody>
      </p:sp>
      <p:sp>
        <p:nvSpPr>
          <p:cNvPr id="7" name="TextBox 6"/>
          <p:cNvSpPr txBox="1"/>
          <p:nvPr/>
        </p:nvSpPr>
        <p:spPr>
          <a:xfrm>
            <a:off x="640080" y="5212080"/>
            <a:ext cx="11064240" cy="731520"/>
          </a:xfrm>
          <a:prstGeom prst="rect">
            <a:avLst/>
          </a:prstGeom>
          <a:noFill/>
        </p:spPr>
        <p:txBody>
          <a:bodyPr wrap="square">
            <a:spAutoFit/>
          </a:bodyPr>
          <a:lstStyle/>
          <a:p>
            <a:pPr algn="l"/>
            <a:r>
              <a:rPr sz="1200" b="0">
                <a:solidFill>
                  <a:srgbClr val="1A2238"/>
                </a:solidFill>
              </a:rPr>
              <a:t>+ intermediate scenario (amp + opx coexist, ~12%) + tail (~8%) -- nothing silently dropped; weights are prior-weighted plausibility, reweightable</a:t>
            </a:r>
          </a:p>
        </p:txBody>
      </p:sp>
      <p:sp>
        <p:nvSpPr>
          <p:cNvPr id="8" name="TextBox 7"/>
          <p:cNvSpPr txBox="1"/>
          <p:nvPr/>
        </p:nvSpPr>
        <p:spPr>
          <a:xfrm>
            <a:off x="640080" y="5806440"/>
            <a:ext cx="11064240" cy="731520"/>
          </a:xfrm>
          <a:prstGeom prst="rect">
            <a:avLst/>
          </a:prstGeom>
          <a:noFill/>
        </p:spPr>
        <p:txBody>
          <a:bodyPr wrap="square">
            <a:spAutoFit/>
          </a:bodyPr>
          <a:lstStyle/>
          <a:p>
            <a:pPr algn="l"/>
            <a:r>
              <a:rPr sz="1200" b="0">
                <a:solidFill>
                  <a:srgbClr val="8A93A3"/>
                </a:solidFill>
              </a:rPr>
              <a:t>per-phase composition (An#, Mg#) is bulk-controlled -- one shared band across scenarios, not re-predicted per scenario. Each scenario is a falsifiable hypothesis: amphibole in thin section selects A, and with it A's conditions.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