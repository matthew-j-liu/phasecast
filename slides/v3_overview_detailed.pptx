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acts: (1) why a foundation model and what it unlocks; (2) how the transformer works. The latent h is 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Hasterok 2019 used 533k samples from the same Gard database but only the 9 major elements (deliberately, 'for broad applicability') to train one RUSBoost classifier: igneous vs sedimentary, 95%/85%. One model, one task, one paper. The field is a fleet of these -- and their inputs ARE the human scheme, so the ceiling is 'a geologist could do this, just faster.'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is the learning itself and the breadth. Bottom two rows are the heart: unitaskers are capped at human intuition because their features ARE the human scheme; the latent uses trace-element correlations and cross-element structure no discrimination diagram encodes. Classification is just the part we can already see (82% supergroup from the frozen latent, no labels).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Masked-element modelling over 474k real bulks. Structure emerges with no labels: 82.1% supergroup MLP-probe accuracy -- the proof the latent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Ranked by how representation-dependent each is. Tier 1 needs the latent; tier 2 is computable from features and falls out for free (illustrating breadth, not distinctiveness). The encoder's edge is the shared geometry + the aggregate.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slide, made concrete. ModeHead emits a Dirichlet over minerals; CondHead a per-axis GMM. H2O drawn bimodal to make 'multimodal posterior' literal -- two plausible hydration regimes consistent with one bulk. This is the integral MAGEMin doesn't natively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product-positioning table vs the petrology tools (distinct from the A1/A2 ML-paradigm argument). v3 is the only one covering all four axes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= up to 22 (element id, amount) pairs. That's the entire model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 the 'embed' black box: element id -&gt; mat2vec chemistry vector, amount -&gt; projection, summed into the per-token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Makes 'self-attention' and 'mean-pool' literal: a 4x4 attention heatmap (every token attends to every token, diagonal strongest) then averaging the non-padding tokens into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Masked-element modelling: hide one element's amount, predict it from the rest, backprop the error into the encoder. Encoder is being TRAINED here (frozen is the downstream state). Loss is log-space so traces get supervised. Repeat over 474k rocks.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Structural view of the heads on the now-frozen h. Outputs themselves are drawn on A5 (don't redraw the distributions 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pipeline lit: h feeds the supervised heads and the training-free apps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737360"/>
          </a:xfrm>
          <a:prstGeom prst="rect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CrabNet-Mineral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883A"/>
                </a:solidFill>
              </a:rPr>
              <a:t>a foundation model for rock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4297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3A3"/>
                </a:solidFill>
              </a:rPr>
              <a:t>one self-supervised encoder; many downstream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BFF"/>
                </a:solidFill>
              </a:rPr>
              <a:t>ACT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a foundation model -- and what it unlocks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1 - THE GOAL  - 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Prior work is a fleet of unitaskers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5BFF"/>
                </a:solidFill>
              </a:rPr>
              <a:t>Hasterok et al. 2019, Computers &amp; Geosciences  -  the same global database we pretrain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68880" cy="11887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Gard 2019 database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533k whole-rock samples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240280"/>
            <a:ext cx="50292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0116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9 major</a:t>
            </a:r>
          </a:p>
          <a:p>
            <a:pPr algn="ctr"/>
            <a:r>
              <a:rPr sz="1200" b="1">
                <a:solidFill>
                  <a:srgbClr val="8A93A3"/>
                </a:solidFill>
              </a:rPr>
              <a:t>elements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by design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240280"/>
            <a:ext cx="50292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828800"/>
            <a:ext cx="2103120" cy="11887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RUSBoost</a:t>
            </a:r>
          </a:p>
          <a:p>
            <a:pPr algn="ctr"/>
            <a:r>
              <a:rPr sz="1300" b="1">
                <a:solidFill>
                  <a:srgbClr val="1A2238"/>
                </a:solidFill>
              </a:rPr>
              <a:t>ensemble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69680" y="2240280"/>
            <a:ext cx="50292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0" y="1828800"/>
            <a:ext cx="2286000" cy="1188720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igneous vs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sedimentary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95% /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</a:rPr>
              <a:t>one model  -  one task  -  one paper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93A3"/>
                </a:solidFill>
              </a:rPr>
              <a:t>tectonic-setting class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major elements -&gt; 1 label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0233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93A3"/>
                </a:solidFill>
              </a:rPr>
              <a:t>protolith ID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major elements -&gt; 1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0233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93A3"/>
                </a:solidFill>
              </a:rPr>
              <a:t>alteration index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major elements -&gt; 1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38"/>
                </a:solidFill>
              </a:rPr>
              <a:t>Even on our exact dataset, ML here automates human intuition:</a:t>
            </a:r>
          </a:p>
          <a:p>
            <a:pPr algn="l"/>
            <a:r>
              <a:rPr sz="1400" b="0">
                <a:solidFill>
                  <a:srgbClr val="1A2238"/>
                </a:solidFill>
              </a:rPr>
              <a:t>human-chosen major-element features, one supervised model per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 - 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 foundation model learns once, then serves all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468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600200"/>
            <a:ext cx="4206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Unitasker  (status quo)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00200"/>
            <a:ext cx="429768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Foundation model  (v3)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13432"/>
            <a:ext cx="246888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Produces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313432"/>
            <a:ext cx="4206240" cy="713232"/>
          </a:xfrm>
          <a:prstGeom prst="roundRect">
            <a:avLst/>
          </a:prstGeom>
          <a:solidFill>
            <a:srgbClr val="EEEFF2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one task's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313432"/>
            <a:ext cx="429768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 reusable latent of rock chemistry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26664"/>
            <a:ext cx="246888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Models /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026664"/>
            <a:ext cx="4206240" cy="713232"/>
          </a:xfrm>
          <a:prstGeom prst="roundRect">
            <a:avLst/>
          </a:prstGeom>
          <a:solidFill>
            <a:srgbClr val="EEEFF2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one per task (~ one per paper)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026664"/>
            <a:ext cx="429768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one encoder serves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246888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739896"/>
            <a:ext cx="4206240" cy="713232"/>
          </a:xfrm>
          <a:prstGeom prst="roundRect">
            <a:avLst/>
          </a:prstGeom>
          <a:solidFill>
            <a:srgbClr val="EEEFF2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supervised, labels per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739896"/>
            <a:ext cx="429768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self-supervised once; heads optional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53128"/>
            <a:ext cx="246888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4453128"/>
            <a:ext cx="4206240" cy="713232"/>
          </a:xfrm>
          <a:prstGeom prst="roundRect">
            <a:avLst/>
          </a:prstGeom>
          <a:solidFill>
            <a:srgbClr val="EEEFF2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major elements (human features)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453128"/>
            <a:ext cx="429768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all 22 elements, incl. 13 traces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246888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Knowledge ceiling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5166360"/>
            <a:ext cx="4206240" cy="713232"/>
          </a:xfrm>
          <a:prstGeom prst="roundRect">
            <a:avLst/>
          </a:prstGeom>
          <a:solidFill>
            <a:srgbClr val="EEEFF2"/>
          </a:solidFill>
          <a:ln w="254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automates human intuition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166360"/>
            <a:ext cx="4297680" cy="713232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structure beyond human intuition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238"/>
                </a:solidFill>
              </a:rPr>
              <a:t>same database, but self-supervised on all 22 elements (incl. 13 traces):</a:t>
            </a:r>
          </a:p>
          <a:p>
            <a:pPr algn="ctr"/>
            <a:r>
              <a:rPr sz="1300" b="0">
                <a:solidFill>
                  <a:srgbClr val="1A2238"/>
                </a:solidFill>
              </a:rPr>
              <a:t>rock-type classification is ONE readout (~82%, zero label training) -- beside imputation, retrieval, conditions, composition...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 -  A3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Earn the representation with self-supervised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651760" cy="128016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474k real bulk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analyses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Gard 2019, no labels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3200400"/>
            <a:ext cx="6400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2743200" cy="128016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hide some elements,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predict them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3200400"/>
            <a:ext cx="6400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743200"/>
            <a:ext cx="2926080" cy="128016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learns which elements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travel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</a:rPr>
              <a:t>82% rock-type accuracy -- with zero rock-type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 -  A4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One encoder, many applications</a:t>
            </a:r>
          </a:p>
        </p:txBody>
      </p:sp>
      <p:sp>
        <p:nvSpPr>
          <p:cNvPr id="4" name="Oval 3"/>
          <p:cNvSpPr/>
          <p:nvPr/>
        </p:nvSpPr>
        <p:spPr>
          <a:xfrm>
            <a:off x="713231" y="2542032"/>
            <a:ext cx="1682496" cy="1682496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25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B5A5"/>
                </a:solidFill>
              </a:rPr>
              <a:t>NEEDS THE LEARNED LATENT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743200" cy="155448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element imputation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rock missing Yb  -&gt;  h  -&gt;  fill 2.1 ppm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395728" y="2423160"/>
            <a:ext cx="621792" cy="960120"/>
          </a:xfrm>
          <a:prstGeom prst="bentConnector3">
            <a:avLst/>
          </a:prstGeom>
          <a:ln w="1905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89320" y="1645920"/>
            <a:ext cx="2743200" cy="155448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k-NN similarity retrieval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query rock  -&gt;  3 nearest real rocks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395728" y="2423160"/>
            <a:ext cx="3593592" cy="960120"/>
          </a:xfrm>
          <a:prstGeom prst="bentConnector3">
            <a:avLst/>
          </a:prstGeom>
          <a:ln w="1905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1645920"/>
            <a:ext cx="2743200" cy="155448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OOD / measurement-error flag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anomaly score 0.92  -&gt;  likely bad analysis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395728" y="2423160"/>
            <a:ext cx="6565392" cy="960120"/>
          </a:xfrm>
          <a:prstGeom prst="bentConnector3">
            <a:avLst/>
          </a:prstGeom>
          <a:ln w="1905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7520" y="3611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COMPUTABLE FROM FEATURES  -  encoder does them for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977639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tectonic-setting class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discrimination diagrams already do this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95728" y="3520440"/>
            <a:ext cx="621792" cy="960120"/>
          </a:xfrm>
          <a:prstGeom prst="bentConnector3">
            <a:avLst/>
          </a:prstGeom>
          <a:ln w="1524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3977639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petrogenetic ratios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La/Yb, Sr/Y ... just division when present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95728" y="3520440"/>
            <a:ext cx="3593592" cy="960120"/>
          </a:xfrm>
          <a:prstGeom prst="bentConnector3">
            <a:avLst/>
          </a:prstGeom>
          <a:ln w="1524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20" y="3977639"/>
            <a:ext cx="2697480" cy="100584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+ supervised heads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ModeHead, CompHead, CondHead...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The distinctive value is the shared learned geometry (distance, anomaly, graceful missingness) -- and doing all of it from one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 -  A5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The headline: an inverse, probabilistic emulator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2286000" cy="155448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basalt bulk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/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SiO2 50  Al2O3 16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MgO 7.5  FeO 11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Sr 400 ppm ...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80360" y="324612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56432" y="2770632"/>
            <a:ext cx="1316736" cy="1316736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246120"/>
            <a:ext cx="45720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1417320"/>
            <a:ext cx="6309360" cy="205740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630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9D8F"/>
                </a:solidFill>
              </a:rPr>
              <a:t>ModeHead  -  modal mineralogy (Dirichlet)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874519"/>
            <a:ext cx="1766620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3060" y="182879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plagioclase  0.42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185415"/>
            <a:ext cx="1177747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4187" y="21396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clinopyroxene  0.28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496312"/>
            <a:ext cx="672998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438" y="24505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olivine  0.16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807208"/>
            <a:ext cx="336499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2939" y="27614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orthopyroxene  0.08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18104"/>
            <a:ext cx="168249" cy="29260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4689" y="307238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38"/>
                </a:solidFill>
              </a:rPr>
              <a:t>oxides  0.04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657600"/>
            <a:ext cx="6309360" cy="23317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2238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703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5CE7"/>
                </a:solidFill>
              </a:rPr>
              <a:t>CondHead  -  formation conditions (per-axis GMM)</a:t>
            </a:r>
          </a:p>
        </p:txBody>
      </p:sp>
      <p:sp>
        <p:nvSpPr>
          <p:cNvPr id="22" name="Freeform 21"/>
          <p:cNvSpPr/>
          <p:nvPr/>
        </p:nvSpPr>
        <p:spPr>
          <a:xfrm>
            <a:off x="5806440" y="4251960"/>
            <a:ext cx="1737360" cy="960120"/>
          </a:xfrm>
          <a:custGeom>
            <a:avLst/>
            <a:gdLst/>
            <a:ahLst/>
            <a:cxnLst/>
            <a:rect l="l" t="t" r="r" b="b"/>
            <a:pathLst>
              <a:path w="1737360" h="960120">
                <a:moveTo>
                  <a:pt x="0" y="960120"/>
                </a:moveTo>
                <a:lnTo>
                  <a:pt x="0" y="952846"/>
                </a:lnTo>
                <a:lnTo>
                  <a:pt x="36195" y="949286"/>
                </a:lnTo>
                <a:lnTo>
                  <a:pt x="72390" y="944254"/>
                </a:lnTo>
                <a:lnTo>
                  <a:pt x="108585" y="937276"/>
                </a:lnTo>
                <a:lnTo>
                  <a:pt x="144780" y="927782"/>
                </a:lnTo>
                <a:lnTo>
                  <a:pt x="180975" y="915112"/>
                </a:lnTo>
                <a:lnTo>
                  <a:pt x="217169" y="898531"/>
                </a:lnTo>
                <a:lnTo>
                  <a:pt x="253365" y="877258"/>
                </a:lnTo>
                <a:lnTo>
                  <a:pt x="289559" y="850511"/>
                </a:lnTo>
                <a:lnTo>
                  <a:pt x="325755" y="817567"/>
                </a:lnTo>
                <a:lnTo>
                  <a:pt x="361949" y="777839"/>
                </a:lnTo>
                <a:lnTo>
                  <a:pt x="398145" y="730958"/>
                </a:lnTo>
                <a:lnTo>
                  <a:pt x="434339" y="676862"/>
                </a:lnTo>
                <a:lnTo>
                  <a:pt x="470535" y="615883"/>
                </a:lnTo>
                <a:lnTo>
                  <a:pt x="506730" y="548809"/>
                </a:lnTo>
                <a:lnTo>
                  <a:pt x="542925" y="476928"/>
                </a:lnTo>
                <a:lnTo>
                  <a:pt x="579119" y="402028"/>
                </a:lnTo>
                <a:lnTo>
                  <a:pt x="615315" y="326353"/>
                </a:lnTo>
                <a:lnTo>
                  <a:pt x="651510" y="252517"/>
                </a:lnTo>
                <a:lnTo>
                  <a:pt x="687705" y="183360"/>
                </a:lnTo>
                <a:lnTo>
                  <a:pt x="723900" y="121779"/>
                </a:lnTo>
                <a:lnTo>
                  <a:pt x="760094" y="70526"/>
                </a:lnTo>
                <a:lnTo>
                  <a:pt x="796290" y="32010"/>
                </a:lnTo>
                <a:lnTo>
                  <a:pt x="832484" y="8104"/>
                </a:lnTo>
                <a:lnTo>
                  <a:pt x="868680" y="0"/>
                </a:lnTo>
                <a:lnTo>
                  <a:pt x="904874" y="8104"/>
                </a:lnTo>
                <a:lnTo>
                  <a:pt x="941070" y="32010"/>
                </a:lnTo>
                <a:lnTo>
                  <a:pt x="977264" y="70526"/>
                </a:lnTo>
                <a:lnTo>
                  <a:pt x="1013460" y="121779"/>
                </a:lnTo>
                <a:lnTo>
                  <a:pt x="1049654" y="183360"/>
                </a:lnTo>
                <a:lnTo>
                  <a:pt x="1085850" y="252517"/>
                </a:lnTo>
                <a:lnTo>
                  <a:pt x="1122044" y="326353"/>
                </a:lnTo>
                <a:lnTo>
                  <a:pt x="1158240" y="402028"/>
                </a:lnTo>
                <a:lnTo>
                  <a:pt x="1194435" y="476928"/>
                </a:lnTo>
                <a:lnTo>
                  <a:pt x="1230630" y="548809"/>
                </a:lnTo>
                <a:lnTo>
                  <a:pt x="1266824" y="615883"/>
                </a:lnTo>
                <a:lnTo>
                  <a:pt x="1303019" y="676862"/>
                </a:lnTo>
                <a:lnTo>
                  <a:pt x="1339215" y="730958"/>
                </a:lnTo>
                <a:lnTo>
                  <a:pt x="1375409" y="777839"/>
                </a:lnTo>
                <a:lnTo>
                  <a:pt x="1411605" y="817567"/>
                </a:lnTo>
                <a:lnTo>
                  <a:pt x="1447799" y="850511"/>
                </a:lnTo>
                <a:lnTo>
                  <a:pt x="1483995" y="877258"/>
                </a:lnTo>
                <a:lnTo>
                  <a:pt x="1520189" y="898531"/>
                </a:lnTo>
                <a:lnTo>
                  <a:pt x="1556384" y="915112"/>
                </a:lnTo>
                <a:lnTo>
                  <a:pt x="1592580" y="927782"/>
                </a:lnTo>
                <a:lnTo>
                  <a:pt x="1628775" y="937276"/>
                </a:lnTo>
                <a:lnTo>
                  <a:pt x="1664969" y="944254"/>
                </a:lnTo>
                <a:lnTo>
                  <a:pt x="1701165" y="949286"/>
                </a:lnTo>
                <a:lnTo>
                  <a:pt x="1737360" y="952846"/>
                </a:lnTo>
                <a:lnTo>
                  <a:pt x="1737360" y="960120"/>
                </a:lnTo>
                <a:close/>
              </a:path>
            </a:pathLst>
          </a:custGeom>
          <a:solidFill>
            <a:srgbClr val="C4D1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806440" y="5212080"/>
            <a:ext cx="173736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23559" y="5257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T  1140 +/- 35 C</a:t>
            </a:r>
          </a:p>
        </p:txBody>
      </p:sp>
      <p:sp>
        <p:nvSpPr>
          <p:cNvPr id="25" name="Freeform 24"/>
          <p:cNvSpPr/>
          <p:nvPr/>
        </p:nvSpPr>
        <p:spPr>
          <a:xfrm>
            <a:off x="7772400" y="4251960"/>
            <a:ext cx="1737360" cy="960120"/>
          </a:xfrm>
          <a:custGeom>
            <a:avLst/>
            <a:gdLst/>
            <a:ahLst/>
            <a:cxnLst/>
            <a:rect l="l" t="t" r="r" b="b"/>
            <a:pathLst>
              <a:path w="1737360" h="960120">
                <a:moveTo>
                  <a:pt x="0" y="960120"/>
                </a:moveTo>
                <a:lnTo>
                  <a:pt x="0" y="939852"/>
                </a:lnTo>
                <a:lnTo>
                  <a:pt x="36195" y="932353"/>
                </a:lnTo>
                <a:lnTo>
                  <a:pt x="72390" y="922586"/>
                </a:lnTo>
                <a:lnTo>
                  <a:pt x="108585" y="910058"/>
                </a:lnTo>
                <a:lnTo>
                  <a:pt x="144780" y="894237"/>
                </a:lnTo>
                <a:lnTo>
                  <a:pt x="180974" y="874570"/>
                </a:lnTo>
                <a:lnTo>
                  <a:pt x="217170" y="850511"/>
                </a:lnTo>
                <a:lnTo>
                  <a:pt x="253365" y="821553"/>
                </a:lnTo>
                <a:lnTo>
                  <a:pt x="289560" y="787277"/>
                </a:lnTo>
                <a:lnTo>
                  <a:pt x="325754" y="747391"/>
                </a:lnTo>
                <a:lnTo>
                  <a:pt x="361950" y="701784"/>
                </a:lnTo>
                <a:lnTo>
                  <a:pt x="398145" y="650575"/>
                </a:lnTo>
                <a:lnTo>
                  <a:pt x="434340" y="594149"/>
                </a:lnTo>
                <a:lnTo>
                  <a:pt x="470534" y="533196"/>
                </a:lnTo>
                <a:lnTo>
                  <a:pt x="506730" y="468718"/>
                </a:lnTo>
                <a:lnTo>
                  <a:pt x="542925" y="402028"/>
                </a:lnTo>
                <a:lnTo>
                  <a:pt x="579120" y="334721"/>
                </a:lnTo>
                <a:lnTo>
                  <a:pt x="615315" y="268623"/>
                </a:lnTo>
                <a:lnTo>
                  <a:pt x="651510" y="205713"/>
                </a:lnTo>
                <a:lnTo>
                  <a:pt x="687705" y="148031"/>
                </a:lnTo>
                <a:lnTo>
                  <a:pt x="723900" y="97571"/>
                </a:lnTo>
                <a:lnTo>
                  <a:pt x="760095" y="56167"/>
                </a:lnTo>
                <a:lnTo>
                  <a:pt x="796290" y="25381"/>
                </a:lnTo>
                <a:lnTo>
                  <a:pt x="832485" y="6409"/>
                </a:lnTo>
                <a:lnTo>
                  <a:pt x="868680" y="0"/>
                </a:lnTo>
                <a:lnTo>
                  <a:pt x="904875" y="6409"/>
                </a:lnTo>
                <a:lnTo>
                  <a:pt x="941070" y="25381"/>
                </a:lnTo>
                <a:lnTo>
                  <a:pt x="977265" y="56167"/>
                </a:lnTo>
                <a:lnTo>
                  <a:pt x="1013460" y="97571"/>
                </a:lnTo>
                <a:lnTo>
                  <a:pt x="1049655" y="148031"/>
                </a:lnTo>
                <a:lnTo>
                  <a:pt x="1085850" y="205713"/>
                </a:lnTo>
                <a:lnTo>
                  <a:pt x="1122045" y="268623"/>
                </a:lnTo>
                <a:lnTo>
                  <a:pt x="1158240" y="334721"/>
                </a:lnTo>
                <a:lnTo>
                  <a:pt x="1194435" y="402028"/>
                </a:lnTo>
                <a:lnTo>
                  <a:pt x="1230630" y="468718"/>
                </a:lnTo>
                <a:lnTo>
                  <a:pt x="1266825" y="533196"/>
                </a:lnTo>
                <a:lnTo>
                  <a:pt x="1303020" y="594149"/>
                </a:lnTo>
                <a:lnTo>
                  <a:pt x="1339215" y="650575"/>
                </a:lnTo>
                <a:lnTo>
                  <a:pt x="1375410" y="701784"/>
                </a:lnTo>
                <a:lnTo>
                  <a:pt x="1411605" y="747391"/>
                </a:lnTo>
                <a:lnTo>
                  <a:pt x="1447800" y="787277"/>
                </a:lnTo>
                <a:lnTo>
                  <a:pt x="1483995" y="821553"/>
                </a:lnTo>
                <a:lnTo>
                  <a:pt x="1520190" y="850511"/>
                </a:lnTo>
                <a:lnTo>
                  <a:pt x="1556385" y="874570"/>
                </a:lnTo>
                <a:lnTo>
                  <a:pt x="1592580" y="894237"/>
                </a:lnTo>
                <a:lnTo>
                  <a:pt x="1628775" y="910058"/>
                </a:lnTo>
                <a:lnTo>
                  <a:pt x="1664970" y="922586"/>
                </a:lnTo>
                <a:lnTo>
                  <a:pt x="1701165" y="932353"/>
                </a:lnTo>
                <a:lnTo>
                  <a:pt x="1737360" y="939852"/>
                </a:lnTo>
                <a:lnTo>
                  <a:pt x="1737360" y="960120"/>
                </a:lnTo>
                <a:close/>
              </a:path>
            </a:pathLst>
          </a:custGeom>
          <a:solidFill>
            <a:srgbClr val="BCEAE5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772400" y="5212080"/>
            <a:ext cx="173736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89520" y="5257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P  4.8 +/- 1.9 kbar</a:t>
            </a:r>
          </a:p>
        </p:txBody>
      </p:sp>
      <p:sp>
        <p:nvSpPr>
          <p:cNvPr id="28" name="Freeform 27"/>
          <p:cNvSpPr/>
          <p:nvPr/>
        </p:nvSpPr>
        <p:spPr>
          <a:xfrm>
            <a:off x="9738360" y="4251960"/>
            <a:ext cx="1783080" cy="960120"/>
          </a:xfrm>
          <a:custGeom>
            <a:avLst/>
            <a:gdLst/>
            <a:ahLst/>
            <a:cxnLst/>
            <a:rect l="l" t="t" r="r" b="b"/>
            <a:pathLst>
              <a:path w="1783080" h="960120">
                <a:moveTo>
                  <a:pt x="0" y="960120"/>
                </a:moveTo>
                <a:lnTo>
                  <a:pt x="0" y="954380"/>
                </a:lnTo>
                <a:lnTo>
                  <a:pt x="37147" y="949181"/>
                </a:lnTo>
                <a:lnTo>
                  <a:pt x="74295" y="940156"/>
                </a:lnTo>
                <a:lnTo>
                  <a:pt x="111442" y="925235"/>
                </a:lnTo>
                <a:lnTo>
                  <a:pt x="148590" y="901749"/>
                </a:lnTo>
                <a:lnTo>
                  <a:pt x="185737" y="866600"/>
                </a:lnTo>
                <a:lnTo>
                  <a:pt x="222885" y="816648"/>
                </a:lnTo>
                <a:lnTo>
                  <a:pt x="260032" y="749364"/>
                </a:lnTo>
                <a:lnTo>
                  <a:pt x="297180" y="663673"/>
                </a:lnTo>
                <a:lnTo>
                  <a:pt x="334327" y="560845"/>
                </a:lnTo>
                <a:lnTo>
                  <a:pt x="371475" y="445176"/>
                </a:lnTo>
                <a:lnTo>
                  <a:pt x="408622" y="324178"/>
                </a:lnTo>
                <a:lnTo>
                  <a:pt x="445770" y="208043"/>
                </a:lnTo>
                <a:lnTo>
                  <a:pt x="482917" y="108354"/>
                </a:lnTo>
                <a:lnTo>
                  <a:pt x="520065" y="36181"/>
                </a:lnTo>
                <a:lnTo>
                  <a:pt x="557212" y="0"/>
                </a:lnTo>
                <a:lnTo>
                  <a:pt x="594360" y="3933"/>
                </a:lnTo>
                <a:lnTo>
                  <a:pt x="631507" y="46793"/>
                </a:lnTo>
                <a:lnTo>
                  <a:pt x="668655" y="122197"/>
                </a:lnTo>
                <a:lnTo>
                  <a:pt x="705802" y="219711"/>
                </a:lnTo>
                <a:lnTo>
                  <a:pt x="742950" y="326710"/>
                </a:lnTo>
                <a:lnTo>
                  <a:pt x="780097" y="430457"/>
                </a:lnTo>
                <a:lnTo>
                  <a:pt x="817245" y="519915"/>
                </a:lnTo>
                <a:lnTo>
                  <a:pt x="854392" y="586970"/>
                </a:lnTo>
                <a:lnTo>
                  <a:pt x="891540" y="626939"/>
                </a:lnTo>
                <a:lnTo>
                  <a:pt x="928687" y="638485"/>
                </a:lnTo>
                <a:lnTo>
                  <a:pt x="965835" y="623138"/>
                </a:lnTo>
                <a:lnTo>
                  <a:pt x="1002982" y="584667"/>
                </a:lnTo>
                <a:lnTo>
                  <a:pt x="1040130" y="528460"/>
                </a:lnTo>
                <a:lnTo>
                  <a:pt x="1077277" y="460988"/>
                </a:lnTo>
                <a:lnTo>
                  <a:pt x="1114425" y="389315"/>
                </a:lnTo>
                <a:lnTo>
                  <a:pt x="1151572" y="320622"/>
                </a:lnTo>
                <a:lnTo>
                  <a:pt x="1188720" y="261689"/>
                </a:lnTo>
                <a:lnTo>
                  <a:pt x="1225867" y="218338"/>
                </a:lnTo>
                <a:lnTo>
                  <a:pt x="1263015" y="194904"/>
                </a:lnTo>
                <a:lnTo>
                  <a:pt x="1300162" y="193807"/>
                </a:lnTo>
                <a:lnTo>
                  <a:pt x="1337310" y="215337"/>
                </a:lnTo>
                <a:lnTo>
                  <a:pt x="1374457" y="257689"/>
                </a:lnTo>
                <a:lnTo>
                  <a:pt x="1411605" y="317276"/>
                </a:lnTo>
                <a:lnTo>
                  <a:pt x="1448752" y="389265"/>
                </a:lnTo>
                <a:lnTo>
                  <a:pt x="1485900" y="468240"/>
                </a:lnTo>
                <a:lnTo>
                  <a:pt x="1523047" y="548872"/>
                </a:lnTo>
                <a:lnTo>
                  <a:pt x="1560195" y="626495"/>
                </a:lnTo>
                <a:lnTo>
                  <a:pt x="1597342" y="697502"/>
                </a:lnTo>
                <a:lnTo>
                  <a:pt x="1634490" y="759534"/>
                </a:lnTo>
                <a:lnTo>
                  <a:pt x="1671637" y="811463"/>
                </a:lnTo>
                <a:lnTo>
                  <a:pt x="1708785" y="853219"/>
                </a:lnTo>
                <a:lnTo>
                  <a:pt x="1745932" y="885529"/>
                </a:lnTo>
                <a:lnTo>
                  <a:pt x="1783080" y="909618"/>
                </a:lnTo>
                <a:lnTo>
                  <a:pt x="1783080" y="960120"/>
                </a:lnTo>
                <a:close/>
              </a:path>
            </a:pathLst>
          </a:custGeom>
          <a:solidFill>
            <a:srgbClr val="F8DDC7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738360" y="5212080"/>
            <a:ext cx="1783080" cy="0"/>
          </a:xfrm>
          <a:prstGeom prst="bentConnector3">
            <a:avLst/>
          </a:prstGeom>
          <a:ln w="1270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55480" y="52578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238"/>
                </a:solidFill>
              </a:rPr>
              <a:t>H2O  bimodal: ~1 or ~3 wt%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MAGEMin: you pick T, P, H2O  -&gt;  one assemblage.   v3: bulk in  -&gt;  the whole posterior (note H2O is multimodal).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1  -  A6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And vs the petrology tools: all four axes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bulk-only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828800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no spot analyses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28800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multimodal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1828800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hydrous + sed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42032"/>
            <a:ext cx="274320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MAGEMin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42032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needs T,P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542032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542032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one assemblage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01400" y="2542032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55264"/>
            <a:ext cx="274320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mineralML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55264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255264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needs spots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255264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201400" y="3255264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partial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68496"/>
            <a:ext cx="274320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CIPW / pyrolite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968496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968496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968496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single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01400" y="3968496"/>
            <a:ext cx="2606040" cy="713232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81728"/>
            <a:ext cx="2743200" cy="713232"/>
          </a:xfrm>
          <a:prstGeom prst="roundRect">
            <a:avLst/>
          </a:prstGeom>
          <a:solidFill>
            <a:srgbClr val="DEE0E3"/>
          </a:solidFill>
          <a:ln w="25400">
            <a:solidFill>
              <a:srgbClr val="1A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CrabNet-Mineral v3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681728"/>
            <a:ext cx="260604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681728"/>
            <a:ext cx="260604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4681728"/>
            <a:ext cx="260604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01400" y="4681728"/>
            <a:ext cx="2606040" cy="713232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238"/>
                </a:solidFill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32"/>
                </a:solidFill>
              </a:rPr>
              <a:t>Covering all four simultaneously is the petrology-side differentiation.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E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5BFF"/>
                </a:solidFill>
              </a:rPr>
              <a:t>ACT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the transformer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2 - HOW IT WORKS  -  B1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A rock is a bag of (element, amount)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828800" cy="14173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 tokens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 elements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9 majors + 13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74320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Embed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mat2vec + amount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3268979"/>
            <a:ext cx="365760" cy="365760"/>
          </a:xfrm>
          <a:prstGeom prst="rightArrow">
            <a:avLst/>
          </a:prstGeom>
          <a:solidFill>
            <a:srgbClr val="C8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74320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Transformer</a:t>
            </a:r>
          </a:p>
          <a:p>
            <a:pPr algn="ctr"/>
            <a:r>
              <a:rPr sz="1200" b="1">
                <a:solidFill>
                  <a:srgbClr val="8A93A3"/>
                </a:solidFill>
              </a:rPr>
              <a:t>encoder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self-attention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268979"/>
            <a:ext cx="411479" cy="365760"/>
          </a:xfrm>
          <a:prstGeom prst="rightArrow">
            <a:avLst/>
          </a:prstGeom>
          <a:solidFill>
            <a:srgbClr val="C8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99248" y="2738628"/>
            <a:ext cx="1426464" cy="1426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8A93A3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59" y="3268979"/>
            <a:ext cx="457199" cy="365760"/>
          </a:xfrm>
          <a:prstGeom prst="rightArrow">
            <a:avLst/>
          </a:prstGeom>
          <a:solidFill>
            <a:srgbClr val="C8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828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8A93A3"/>
                </a:solidFill>
              </a:rPr>
              <a:t>Heads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parallel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3268979"/>
            <a:ext cx="411480" cy="365760"/>
          </a:xfrm>
          <a:prstGeom prst="rightArrow">
            <a:avLst/>
          </a:prstGeom>
          <a:solidFill>
            <a:srgbClr val="C8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78127" y="4526280"/>
            <a:ext cx="1371600" cy="91440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0895" y="4526280"/>
            <a:ext cx="1371600" cy="91440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Al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3663" y="4526280"/>
            <a:ext cx="1371600" cy="91440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Ca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4526280"/>
            <a:ext cx="1371600" cy="91440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Mg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0.075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69199" y="4526280"/>
            <a:ext cx="1371600" cy="91440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Sr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4e-4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1967" y="4526280"/>
            <a:ext cx="1371600" cy="91440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Yb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2e-6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3A3"/>
                </a:solidFill>
              </a:rPr>
              <a:t>9 majors (wt%/100, blue)  +  13 traces (ppm/1e6, teal); absent = padding.  No T, P, or H2O ever enters.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Each token becomes a chemistry-aware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80360"/>
            <a:ext cx="1463040" cy="109728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103120" y="2331720"/>
            <a:ext cx="822960" cy="82296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03120" y="3703320"/>
            <a:ext cx="822960" cy="64008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965960"/>
            <a:ext cx="2286000" cy="77724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atomic number 14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03520" y="2148840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1783080"/>
            <a:ext cx="4023360" cy="114300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mat2vec lookup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200-d element vector,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pretrained on materials-science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023360"/>
            <a:ext cx="2286000" cy="7772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amount  0.50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03520" y="4206240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3840480"/>
            <a:ext cx="4023360" cy="9601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linear projection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amount -&gt; 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743200"/>
            <a:ext cx="1737360" cy="13716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+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token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256-d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2331720"/>
            <a:ext cx="228600" cy="777240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829800" y="3749039"/>
            <a:ext cx="228600" cy="548641"/>
          </a:xfrm>
          <a:prstGeom prst="bentConnector3">
            <a:avLst/>
          </a:prstGeom>
          <a:ln w="17780">
            <a:solidFill>
              <a:srgbClr val="8A93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mat2vec is a cross-field import (materials informatics, CrabNet) -- a learned chemistry vector per element, scaled by how much is present.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The encoder mixes elements, then pools to one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5CE7"/>
                </a:solidFill>
              </a:rPr>
              <a:t>self-attention: every token attends to every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24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9125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Mg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5818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6459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238"/>
                </a:solidFill>
              </a:rPr>
              <a:t>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2011680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39696" y="2011680"/>
            <a:ext cx="512064" cy="512064"/>
          </a:xfrm>
          <a:prstGeom prst="rect">
            <a:avLst/>
          </a:prstGeom>
          <a:solidFill>
            <a:srgbClr val="AFA6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6624" y="2011680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2578608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72768" y="2578608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39696" y="2578608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6624" y="2578608"/>
            <a:ext cx="512064" cy="512064"/>
          </a:xfrm>
          <a:prstGeom prst="rect">
            <a:avLst/>
          </a:prstGeom>
          <a:solidFill>
            <a:srgbClr val="D2CE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145536"/>
            <a:ext cx="512064" cy="512064"/>
          </a:xfrm>
          <a:prstGeom prst="rect">
            <a:avLst/>
          </a:prstGeom>
          <a:solidFill>
            <a:srgbClr val="AFA6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72768" y="3145536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39696" y="3145536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06624" y="3145536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3712464"/>
            <a:ext cx="512064" cy="512064"/>
          </a:xfrm>
          <a:prstGeom prst="rect">
            <a:avLst/>
          </a:prstGeom>
          <a:solidFill>
            <a:srgbClr val="9D93E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72768" y="3712464"/>
            <a:ext cx="512064" cy="512064"/>
          </a:xfrm>
          <a:prstGeom prst="rect">
            <a:avLst/>
          </a:prstGeom>
          <a:solidFill>
            <a:srgbClr val="D2CE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39696" y="3712464"/>
            <a:ext cx="512064" cy="512064"/>
          </a:xfrm>
          <a:prstGeom prst="rect">
            <a:avLst/>
          </a:prstGeom>
          <a:solidFill>
            <a:srgbClr val="C1BA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06624" y="3712464"/>
            <a:ext cx="512064" cy="512064"/>
          </a:xfrm>
          <a:prstGeom prst="rect">
            <a:avLst/>
          </a:prstGeom>
          <a:solidFill>
            <a:srgbClr val="8274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480560" y="32004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2697480"/>
            <a:ext cx="3108960" cy="137160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masked-mean pool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average the real tokens</a:t>
            </a:r>
          </a:p>
          <a:p>
            <a:pPr algn="ctr"/>
            <a:r>
              <a:rPr sz="1100" b="0">
                <a:solidFill>
                  <a:srgbClr val="8A93A3"/>
                </a:solidFill>
              </a:rPr>
              <a:t>(skip padding)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95360" y="3200400"/>
            <a:ext cx="640080" cy="41148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2606040"/>
            <a:ext cx="1554480" cy="1554480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attention lets elements interact; pooling collapses the 22 contextualized vectors into a single 256-d fingerprint 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How the encoder learned: fill in the blank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3"/>
                </a:solidFill>
              </a:rPr>
              <a:t>like predicting a missing word from its sentence -- but the 'words' are elements and the blank is an amount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743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Si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4511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Al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37279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Ca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0047" y="1783080"/>
            <a:ext cx="1371600" cy="960120"/>
          </a:xfrm>
          <a:prstGeom prst="roundRect">
            <a:avLst/>
          </a:prstGeom>
          <a:solidFill>
            <a:srgbClr val="9AA3B2"/>
          </a:solidFill>
          <a:ln w="31750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[MASK]</a:t>
            </a:r>
          </a:p>
          <a:p>
            <a:pPr algn="ctr"/>
            <a:r>
              <a:rPr sz="1400" b="0">
                <a:solidFill>
                  <a:srgbClr val="8A93A3"/>
                </a:solidFill>
              </a:rPr>
              <a:t>hide amount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2815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Fe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5583" y="1783080"/>
            <a:ext cx="1371600" cy="960120"/>
          </a:xfrm>
          <a:prstGeom prst="roundRect">
            <a:avLst/>
          </a:prstGeom>
          <a:solidFill>
            <a:srgbClr val="D1DAFF"/>
          </a:solidFill>
          <a:ln w="22225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Na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0.025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8351" y="1783080"/>
            <a:ext cx="1371600" cy="960120"/>
          </a:xfrm>
          <a:prstGeom prst="roundRect">
            <a:avLst/>
          </a:prstGeom>
          <a:solidFill>
            <a:srgbClr val="CAEEEB"/>
          </a:solidFill>
          <a:ln w="22225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2238"/>
                </a:solidFill>
              </a:rPr>
              <a:t>Sr</a:t>
            </a:r>
          </a:p>
          <a:p>
            <a:pPr algn="ctr"/>
            <a:r>
              <a:rPr sz="1500" b="0">
                <a:solidFill>
                  <a:srgbClr val="8A93A3"/>
                </a:solidFill>
              </a:rPr>
              <a:t>4e-4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7543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50311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3079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2743200"/>
            <a:ext cx="0" cy="685800"/>
          </a:xfrm>
          <a:prstGeom prst="bentConnector3">
            <a:avLst/>
          </a:prstGeom>
          <a:ln w="17780">
            <a:solidFill>
              <a:srgbClr val="9AA3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68615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41383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814151" y="2743200"/>
            <a:ext cx="0" cy="685800"/>
          </a:xfrm>
          <a:prstGeom prst="bentConnector3">
            <a:avLst/>
          </a:prstGeom>
          <a:ln w="17780">
            <a:solidFill>
              <a:srgbClr val="C8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1743" y="3429000"/>
            <a:ext cx="10808208" cy="86868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2238"/>
                </a:solidFill>
              </a:rPr>
              <a:t>Transformer encoder</a:t>
            </a:r>
          </a:p>
          <a:p>
            <a:pPr algn="ctr"/>
            <a:r>
              <a:rPr sz="1200" b="0">
                <a:solidFill>
                  <a:srgbClr val="8A93A3"/>
                </a:solidFill>
              </a:rPr>
              <a:t>being trained -- weights updated each step (not frozen)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49543" y="4343400"/>
            <a:ext cx="292608" cy="347472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03120" y="4892040"/>
            <a:ext cx="2743200" cy="914400"/>
          </a:xfrm>
          <a:prstGeom prst="roundRect">
            <a:avLst/>
          </a:prstGeom>
          <a:solidFill>
            <a:srgbClr val="FBEEE3"/>
          </a:solidFill>
          <a:ln w="2540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encoder predicts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Mg amount ~ 0.071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89204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8A93A3"/>
                </a:solidFill>
              </a:rPr>
              <a:t>truth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0.075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92040" y="5166360"/>
            <a:ext cx="256032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903720" y="5166360"/>
            <a:ext cx="256032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4892040"/>
            <a:ext cx="2651760" cy="914400"/>
          </a:xfrm>
          <a:prstGeom prst="roundRect">
            <a:avLst/>
          </a:prstGeom>
          <a:solidFill>
            <a:srgbClr val="F6E3E1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2238"/>
                </a:solidFill>
              </a:rPr>
              <a:t>log-space</a:t>
            </a:r>
          </a:p>
          <a:p>
            <a:pPr algn="ctr"/>
            <a:r>
              <a:rPr sz="1400" b="1">
                <a:solidFill>
                  <a:srgbClr val="1A2238"/>
                </a:solidFill>
              </a:rPr>
              <a:t>MSE loss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75520" y="5349240"/>
            <a:ext cx="1737360" cy="0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612880" y="3886200"/>
            <a:ext cx="0" cy="1463040"/>
          </a:xfrm>
          <a:prstGeom prst="bentConnector3">
            <a:avLst/>
          </a:prstGeom>
          <a:ln w="3175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>
            <a:off x="11109960" y="3721608"/>
            <a:ext cx="502920" cy="310896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11109960" y="3721608"/>
            <a:ext cx="502920" cy="310896"/>
          </a:xfrm>
          <a:prstGeom prst="lef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4114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</a:rPr>
              <a:t>backpropagation:</a:t>
            </a:r>
          </a:p>
          <a:p>
            <a:pPr algn="ctr"/>
            <a:r>
              <a:rPr sz="1200" b="1">
                <a:solidFill>
                  <a:srgbClr val="C0392B"/>
                </a:solidFill>
              </a:rPr>
              <a:t>updates encoder weights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Heads ride on the same frozen 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828800" cy="14173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 tokens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 elements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9 majors + 13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743200"/>
            <a:ext cx="1828800" cy="14173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Embed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mat2vec + amount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3268979"/>
            <a:ext cx="36576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743200"/>
            <a:ext cx="1828800" cy="14173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Transformer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encoder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self-attention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268979"/>
            <a:ext cx="41147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99248" y="2738628"/>
            <a:ext cx="1426464" cy="1426464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59" y="3268979"/>
            <a:ext cx="45719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14300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ModeHead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mineral modes (see A5)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211312" y="1554480"/>
            <a:ext cx="658368" cy="1901952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210312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CompHead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per-mineral composition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11312" y="2514600"/>
            <a:ext cx="658368" cy="941832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69680" y="306324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CondHead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T, P, H2O (see A5)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2" y="3456432"/>
            <a:ext cx="658368" cy="1828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9680" y="402336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ClassHead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rock-class odds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11312" y="3456432"/>
            <a:ext cx="658368" cy="97840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69680" y="4983480"/>
            <a:ext cx="2834640" cy="82296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2238"/>
                </a:solidFill>
              </a:rPr>
              <a:t>G_sys</a:t>
            </a:r>
          </a:p>
          <a:p>
            <a:pPr algn="ctr"/>
            <a:r>
              <a:rPr sz="1000" b="0">
                <a:solidFill>
                  <a:srgbClr val="8A93A3"/>
                </a:solidFill>
              </a:rPr>
              <a:t>free energy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11312" y="3456432"/>
            <a:ext cx="658368" cy="1938528"/>
          </a:xfrm>
          <a:prstGeom prst="bentConnector3">
            <a:avLst/>
          </a:prstGeom>
          <a:ln w="19050">
            <a:solidFill>
              <a:srgbClr val="2A9D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5120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238"/>
                </a:solidFill>
              </a:rPr>
              <a:t>now frozen -- swap or add heads without retraining the encoder; the actual outputs are on A5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BFF"/>
                </a:solidFill>
              </a:rPr>
              <a:t>ACT 2  -  B6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238"/>
                </a:solidFill>
              </a:rPr>
              <a:t>One shared backbone, many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828800" cy="1417320"/>
          </a:xfrm>
          <a:prstGeom prst="roundRect">
            <a:avLst/>
          </a:prstGeom>
          <a:solidFill>
            <a:srgbClr val="E1E8FF"/>
          </a:solidFill>
          <a:ln w="25400">
            <a:solidFill>
              <a:srgbClr val="2E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Input tokens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22 elements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9 majors + 13 traces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743200"/>
            <a:ext cx="1828800" cy="141732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Embed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mat2vec + amount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3268979"/>
            <a:ext cx="36576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743200"/>
            <a:ext cx="1828800" cy="1417320"/>
          </a:xfrm>
          <a:prstGeom prst="roundRect">
            <a:avLst/>
          </a:prstGeom>
          <a:solidFill>
            <a:srgbClr val="EAE8FB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Transformer</a:t>
            </a:r>
          </a:p>
          <a:p>
            <a:pPr algn="ctr"/>
            <a:r>
              <a:rPr sz="1200" b="1">
                <a:solidFill>
                  <a:srgbClr val="1A2238"/>
                </a:solidFill>
              </a:rPr>
              <a:t>encoder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self-attention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268979"/>
            <a:ext cx="41147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99248" y="2738628"/>
            <a:ext cx="1426464" cy="1426464"/>
          </a:xfrm>
          <a:prstGeom prst="ellipse">
            <a:avLst/>
          </a:prstGeom>
          <a:solidFill>
            <a:srgbClr val="E8883A"/>
          </a:solidFill>
          <a:ln w="31750">
            <a:solidFill>
              <a:srgbClr val="E88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</a:t>
            </a:r>
          </a:p>
          <a:p>
            <a:pPr algn="ctr"/>
            <a:r>
              <a:rPr sz="1900" b="0">
                <a:solidFill>
                  <a:srgbClr val="8A93A3"/>
                </a:solidFill>
              </a:rPr>
              <a:t>256-d latent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59" y="3268979"/>
            <a:ext cx="457199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828800" cy="1417320"/>
          </a:xfrm>
          <a:prstGeom prst="roundRect">
            <a:avLst/>
          </a:prstGeom>
          <a:solidFill>
            <a:srgbClr val="E1F1EF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Heads</a:t>
            </a:r>
          </a:p>
          <a:p>
            <a:pPr algn="ctr"/>
            <a:r>
              <a:rPr sz="900" b="0">
                <a:solidFill>
                  <a:srgbClr val="8A93A3"/>
                </a:solidFill>
              </a:rPr>
              <a:t>parallel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3268979"/>
            <a:ext cx="411480" cy="365760"/>
          </a:xfrm>
          <a:prstGeom prst="rightArrow">
            <a:avLst/>
          </a:prstGeom>
          <a:solidFill>
            <a:srgbClr val="1A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868680"/>
            <a:ext cx="2377440" cy="7772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imputation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212080"/>
            <a:ext cx="2377440" cy="777240"/>
          </a:xfrm>
          <a:prstGeom prst="roundRect">
            <a:avLst/>
          </a:prstGeom>
          <a:solidFill>
            <a:srgbClr val="DDF4F2"/>
          </a:solidFill>
          <a:ln w="2540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2238"/>
                </a:solidFill>
              </a:rPr>
              <a:t>k-NN retrieval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412480" y="1645920"/>
            <a:ext cx="640080" cy="1092708"/>
          </a:xfrm>
          <a:prstGeom prst="bentConnector3">
            <a:avLst/>
          </a:prstGeom>
          <a:ln w="1905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4165091"/>
            <a:ext cx="640080" cy="1046989"/>
          </a:xfrm>
          <a:prstGeom prst="bentConnector3">
            <a:avLst/>
          </a:prstGeom>
          <a:ln w="19050">
            <a:solidFill>
              <a:srgbClr val="12B5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617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238"/>
                </a:solidFill>
              </a:rPr>
              <a:t>bulk -&gt; tokens -&gt; embed -&gt; encoder -&gt; h -&gt; {heads / apps}  --  microseconds per rock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